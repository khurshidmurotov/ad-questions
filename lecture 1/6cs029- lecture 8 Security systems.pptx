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09" r:id="rId1"/>
  </p:sldMasterIdLst>
  <p:notesMasterIdLst>
    <p:notesMasterId r:id="rId24"/>
  </p:notesMasterIdLst>
  <p:sldIdLst>
    <p:sldId id="256" r:id="rId2"/>
    <p:sldId id="307" r:id="rId3"/>
    <p:sldId id="280" r:id="rId4"/>
    <p:sldId id="283" r:id="rId5"/>
    <p:sldId id="281" r:id="rId6"/>
    <p:sldId id="282" r:id="rId7"/>
    <p:sldId id="284" r:id="rId8"/>
    <p:sldId id="299" r:id="rId9"/>
    <p:sldId id="300" r:id="rId10"/>
    <p:sldId id="288" r:id="rId11"/>
    <p:sldId id="301" r:id="rId12"/>
    <p:sldId id="302" r:id="rId13"/>
    <p:sldId id="306" r:id="rId14"/>
    <p:sldId id="308" r:id="rId15"/>
    <p:sldId id="304" r:id="rId16"/>
    <p:sldId id="303" r:id="rId17"/>
    <p:sldId id="311" r:id="rId18"/>
    <p:sldId id="298" r:id="rId19"/>
    <p:sldId id="305" r:id="rId20"/>
    <p:sldId id="309" r:id="rId21"/>
    <p:sldId id="310" r:id="rId22"/>
    <p:sldId id="29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0" autoAdjust="0"/>
    <p:restoredTop sz="72216" autoAdjust="0"/>
  </p:normalViewPr>
  <p:slideViewPr>
    <p:cSldViewPr>
      <p:cViewPr varScale="1">
        <p:scale>
          <a:sx n="111" d="100"/>
          <a:sy n="111" d="100"/>
        </p:scale>
        <p:origin x="1392" y="96"/>
      </p:cViewPr>
      <p:guideLst>
        <p:guide orient="horz" pos="2160"/>
        <p:guide pos="2880"/>
      </p:guideLst>
    </p:cSldViewPr>
  </p:slideViewPr>
  <p:outlineViewPr>
    <p:cViewPr>
      <p:scale>
        <a:sx n="33" d="100"/>
        <a:sy n="33" d="100"/>
      </p:scale>
      <p:origin x="0" y="-22926"/>
    </p:cViewPr>
  </p:outlineViewPr>
  <p:notesTextViewPr>
    <p:cViewPr>
      <p:scale>
        <a:sx n="1" d="1"/>
        <a:sy n="1" d="1"/>
      </p:scale>
      <p:origin x="0" y="0"/>
    </p:cViewPr>
  </p:notesTextViewPr>
  <p:notesViewPr>
    <p:cSldViewPr>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F1FAA2-E0CD-4BAF-A4F9-1EA5E206110E}" type="datetimeFigureOut">
              <a:rPr lang="en-GB" smtClean="0"/>
              <a:t>02/03/2026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DA063C-1D1C-4460-BADD-9B7A9128A357}" type="slidenum">
              <a:rPr lang="en-GB" smtClean="0"/>
              <a:t>‹#›</a:t>
            </a:fld>
            <a:endParaRPr lang="en-GB"/>
          </a:p>
        </p:txBody>
      </p:sp>
    </p:spTree>
    <p:extLst>
      <p:ext uri="{BB962C8B-B14F-4D97-AF65-F5344CB8AC3E}">
        <p14:creationId xmlns:p14="http://schemas.microsoft.com/office/powerpoint/2010/main" val="983764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A62B6C8F-2B07-7F47-B356-D225AFD43E73}" type="slidenum">
              <a:rPr lang="en-AU"/>
              <a:pPr/>
              <a:t>3</a:t>
            </a:fld>
            <a:endParaRPr lang="en-AU"/>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endParaRPr lang="en-US"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57443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4</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36486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5</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b="0"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400408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6</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b="0"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39397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AE085251-2E80-1B40-A15D-FC2AB4AE5F49}" type="slidenum">
              <a:rPr lang="en-AU"/>
              <a:pPr/>
              <a:t>7</a:t>
            </a:fld>
            <a:endParaRPr lang="en-AU"/>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555436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8BF34A1E-4FCA-EC48-934E-CD8036D82C94}" type="slidenum">
              <a:rPr lang="en-AU"/>
              <a:pPr/>
              <a:t>10</a:t>
            </a:fld>
            <a:endParaRPr lang="en-AU"/>
          </a:p>
        </p:txBody>
      </p:sp>
      <p:sp>
        <p:nvSpPr>
          <p:cNvPr id="69635" name="Rectangle 1026"/>
          <p:cNvSpPr>
            <a:spLocks noGrp="1" noRot="1" noChangeAspect="1" noChangeArrowheads="1" noTextEdit="1"/>
          </p:cNvSpPr>
          <p:nvPr>
            <p:ph type="sldImg"/>
          </p:nvPr>
        </p:nvSpPr>
        <p:spPr>
          <a:ln/>
        </p:spPr>
      </p:sp>
      <p:sp>
        <p:nvSpPr>
          <p:cNvPr id="69636" name="Rectangle 1027"/>
          <p:cNvSpPr>
            <a:spLocks noGrp="1" noChangeArrowheads="1"/>
          </p:cNvSpPr>
          <p:nvPr>
            <p:ph type="body" idx="1"/>
          </p:nvPr>
        </p:nvSpPr>
        <p:spPr>
          <a:noFill/>
          <a:ln/>
        </p:spPr>
        <p:txBody>
          <a:bodyPr/>
          <a:lstStyle/>
          <a:p>
            <a:pPr eaLnBrk="1" hangingPunct="1"/>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485461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0" i="0" dirty="0">
                <a:solidFill>
                  <a:srgbClr val="161616"/>
                </a:solidFill>
                <a:effectLst/>
                <a:latin typeface="IBM Plex Sans" panose="020B0503050203000203" pitchFamily="34" charset="0"/>
              </a:rPr>
              <a:t>Routine maintenance and preparation. To maximize the effectiveness of security tools and measures in place, the SOC performs preventative maintenance such as applying software patches and upgrades, and continually updating firewalls, whitelists and blacklists, and security policies and procedures. The SOC may also create system back-ups – or assist in creating back-up policy or procedures – to ensure business continuity in the event of a data breach, ransomware attack or other cybersecurity incident.</a:t>
            </a:r>
          </a:p>
          <a:p>
            <a:pPr marL="228600" indent="-228600">
              <a:buAutoNum type="arabicPeriod"/>
            </a:pPr>
            <a:r>
              <a:rPr lang="en-GB" b="0" i="0" dirty="0">
                <a:solidFill>
                  <a:srgbClr val="161616"/>
                </a:solidFill>
                <a:effectLst/>
                <a:latin typeface="IBM Plex Sans" panose="020B0503050203000203" pitchFamily="34" charset="0"/>
              </a:rPr>
              <a:t>Incident response planning. The SOC is responsible for developing the organization's incident response plan, which defines activities, roles, responsibilities in the event of a threat or incident – and the metrics by which the success of any incident response will be measured.</a:t>
            </a:r>
          </a:p>
          <a:p>
            <a:pPr marL="228600" indent="-228600">
              <a:buAutoNum type="arabicPeriod"/>
            </a:pPr>
            <a:r>
              <a:rPr lang="en-GB" b="0" i="0" dirty="0">
                <a:solidFill>
                  <a:srgbClr val="161616"/>
                </a:solidFill>
                <a:effectLst/>
                <a:latin typeface="IBM Plex Sans" panose="020B0503050203000203" pitchFamily="34" charset="0"/>
              </a:rPr>
              <a:t>Regular testing. The SOC team performs vulnerability assessments – comprehensive assessments that identify each resource's vulnerability to potential threats, and the associate costs. It also conducts penetration tests that simulate specific attacks on one more systems. The team remediates or fine-tunes applications, security policies, best practices and incident response plans based on the results of these tests.</a:t>
            </a:r>
            <a:endParaRPr lang="en-GB" dirty="0"/>
          </a:p>
        </p:txBody>
      </p:sp>
      <p:sp>
        <p:nvSpPr>
          <p:cNvPr id="4" name="Slide Number Placeholder 3"/>
          <p:cNvSpPr>
            <a:spLocks noGrp="1"/>
          </p:cNvSpPr>
          <p:nvPr>
            <p:ph type="sldNum" sz="quarter" idx="5"/>
          </p:nvPr>
        </p:nvSpPr>
        <p:spPr/>
        <p:txBody>
          <a:bodyPr/>
          <a:lstStyle/>
          <a:p>
            <a:fld id="{C2DA063C-1D1C-4460-BADD-9B7A9128A357}" type="slidenum">
              <a:rPr lang="en-GB" smtClean="0"/>
              <a:t>14</a:t>
            </a:fld>
            <a:endParaRPr lang="en-GB"/>
          </a:p>
        </p:txBody>
      </p:sp>
    </p:spTree>
    <p:extLst>
      <p:ext uri="{BB962C8B-B14F-4D97-AF65-F5344CB8AC3E}">
        <p14:creationId xmlns:p14="http://schemas.microsoft.com/office/powerpoint/2010/main" val="1061809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AF8046-0263-F74C-BDB1-E6E78A850B0B}" type="slidenum">
              <a:rPr lang="en-AU">
                <a:solidFill>
                  <a:srgbClr val="000000"/>
                </a:solidFill>
              </a:rPr>
              <a:pPr/>
              <a:t>22</a:t>
            </a:fld>
            <a:endParaRPr lang="en-AU" dirty="0">
              <a:solidFill>
                <a:srgbClr val="000000"/>
              </a:solidFill>
            </a:endParaRPr>
          </a:p>
        </p:txBody>
      </p:sp>
      <p:sp>
        <p:nvSpPr>
          <p:cNvPr id="206852" name="Rectangle 4"/>
          <p:cNvSpPr>
            <a:spLocks noGrp="1" noRot="1" noChangeAspect="1" noChangeArrowheads="1" noTextEdit="1"/>
          </p:cNvSpPr>
          <p:nvPr>
            <p:ph type="sldImg"/>
          </p:nvPr>
        </p:nvSpPr>
        <p:spPr>
          <a:ln/>
        </p:spPr>
      </p:sp>
      <p:sp>
        <p:nvSpPr>
          <p:cNvPr id="206853" name="Rectangle 5"/>
          <p:cNvSpPr>
            <a:spLocks noGrp="1" noChangeArrowheads="1"/>
          </p:cNvSpPr>
          <p:nvPr>
            <p:ph type="body" idx="1"/>
          </p:nvPr>
        </p:nvSpPr>
        <p:spPr/>
        <p:txBody>
          <a:bodyPr/>
          <a:lstStyle/>
          <a:p>
            <a:endParaRPr lang="en-US" dirty="0">
              <a:latin typeface="Times New Roman" pitchFamily="-107" charset="0"/>
            </a:endParaRPr>
          </a:p>
        </p:txBody>
      </p:sp>
    </p:spTree>
    <p:extLst>
      <p:ext uri="{BB962C8B-B14F-4D97-AF65-F5344CB8AC3E}">
        <p14:creationId xmlns:p14="http://schemas.microsoft.com/office/powerpoint/2010/main" val="1594034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1594432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328076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190293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4088F70-7DB5-42B5-A78F-452D696BA7C4}" type="datetimeFigureOut">
              <a:rPr lang="en-GB" smtClean="0"/>
              <a:t>02/03/2026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72558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4088F70-7DB5-42B5-A78F-452D696BA7C4}" type="datetimeFigureOut">
              <a:rPr lang="en-GB" smtClean="0"/>
              <a:t>02/03/2026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437535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4088F70-7DB5-42B5-A78F-452D696BA7C4}" type="datetimeFigureOut">
              <a:rPr lang="en-GB" smtClean="0"/>
              <a:t>02/03/2026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3521502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088F70-7DB5-42B5-A78F-452D696BA7C4}" type="datetimeFigureOut">
              <a:rPr lang="en-GB" smtClean="0"/>
              <a:t>02/03/2026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711898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74088F70-7DB5-42B5-A78F-452D696BA7C4}" type="datetimeFigureOut">
              <a:rPr lang="en-GB" smtClean="0"/>
              <a:t>02/03/2026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498989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4088F70-7DB5-42B5-A78F-452D696BA7C4}" type="datetimeFigureOut">
              <a:rPr lang="en-GB" smtClean="0"/>
              <a:t>02/03/2026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546763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3637308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8590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3223095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53495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1115123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12472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4088F70-7DB5-42B5-A78F-452D696BA7C4}" type="datetimeFigureOut">
              <a:rPr lang="en-GB" smtClean="0"/>
              <a:t>02/03/2026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6B606D8-D62B-4CA0-8158-FE93FE7241AA}" type="slidenum">
              <a:rPr lang="en-GB" smtClean="0"/>
              <a:t>‹#›</a:t>
            </a:fld>
            <a:endParaRPr lang="en-GB"/>
          </a:p>
        </p:txBody>
      </p:sp>
    </p:spTree>
    <p:extLst>
      <p:ext uri="{BB962C8B-B14F-4D97-AF65-F5344CB8AC3E}">
        <p14:creationId xmlns:p14="http://schemas.microsoft.com/office/powerpoint/2010/main" val="4005368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4088F70-7DB5-42B5-A78F-452D696BA7C4}" type="datetimeFigureOut">
              <a:rPr lang="en-GB" smtClean="0"/>
              <a:t>02/03/2026</a:t>
            </a:fld>
            <a:endParaRPr lang="en-GB"/>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76B606D8-D62B-4CA0-8158-FE93FE7241AA}" type="slidenum">
              <a:rPr lang="en-GB" smtClean="0"/>
              <a:t>‹#›</a:t>
            </a:fld>
            <a:endParaRPr lang="en-GB"/>
          </a:p>
        </p:txBody>
      </p:sp>
    </p:spTree>
    <p:extLst>
      <p:ext uri="{BB962C8B-B14F-4D97-AF65-F5344CB8AC3E}">
        <p14:creationId xmlns:p14="http://schemas.microsoft.com/office/powerpoint/2010/main" val="63657588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2jU-mLMV8Vw"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k7ju95jDxFA" TargetMode="External"/><Relationship Id="rId2" Type="http://schemas.openxmlformats.org/officeDocument/2006/relationships/hyperlink" Target="https://www.youtube.com/watch?v=5r40JrrKtlk"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55GaIolVVq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Nwaigd9H60A"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z983AM8etCA"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j29XwVsMW-s&amp;t=16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hIl_ICzFN-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OHkWXFheSKM&amp;t=232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dirty="0">
                <a:solidFill>
                  <a:schemeClr val="tx1"/>
                </a:solidFill>
              </a:rPr>
              <a:t>Threat Protection and Detection</a:t>
            </a:r>
            <a:br>
              <a:rPr lang="en-GB" dirty="0">
                <a:solidFill>
                  <a:schemeClr val="tx1"/>
                </a:solidFill>
              </a:rPr>
            </a:br>
            <a:endParaRPr lang="en-GB" dirty="0"/>
          </a:p>
        </p:txBody>
      </p:sp>
      <p:sp>
        <p:nvSpPr>
          <p:cNvPr id="3" name="Subtitle 2"/>
          <p:cNvSpPr>
            <a:spLocks noGrp="1"/>
          </p:cNvSpPr>
          <p:nvPr>
            <p:ph type="subTitle" idx="1"/>
          </p:nvPr>
        </p:nvSpPr>
        <p:spPr/>
        <p:txBody>
          <a:bodyPr/>
          <a:lstStyle/>
          <a:p>
            <a:r>
              <a:rPr lang="en-GB" dirty="0">
                <a:solidFill>
                  <a:schemeClr val="tx1"/>
                </a:solidFill>
              </a:rPr>
              <a:t>6CS029</a:t>
            </a:r>
          </a:p>
        </p:txBody>
      </p:sp>
    </p:spTree>
    <p:extLst>
      <p:ext uri="{BB962C8B-B14F-4D97-AF65-F5344CB8AC3E}">
        <p14:creationId xmlns:p14="http://schemas.microsoft.com/office/powerpoint/2010/main" val="2797672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A96F5-9AAF-1D22-D7F9-7ACA4E717229}"/>
              </a:ext>
            </a:extLst>
          </p:cNvPr>
          <p:cNvSpPr>
            <a:spLocks noGrp="1"/>
          </p:cNvSpPr>
          <p:nvPr>
            <p:ph type="title"/>
          </p:nvPr>
        </p:nvSpPr>
        <p:spPr/>
        <p:txBody>
          <a:bodyPr/>
          <a:lstStyle/>
          <a:p>
            <a:r>
              <a:rPr lang="en-GB" dirty="0"/>
              <a:t>Todays topics</a:t>
            </a:r>
          </a:p>
        </p:txBody>
      </p:sp>
      <p:sp>
        <p:nvSpPr>
          <p:cNvPr id="3" name="Content Placeholder 2">
            <a:extLst>
              <a:ext uri="{FF2B5EF4-FFF2-40B4-BE49-F238E27FC236}">
                <a16:creationId xmlns:a16="http://schemas.microsoft.com/office/drawing/2014/main" id="{A5EDEECC-1C95-FBDB-4D8F-E4933118EEB1}"/>
              </a:ext>
            </a:extLst>
          </p:cNvPr>
          <p:cNvSpPr>
            <a:spLocks noGrp="1"/>
          </p:cNvSpPr>
          <p:nvPr>
            <p:ph idx="1"/>
          </p:nvPr>
        </p:nvSpPr>
        <p:spPr/>
        <p:txBody>
          <a:bodyPr/>
          <a:lstStyle/>
          <a:p>
            <a:r>
              <a:rPr lang="en-GB" dirty="0"/>
              <a:t>IPS systems</a:t>
            </a:r>
          </a:p>
          <a:p>
            <a:r>
              <a:rPr lang="en-GB" dirty="0"/>
              <a:t>Taking IPS systems onward to more integrated systems of EDR, XDR etc. Making use of AI and automation</a:t>
            </a:r>
          </a:p>
          <a:p>
            <a:r>
              <a:rPr lang="en-GB" dirty="0"/>
              <a:t>The role of the Security operations centre</a:t>
            </a:r>
          </a:p>
          <a:p>
            <a:endParaRPr lang="en-GB" dirty="0"/>
          </a:p>
          <a:p>
            <a:endParaRPr lang="en-GB" dirty="0"/>
          </a:p>
        </p:txBody>
      </p:sp>
    </p:spTree>
    <p:extLst>
      <p:ext uri="{BB962C8B-B14F-4D97-AF65-F5344CB8AC3E}">
        <p14:creationId xmlns:p14="http://schemas.microsoft.com/office/powerpoint/2010/main" val="3867136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609599" y="476672"/>
            <a:ext cx="8066857" cy="1320800"/>
          </a:xfrm>
        </p:spPr>
        <p:txBody>
          <a:bodyPr wrap="square" numCol="1" anchorCtr="0" compatLnSpc="1">
            <a:prstTxWarp prst="textNoShape">
              <a:avLst/>
            </a:prstTxWarp>
            <a:normAutofit fontScale="90000"/>
          </a:bodyPr>
          <a:lstStyle/>
          <a:p>
            <a:pPr eaLnBrk="1" hangingPunct="1">
              <a:defRPr/>
            </a:pPr>
            <a:r>
              <a:rPr lang="en-US" sz="4300" dirty="0">
                <a:effectLst/>
              </a:rPr>
              <a:t>Intrusion Prevention Systems (IPS)</a:t>
            </a:r>
          </a:p>
        </p:txBody>
      </p:sp>
      <p:sp>
        <p:nvSpPr>
          <p:cNvPr id="2" name="Content Placeholder 1"/>
          <p:cNvSpPr>
            <a:spLocks noGrp="1"/>
          </p:cNvSpPr>
          <p:nvPr>
            <p:ph idx="1"/>
          </p:nvPr>
        </p:nvSpPr>
        <p:spPr>
          <a:xfrm>
            <a:off x="3651" y="1350817"/>
            <a:ext cx="8066856" cy="2546539"/>
          </a:xfrm>
        </p:spPr>
        <p:txBody>
          <a:bodyPr>
            <a:normAutofit/>
          </a:bodyPr>
          <a:lstStyle/>
          <a:p>
            <a:r>
              <a:rPr lang="en-GB" b="1" i="0" dirty="0">
                <a:solidFill>
                  <a:srgbClr val="273239"/>
                </a:solidFill>
                <a:effectLst/>
                <a:latin typeface="Arial" panose="020B0604020202020204" pitchFamily="34" charset="0"/>
                <a:cs typeface="Arial" panose="020B0604020202020204" pitchFamily="34" charset="0"/>
              </a:rPr>
              <a:t>How Does an IPS Work?</a:t>
            </a:r>
            <a:r>
              <a:rPr lang="en-GB" b="0" i="0" dirty="0">
                <a:solidFill>
                  <a:srgbClr val="273239"/>
                </a:solidFill>
                <a:effectLst/>
                <a:latin typeface="Arial" panose="020B0604020202020204" pitchFamily="34" charset="0"/>
                <a:cs typeface="Arial" panose="020B0604020202020204" pitchFamily="34" charset="0"/>
              </a:rPr>
              <a:t> </a:t>
            </a:r>
          </a:p>
          <a:p>
            <a:pPr lvl="1"/>
            <a:r>
              <a:rPr lang="en-GB" b="0" i="0" dirty="0">
                <a:solidFill>
                  <a:srgbClr val="273239"/>
                </a:solidFill>
                <a:effectLst/>
                <a:latin typeface="Arial" panose="020B0604020202020204" pitchFamily="34" charset="0"/>
                <a:cs typeface="Arial" panose="020B0604020202020204" pitchFamily="34" charset="0"/>
              </a:rPr>
              <a:t>An IPS works by analysing network traffic in real-time and comparing it against known attack patterns and signatures. When the system detects suspicious traffic, it blocks it from entering the network.</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Can use anomaly detection to identify </a:t>
            </a:r>
            <a:r>
              <a:rPr lang="en-US" dirty="0" err="1">
                <a:latin typeface="Arial" panose="020B0604020202020204" pitchFamily="34" charset="0"/>
                <a:cs typeface="Arial" panose="020B0604020202020204" pitchFamily="34" charset="0"/>
              </a:rPr>
              <a:t>behaviour</a:t>
            </a:r>
            <a:r>
              <a:rPr lang="en-US" dirty="0">
                <a:latin typeface="Arial" panose="020B0604020202020204" pitchFamily="34" charset="0"/>
                <a:cs typeface="Arial" panose="020B0604020202020204" pitchFamily="34" charset="0"/>
              </a:rPr>
              <a:t> that is not that of legitimate users, or signature/heuristic detection to identify known malicious behavior can block traffic as a firewall does, but makes use of the types of algorithms developed for IDSs to determine when to do so</a:t>
            </a:r>
          </a:p>
          <a:p>
            <a:endParaRPr lang="en-US" dirty="0"/>
          </a:p>
          <a:p>
            <a:endParaRPr lang="en-GB" dirty="0"/>
          </a:p>
          <a:p>
            <a:endParaRPr lang="en-GB" dirty="0"/>
          </a:p>
        </p:txBody>
      </p:sp>
      <p:pic>
        <p:nvPicPr>
          <p:cNvPr id="3" name="Picture 2" descr="What is IDS and IPS diagram">
            <a:extLst>
              <a:ext uri="{FF2B5EF4-FFF2-40B4-BE49-F238E27FC236}">
                <a16:creationId xmlns:a16="http://schemas.microsoft.com/office/drawing/2014/main" id="{012B4F45-A4E4-6183-E959-C4A7C8405D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3897356"/>
            <a:ext cx="6660232" cy="277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6031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609599" y="191525"/>
            <a:ext cx="6347713" cy="1320800"/>
          </a:xfrm>
        </p:spPr>
        <p:txBody>
          <a:bodyPr wrap="square" numCol="1" anchorCtr="0" compatLnSpc="1">
            <a:prstTxWarp prst="textNoShape">
              <a:avLst/>
            </a:prstTxWarp>
          </a:bodyPr>
          <a:lstStyle/>
          <a:p>
            <a:pPr eaLnBrk="1" hangingPunct="1">
              <a:defRPr/>
            </a:pPr>
            <a:r>
              <a:rPr lang="en-US" dirty="0">
                <a:effectLst/>
              </a:rPr>
              <a:t>The Role of HIPS</a:t>
            </a:r>
          </a:p>
        </p:txBody>
      </p:sp>
      <p:sp>
        <p:nvSpPr>
          <p:cNvPr id="2" name="Content Placeholder 1"/>
          <p:cNvSpPr>
            <a:spLocks noGrp="1"/>
          </p:cNvSpPr>
          <p:nvPr>
            <p:ph idx="1"/>
          </p:nvPr>
        </p:nvSpPr>
        <p:spPr>
          <a:xfrm>
            <a:off x="304801" y="908720"/>
            <a:ext cx="8229600" cy="4713387"/>
          </a:xfrm>
        </p:spPr>
        <p:txBody>
          <a:bodyPr>
            <a:noAutofit/>
          </a:bodyPr>
          <a:lstStyle/>
          <a:p>
            <a:r>
              <a:rPr lang="en-US" sz="2200" dirty="0"/>
              <a:t>Many industry observers see the enterprise endpoint, including desktop and laptop systems, as now the main target for hackers and criminals</a:t>
            </a:r>
          </a:p>
          <a:p>
            <a:pPr lvl="1"/>
            <a:r>
              <a:rPr lang="en-US" sz="2000" dirty="0"/>
              <a:t>Thus security vendors are focusing more on developing endpoint security products</a:t>
            </a:r>
          </a:p>
          <a:p>
            <a:pPr lvl="1"/>
            <a:r>
              <a:rPr lang="en-US" sz="2000" dirty="0"/>
              <a:t>Traditionally, endpoint security has been provided by a collection of distinct products, such as antivirus, antispyware, antispam, and personal firewalls</a:t>
            </a:r>
          </a:p>
          <a:p>
            <a:r>
              <a:rPr lang="en-US" sz="2200" dirty="0"/>
              <a:t>Approach is an effort to provide an integrated, single-product suite of functions</a:t>
            </a:r>
          </a:p>
          <a:p>
            <a:pPr lvl="1"/>
            <a:r>
              <a:rPr lang="en-US" sz="2000" dirty="0"/>
              <a:t>Advantages of the integrated HIPS approach are that the various tools work closely together, threat prevention is more comprehensive, and management is easier</a:t>
            </a:r>
          </a:p>
          <a:p>
            <a:pPr lvl="1"/>
            <a:r>
              <a:rPr lang="en-US" sz="2000" dirty="0"/>
              <a:t>A prudent approach is to use HIPS as one element in a defense-in-depth strategy that involves network-level devices, such as either firewalls or network-based IPSs</a:t>
            </a:r>
          </a:p>
          <a:p>
            <a:endParaRPr lang="en-GB" sz="2200" dirty="0"/>
          </a:p>
          <a:p>
            <a:endParaRPr lang="en-GB" sz="2200" dirty="0"/>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158193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611560" y="0"/>
            <a:ext cx="6347713" cy="1320800"/>
          </a:xfrm>
        </p:spPr>
        <p:txBody>
          <a:bodyPr wrap="square" numCol="1" anchorCtr="0" compatLnSpc="1">
            <a:prstTxWarp prst="textNoShape">
              <a:avLst/>
            </a:prstTxWarp>
          </a:bodyPr>
          <a:lstStyle/>
          <a:p>
            <a:pPr eaLnBrk="1" hangingPunct="1">
              <a:defRPr/>
            </a:pPr>
            <a:r>
              <a:rPr lang="en-US" dirty="0">
                <a:effectLst/>
              </a:rPr>
              <a:t>Host-Based IPS (</a:t>
            </a:r>
            <a:r>
              <a:rPr lang="en-US" dirty="0">
                <a:solidFill>
                  <a:srgbClr val="FF0000"/>
                </a:solidFill>
                <a:effectLst/>
              </a:rPr>
              <a:t>HIPS</a:t>
            </a:r>
            <a:r>
              <a:rPr lang="en-US" dirty="0">
                <a:effectLst/>
              </a:rPr>
              <a:t>)</a:t>
            </a:r>
          </a:p>
        </p:txBody>
      </p:sp>
      <p:sp>
        <p:nvSpPr>
          <p:cNvPr id="2" name="Content Placeholder 1"/>
          <p:cNvSpPr>
            <a:spLocks noGrp="1"/>
          </p:cNvSpPr>
          <p:nvPr>
            <p:ph idx="1"/>
          </p:nvPr>
        </p:nvSpPr>
        <p:spPr>
          <a:xfrm>
            <a:off x="318356" y="706000"/>
            <a:ext cx="8507288" cy="5661248"/>
          </a:xfrm>
        </p:spPr>
        <p:txBody>
          <a:bodyPr>
            <a:noAutofit/>
          </a:bodyPr>
          <a:lstStyle/>
          <a:p>
            <a:r>
              <a:rPr lang="en-US" sz="2400" dirty="0"/>
              <a:t>Can make use of either signature/heuristic or anomaly detection techniques to identify attacks</a:t>
            </a:r>
          </a:p>
          <a:p>
            <a:pPr lvl="1"/>
            <a:r>
              <a:rPr lang="en-US" sz="2300" dirty="0"/>
              <a:t>Signature: </a:t>
            </a:r>
            <a:r>
              <a:rPr lang="en-GB" sz="2000" dirty="0"/>
              <a:t>Signature firewalls detect threats by matching known malicious patterns (signatures)</a:t>
            </a:r>
          </a:p>
          <a:p>
            <a:pPr lvl="1"/>
            <a:r>
              <a:rPr lang="en-GB" sz="2400" dirty="0"/>
              <a:t>Heuristic: </a:t>
            </a:r>
            <a:r>
              <a:rPr lang="en-GB" sz="2000" dirty="0"/>
              <a:t>identifies threats by analysing behaviours and patterns</a:t>
            </a:r>
          </a:p>
          <a:p>
            <a:pPr lvl="1"/>
            <a:r>
              <a:rPr lang="en-US" sz="2300" dirty="0"/>
              <a:t>Anomaly</a:t>
            </a:r>
            <a:r>
              <a:rPr lang="en-US" sz="2000" dirty="0"/>
              <a:t>: i</a:t>
            </a:r>
            <a:r>
              <a:rPr lang="en-GB" sz="2000" dirty="0"/>
              <a:t>identify unusual or unexpected activity that deviates from established baselines. </a:t>
            </a:r>
          </a:p>
          <a:p>
            <a:r>
              <a:rPr lang="en-US" sz="2400" dirty="0"/>
              <a:t>Examples of the types of malicious behavior addressed by a HIPS include:</a:t>
            </a:r>
          </a:p>
          <a:p>
            <a:pPr lvl="1"/>
            <a:r>
              <a:rPr lang="en-US" sz="2300" dirty="0"/>
              <a:t>Modification of system resources</a:t>
            </a:r>
          </a:p>
          <a:p>
            <a:pPr lvl="1"/>
            <a:r>
              <a:rPr lang="en-US" sz="2300" dirty="0"/>
              <a:t>Privilege-escalation – OS vulnerabilities, </a:t>
            </a:r>
            <a:r>
              <a:rPr lang="en-US" sz="2300" dirty="0" err="1"/>
              <a:t>phising</a:t>
            </a:r>
            <a:r>
              <a:rPr lang="en-US" sz="2300" dirty="0"/>
              <a:t> attacks</a:t>
            </a:r>
          </a:p>
          <a:p>
            <a:pPr lvl="1"/>
            <a:r>
              <a:rPr lang="en-US" sz="2300" dirty="0"/>
              <a:t>Buffer-overflow exploits – overwriting data in memory</a:t>
            </a:r>
          </a:p>
          <a:p>
            <a:pPr lvl="1"/>
            <a:r>
              <a:rPr lang="en-US" sz="2300" dirty="0"/>
              <a:t>Access to e-mail contact list</a:t>
            </a:r>
          </a:p>
          <a:p>
            <a:pPr marL="0" indent="0">
              <a:buNone/>
            </a:pPr>
            <a:endParaRPr lang="en-GB" sz="2400" dirty="0"/>
          </a:p>
          <a:p>
            <a:endParaRPr lang="en-GB" sz="2400" dirty="0"/>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647491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457200" y="188640"/>
            <a:ext cx="6347713" cy="1320800"/>
          </a:xfrm>
        </p:spPr>
        <p:txBody>
          <a:bodyPr wrap="square" numCol="1" anchorCtr="0" compatLnSpc="1">
            <a:prstTxWarp prst="textNoShape">
              <a:avLst/>
            </a:prstTxWarp>
          </a:bodyPr>
          <a:lstStyle/>
          <a:p>
            <a:pPr eaLnBrk="1" hangingPunct="1">
              <a:defRPr/>
            </a:pPr>
            <a:r>
              <a:rPr lang="en-US" dirty="0">
                <a:effectLst/>
              </a:rPr>
              <a:t>HIPS</a:t>
            </a:r>
          </a:p>
        </p:txBody>
      </p:sp>
      <p:sp>
        <p:nvSpPr>
          <p:cNvPr id="2" name="Content Placeholder 1"/>
          <p:cNvSpPr>
            <a:spLocks noGrp="1"/>
          </p:cNvSpPr>
          <p:nvPr>
            <p:ph idx="1"/>
          </p:nvPr>
        </p:nvSpPr>
        <p:spPr>
          <a:xfrm>
            <a:off x="457200" y="849040"/>
            <a:ext cx="8363272" cy="5256584"/>
          </a:xfrm>
        </p:spPr>
        <p:txBody>
          <a:bodyPr>
            <a:noAutofit/>
          </a:bodyPr>
          <a:lstStyle/>
          <a:p>
            <a:r>
              <a:rPr lang="en-US" sz="2000" dirty="0"/>
              <a:t>A set of general purpose tools may be used for a desktop or server system</a:t>
            </a:r>
          </a:p>
          <a:p>
            <a:r>
              <a:rPr lang="en-US" sz="2000" dirty="0"/>
              <a:t>Some packages are designed to protect specific types of servers, such as Web servers and database servers</a:t>
            </a:r>
          </a:p>
          <a:p>
            <a:pPr lvl="1"/>
            <a:r>
              <a:rPr lang="en-US" sz="2000" dirty="0"/>
              <a:t>In this case the HIPS looks for particular application attacks</a:t>
            </a:r>
          </a:p>
          <a:p>
            <a:r>
              <a:rPr lang="en-US" sz="2000" dirty="0"/>
              <a:t>Can use a sandbox approach</a:t>
            </a:r>
          </a:p>
          <a:p>
            <a:pPr lvl="1"/>
            <a:r>
              <a:rPr lang="en-US" sz="2000" dirty="0"/>
              <a:t>Sandboxes are especially suited to mobile code such as Java applets and scripting languages</a:t>
            </a:r>
          </a:p>
          <a:p>
            <a:pPr lvl="1"/>
            <a:r>
              <a:rPr lang="en-US" sz="2000" dirty="0"/>
              <a:t>HIPS quarantines such code in an isolated system area then runs the code and monitors its </a:t>
            </a:r>
            <a:r>
              <a:rPr lang="en-US" sz="2000" dirty="0" err="1"/>
              <a:t>behaviour</a:t>
            </a:r>
            <a:endParaRPr lang="en-US" sz="2000" dirty="0"/>
          </a:p>
          <a:p>
            <a:r>
              <a:rPr lang="en-US" sz="2000" dirty="0"/>
              <a:t>Areas for which a HIPS typically offers desktop protection:</a:t>
            </a:r>
          </a:p>
          <a:p>
            <a:pPr lvl="1"/>
            <a:r>
              <a:rPr lang="en-US" sz="2000" dirty="0"/>
              <a:t>System calls and </a:t>
            </a:r>
          </a:p>
          <a:p>
            <a:pPr lvl="1"/>
            <a:r>
              <a:rPr lang="en-US" sz="2000" dirty="0"/>
              <a:t>File system access</a:t>
            </a:r>
          </a:p>
          <a:p>
            <a:pPr lvl="1"/>
            <a:r>
              <a:rPr lang="en-US" sz="2000" dirty="0"/>
              <a:t>System registry settings</a:t>
            </a:r>
          </a:p>
          <a:p>
            <a:pPr lvl="1"/>
            <a:r>
              <a:rPr lang="en-US" sz="2000" dirty="0"/>
              <a:t>Host input/output</a:t>
            </a:r>
          </a:p>
          <a:p>
            <a:endParaRPr lang="en-GB" sz="2000" dirty="0"/>
          </a:p>
          <a:p>
            <a:endParaRPr lang="en-GB" sz="2000" dirty="0"/>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521667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93651" y="116632"/>
            <a:ext cx="6347713" cy="1320800"/>
          </a:xfrm>
        </p:spPr>
        <p:txBody>
          <a:bodyPr wrap="square" numCol="1" anchorCtr="0" compatLnSpc="1">
            <a:prstTxWarp prst="textNoShape">
              <a:avLst/>
            </a:prstTxWarp>
            <a:normAutofit/>
          </a:bodyPr>
          <a:lstStyle/>
          <a:p>
            <a:pPr eaLnBrk="1" hangingPunct="1">
              <a:defRPr/>
            </a:pPr>
            <a:r>
              <a:rPr lang="en-US" dirty="0">
                <a:effectLst/>
              </a:rPr>
              <a:t>Network-Based IPS (NIPS)</a:t>
            </a:r>
          </a:p>
        </p:txBody>
      </p:sp>
      <p:sp>
        <p:nvSpPr>
          <p:cNvPr id="2" name="Content Placeholder 1"/>
          <p:cNvSpPr>
            <a:spLocks noGrp="1"/>
          </p:cNvSpPr>
          <p:nvPr>
            <p:ph idx="1"/>
          </p:nvPr>
        </p:nvSpPr>
        <p:spPr>
          <a:xfrm>
            <a:off x="254521" y="900894"/>
            <a:ext cx="8507288" cy="4637111"/>
          </a:xfrm>
        </p:spPr>
        <p:txBody>
          <a:bodyPr>
            <a:noAutofit/>
          </a:bodyPr>
          <a:lstStyle/>
          <a:p>
            <a:r>
              <a:rPr lang="en-US" sz="2000" dirty="0"/>
              <a:t>Inline NIPS with the authority to modify or discard packets and tear down TCP connections</a:t>
            </a:r>
          </a:p>
          <a:p>
            <a:r>
              <a:rPr lang="en-US" sz="2000" dirty="0"/>
              <a:t>Makes use of signature/heuristic detection and anomaly detection</a:t>
            </a:r>
          </a:p>
          <a:p>
            <a:r>
              <a:rPr lang="en-US" sz="2000" dirty="0"/>
              <a:t>May provide flow data protection</a:t>
            </a:r>
          </a:p>
          <a:p>
            <a:pPr lvl="1"/>
            <a:r>
              <a:rPr lang="en-US" sz="1800" dirty="0"/>
              <a:t>Requires that the application payload in a sequence of packets be reassembled</a:t>
            </a:r>
          </a:p>
          <a:p>
            <a:endParaRPr lang="en-US" sz="2000" dirty="0"/>
          </a:p>
          <a:p>
            <a:endParaRPr lang="en-GB" sz="2000" dirty="0"/>
          </a:p>
        </p:txBody>
      </p:sp>
      <p:pic>
        <p:nvPicPr>
          <p:cNvPr id="3" name="Picture 2">
            <a:extLst>
              <a:ext uri="{FF2B5EF4-FFF2-40B4-BE49-F238E27FC236}">
                <a16:creationId xmlns:a16="http://schemas.microsoft.com/office/drawing/2014/main" id="{C37A54D1-8DE8-6003-980C-4B937D6AC4F9}"/>
              </a:ext>
            </a:extLst>
          </p:cNvPr>
          <p:cNvPicPr>
            <a:picLocks noChangeAspect="1"/>
          </p:cNvPicPr>
          <p:nvPr/>
        </p:nvPicPr>
        <p:blipFill>
          <a:blip r:embed="rId3"/>
          <a:stretch>
            <a:fillRect/>
          </a:stretch>
        </p:blipFill>
        <p:spPr>
          <a:xfrm>
            <a:off x="224433" y="3219450"/>
            <a:ext cx="7934325" cy="3638550"/>
          </a:xfrm>
          <a:prstGeom prst="rect">
            <a:avLst/>
          </a:prstGeom>
        </p:spPr>
      </p:pic>
    </p:spTree>
    <p:extLst>
      <p:ext uri="{BB962C8B-B14F-4D97-AF65-F5344CB8AC3E}">
        <p14:creationId xmlns:p14="http://schemas.microsoft.com/office/powerpoint/2010/main" val="23686856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8C9F-6871-CE53-5BAF-62B27689FE18}"/>
              </a:ext>
            </a:extLst>
          </p:cNvPr>
          <p:cNvSpPr>
            <a:spLocks noGrp="1"/>
          </p:cNvSpPr>
          <p:nvPr>
            <p:ph type="title"/>
          </p:nvPr>
        </p:nvSpPr>
        <p:spPr/>
        <p:txBody>
          <a:bodyPr/>
          <a:lstStyle/>
          <a:p>
            <a:r>
              <a:rPr lang="en-GB" dirty="0"/>
              <a:t>Wireless IPS</a:t>
            </a:r>
          </a:p>
        </p:txBody>
      </p:sp>
      <p:sp>
        <p:nvSpPr>
          <p:cNvPr id="3" name="Content Placeholder 2">
            <a:extLst>
              <a:ext uri="{FF2B5EF4-FFF2-40B4-BE49-F238E27FC236}">
                <a16:creationId xmlns:a16="http://schemas.microsoft.com/office/drawing/2014/main" id="{275AFB0A-BDCA-A820-447C-87A93BB6FB7A}"/>
              </a:ext>
            </a:extLst>
          </p:cNvPr>
          <p:cNvSpPr>
            <a:spLocks noGrp="1"/>
          </p:cNvSpPr>
          <p:nvPr>
            <p:ph idx="1"/>
          </p:nvPr>
        </p:nvSpPr>
        <p:spPr>
          <a:xfrm>
            <a:off x="609599" y="4019053"/>
            <a:ext cx="7488832" cy="2735064"/>
          </a:xfrm>
        </p:spPr>
        <p:txBody>
          <a:bodyPr/>
          <a:lstStyle/>
          <a:p>
            <a:r>
              <a:rPr lang="en-GB" b="0" i="0" dirty="0">
                <a:solidFill>
                  <a:srgbClr val="161616"/>
                </a:solidFill>
                <a:effectLst/>
                <a:latin typeface="IBM Plex Sans" panose="020F0502020204030204" pitchFamily="34" charset="0"/>
              </a:rPr>
              <a:t>monitors wireless network protocols for suspicious activity:-</a:t>
            </a:r>
          </a:p>
          <a:p>
            <a:pPr lvl="1"/>
            <a:r>
              <a:rPr lang="en-GB" b="0" i="0" dirty="0">
                <a:solidFill>
                  <a:srgbClr val="161616"/>
                </a:solidFill>
                <a:effectLst/>
                <a:latin typeface="IBM Plex Sans" panose="020F0502020204030204" pitchFamily="34" charset="0"/>
              </a:rPr>
              <a:t>unauthorized users and devices accessing the company's </a:t>
            </a:r>
            <a:r>
              <a:rPr lang="en-GB" b="0" i="0" dirty="0" err="1">
                <a:solidFill>
                  <a:srgbClr val="161616"/>
                </a:solidFill>
                <a:effectLst/>
                <a:latin typeface="IBM Plex Sans" panose="020F0502020204030204" pitchFamily="34" charset="0"/>
              </a:rPr>
              <a:t>wifi</a:t>
            </a:r>
            <a:r>
              <a:rPr lang="en-GB" b="0" i="0" dirty="0">
                <a:solidFill>
                  <a:srgbClr val="161616"/>
                </a:solidFill>
                <a:effectLst/>
                <a:latin typeface="IBM Plex Sans" panose="020F0502020204030204" pitchFamily="34" charset="0"/>
              </a:rPr>
              <a:t>. If a WIPS detects an unknown entity on a wireless network, it can terminate the connection. </a:t>
            </a:r>
          </a:p>
          <a:p>
            <a:pPr lvl="1"/>
            <a:r>
              <a:rPr lang="en-GB" b="0" i="0" dirty="0">
                <a:solidFill>
                  <a:srgbClr val="161616"/>
                </a:solidFill>
                <a:effectLst/>
                <a:latin typeface="IBM Plex Sans" panose="020F0502020204030204" pitchFamily="34" charset="0"/>
              </a:rPr>
              <a:t>A WIPS can also help detect misconfigured or unsecured devices on a </a:t>
            </a:r>
            <a:r>
              <a:rPr lang="en-GB" b="0" i="0" dirty="0" err="1">
                <a:solidFill>
                  <a:srgbClr val="161616"/>
                </a:solidFill>
                <a:effectLst/>
                <a:latin typeface="IBM Plex Sans" panose="020F0502020204030204" pitchFamily="34" charset="0"/>
              </a:rPr>
              <a:t>wifi</a:t>
            </a:r>
            <a:r>
              <a:rPr lang="en-GB" b="0" i="0" dirty="0">
                <a:solidFill>
                  <a:srgbClr val="161616"/>
                </a:solidFill>
                <a:effectLst/>
                <a:latin typeface="IBM Plex Sans" panose="020F0502020204030204" pitchFamily="34" charset="0"/>
              </a:rPr>
              <a:t> network </a:t>
            </a:r>
            <a:endParaRPr lang="en-GB" dirty="0">
              <a:solidFill>
                <a:srgbClr val="161616"/>
              </a:solidFill>
              <a:latin typeface="IBM Plex Sans" panose="020F0502020204030204" pitchFamily="34" charset="0"/>
            </a:endParaRPr>
          </a:p>
          <a:p>
            <a:pPr lvl="1"/>
            <a:r>
              <a:rPr lang="en-GB" b="0" i="0" dirty="0">
                <a:solidFill>
                  <a:srgbClr val="161616"/>
                </a:solidFill>
                <a:effectLst/>
                <a:latin typeface="IBM Plex Sans" panose="020F0502020204030204" pitchFamily="34" charset="0"/>
              </a:rPr>
              <a:t>intercept man-in-the-middle attacks, where a hacker secretly spies on users' communications.</a:t>
            </a:r>
            <a:endParaRPr lang="en-GB" dirty="0"/>
          </a:p>
        </p:txBody>
      </p:sp>
      <p:pic>
        <p:nvPicPr>
          <p:cNvPr id="1026" name="Picture 2">
            <a:extLst>
              <a:ext uri="{FF2B5EF4-FFF2-40B4-BE49-F238E27FC236}">
                <a16:creationId xmlns:a16="http://schemas.microsoft.com/office/drawing/2014/main" id="{AE70F2D9-7E99-B939-BF7E-5DAA3B7F2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270000"/>
            <a:ext cx="5476875"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24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0649-DD0A-9E39-A383-352AC4EC0EBA}"/>
              </a:ext>
            </a:extLst>
          </p:cNvPr>
          <p:cNvSpPr>
            <a:spLocks noGrp="1"/>
          </p:cNvSpPr>
          <p:nvPr>
            <p:ph type="title"/>
          </p:nvPr>
        </p:nvSpPr>
        <p:spPr>
          <a:xfrm>
            <a:off x="507999" y="609600"/>
            <a:ext cx="2888343" cy="1320800"/>
          </a:xfrm>
        </p:spPr>
        <p:txBody>
          <a:bodyPr>
            <a:normAutofit/>
          </a:bodyPr>
          <a:lstStyle/>
          <a:p>
            <a:r>
              <a:rPr lang="en-GB" sz="3300" dirty="0"/>
              <a:t>IPS sensors in the network</a:t>
            </a:r>
          </a:p>
        </p:txBody>
      </p:sp>
      <p:cxnSp>
        <p:nvCxnSpPr>
          <p:cNvPr id="2055" name="Straight Connector 2054">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57" name="Straight Connector 2056">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59"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61"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63"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65"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67"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69"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71"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2052" name="Picture 4">
            <a:extLst>
              <a:ext uri="{FF2B5EF4-FFF2-40B4-BE49-F238E27FC236}">
                <a16:creationId xmlns:a16="http://schemas.microsoft.com/office/drawing/2014/main" id="{15C01EAD-ADAD-00AA-CBD0-28E707E29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898" y="1700808"/>
            <a:ext cx="5448300" cy="46577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C606D85-4808-8A65-516E-B5C266BDFC3A}"/>
              </a:ext>
            </a:extLst>
          </p:cNvPr>
          <p:cNvSpPr>
            <a:spLocks noGrp="1"/>
          </p:cNvSpPr>
          <p:nvPr>
            <p:ph idx="1"/>
          </p:nvPr>
        </p:nvSpPr>
        <p:spPr>
          <a:xfrm>
            <a:off x="309585" y="1701178"/>
            <a:ext cx="2888342" cy="1440160"/>
          </a:xfrm>
        </p:spPr>
        <p:txBody>
          <a:bodyPr>
            <a:normAutofit lnSpcReduction="10000"/>
          </a:bodyPr>
          <a:lstStyle/>
          <a:p>
            <a:r>
              <a:rPr lang="en-GB" dirty="0">
                <a:latin typeface="CiscoSans"/>
              </a:rPr>
              <a:t>Always positioned </a:t>
            </a:r>
            <a:r>
              <a:rPr lang="en-GB" b="0" i="0" dirty="0">
                <a:effectLst/>
                <a:latin typeface="CiscoSans"/>
              </a:rPr>
              <a:t> behind a perimeter-filtering device, such as a firewall or adaptive security appliance. </a:t>
            </a:r>
          </a:p>
        </p:txBody>
      </p:sp>
    </p:spTree>
    <p:extLst>
      <p:ext uri="{BB962C8B-B14F-4D97-AF65-F5344CB8AC3E}">
        <p14:creationId xmlns:p14="http://schemas.microsoft.com/office/powerpoint/2010/main" val="310087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12" y="476672"/>
            <a:ext cx="3394720" cy="1143000"/>
          </a:xfrm>
        </p:spPr>
        <p:txBody>
          <a:bodyPr>
            <a:normAutofit fontScale="90000"/>
          </a:bodyPr>
          <a:lstStyle/>
          <a:p>
            <a:r>
              <a:rPr lang="en-GB" dirty="0"/>
              <a:t>Unified Threat Management Appliance – Combination of all the network security tools</a:t>
            </a:r>
            <a:br>
              <a:rPr lang="en-GB" dirty="0"/>
            </a:br>
            <a:r>
              <a:rPr lang="en-GB" dirty="0"/>
              <a:t>Deployed at point of Egress and Ingress</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1880" y="-27384"/>
            <a:ext cx="5633064" cy="68373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510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86726-5FC1-74DA-B8F5-21D11E1B4DBB}"/>
              </a:ext>
            </a:extLst>
          </p:cNvPr>
          <p:cNvSpPr>
            <a:spLocks noGrp="1"/>
          </p:cNvSpPr>
          <p:nvPr>
            <p:ph type="title"/>
          </p:nvPr>
        </p:nvSpPr>
        <p:spPr/>
        <p:txBody>
          <a:bodyPr/>
          <a:lstStyle/>
          <a:p>
            <a:r>
              <a:rPr lang="en-GB" dirty="0"/>
              <a:t>Trends in 2026</a:t>
            </a:r>
          </a:p>
        </p:txBody>
      </p:sp>
      <p:sp>
        <p:nvSpPr>
          <p:cNvPr id="3" name="Content Placeholder 2">
            <a:extLst>
              <a:ext uri="{FF2B5EF4-FFF2-40B4-BE49-F238E27FC236}">
                <a16:creationId xmlns:a16="http://schemas.microsoft.com/office/drawing/2014/main" id="{EF59F3A2-18FB-AB8C-A9FC-CE49FEAEA227}"/>
              </a:ext>
            </a:extLst>
          </p:cNvPr>
          <p:cNvSpPr>
            <a:spLocks noGrp="1"/>
          </p:cNvSpPr>
          <p:nvPr>
            <p:ph idx="1"/>
          </p:nvPr>
        </p:nvSpPr>
        <p:spPr/>
        <p:txBody>
          <a:bodyPr/>
          <a:lstStyle/>
          <a:p>
            <a:r>
              <a:rPr lang="en-GB" dirty="0"/>
              <a:t>Latest trends in cybersecurity threats</a:t>
            </a:r>
          </a:p>
          <a:p>
            <a:endParaRPr lang="en-GB" dirty="0"/>
          </a:p>
          <a:p>
            <a:r>
              <a:rPr lang="en-GB" dirty="0">
                <a:hlinkClick r:id="rId2"/>
              </a:rPr>
              <a:t>Latest trends in 2026</a:t>
            </a:r>
            <a:endParaRPr lang="en-GB" dirty="0"/>
          </a:p>
        </p:txBody>
      </p:sp>
    </p:spTree>
    <p:extLst>
      <p:ext uri="{BB962C8B-B14F-4D97-AF65-F5344CB8AC3E}">
        <p14:creationId xmlns:p14="http://schemas.microsoft.com/office/powerpoint/2010/main" val="4073258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BBE9-2544-8EE8-2058-68085A576FD1}"/>
              </a:ext>
            </a:extLst>
          </p:cNvPr>
          <p:cNvSpPr>
            <a:spLocks noGrp="1"/>
          </p:cNvSpPr>
          <p:nvPr>
            <p:ph type="title"/>
          </p:nvPr>
        </p:nvSpPr>
        <p:spPr/>
        <p:txBody>
          <a:bodyPr/>
          <a:lstStyle/>
          <a:p>
            <a:r>
              <a:rPr lang="en-GB" dirty="0"/>
              <a:t>Moving to Automation and Alert Analysis</a:t>
            </a:r>
          </a:p>
        </p:txBody>
      </p:sp>
      <p:sp>
        <p:nvSpPr>
          <p:cNvPr id="3" name="Content Placeholder 2">
            <a:extLst>
              <a:ext uri="{FF2B5EF4-FFF2-40B4-BE49-F238E27FC236}">
                <a16:creationId xmlns:a16="http://schemas.microsoft.com/office/drawing/2014/main" id="{F51D3458-FC84-BFE7-0F35-46578820EF21}"/>
              </a:ext>
            </a:extLst>
          </p:cNvPr>
          <p:cNvSpPr>
            <a:spLocks noGrp="1"/>
          </p:cNvSpPr>
          <p:nvPr>
            <p:ph idx="1"/>
          </p:nvPr>
        </p:nvSpPr>
        <p:spPr>
          <a:xfrm>
            <a:off x="539552" y="1930400"/>
            <a:ext cx="6347714" cy="3880773"/>
          </a:xfrm>
        </p:spPr>
        <p:txBody>
          <a:bodyPr>
            <a:noAutofit/>
          </a:bodyPr>
          <a:lstStyle/>
          <a:p>
            <a:r>
              <a:rPr lang="en-GB" sz="1600" dirty="0"/>
              <a:t>Cyber attacks become more sophisticated with time and the use of AI in executing these and defending against is going to escalate</a:t>
            </a:r>
          </a:p>
          <a:p>
            <a:pPr lvl="1"/>
            <a:r>
              <a:rPr kumimoji="0" lang="en-US" altLang="en-US" sz="1400" b="0" i="0" u="none" strike="noStrike" cap="none" normalizeH="0" baseline="0" dirty="0">
                <a:ln>
                  <a:noFill/>
                </a:ln>
                <a:solidFill>
                  <a:srgbClr val="161616"/>
                </a:solidFill>
                <a:effectLst/>
                <a:latin typeface="inherit"/>
              </a:rPr>
              <a:t>Studies estimate that as many as 90% of successful cyberattacks and 70% of </a:t>
            </a:r>
            <a:r>
              <a:rPr kumimoji="0" lang="en-US" altLang="en-US" sz="1400" b="0" i="0" u="none" strike="noStrike" cap="none" normalizeH="0" baseline="0" dirty="0">
                <a:ln>
                  <a:noFill/>
                </a:ln>
                <a:solidFill>
                  <a:srgbClr val="FF0000"/>
                </a:solidFill>
                <a:effectLst/>
                <a:latin typeface="inherit"/>
              </a:rPr>
              <a:t>successful data breaches originate at endpoint devices</a:t>
            </a:r>
            <a:r>
              <a:rPr kumimoji="0" lang="en-US" altLang="en-US" sz="1400" b="0" i="0" u="none" strike="noStrike" cap="none" normalizeH="0" baseline="0" dirty="0">
                <a:ln>
                  <a:noFill/>
                </a:ln>
                <a:solidFill>
                  <a:srgbClr val="161616"/>
                </a:solidFill>
                <a:effectLst/>
                <a:latin typeface="inherit"/>
              </a:rPr>
              <a:t>. </a:t>
            </a:r>
          </a:p>
          <a:p>
            <a:pPr lvl="1"/>
            <a:r>
              <a:rPr lang="en-US" altLang="en-US" sz="1400" dirty="0">
                <a:solidFill>
                  <a:srgbClr val="161616"/>
                </a:solidFill>
                <a:latin typeface="inherit"/>
              </a:rPr>
              <a:t>A</a:t>
            </a:r>
            <a:r>
              <a:rPr kumimoji="0" lang="en-US" altLang="en-US" sz="1400" b="0" i="0" u="none" strike="noStrike" cap="none" normalizeH="0" baseline="0" dirty="0">
                <a:ln>
                  <a:noFill/>
                </a:ln>
                <a:solidFill>
                  <a:srgbClr val="161616"/>
                </a:solidFill>
                <a:effectLst/>
                <a:latin typeface="inherit"/>
              </a:rPr>
              <a:t>ntivirus, anti-malware, firewalls, and other traditional endpoint security solutions have evolved over time, they're still limited to detecting known, file-based, or signature-based endpoint threats.</a:t>
            </a:r>
          </a:p>
          <a:p>
            <a:pPr lvl="1"/>
            <a:r>
              <a:rPr lang="en-US" altLang="en-US" sz="1400" dirty="0">
                <a:solidFill>
                  <a:srgbClr val="161616"/>
                </a:solidFill>
                <a:latin typeface="inherit"/>
              </a:rPr>
              <a:t>M</a:t>
            </a:r>
            <a:r>
              <a:rPr kumimoji="0" lang="en-US" altLang="en-US" sz="1400" b="0" i="0" u="none" strike="noStrike" cap="none" normalizeH="0" baseline="0" dirty="0">
                <a:ln>
                  <a:noFill/>
                </a:ln>
                <a:solidFill>
                  <a:srgbClr val="161616"/>
                </a:solidFill>
                <a:effectLst/>
                <a:latin typeface="inherit"/>
              </a:rPr>
              <a:t>uch less effective at stopping </a:t>
            </a:r>
            <a:r>
              <a:rPr kumimoji="0" lang="en-US" altLang="en-US" sz="1400" b="0" i="0" u="none" strike="noStrike" cap="none" normalizeH="0" baseline="0" dirty="0">
                <a:ln>
                  <a:noFill/>
                </a:ln>
                <a:solidFill>
                  <a:srgbClr val="0062FE"/>
                </a:solidFill>
                <a:effectLst/>
                <a:latin typeface="inherit"/>
              </a:rPr>
              <a:t>social engineering</a:t>
            </a:r>
            <a:r>
              <a:rPr kumimoji="0" lang="en-US" altLang="en-US" sz="1400" b="0" i="0" u="none" strike="noStrike" cap="none" normalizeH="0" baseline="0" dirty="0">
                <a:ln>
                  <a:noFill/>
                </a:ln>
                <a:solidFill>
                  <a:srgbClr val="161616"/>
                </a:solidFill>
                <a:effectLst/>
                <a:latin typeface="inherit"/>
              </a:rPr>
              <a:t> attacks, such as </a:t>
            </a:r>
            <a:r>
              <a:rPr kumimoji="0" lang="en-US" altLang="en-US" sz="1400" b="0" i="0" u="none" strike="noStrike" cap="none" normalizeH="0" baseline="0" dirty="0">
                <a:ln>
                  <a:noFill/>
                </a:ln>
                <a:solidFill>
                  <a:srgbClr val="0062FE"/>
                </a:solidFill>
                <a:effectLst/>
                <a:latin typeface="inherit"/>
              </a:rPr>
              <a:t>phishing</a:t>
            </a:r>
            <a:r>
              <a:rPr kumimoji="0" lang="en-US" altLang="en-US" sz="1400" b="0" i="0" u="none" strike="noStrike" cap="none" normalizeH="0" baseline="0" dirty="0">
                <a:ln>
                  <a:noFill/>
                </a:ln>
                <a:solidFill>
                  <a:srgbClr val="161616"/>
                </a:solidFill>
                <a:effectLst/>
                <a:latin typeface="inherit"/>
              </a:rPr>
              <a:t> messages. Phishing is the most common delivery method for ransomware.</a:t>
            </a:r>
          </a:p>
          <a:p>
            <a:pPr lvl="1"/>
            <a:r>
              <a:rPr lang="en-US" altLang="en-US" sz="1400" dirty="0">
                <a:solidFill>
                  <a:srgbClr val="161616"/>
                </a:solidFill>
                <a:latin typeface="inherit"/>
              </a:rPr>
              <a:t>Ineffective</a:t>
            </a:r>
            <a:r>
              <a:rPr kumimoji="0" lang="en-US" altLang="en-US" sz="1400" b="0" i="0" u="none" strike="noStrike" cap="none" normalizeH="0" baseline="0" dirty="0">
                <a:ln>
                  <a:noFill/>
                </a:ln>
                <a:solidFill>
                  <a:srgbClr val="161616"/>
                </a:solidFill>
                <a:effectLst/>
                <a:latin typeface="inherit"/>
              </a:rPr>
              <a:t> against a growing number of 'fileless' cyberattacks that operate exclusively in computer memory to avoid file or signature scanning altogether. </a:t>
            </a:r>
            <a:r>
              <a:rPr kumimoji="0" lang="en-US" altLang="en-US" sz="1400" b="0" i="0" u="none" strike="noStrike" cap="none" normalizeH="0" baseline="0" dirty="0">
                <a:ln>
                  <a:noFill/>
                </a:ln>
                <a:solidFill>
                  <a:srgbClr val="161616"/>
                </a:solidFill>
                <a:effectLst/>
                <a:latin typeface="inherit"/>
                <a:hlinkClick r:id="rId2"/>
              </a:rPr>
              <a:t>Fileless attacks</a:t>
            </a:r>
            <a:endParaRPr lang="en-US" altLang="en-US" sz="2200" dirty="0">
              <a:solidFill>
                <a:schemeClr val="tx1"/>
              </a:solidFill>
              <a:latin typeface="Arial" panose="020B0604020202020204" pitchFamily="34" charset="0"/>
            </a:endParaRPr>
          </a:p>
          <a:p>
            <a:r>
              <a:rPr lang="en-GB" sz="1600" dirty="0">
                <a:hlinkClick r:id="rId3"/>
              </a:rPr>
              <a:t>The process of Automation and the need</a:t>
            </a:r>
            <a:endParaRPr lang="en-GB" sz="1600" dirty="0"/>
          </a:p>
          <a:p>
            <a:r>
              <a:rPr lang="en-GB" sz="1600" dirty="0"/>
              <a:t>Ref - https://www.ibm.com/topics/edr</a:t>
            </a:r>
          </a:p>
        </p:txBody>
      </p:sp>
      <p:sp>
        <p:nvSpPr>
          <p:cNvPr id="8" name="Rectangle 5">
            <a:extLst>
              <a:ext uri="{FF2B5EF4-FFF2-40B4-BE49-F238E27FC236}">
                <a16:creationId xmlns:a16="http://schemas.microsoft.com/office/drawing/2014/main" id="{9ED43E7A-6924-65D7-5526-160B21C4FCE7}"/>
              </a:ext>
            </a:extLst>
          </p:cNvPr>
          <p:cNvSpPr>
            <a:spLocks noChangeArrowheads="1"/>
          </p:cNvSpPr>
          <p:nvPr/>
        </p:nvSpPr>
        <p:spPr bwMode="auto">
          <a:xfrm>
            <a:off x="152400" y="1524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rgbClr val="161616"/>
                </a:solidFill>
                <a:effectLst/>
                <a:latin typeface="inherit"/>
              </a:rPr>
            </a:br>
            <a:endParaRPr kumimoji="0" lang="en-US" altLang="en-US" sz="1200" b="0" i="0" u="none" strike="noStrike" cap="none" normalizeH="0" baseline="0">
              <a:ln>
                <a:noFill/>
              </a:ln>
              <a:solidFill>
                <a:srgbClr val="161616"/>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596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E6B4E-EEDD-5DA4-D3F6-E7EDF2856551}"/>
              </a:ext>
            </a:extLst>
          </p:cNvPr>
          <p:cNvSpPr>
            <a:spLocks noGrp="1"/>
          </p:cNvSpPr>
          <p:nvPr>
            <p:ph type="title"/>
          </p:nvPr>
        </p:nvSpPr>
        <p:spPr>
          <a:xfrm>
            <a:off x="453446" y="81428"/>
            <a:ext cx="6347713" cy="1320800"/>
          </a:xfrm>
        </p:spPr>
        <p:txBody>
          <a:bodyPr/>
          <a:lstStyle/>
          <a:p>
            <a:r>
              <a:rPr lang="en-GB" dirty="0">
                <a:solidFill>
                  <a:srgbClr val="FF0000"/>
                </a:solidFill>
              </a:rPr>
              <a:t>S</a:t>
            </a:r>
            <a:r>
              <a:rPr lang="en-GB" dirty="0"/>
              <a:t>ecurity </a:t>
            </a:r>
            <a:r>
              <a:rPr lang="en-GB" dirty="0">
                <a:solidFill>
                  <a:srgbClr val="FF0000"/>
                </a:solidFill>
              </a:rPr>
              <a:t>O</a:t>
            </a:r>
            <a:r>
              <a:rPr lang="en-GB" dirty="0"/>
              <a:t>perations </a:t>
            </a:r>
            <a:r>
              <a:rPr lang="en-GB" dirty="0">
                <a:solidFill>
                  <a:srgbClr val="FF0000"/>
                </a:solidFill>
              </a:rPr>
              <a:t>C</a:t>
            </a:r>
            <a:r>
              <a:rPr lang="en-GB" dirty="0"/>
              <a:t>entre</a:t>
            </a:r>
          </a:p>
        </p:txBody>
      </p:sp>
      <p:sp>
        <p:nvSpPr>
          <p:cNvPr id="3" name="Content Placeholder 2">
            <a:extLst>
              <a:ext uri="{FF2B5EF4-FFF2-40B4-BE49-F238E27FC236}">
                <a16:creationId xmlns:a16="http://schemas.microsoft.com/office/drawing/2014/main" id="{3C7BFFAA-71CC-FE29-D52E-1925AEB734CA}"/>
              </a:ext>
            </a:extLst>
          </p:cNvPr>
          <p:cNvSpPr>
            <a:spLocks noGrp="1"/>
          </p:cNvSpPr>
          <p:nvPr>
            <p:ph idx="1"/>
          </p:nvPr>
        </p:nvSpPr>
        <p:spPr>
          <a:xfrm>
            <a:off x="431540" y="3140968"/>
            <a:ext cx="8280920" cy="3840686"/>
          </a:xfrm>
        </p:spPr>
        <p:txBody>
          <a:bodyPr>
            <a:normAutofit fontScale="92500" lnSpcReduction="20000"/>
          </a:bodyPr>
          <a:lstStyle/>
          <a:p>
            <a:r>
              <a:rPr lang="en-GB" b="0" i="0" dirty="0">
                <a:solidFill>
                  <a:srgbClr val="FF0000"/>
                </a:solidFill>
                <a:effectLst/>
                <a:latin typeface="Montserrat" panose="020F0502020204030204" pitchFamily="2" charset="0"/>
              </a:rPr>
              <a:t>Moving towards automation and a full professional service</a:t>
            </a:r>
          </a:p>
          <a:p>
            <a:r>
              <a:rPr lang="en-GB" b="0" i="0" dirty="0">
                <a:solidFill>
                  <a:srgbClr val="FF0000"/>
                </a:solidFill>
                <a:effectLst/>
                <a:latin typeface="Montserrat" panose="020F0502020204030204" pitchFamily="2" charset="0"/>
              </a:rPr>
              <a:t>centralised</a:t>
            </a:r>
            <a:r>
              <a:rPr lang="en-GB" b="0" i="0" dirty="0">
                <a:solidFill>
                  <a:srgbClr val="212529"/>
                </a:solidFill>
                <a:effectLst/>
                <a:latin typeface="Montserrat" panose="020F0502020204030204" pitchFamily="2" charset="0"/>
              </a:rPr>
              <a:t> function within an organisation employing </a:t>
            </a:r>
            <a:r>
              <a:rPr lang="en-GB" b="0" i="0" dirty="0">
                <a:solidFill>
                  <a:srgbClr val="FF0000"/>
                </a:solidFill>
                <a:effectLst/>
                <a:latin typeface="Montserrat" panose="020F0502020204030204" pitchFamily="2" charset="0"/>
              </a:rPr>
              <a:t>people, processes, and technology </a:t>
            </a:r>
            <a:r>
              <a:rPr lang="en-GB" b="0" i="0" dirty="0">
                <a:solidFill>
                  <a:srgbClr val="212529"/>
                </a:solidFill>
                <a:effectLst/>
                <a:latin typeface="Montserrat" panose="020F0502020204030204" pitchFamily="2" charset="0"/>
              </a:rPr>
              <a:t>to continuously monitor and improve it’s organization's security posture while preventing, detecting, analysing, and responding to cybersecurity incidents.</a:t>
            </a:r>
          </a:p>
          <a:p>
            <a:r>
              <a:rPr lang="en-GB" dirty="0">
                <a:solidFill>
                  <a:srgbClr val="212529"/>
                </a:solidFill>
                <a:latin typeface="Montserrat" panose="020F0502020204030204" pitchFamily="2" charset="0"/>
              </a:rPr>
              <a:t>May be in the organisation or part of a managed system from a specialist cyber company</a:t>
            </a:r>
          </a:p>
          <a:p>
            <a:r>
              <a:rPr lang="en-GB" dirty="0">
                <a:solidFill>
                  <a:srgbClr val="212529"/>
                </a:solidFill>
                <a:latin typeface="Montserrat" panose="020F0502020204030204" pitchFamily="2" charset="0"/>
              </a:rPr>
              <a:t>Teams of specialist take on roles such as </a:t>
            </a:r>
          </a:p>
          <a:p>
            <a:pPr lvl="1"/>
            <a:r>
              <a:rPr lang="en-GB" dirty="0">
                <a:solidFill>
                  <a:srgbClr val="212529"/>
                </a:solidFill>
                <a:latin typeface="Montserrat" panose="020F0502020204030204" pitchFamily="2" charset="0"/>
              </a:rPr>
              <a:t>Engineers - b</a:t>
            </a:r>
            <a:r>
              <a:rPr lang="en-GB" b="0" i="0" dirty="0">
                <a:solidFill>
                  <a:srgbClr val="161616"/>
                </a:solidFill>
                <a:effectLst/>
                <a:latin typeface="IBM Plex Sans" panose="020B0503050203000203" pitchFamily="34" charset="0"/>
              </a:rPr>
              <a:t>uild out and manage the organization's security architecture</a:t>
            </a:r>
            <a:endParaRPr lang="en-GB" dirty="0">
              <a:solidFill>
                <a:srgbClr val="212529"/>
              </a:solidFill>
              <a:latin typeface="Montserrat" panose="020F0502020204030204" pitchFamily="2" charset="0"/>
            </a:endParaRPr>
          </a:p>
          <a:p>
            <a:pPr lvl="1"/>
            <a:r>
              <a:rPr lang="en-GB" dirty="0">
                <a:solidFill>
                  <a:srgbClr val="212529"/>
                </a:solidFill>
                <a:latin typeface="Montserrat" panose="020F0502020204030204" pitchFamily="2" charset="0"/>
              </a:rPr>
              <a:t>Analysts – Tier 1, 2 and 3 depending on the importance of the alert/threat/incident etc </a:t>
            </a:r>
          </a:p>
          <a:p>
            <a:pPr lvl="2"/>
            <a:r>
              <a:rPr lang="en-GB" b="0" i="0" dirty="0">
                <a:solidFill>
                  <a:srgbClr val="161616"/>
                </a:solidFill>
                <a:effectLst/>
                <a:latin typeface="IBM Plex Sans" panose="020B0503050203000203" pitchFamily="34" charset="0"/>
              </a:rPr>
              <a:t>detect, investigate, and triage (prioritize) threats, and identify impacted hosts, endpoints, users etc.</a:t>
            </a:r>
            <a:endParaRPr lang="en-GB" dirty="0">
              <a:solidFill>
                <a:srgbClr val="212529"/>
              </a:solidFill>
              <a:latin typeface="Montserrat" panose="020F0502020204030204" pitchFamily="2" charset="0"/>
            </a:endParaRPr>
          </a:p>
          <a:p>
            <a:pPr lvl="1"/>
            <a:r>
              <a:rPr lang="en-GB" dirty="0">
                <a:solidFill>
                  <a:srgbClr val="212529"/>
                </a:solidFill>
                <a:latin typeface="Montserrat" panose="020F0502020204030204" pitchFamily="2" charset="0"/>
              </a:rPr>
              <a:t>Threat Hunters – following perceived weaknesses to shore up the defences.</a:t>
            </a:r>
          </a:p>
          <a:p>
            <a:pPr lvl="1"/>
            <a:endParaRPr lang="en-GB" dirty="0"/>
          </a:p>
        </p:txBody>
      </p:sp>
      <p:pic>
        <p:nvPicPr>
          <p:cNvPr id="2050" name="Picture 2" descr="What is Security Operations Center (SOC)? | IBM">
            <a:extLst>
              <a:ext uri="{FF2B5EF4-FFF2-40B4-BE49-F238E27FC236}">
                <a16:creationId xmlns:a16="http://schemas.microsoft.com/office/drawing/2014/main" id="{DDB681B4-A5F0-7D85-6123-66D4D499D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836712"/>
            <a:ext cx="5400600"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6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FD2A-E9CF-1539-EA68-664F56F015CA}"/>
              </a:ext>
            </a:extLst>
          </p:cNvPr>
          <p:cNvSpPr>
            <a:spLocks noGrp="1"/>
          </p:cNvSpPr>
          <p:nvPr>
            <p:ph type="title"/>
          </p:nvPr>
        </p:nvSpPr>
        <p:spPr/>
        <p:txBody>
          <a:bodyPr/>
          <a:lstStyle/>
          <a:p>
            <a:r>
              <a:rPr lang="en-GB" dirty="0"/>
              <a:t>What else does a SOC do?</a:t>
            </a:r>
          </a:p>
        </p:txBody>
      </p:sp>
      <p:sp>
        <p:nvSpPr>
          <p:cNvPr id="3" name="Content Placeholder 2">
            <a:extLst>
              <a:ext uri="{FF2B5EF4-FFF2-40B4-BE49-F238E27FC236}">
                <a16:creationId xmlns:a16="http://schemas.microsoft.com/office/drawing/2014/main" id="{C91E710F-300F-A87F-9CA9-0FCA1132C231}"/>
              </a:ext>
            </a:extLst>
          </p:cNvPr>
          <p:cNvSpPr>
            <a:spLocks noGrp="1"/>
          </p:cNvSpPr>
          <p:nvPr>
            <p:ph idx="1"/>
          </p:nvPr>
        </p:nvSpPr>
        <p:spPr>
          <a:xfrm>
            <a:off x="467544" y="1412776"/>
            <a:ext cx="6347714" cy="5369387"/>
          </a:xfrm>
        </p:spPr>
        <p:txBody>
          <a:bodyPr>
            <a:normAutofit lnSpcReduction="10000"/>
          </a:bodyPr>
          <a:lstStyle/>
          <a:p>
            <a:pPr algn="l" fontAlgn="base"/>
            <a:r>
              <a:rPr lang="en-GB" sz="1600" b="0" i="0" dirty="0">
                <a:solidFill>
                  <a:srgbClr val="161616"/>
                </a:solidFill>
                <a:effectLst/>
                <a:latin typeface="inherit"/>
              </a:rPr>
              <a:t>SOC activities and responsibilities fall into three general categories – </a:t>
            </a:r>
          </a:p>
          <a:p>
            <a:pPr algn="l" fontAlgn="base"/>
            <a:r>
              <a:rPr lang="en-GB" sz="1600" b="0" i="0" dirty="0">
                <a:solidFill>
                  <a:srgbClr val="161616"/>
                </a:solidFill>
                <a:effectLst/>
                <a:latin typeface="inherit"/>
              </a:rPr>
              <a:t>Preparation</a:t>
            </a:r>
          </a:p>
          <a:p>
            <a:pPr lvl="1" fontAlgn="base"/>
            <a:r>
              <a:rPr lang="en-GB" sz="1400" dirty="0">
                <a:solidFill>
                  <a:srgbClr val="FF0000"/>
                </a:solidFill>
                <a:latin typeface="inherit"/>
              </a:rPr>
              <a:t>Asset inventory </a:t>
            </a:r>
            <a:r>
              <a:rPr lang="en-GB" sz="1400" dirty="0">
                <a:solidFill>
                  <a:srgbClr val="161616"/>
                </a:solidFill>
                <a:latin typeface="inherit"/>
              </a:rPr>
              <a:t>– need an exhaustive list of all software and hardware, and the tools used to protect them.</a:t>
            </a:r>
          </a:p>
          <a:p>
            <a:pPr lvl="1" fontAlgn="base"/>
            <a:r>
              <a:rPr lang="en-GB" sz="1400" dirty="0">
                <a:solidFill>
                  <a:srgbClr val="161616"/>
                </a:solidFill>
                <a:latin typeface="inherit"/>
              </a:rPr>
              <a:t>Preventative maintenance - </a:t>
            </a:r>
            <a:r>
              <a:rPr lang="en-GB" sz="1400" dirty="0">
                <a:solidFill>
                  <a:srgbClr val="FF0000"/>
                </a:solidFill>
                <a:latin typeface="inherit"/>
              </a:rPr>
              <a:t>updating</a:t>
            </a:r>
            <a:r>
              <a:rPr lang="en-GB" sz="1400" dirty="0">
                <a:solidFill>
                  <a:srgbClr val="161616"/>
                </a:solidFill>
                <a:latin typeface="inherit"/>
              </a:rPr>
              <a:t> patches, software, firewall rules, whitelists, blacklists, security policies and procedures.</a:t>
            </a:r>
          </a:p>
          <a:p>
            <a:pPr lvl="1" fontAlgn="base"/>
            <a:r>
              <a:rPr lang="en-GB" sz="1400" dirty="0">
                <a:solidFill>
                  <a:srgbClr val="FF0000"/>
                </a:solidFill>
                <a:latin typeface="inherit"/>
              </a:rPr>
              <a:t>Backups</a:t>
            </a:r>
            <a:r>
              <a:rPr lang="en-GB" sz="1400" dirty="0">
                <a:solidFill>
                  <a:srgbClr val="161616"/>
                </a:solidFill>
                <a:latin typeface="inherit"/>
              </a:rPr>
              <a:t> – in the event of ransom ware etc</a:t>
            </a:r>
          </a:p>
          <a:p>
            <a:pPr algn="l" fontAlgn="base"/>
            <a:r>
              <a:rPr lang="en-GB" sz="1600" b="0" i="0" dirty="0">
                <a:solidFill>
                  <a:srgbClr val="161616"/>
                </a:solidFill>
                <a:effectLst/>
                <a:latin typeface="inherit"/>
              </a:rPr>
              <a:t>Planning </a:t>
            </a:r>
          </a:p>
          <a:p>
            <a:pPr lvl="1" fontAlgn="base"/>
            <a:r>
              <a:rPr lang="en-GB" sz="1400" b="0" i="0" dirty="0">
                <a:solidFill>
                  <a:srgbClr val="FF0000"/>
                </a:solidFill>
                <a:effectLst/>
                <a:latin typeface="IBM Plex Sans" panose="020B0503050203000203" pitchFamily="34" charset="0"/>
              </a:rPr>
              <a:t>developing</a:t>
            </a:r>
            <a:r>
              <a:rPr lang="en-GB" sz="1400" b="0" i="0" dirty="0">
                <a:solidFill>
                  <a:srgbClr val="161616"/>
                </a:solidFill>
                <a:effectLst/>
                <a:latin typeface="IBM Plex Sans" panose="020B0503050203000203" pitchFamily="34" charset="0"/>
              </a:rPr>
              <a:t> the organization's incident response plan, which defines activities, roles, responsibilities in the event of a threat or incident </a:t>
            </a:r>
            <a:endParaRPr lang="en-GB" sz="1400" b="0" i="0" dirty="0">
              <a:solidFill>
                <a:srgbClr val="161616"/>
              </a:solidFill>
              <a:effectLst/>
              <a:latin typeface="inherit"/>
            </a:endParaRPr>
          </a:p>
          <a:p>
            <a:pPr algn="l" fontAlgn="base"/>
            <a:r>
              <a:rPr lang="en-GB" sz="1600" b="0" i="0" dirty="0">
                <a:solidFill>
                  <a:srgbClr val="161616"/>
                </a:solidFill>
                <a:effectLst/>
                <a:latin typeface="inherit"/>
              </a:rPr>
              <a:t>Prevention</a:t>
            </a:r>
          </a:p>
          <a:p>
            <a:pPr lvl="1" fontAlgn="base"/>
            <a:r>
              <a:rPr lang="en-GB" sz="1400" b="0" i="0" dirty="0">
                <a:solidFill>
                  <a:srgbClr val="FF0000"/>
                </a:solidFill>
                <a:effectLst/>
                <a:latin typeface="IBM Plex Sans" panose="020B0503050203000203" pitchFamily="34" charset="0"/>
              </a:rPr>
              <a:t>Regular testing </a:t>
            </a:r>
            <a:r>
              <a:rPr lang="en-GB" sz="1400" b="0" i="0" dirty="0">
                <a:solidFill>
                  <a:srgbClr val="161616"/>
                </a:solidFill>
                <a:effectLst/>
                <a:latin typeface="IBM Plex Sans" panose="020B0503050203000203" pitchFamily="34" charset="0"/>
              </a:rPr>
              <a:t>-vulnerability assessments – comprehensive assessments that identify each resource's vulnerability to potential threats, and the associate costs. </a:t>
            </a:r>
            <a:endParaRPr lang="en-GB" sz="1400" dirty="0">
              <a:solidFill>
                <a:srgbClr val="161616"/>
              </a:solidFill>
              <a:latin typeface="IBM Plex Sans" panose="020B0503050203000203" pitchFamily="34" charset="0"/>
            </a:endParaRPr>
          </a:p>
          <a:p>
            <a:pPr lvl="1" fontAlgn="base"/>
            <a:r>
              <a:rPr lang="en-GB" sz="1400" b="0" i="0" dirty="0">
                <a:solidFill>
                  <a:srgbClr val="161616"/>
                </a:solidFill>
                <a:effectLst/>
                <a:latin typeface="IBM Plex Sans" panose="020B0503050203000203" pitchFamily="34" charset="0"/>
              </a:rPr>
              <a:t> </a:t>
            </a:r>
            <a:r>
              <a:rPr lang="en-GB" sz="1400" b="0" i="0" dirty="0">
                <a:solidFill>
                  <a:srgbClr val="FF0000"/>
                </a:solidFill>
                <a:effectLst/>
                <a:latin typeface="IBM Plex Sans" panose="020B0503050203000203" pitchFamily="34" charset="0"/>
              </a:rPr>
              <a:t>penetration tests </a:t>
            </a:r>
            <a:r>
              <a:rPr lang="en-GB" sz="1400" b="0" i="0" dirty="0">
                <a:solidFill>
                  <a:srgbClr val="161616"/>
                </a:solidFill>
                <a:effectLst/>
                <a:latin typeface="IBM Plex Sans" panose="020B0503050203000203" pitchFamily="34" charset="0"/>
              </a:rPr>
              <a:t>that simulate specific attacks on one more systems. </a:t>
            </a:r>
          </a:p>
          <a:p>
            <a:pPr lvl="1" fontAlgn="base"/>
            <a:r>
              <a:rPr lang="en-GB" sz="1400" b="0" i="0" dirty="0">
                <a:solidFill>
                  <a:srgbClr val="FF0000"/>
                </a:solidFill>
                <a:effectLst/>
                <a:latin typeface="IBM Plex Sans" panose="020B0503050203000203" pitchFamily="34" charset="0"/>
              </a:rPr>
              <a:t>remediates or fine-tunes </a:t>
            </a:r>
            <a:r>
              <a:rPr lang="en-GB" sz="1400" b="0" i="0" dirty="0">
                <a:solidFill>
                  <a:srgbClr val="161616"/>
                </a:solidFill>
                <a:effectLst/>
                <a:latin typeface="IBM Plex Sans" panose="020B0503050203000203" pitchFamily="34" charset="0"/>
              </a:rPr>
              <a:t>applications, security policies, best practices and incident response plans based on the results of these test</a:t>
            </a:r>
          </a:p>
        </p:txBody>
      </p:sp>
    </p:spTree>
    <p:extLst>
      <p:ext uri="{BB962C8B-B14F-4D97-AF65-F5344CB8AC3E}">
        <p14:creationId xmlns:p14="http://schemas.microsoft.com/office/powerpoint/2010/main" val="183356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47B3D-DC5E-5EA2-ECDD-49B2FDEE9E33}"/>
              </a:ext>
            </a:extLst>
          </p:cNvPr>
          <p:cNvSpPr>
            <a:spLocks noGrp="1"/>
          </p:cNvSpPr>
          <p:nvPr>
            <p:ph type="title"/>
          </p:nvPr>
        </p:nvSpPr>
        <p:spPr/>
        <p:txBody>
          <a:bodyPr>
            <a:normAutofit fontScale="90000"/>
          </a:bodyPr>
          <a:lstStyle/>
          <a:p>
            <a:r>
              <a:rPr lang="en-GB" dirty="0">
                <a:solidFill>
                  <a:srgbClr val="FF0000"/>
                </a:solidFill>
              </a:rPr>
              <a:t>E</a:t>
            </a:r>
            <a:r>
              <a:rPr lang="en-GB" dirty="0"/>
              <a:t>ndpoint </a:t>
            </a:r>
            <a:r>
              <a:rPr lang="en-GB" dirty="0">
                <a:solidFill>
                  <a:srgbClr val="FF0000"/>
                </a:solidFill>
              </a:rPr>
              <a:t>D</a:t>
            </a:r>
            <a:r>
              <a:rPr lang="en-GB" dirty="0"/>
              <a:t>etection and </a:t>
            </a:r>
            <a:r>
              <a:rPr lang="en-GB" dirty="0">
                <a:solidFill>
                  <a:srgbClr val="FF0000"/>
                </a:solidFill>
              </a:rPr>
              <a:t>R</a:t>
            </a:r>
            <a:r>
              <a:rPr lang="en-GB" dirty="0"/>
              <a:t>esponse</a:t>
            </a:r>
            <a:br>
              <a:rPr lang="en-GB" dirty="0"/>
            </a:br>
            <a:endParaRPr lang="en-GB" dirty="0"/>
          </a:p>
        </p:txBody>
      </p:sp>
      <p:sp>
        <p:nvSpPr>
          <p:cNvPr id="3" name="Content Placeholder 2">
            <a:extLst>
              <a:ext uri="{FF2B5EF4-FFF2-40B4-BE49-F238E27FC236}">
                <a16:creationId xmlns:a16="http://schemas.microsoft.com/office/drawing/2014/main" id="{5FC84821-3225-E2C7-9542-1E0E768BD76E}"/>
              </a:ext>
            </a:extLst>
          </p:cNvPr>
          <p:cNvSpPr>
            <a:spLocks noGrp="1"/>
          </p:cNvSpPr>
          <p:nvPr>
            <p:ph idx="1"/>
          </p:nvPr>
        </p:nvSpPr>
        <p:spPr/>
        <p:txBody>
          <a:bodyPr>
            <a:normAutofit lnSpcReduction="10000"/>
          </a:bodyPr>
          <a:lstStyle/>
          <a:p>
            <a:r>
              <a:rPr lang="en-GB" sz="2000" b="0" i="0" dirty="0">
                <a:solidFill>
                  <a:srgbClr val="000000"/>
                </a:solidFill>
                <a:effectLst/>
                <a:latin typeface="neue-haas-grotesk-display"/>
              </a:rPr>
              <a:t>It achieves detection and responding by end points in the network primarily by continuous monitoring</a:t>
            </a:r>
          </a:p>
          <a:p>
            <a:pPr lvl="2"/>
            <a:r>
              <a:rPr lang="en-GB" sz="1600" b="0" i="0" dirty="0">
                <a:solidFill>
                  <a:srgbClr val="000000"/>
                </a:solidFill>
                <a:effectLst/>
                <a:latin typeface="neue-haas-grotesk-display"/>
              </a:rPr>
              <a:t>records and stores </a:t>
            </a:r>
            <a:r>
              <a:rPr lang="en-GB" sz="1600" b="0" i="0" dirty="0">
                <a:solidFill>
                  <a:srgbClr val="FF0000"/>
                </a:solidFill>
                <a:effectLst/>
                <a:latin typeface="neue-haas-grotesk-display"/>
              </a:rPr>
              <a:t>endpoint</a:t>
            </a:r>
            <a:r>
              <a:rPr lang="en-GB" sz="1600" b="0" i="0" dirty="0">
                <a:solidFill>
                  <a:srgbClr val="000000"/>
                </a:solidFill>
                <a:effectLst/>
                <a:latin typeface="neue-haas-grotesk-display"/>
              </a:rPr>
              <a:t>-system-level behaviours, </a:t>
            </a:r>
          </a:p>
          <a:p>
            <a:pPr lvl="2"/>
            <a:r>
              <a:rPr lang="en-GB" sz="1600" b="0" i="0" dirty="0">
                <a:solidFill>
                  <a:srgbClr val="000000"/>
                </a:solidFill>
                <a:effectLst/>
                <a:latin typeface="neue-haas-grotesk-display"/>
              </a:rPr>
              <a:t>uses various data analytics techniques to detect suspicious system behaviour</a:t>
            </a:r>
          </a:p>
          <a:p>
            <a:pPr lvl="2"/>
            <a:r>
              <a:rPr lang="en-GB" sz="1600" b="0" i="0" dirty="0">
                <a:solidFill>
                  <a:srgbClr val="000000"/>
                </a:solidFill>
                <a:effectLst/>
                <a:latin typeface="neue-haas-grotesk-display"/>
              </a:rPr>
              <a:t> provides contextual information, </a:t>
            </a:r>
          </a:p>
          <a:p>
            <a:pPr lvl="2"/>
            <a:r>
              <a:rPr lang="en-GB" sz="1600" b="0" i="0" dirty="0">
                <a:solidFill>
                  <a:srgbClr val="000000"/>
                </a:solidFill>
                <a:effectLst/>
                <a:latin typeface="neue-haas-grotesk-display"/>
              </a:rPr>
              <a:t>blocks malicious activity, </a:t>
            </a:r>
          </a:p>
          <a:p>
            <a:pPr lvl="2"/>
            <a:r>
              <a:rPr lang="en-GB" sz="1600" b="0" i="0" dirty="0">
                <a:solidFill>
                  <a:srgbClr val="000000"/>
                </a:solidFill>
                <a:effectLst/>
                <a:latin typeface="neue-haas-grotesk-display"/>
              </a:rPr>
              <a:t>provides remediation suggestions to restore affected systems.</a:t>
            </a:r>
          </a:p>
          <a:p>
            <a:r>
              <a:rPr lang="en-GB" b="0" i="0" dirty="0">
                <a:solidFill>
                  <a:srgbClr val="202122"/>
                </a:solidFill>
                <a:effectLst/>
                <a:latin typeface="Arial" panose="020B0604020202020204" pitchFamily="34" charset="0"/>
              </a:rPr>
              <a:t>It does this by collecting and aggregating data from endpoints and other sources</a:t>
            </a:r>
          </a:p>
          <a:p>
            <a:r>
              <a:rPr lang="en-GB" dirty="0">
                <a:solidFill>
                  <a:srgbClr val="202122"/>
                </a:solidFill>
                <a:latin typeface="Arial" panose="020B0604020202020204" pitchFamily="34" charset="0"/>
                <a:hlinkClick r:id="rId2"/>
              </a:rPr>
              <a:t>EDR explained</a:t>
            </a:r>
            <a:endParaRPr lang="en-GB" dirty="0"/>
          </a:p>
        </p:txBody>
      </p:sp>
    </p:spTree>
    <p:extLst>
      <p:ext uri="{BB962C8B-B14F-4D97-AF65-F5344CB8AC3E}">
        <p14:creationId xmlns:p14="http://schemas.microsoft.com/office/powerpoint/2010/main" val="387408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97353-5A9E-8988-A2A6-62EA31F62E4C}"/>
              </a:ext>
            </a:extLst>
          </p:cNvPr>
          <p:cNvSpPr>
            <a:spLocks noGrp="1"/>
          </p:cNvSpPr>
          <p:nvPr>
            <p:ph type="title"/>
          </p:nvPr>
        </p:nvSpPr>
        <p:spPr/>
        <p:txBody>
          <a:bodyPr/>
          <a:lstStyle/>
          <a:p>
            <a:r>
              <a:rPr lang="en-GB" dirty="0" err="1"/>
              <a:t>e</a:t>
            </a:r>
            <a:r>
              <a:rPr lang="en-GB" dirty="0" err="1">
                <a:solidFill>
                  <a:srgbClr val="FF0000"/>
                </a:solidFill>
              </a:rPr>
              <a:t>X</a:t>
            </a:r>
            <a:r>
              <a:rPr lang="en-GB" dirty="0" err="1"/>
              <a:t>tended</a:t>
            </a:r>
            <a:r>
              <a:rPr lang="en-GB" dirty="0"/>
              <a:t> </a:t>
            </a:r>
            <a:r>
              <a:rPr lang="en-GB" dirty="0">
                <a:solidFill>
                  <a:srgbClr val="FF0000"/>
                </a:solidFill>
              </a:rPr>
              <a:t>D</a:t>
            </a:r>
            <a:r>
              <a:rPr lang="en-GB" dirty="0"/>
              <a:t>etection and </a:t>
            </a:r>
            <a:r>
              <a:rPr lang="en-GB" dirty="0">
                <a:solidFill>
                  <a:srgbClr val="FF0000"/>
                </a:solidFill>
              </a:rPr>
              <a:t>R</a:t>
            </a:r>
            <a:r>
              <a:rPr lang="en-GB" dirty="0"/>
              <a:t>esponse</a:t>
            </a:r>
          </a:p>
        </p:txBody>
      </p:sp>
      <p:sp>
        <p:nvSpPr>
          <p:cNvPr id="3" name="Content Placeholder 2">
            <a:extLst>
              <a:ext uri="{FF2B5EF4-FFF2-40B4-BE49-F238E27FC236}">
                <a16:creationId xmlns:a16="http://schemas.microsoft.com/office/drawing/2014/main" id="{F29F3FEB-5E22-B735-EF92-D19064C6BC22}"/>
              </a:ext>
            </a:extLst>
          </p:cNvPr>
          <p:cNvSpPr>
            <a:spLocks noGrp="1"/>
          </p:cNvSpPr>
          <p:nvPr>
            <p:ph idx="1"/>
          </p:nvPr>
        </p:nvSpPr>
        <p:spPr>
          <a:xfrm>
            <a:off x="745980" y="2852936"/>
            <a:ext cx="6347714" cy="3880773"/>
          </a:xfrm>
        </p:spPr>
        <p:txBody>
          <a:bodyPr>
            <a:normAutofit fontScale="92500" lnSpcReduction="10000"/>
          </a:bodyPr>
          <a:lstStyle/>
          <a:p>
            <a:pPr algn="l"/>
            <a:r>
              <a:rPr lang="en-GB" b="1" i="0" dirty="0">
                <a:solidFill>
                  <a:srgbClr val="000000"/>
                </a:solidFill>
                <a:effectLst/>
                <a:latin typeface="Segoe UI" panose="020B0502040204020203" pitchFamily="34" charset="0"/>
                <a:cs typeface="Segoe UI" panose="020B0502040204020203" pitchFamily="34" charset="0"/>
              </a:rPr>
              <a:t>Extends </a:t>
            </a:r>
            <a:r>
              <a:rPr lang="en-GB" i="0" dirty="0">
                <a:solidFill>
                  <a:srgbClr val="000000"/>
                </a:solidFill>
                <a:effectLst/>
                <a:latin typeface="Segoe UI" panose="020B0502040204020203" pitchFamily="34" charset="0"/>
                <a:cs typeface="Segoe UI" panose="020B0502040204020203" pitchFamily="34" charset="0"/>
              </a:rPr>
              <a:t>the tools of </a:t>
            </a:r>
            <a:r>
              <a:rPr lang="en-GB" i="0" dirty="0">
                <a:solidFill>
                  <a:srgbClr val="FF0000"/>
                </a:solidFill>
                <a:effectLst/>
                <a:latin typeface="Segoe UI" panose="020B0502040204020203" pitchFamily="34" charset="0"/>
                <a:cs typeface="Segoe UI" panose="020B0502040204020203" pitchFamily="34" charset="0"/>
              </a:rPr>
              <a:t>N</a:t>
            </a:r>
            <a:r>
              <a:rPr lang="en-GB" i="0" dirty="0">
                <a:solidFill>
                  <a:srgbClr val="000000"/>
                </a:solidFill>
                <a:effectLst/>
                <a:latin typeface="Segoe UI" panose="020B0502040204020203" pitchFamily="34" charset="0"/>
                <a:cs typeface="Segoe UI" panose="020B0502040204020203" pitchFamily="34" charset="0"/>
              </a:rPr>
              <a:t>etwork </a:t>
            </a:r>
            <a:r>
              <a:rPr lang="en-GB" i="0" dirty="0">
                <a:solidFill>
                  <a:srgbClr val="FF0000"/>
                </a:solidFill>
                <a:effectLst/>
                <a:latin typeface="Segoe UI" panose="020B0502040204020203" pitchFamily="34" charset="0"/>
                <a:cs typeface="Segoe UI" panose="020B0502040204020203" pitchFamily="34" charset="0"/>
              </a:rPr>
              <a:t>D</a:t>
            </a:r>
            <a:r>
              <a:rPr lang="en-GB" i="0" dirty="0">
                <a:solidFill>
                  <a:srgbClr val="000000"/>
                </a:solidFill>
                <a:effectLst/>
                <a:latin typeface="Segoe UI" panose="020B0502040204020203" pitchFamily="34" charset="0"/>
                <a:cs typeface="Segoe UI" panose="020B0502040204020203" pitchFamily="34" charset="0"/>
              </a:rPr>
              <a:t>etection and </a:t>
            </a:r>
            <a:r>
              <a:rPr lang="en-GB" i="0" dirty="0">
                <a:solidFill>
                  <a:srgbClr val="FF0000"/>
                </a:solidFill>
                <a:effectLst/>
                <a:latin typeface="Segoe UI" panose="020B0502040204020203" pitchFamily="34" charset="0"/>
                <a:cs typeface="Segoe UI" panose="020B0502040204020203" pitchFamily="34" charset="0"/>
              </a:rPr>
              <a:t>R</a:t>
            </a:r>
            <a:r>
              <a:rPr lang="en-GB" i="0" dirty="0">
                <a:solidFill>
                  <a:srgbClr val="000000"/>
                </a:solidFill>
                <a:effectLst/>
                <a:latin typeface="Segoe UI" panose="020B0502040204020203" pitchFamily="34" charset="0"/>
                <a:cs typeface="Segoe UI" panose="020B0502040204020203" pitchFamily="34" charset="0"/>
              </a:rPr>
              <a:t>esponse and </a:t>
            </a:r>
            <a:r>
              <a:rPr lang="en-GB" i="0" dirty="0">
                <a:solidFill>
                  <a:srgbClr val="FF0000"/>
                </a:solidFill>
                <a:effectLst/>
                <a:latin typeface="Segoe UI" panose="020B0502040204020203" pitchFamily="34" charset="0"/>
                <a:cs typeface="Segoe UI" panose="020B0502040204020203" pitchFamily="34" charset="0"/>
              </a:rPr>
              <a:t>EDR</a:t>
            </a:r>
          </a:p>
          <a:p>
            <a:pPr algn="l"/>
            <a:r>
              <a:rPr lang="en-GB" sz="1900" b="1" i="0" dirty="0">
                <a:solidFill>
                  <a:srgbClr val="000000"/>
                </a:solidFill>
                <a:effectLst/>
                <a:latin typeface="inherit"/>
              </a:rPr>
              <a:t>Correlated incidents- </a:t>
            </a:r>
            <a:r>
              <a:rPr lang="en-GB" sz="1900" b="0" i="0" dirty="0">
                <a:solidFill>
                  <a:srgbClr val="000000"/>
                </a:solidFill>
                <a:effectLst/>
                <a:latin typeface="Segoe UI" panose="020B0502040204020203" pitchFamily="34" charset="0"/>
              </a:rPr>
              <a:t> collects and correlates alerts, creating a more complete picture of a security incident or attack and allowing analysts to invest time in more focused research.</a:t>
            </a:r>
          </a:p>
          <a:p>
            <a:pPr algn="l"/>
            <a:r>
              <a:rPr lang="en-GB" b="1" i="0" dirty="0">
                <a:solidFill>
                  <a:srgbClr val="000000"/>
                </a:solidFill>
                <a:effectLst/>
                <a:latin typeface="inherit"/>
              </a:rPr>
              <a:t>Analytics</a:t>
            </a:r>
            <a:r>
              <a:rPr lang="en-GB" b="1" dirty="0">
                <a:solidFill>
                  <a:srgbClr val="000000"/>
                </a:solidFill>
                <a:latin typeface="inherit"/>
              </a:rPr>
              <a:t> -</a:t>
            </a:r>
            <a:r>
              <a:rPr lang="en-GB" b="0" i="0" dirty="0">
                <a:solidFill>
                  <a:srgbClr val="000000"/>
                </a:solidFill>
                <a:effectLst/>
                <a:latin typeface="Segoe UI" panose="020B0502040204020203" pitchFamily="34" charset="0"/>
              </a:rPr>
              <a:t> examine large swathes of data coming in from multiple sources—identities, endpoints, email, data, networks, storage, Internet of Things, and applications—strong analytics are essential to understanding threat activity. </a:t>
            </a:r>
          </a:p>
          <a:p>
            <a:pPr algn="l"/>
            <a:r>
              <a:rPr lang="en-GB" b="1" i="0" dirty="0">
                <a:solidFill>
                  <a:srgbClr val="000000"/>
                </a:solidFill>
                <a:effectLst/>
                <a:latin typeface="inherit"/>
              </a:rPr>
              <a:t>Automated detection and response  </a:t>
            </a:r>
            <a:r>
              <a:rPr lang="en-GB" b="0" i="0" dirty="0">
                <a:solidFill>
                  <a:srgbClr val="000000"/>
                </a:solidFill>
                <a:effectLst/>
                <a:latin typeface="Segoe UI" panose="020B0502040204020203" pitchFamily="34" charset="0"/>
              </a:rPr>
              <a:t>XDR automatically identifies, assesses, and remediates known threats in real time, and can reduce and simplify an organization’s workload, as well as catch hard-to-detect threats.</a:t>
            </a:r>
          </a:p>
        </p:txBody>
      </p:sp>
      <p:sp>
        <p:nvSpPr>
          <p:cNvPr id="4" name="TextBox 3">
            <a:extLst>
              <a:ext uri="{FF2B5EF4-FFF2-40B4-BE49-F238E27FC236}">
                <a16:creationId xmlns:a16="http://schemas.microsoft.com/office/drawing/2014/main" id="{F50E3E70-AE1C-4109-FF40-8297D4C6B646}"/>
              </a:ext>
            </a:extLst>
          </p:cNvPr>
          <p:cNvSpPr txBox="1"/>
          <p:nvPr/>
        </p:nvSpPr>
        <p:spPr>
          <a:xfrm>
            <a:off x="643473" y="1772816"/>
            <a:ext cx="6552728" cy="923330"/>
          </a:xfrm>
          <a:prstGeom prst="rect">
            <a:avLst/>
          </a:prstGeom>
          <a:noFill/>
        </p:spPr>
        <p:txBody>
          <a:bodyPr wrap="square" rtlCol="0">
            <a:spAutoFit/>
          </a:bodyPr>
          <a:lstStyle/>
          <a:p>
            <a:r>
              <a:rPr lang="en-GB" b="0" i="0" dirty="0">
                <a:solidFill>
                  <a:srgbClr val="161616"/>
                </a:solidFill>
                <a:effectLst/>
                <a:latin typeface="IBM Plex Sans" panose="020B0503050203000203" pitchFamily="34" charset="0"/>
              </a:rPr>
              <a:t>XDR integrates security tools across an organization’s entire hybrid infrastructure –endpoints, networks, email, applications, cloud workloads – </a:t>
            </a:r>
            <a:r>
              <a:rPr lang="en-GB" b="0" i="0" dirty="0">
                <a:solidFill>
                  <a:srgbClr val="FF0000"/>
                </a:solidFill>
                <a:effectLst/>
                <a:latin typeface="IBM Plex Sans" panose="020B0503050203000203" pitchFamily="34" charset="0"/>
              </a:rPr>
              <a:t>Holistic view. </a:t>
            </a:r>
            <a:endParaRPr lang="en-GB" dirty="0">
              <a:solidFill>
                <a:srgbClr val="FF0000"/>
              </a:solidFill>
              <a:latin typeface="IBM Plex Sans" panose="020B0503050203000203" pitchFamily="34" charset="0"/>
            </a:endParaRPr>
          </a:p>
        </p:txBody>
      </p:sp>
    </p:spTree>
    <p:extLst>
      <p:ext uri="{BB962C8B-B14F-4D97-AF65-F5344CB8AC3E}">
        <p14:creationId xmlns:p14="http://schemas.microsoft.com/office/powerpoint/2010/main" val="119369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F683E-1079-2DBF-493E-364EC72B6438}"/>
              </a:ext>
            </a:extLst>
          </p:cNvPr>
          <p:cNvSpPr>
            <a:spLocks noGrp="1"/>
          </p:cNvSpPr>
          <p:nvPr>
            <p:ph type="title"/>
          </p:nvPr>
        </p:nvSpPr>
        <p:spPr/>
        <p:txBody>
          <a:bodyPr/>
          <a:lstStyle/>
          <a:p>
            <a:r>
              <a:rPr lang="en-GB" dirty="0"/>
              <a:t>XDR continued</a:t>
            </a:r>
          </a:p>
        </p:txBody>
      </p:sp>
      <p:sp>
        <p:nvSpPr>
          <p:cNvPr id="3" name="Content Placeholder 2">
            <a:extLst>
              <a:ext uri="{FF2B5EF4-FFF2-40B4-BE49-F238E27FC236}">
                <a16:creationId xmlns:a16="http://schemas.microsoft.com/office/drawing/2014/main" id="{48DCE07B-31B1-E1CB-68D9-28C111406945}"/>
              </a:ext>
            </a:extLst>
          </p:cNvPr>
          <p:cNvSpPr>
            <a:spLocks noGrp="1"/>
          </p:cNvSpPr>
          <p:nvPr>
            <p:ph idx="1"/>
          </p:nvPr>
        </p:nvSpPr>
        <p:spPr/>
        <p:txBody>
          <a:bodyPr>
            <a:normAutofit lnSpcReduction="10000"/>
          </a:bodyPr>
          <a:lstStyle/>
          <a:p>
            <a:pPr algn="l"/>
            <a:r>
              <a:rPr lang="en-GB" sz="1800" b="1" i="0" dirty="0">
                <a:solidFill>
                  <a:srgbClr val="000000"/>
                </a:solidFill>
                <a:effectLst/>
                <a:latin typeface="inherit"/>
              </a:rPr>
              <a:t>AI and machine learning -</a:t>
            </a:r>
            <a:r>
              <a:rPr lang="en-GB" sz="1800" b="0" i="0" dirty="0">
                <a:solidFill>
                  <a:srgbClr val="000000"/>
                </a:solidFill>
                <a:effectLst/>
                <a:latin typeface="Segoe UI" panose="020B0502040204020203" pitchFamily="34" charset="0"/>
              </a:rPr>
              <a:t> makes it scalable and efficient. From behaviour detection and alerts to investigation and remediation, XDR uses AI to monitor threatening behaviour and automatically respond to and mitigate possible attacks. With machine learning, XDR can create profiles of suspicious behaviour, flagging them for analyst review.</a:t>
            </a:r>
          </a:p>
          <a:p>
            <a:pPr algn="l"/>
            <a:r>
              <a:rPr lang="en-GB" sz="1800" b="1" i="0" dirty="0">
                <a:solidFill>
                  <a:srgbClr val="000000"/>
                </a:solidFill>
                <a:effectLst/>
                <a:latin typeface="inherit"/>
              </a:rPr>
              <a:t>Auto-healing of affected assets</a:t>
            </a:r>
            <a:br>
              <a:rPr lang="en-GB" sz="1800" b="1" i="0" dirty="0">
                <a:solidFill>
                  <a:srgbClr val="000000"/>
                </a:solidFill>
                <a:effectLst/>
                <a:latin typeface="inherit"/>
              </a:rPr>
            </a:br>
            <a:r>
              <a:rPr lang="en-GB" sz="1800" b="0" i="0" dirty="0">
                <a:solidFill>
                  <a:srgbClr val="000000"/>
                </a:solidFill>
                <a:effectLst/>
                <a:latin typeface="Segoe UI" panose="020B0502040204020203" pitchFamily="34" charset="0"/>
              </a:rPr>
              <a:t>XDR returns affected assets to a safe state by enacting healing actions like terminating malicious processes, removing malicious forwarding rules, and identifying compromised users in an organization’s directory.</a:t>
            </a:r>
          </a:p>
          <a:p>
            <a:r>
              <a:rPr lang="en-GB" sz="1800" dirty="0">
                <a:hlinkClick r:id="rId2"/>
              </a:rPr>
              <a:t>XDR explanation</a:t>
            </a:r>
            <a:endParaRPr lang="en-GB" sz="1800" dirty="0"/>
          </a:p>
          <a:p>
            <a:endParaRPr lang="en-GB" dirty="0"/>
          </a:p>
        </p:txBody>
      </p:sp>
    </p:spTree>
    <p:extLst>
      <p:ext uri="{BB962C8B-B14F-4D97-AF65-F5344CB8AC3E}">
        <p14:creationId xmlns:p14="http://schemas.microsoft.com/office/powerpoint/2010/main" val="154561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8F38-B9E6-C555-9291-F6FA9866C848}"/>
              </a:ext>
            </a:extLst>
          </p:cNvPr>
          <p:cNvSpPr>
            <a:spLocks noGrp="1"/>
          </p:cNvSpPr>
          <p:nvPr>
            <p:ph type="title"/>
          </p:nvPr>
        </p:nvSpPr>
        <p:spPr/>
        <p:txBody>
          <a:bodyPr/>
          <a:lstStyle/>
          <a:p>
            <a:r>
              <a:rPr lang="en-GB" dirty="0"/>
              <a:t>overview of what NDR, EDR etc</a:t>
            </a:r>
          </a:p>
        </p:txBody>
      </p:sp>
      <p:sp>
        <p:nvSpPr>
          <p:cNvPr id="3" name="TextBox 2">
            <a:extLst>
              <a:ext uri="{FF2B5EF4-FFF2-40B4-BE49-F238E27FC236}">
                <a16:creationId xmlns:a16="http://schemas.microsoft.com/office/drawing/2014/main" id="{21C18DF3-518B-31CE-0218-D82332964D55}"/>
              </a:ext>
            </a:extLst>
          </p:cNvPr>
          <p:cNvSpPr txBox="1"/>
          <p:nvPr/>
        </p:nvSpPr>
        <p:spPr>
          <a:xfrm>
            <a:off x="827584" y="2060848"/>
            <a:ext cx="5426101" cy="369332"/>
          </a:xfrm>
          <a:prstGeom prst="rect">
            <a:avLst/>
          </a:prstGeom>
          <a:noFill/>
        </p:spPr>
        <p:txBody>
          <a:bodyPr wrap="none" rtlCol="0">
            <a:spAutoFit/>
          </a:bodyPr>
          <a:lstStyle/>
          <a:p>
            <a:r>
              <a:rPr lang="en-GB" dirty="0">
                <a:hlinkClick r:id="rId2"/>
              </a:rPr>
              <a:t>https://www.youtube.com/watch?v=z983AM8etCA</a:t>
            </a:r>
            <a:endParaRPr lang="en-GB" dirty="0"/>
          </a:p>
        </p:txBody>
      </p:sp>
    </p:spTree>
    <p:extLst>
      <p:ext uri="{BB962C8B-B14F-4D97-AF65-F5344CB8AC3E}">
        <p14:creationId xmlns:p14="http://schemas.microsoft.com/office/powerpoint/2010/main" val="525915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2FF29-2C24-3DE7-A51F-27128D3B6803}"/>
              </a:ext>
            </a:extLst>
          </p:cNvPr>
          <p:cNvSpPr>
            <a:spLocks noGrp="1"/>
          </p:cNvSpPr>
          <p:nvPr>
            <p:ph type="title"/>
          </p:nvPr>
        </p:nvSpPr>
        <p:spPr>
          <a:xfrm>
            <a:off x="251521" y="609600"/>
            <a:ext cx="6705792" cy="1320800"/>
          </a:xfrm>
        </p:spPr>
        <p:txBody>
          <a:bodyPr>
            <a:normAutofit fontScale="90000"/>
          </a:bodyPr>
          <a:lstStyle/>
          <a:p>
            <a:r>
              <a:rPr lang="en-GB" dirty="0">
                <a:solidFill>
                  <a:srgbClr val="FF0000"/>
                </a:solidFill>
              </a:rPr>
              <a:t>U</a:t>
            </a:r>
            <a:r>
              <a:rPr lang="en-GB" dirty="0"/>
              <a:t>ser </a:t>
            </a:r>
            <a:r>
              <a:rPr lang="en-GB" dirty="0">
                <a:solidFill>
                  <a:srgbClr val="FF0000"/>
                </a:solidFill>
              </a:rPr>
              <a:t>B</a:t>
            </a:r>
            <a:r>
              <a:rPr lang="en-GB" dirty="0"/>
              <a:t>ehaviour </a:t>
            </a:r>
            <a:r>
              <a:rPr lang="en-GB" dirty="0">
                <a:solidFill>
                  <a:srgbClr val="FF0000"/>
                </a:solidFill>
              </a:rPr>
              <a:t>A</a:t>
            </a:r>
            <a:r>
              <a:rPr lang="en-GB" dirty="0"/>
              <a:t>nalytics and </a:t>
            </a:r>
            <a:br>
              <a:rPr lang="en-GB" dirty="0"/>
            </a:br>
            <a:r>
              <a:rPr lang="en-GB" dirty="0">
                <a:solidFill>
                  <a:srgbClr val="FF0000"/>
                </a:solidFill>
              </a:rPr>
              <a:t>U</a:t>
            </a:r>
            <a:r>
              <a:rPr lang="en-GB" dirty="0"/>
              <a:t>ser </a:t>
            </a:r>
            <a:r>
              <a:rPr lang="en-GB" dirty="0">
                <a:solidFill>
                  <a:srgbClr val="FF0000"/>
                </a:solidFill>
              </a:rPr>
              <a:t>E</a:t>
            </a:r>
            <a:r>
              <a:rPr lang="en-GB" dirty="0"/>
              <a:t>ndpoint </a:t>
            </a:r>
            <a:r>
              <a:rPr lang="en-GB" dirty="0">
                <a:solidFill>
                  <a:srgbClr val="FF0000"/>
                </a:solidFill>
              </a:rPr>
              <a:t>B</a:t>
            </a:r>
            <a:r>
              <a:rPr lang="en-GB" dirty="0"/>
              <a:t>ehaviour </a:t>
            </a:r>
            <a:r>
              <a:rPr lang="en-GB" dirty="0">
                <a:solidFill>
                  <a:srgbClr val="FF0000"/>
                </a:solidFill>
              </a:rPr>
              <a:t>A</a:t>
            </a:r>
            <a:r>
              <a:rPr lang="en-GB" dirty="0"/>
              <a:t>nalytics</a:t>
            </a:r>
          </a:p>
        </p:txBody>
      </p:sp>
      <p:sp>
        <p:nvSpPr>
          <p:cNvPr id="3" name="Content Placeholder 2">
            <a:extLst>
              <a:ext uri="{FF2B5EF4-FFF2-40B4-BE49-F238E27FC236}">
                <a16:creationId xmlns:a16="http://schemas.microsoft.com/office/drawing/2014/main" id="{7E0104F5-805C-0B17-AE1B-EB7A98020582}"/>
              </a:ext>
            </a:extLst>
          </p:cNvPr>
          <p:cNvSpPr>
            <a:spLocks noGrp="1"/>
          </p:cNvSpPr>
          <p:nvPr>
            <p:ph idx="1"/>
          </p:nvPr>
        </p:nvSpPr>
        <p:spPr/>
        <p:txBody>
          <a:bodyPr>
            <a:normAutofit fontScale="85000" lnSpcReduction="20000"/>
          </a:bodyPr>
          <a:lstStyle/>
          <a:p>
            <a:r>
              <a:rPr lang="en-GB" dirty="0"/>
              <a:t>Recording and analysing user behaviour looking for anomalous patterns</a:t>
            </a:r>
          </a:p>
          <a:p>
            <a:r>
              <a:rPr lang="en-GB" dirty="0"/>
              <a:t>May come from a rogue employee or a hacked account etc.</a:t>
            </a:r>
          </a:p>
          <a:p>
            <a:r>
              <a:rPr lang="en-GB" dirty="0"/>
              <a:t>Lots of logs of users activities are recorded, and the UBA tool correlates, distils and analyses them, and then gives them a ranking</a:t>
            </a:r>
          </a:p>
          <a:p>
            <a:pPr lvl="1"/>
            <a:r>
              <a:rPr lang="en-GB" dirty="0"/>
              <a:t>Is user logging in from a geographically different place</a:t>
            </a:r>
          </a:p>
          <a:p>
            <a:pPr lvl="1"/>
            <a:r>
              <a:rPr lang="en-GB" dirty="0"/>
              <a:t> is the frequency of what they do dramatically changing</a:t>
            </a:r>
          </a:p>
          <a:p>
            <a:pPr lvl="1"/>
            <a:r>
              <a:rPr lang="en-GB" dirty="0"/>
              <a:t>Are they doing something statistically/operationally  different to what their peers are doing</a:t>
            </a:r>
          </a:p>
          <a:p>
            <a:pPr lvl="1"/>
            <a:r>
              <a:rPr lang="en-GB" dirty="0"/>
              <a:t>Are they changing their behaviour dramatically</a:t>
            </a:r>
          </a:p>
          <a:p>
            <a:r>
              <a:rPr lang="en-GB" dirty="0"/>
              <a:t>Apply the same principles to switches, routers etc.</a:t>
            </a:r>
          </a:p>
          <a:p>
            <a:pPr lvl="1"/>
            <a:endParaRPr lang="en-GB" dirty="0"/>
          </a:p>
          <a:p>
            <a:pPr lvl="1"/>
            <a:r>
              <a:rPr lang="en-GB" dirty="0">
                <a:hlinkClick r:id="rId2"/>
              </a:rPr>
              <a:t>User Behaviour Analytics</a:t>
            </a:r>
            <a:endParaRPr lang="en-GB" dirty="0"/>
          </a:p>
        </p:txBody>
      </p:sp>
    </p:spTree>
    <p:extLst>
      <p:ext uri="{BB962C8B-B14F-4D97-AF65-F5344CB8AC3E}">
        <p14:creationId xmlns:p14="http://schemas.microsoft.com/office/powerpoint/2010/main" val="166139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0403F-F232-EF7C-EF14-69D738149BC6}"/>
              </a:ext>
            </a:extLst>
          </p:cNvPr>
          <p:cNvSpPr>
            <a:spLocks noGrp="1"/>
          </p:cNvSpPr>
          <p:nvPr>
            <p:ph type="title"/>
          </p:nvPr>
        </p:nvSpPr>
        <p:spPr>
          <a:xfrm>
            <a:off x="251520" y="620688"/>
            <a:ext cx="8426897" cy="1320800"/>
          </a:xfrm>
        </p:spPr>
        <p:txBody>
          <a:bodyPr/>
          <a:lstStyle/>
          <a:p>
            <a:r>
              <a:rPr lang="en-GB" dirty="0">
                <a:solidFill>
                  <a:srgbClr val="FF0000"/>
                </a:solidFill>
              </a:rPr>
              <a:t>S</a:t>
            </a:r>
            <a:r>
              <a:rPr lang="en-GB" dirty="0"/>
              <a:t>ecurity </a:t>
            </a:r>
            <a:r>
              <a:rPr lang="en-GB" dirty="0">
                <a:solidFill>
                  <a:srgbClr val="FF0000"/>
                </a:solidFill>
              </a:rPr>
              <a:t>I</a:t>
            </a:r>
            <a:r>
              <a:rPr lang="en-GB" dirty="0"/>
              <a:t>nformation </a:t>
            </a:r>
            <a:r>
              <a:rPr lang="en-GB" dirty="0">
                <a:solidFill>
                  <a:srgbClr val="FF0000"/>
                </a:solidFill>
              </a:rPr>
              <a:t>E</a:t>
            </a:r>
            <a:r>
              <a:rPr lang="en-GB" dirty="0"/>
              <a:t>vent </a:t>
            </a:r>
            <a:r>
              <a:rPr lang="en-GB" dirty="0">
                <a:solidFill>
                  <a:srgbClr val="FF0000"/>
                </a:solidFill>
              </a:rPr>
              <a:t>M</a:t>
            </a:r>
            <a:r>
              <a:rPr lang="en-GB" dirty="0"/>
              <a:t>anagement</a:t>
            </a:r>
          </a:p>
        </p:txBody>
      </p:sp>
      <p:sp>
        <p:nvSpPr>
          <p:cNvPr id="3" name="Content Placeholder 2">
            <a:extLst>
              <a:ext uri="{FF2B5EF4-FFF2-40B4-BE49-F238E27FC236}">
                <a16:creationId xmlns:a16="http://schemas.microsoft.com/office/drawing/2014/main" id="{BA822230-E013-4F48-13D8-ADDF2A18C460}"/>
              </a:ext>
            </a:extLst>
          </p:cNvPr>
          <p:cNvSpPr>
            <a:spLocks noGrp="1"/>
          </p:cNvSpPr>
          <p:nvPr>
            <p:ph idx="1"/>
          </p:nvPr>
        </p:nvSpPr>
        <p:spPr>
          <a:xfrm>
            <a:off x="539552" y="1772816"/>
            <a:ext cx="7634809" cy="4820707"/>
          </a:xfrm>
        </p:spPr>
        <p:txBody>
          <a:bodyPr>
            <a:normAutofit/>
          </a:bodyPr>
          <a:lstStyle/>
          <a:p>
            <a:r>
              <a:rPr lang="en-GB" dirty="0"/>
              <a:t>Software tool used in SOC to aggregate logs, EDR, NDR, XDR etc outputs. Then use them to extract information.</a:t>
            </a:r>
          </a:p>
          <a:p>
            <a:pPr lvl="1"/>
            <a:r>
              <a:rPr lang="en-GB" dirty="0">
                <a:solidFill>
                  <a:srgbClr val="FF0000"/>
                </a:solidFill>
              </a:rPr>
              <a:t>Logs</a:t>
            </a:r>
            <a:r>
              <a:rPr lang="en-GB" dirty="0"/>
              <a:t> – from across the network and using AI, ML and then analyse them for threats and ignore those that do not</a:t>
            </a:r>
          </a:p>
          <a:p>
            <a:pPr lvl="1"/>
            <a:r>
              <a:rPr lang="en-GB" dirty="0">
                <a:solidFill>
                  <a:srgbClr val="FF0000"/>
                </a:solidFill>
              </a:rPr>
              <a:t>Threat Intelligence </a:t>
            </a:r>
            <a:r>
              <a:rPr lang="en-GB" dirty="0"/>
              <a:t>– data supplied from various sources on current, past and potential threats is analysed to see if it’s relevant to the organisation</a:t>
            </a:r>
          </a:p>
          <a:p>
            <a:pPr lvl="1"/>
            <a:r>
              <a:rPr lang="en-GB" dirty="0">
                <a:solidFill>
                  <a:srgbClr val="FF0000"/>
                </a:solidFill>
              </a:rPr>
              <a:t>Security Events Corelation </a:t>
            </a:r>
            <a:r>
              <a:rPr lang="en-GB" dirty="0"/>
              <a:t>– looking for patterns in the data that could indicate a threat</a:t>
            </a:r>
          </a:p>
          <a:p>
            <a:pPr lvl="1"/>
            <a:r>
              <a:rPr lang="en-GB" dirty="0">
                <a:solidFill>
                  <a:srgbClr val="FF0000"/>
                </a:solidFill>
              </a:rPr>
              <a:t>Threat hunting </a:t>
            </a:r>
            <a:r>
              <a:rPr lang="en-GB" dirty="0"/>
              <a:t>– analyse old data to see if new threats that have emerged have not affected the organisation previously</a:t>
            </a:r>
          </a:p>
          <a:p>
            <a:pPr lvl="1"/>
            <a:r>
              <a:rPr lang="en-GB" dirty="0">
                <a:solidFill>
                  <a:srgbClr val="FF0000"/>
                </a:solidFill>
              </a:rPr>
              <a:t>Forensics</a:t>
            </a:r>
            <a:r>
              <a:rPr lang="en-GB" dirty="0"/>
              <a:t> – data kept for at least 1 year so that if the system is breached  you can analyse to see how, when and where</a:t>
            </a:r>
          </a:p>
          <a:p>
            <a:pPr lvl="1"/>
            <a:r>
              <a:rPr lang="en-GB" dirty="0"/>
              <a:t>Dashboard to display this</a:t>
            </a:r>
          </a:p>
          <a:p>
            <a:pPr lvl="1"/>
            <a:r>
              <a:rPr lang="en-GB" dirty="0">
                <a:hlinkClick r:id="rId2"/>
              </a:rPr>
              <a:t>SIEM and SOC</a:t>
            </a:r>
            <a:endParaRPr lang="en-GB" dirty="0"/>
          </a:p>
          <a:p>
            <a:pPr lvl="1"/>
            <a:endParaRPr lang="en-GB" dirty="0"/>
          </a:p>
        </p:txBody>
      </p:sp>
    </p:spTree>
    <p:extLst>
      <p:ext uri="{BB962C8B-B14F-4D97-AF65-F5344CB8AC3E}">
        <p14:creationId xmlns:p14="http://schemas.microsoft.com/office/powerpoint/2010/main" val="2153633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51B7-1FD9-2B97-A308-EF52EA18B663}"/>
              </a:ext>
            </a:extLst>
          </p:cNvPr>
          <p:cNvSpPr>
            <a:spLocks noGrp="1"/>
          </p:cNvSpPr>
          <p:nvPr>
            <p:ph type="title"/>
          </p:nvPr>
        </p:nvSpPr>
        <p:spPr/>
        <p:txBody>
          <a:bodyPr/>
          <a:lstStyle/>
          <a:p>
            <a:r>
              <a:rPr lang="en-GB" dirty="0"/>
              <a:t>Managed SOC</a:t>
            </a:r>
          </a:p>
        </p:txBody>
      </p:sp>
      <p:sp>
        <p:nvSpPr>
          <p:cNvPr id="3" name="Content Placeholder 2">
            <a:extLst>
              <a:ext uri="{FF2B5EF4-FFF2-40B4-BE49-F238E27FC236}">
                <a16:creationId xmlns:a16="http://schemas.microsoft.com/office/drawing/2014/main" id="{443A2813-969F-FA92-04B0-4BAAC28CE174}"/>
              </a:ext>
            </a:extLst>
          </p:cNvPr>
          <p:cNvSpPr>
            <a:spLocks noGrp="1"/>
          </p:cNvSpPr>
          <p:nvPr>
            <p:ph idx="1"/>
          </p:nvPr>
        </p:nvSpPr>
        <p:spPr/>
        <p:txBody>
          <a:bodyPr/>
          <a:lstStyle/>
          <a:p>
            <a:r>
              <a:rPr lang="en-GB" dirty="0"/>
              <a:t>Only a large organisation can afford to have the necessary highly skilled staff and tools for a SOC – outsourcing</a:t>
            </a:r>
          </a:p>
          <a:p>
            <a:r>
              <a:rPr lang="en-GB" dirty="0"/>
              <a:t>Many companies offer this – Microsoft, IBM, Cisco etc</a:t>
            </a:r>
          </a:p>
        </p:txBody>
      </p:sp>
      <p:sp>
        <p:nvSpPr>
          <p:cNvPr id="5" name="TextBox 4">
            <a:extLst>
              <a:ext uri="{FF2B5EF4-FFF2-40B4-BE49-F238E27FC236}">
                <a16:creationId xmlns:a16="http://schemas.microsoft.com/office/drawing/2014/main" id="{B314BE17-BC4C-F192-8198-D60F51877DBF}"/>
              </a:ext>
            </a:extLst>
          </p:cNvPr>
          <p:cNvSpPr txBox="1"/>
          <p:nvPr/>
        </p:nvSpPr>
        <p:spPr>
          <a:xfrm>
            <a:off x="1619672" y="4293096"/>
            <a:ext cx="4590660" cy="369332"/>
          </a:xfrm>
          <a:prstGeom prst="rect">
            <a:avLst/>
          </a:prstGeom>
          <a:noFill/>
        </p:spPr>
        <p:txBody>
          <a:bodyPr wrap="square">
            <a:spAutoFit/>
          </a:bodyPr>
          <a:lstStyle/>
          <a:p>
            <a:r>
              <a:rPr lang="en-GB" sz="1800" dirty="0">
                <a:hlinkClick r:id="rId2"/>
              </a:rPr>
              <a:t>Security Operations Centre</a:t>
            </a:r>
            <a:endParaRPr lang="en-GB" sz="1800" dirty="0"/>
          </a:p>
        </p:txBody>
      </p:sp>
    </p:spTree>
    <p:extLst>
      <p:ext uri="{BB962C8B-B14F-4D97-AF65-F5344CB8AC3E}">
        <p14:creationId xmlns:p14="http://schemas.microsoft.com/office/powerpoint/2010/main" val="572346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r>
              <a:rPr lang="en-US" dirty="0"/>
              <a:t>Summary</a:t>
            </a:r>
            <a:endParaRPr lang="en-AU" dirty="0"/>
          </a:p>
        </p:txBody>
      </p:sp>
      <p:sp>
        <p:nvSpPr>
          <p:cNvPr id="2" name="Content Placeholder 1"/>
          <p:cNvSpPr>
            <a:spLocks noGrp="1"/>
          </p:cNvSpPr>
          <p:nvPr>
            <p:ph sz="half" idx="1"/>
          </p:nvPr>
        </p:nvSpPr>
        <p:spPr>
          <a:prstGeom prst="rect">
            <a:avLst/>
          </a:prstGeom>
        </p:spPr>
        <p:txBody>
          <a:bodyPr>
            <a:normAutofit/>
          </a:bodyPr>
          <a:lstStyle/>
          <a:p>
            <a:pPr marL="342900" lvl="1" indent="-342900">
              <a:buClr>
                <a:schemeClr val="accent6">
                  <a:lumMod val="60000"/>
                  <a:lumOff val="40000"/>
                </a:schemeClr>
              </a:buClr>
              <a:buFont typeface="Arial" charset="0"/>
              <a:buChar char="•"/>
            </a:pPr>
            <a:endParaRPr lang="en-AU" sz="2400" dirty="0"/>
          </a:p>
          <a:p>
            <a:pPr lvl="1">
              <a:buClr>
                <a:schemeClr val="accent6">
                  <a:lumMod val="60000"/>
                  <a:lumOff val="40000"/>
                </a:schemeClr>
              </a:buClr>
              <a:buFont typeface="Arial" charset="0"/>
              <a:buChar char="•"/>
            </a:pPr>
            <a:endParaRPr lang="en-US" dirty="0">
              <a:latin typeface="+mn-lt"/>
            </a:endParaRPr>
          </a:p>
        </p:txBody>
      </p:sp>
      <p:sp>
        <p:nvSpPr>
          <p:cNvPr id="3" name="Content Placeholder 2"/>
          <p:cNvSpPr>
            <a:spLocks noGrp="1"/>
          </p:cNvSpPr>
          <p:nvPr>
            <p:ph sz="half" idx="2"/>
          </p:nvPr>
        </p:nvSpPr>
        <p:spPr>
          <a:xfrm>
            <a:off x="179512" y="1639341"/>
            <a:ext cx="3960440" cy="4525963"/>
          </a:xfrm>
        </p:spPr>
        <p:txBody>
          <a:bodyPr>
            <a:normAutofit/>
          </a:bodyPr>
          <a:lstStyle/>
          <a:p>
            <a:pPr lvl="1"/>
            <a:endParaRPr lang="en-US" sz="3300" dirty="0"/>
          </a:p>
          <a:p>
            <a:endParaRPr lang="en-GB" dirty="0"/>
          </a:p>
        </p:txBody>
      </p:sp>
      <p:sp>
        <p:nvSpPr>
          <p:cNvPr id="7" name="Rectangle 6"/>
          <p:cNvSpPr/>
          <p:nvPr/>
        </p:nvSpPr>
        <p:spPr>
          <a:xfrm>
            <a:off x="3995936" y="908256"/>
            <a:ext cx="4572000" cy="446276"/>
          </a:xfrm>
          <a:prstGeom prst="rect">
            <a:avLst/>
          </a:prstGeom>
        </p:spPr>
        <p:txBody>
          <a:bodyPr>
            <a:spAutoFit/>
          </a:bodyPr>
          <a:lstStyle/>
          <a:p>
            <a:pPr marL="342900" lvl="1" indent="-342900">
              <a:buClr>
                <a:schemeClr val="accent6">
                  <a:lumMod val="60000"/>
                  <a:lumOff val="40000"/>
                </a:schemeClr>
              </a:buClr>
              <a:buSzPct val="140000"/>
              <a:buFont typeface="Arial" charset="0"/>
              <a:buChar char="•"/>
            </a:pPr>
            <a:endParaRPr lang="en-GB" sz="2300" dirty="0"/>
          </a:p>
        </p:txBody>
      </p:sp>
      <p:sp>
        <p:nvSpPr>
          <p:cNvPr id="12" name="Content Placeholder 2"/>
          <p:cNvSpPr txBox="1">
            <a:spLocks/>
          </p:cNvSpPr>
          <p:nvPr/>
        </p:nvSpPr>
        <p:spPr>
          <a:xfrm>
            <a:off x="251520" y="1556791"/>
            <a:ext cx="8010636" cy="45259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AU" sz="4000" dirty="0"/>
              <a:t>Intrusion prevention systems</a:t>
            </a:r>
          </a:p>
          <a:p>
            <a:pPr lvl="1"/>
            <a:r>
              <a:rPr lang="en-AU" sz="3200" dirty="0"/>
              <a:t>Host-based IPS</a:t>
            </a:r>
          </a:p>
          <a:p>
            <a:pPr lvl="1"/>
            <a:r>
              <a:rPr lang="en-AU" sz="3200" dirty="0"/>
              <a:t>Network-based IPS</a:t>
            </a:r>
          </a:p>
          <a:p>
            <a:pPr lvl="1"/>
            <a:r>
              <a:rPr lang="en-AU" sz="3200" dirty="0"/>
              <a:t>Distributed or hybrid IPS</a:t>
            </a:r>
          </a:p>
          <a:p>
            <a:pPr lvl="1"/>
            <a:r>
              <a:rPr lang="en-AU" sz="3200" dirty="0"/>
              <a:t>Snort inline</a:t>
            </a:r>
          </a:p>
          <a:p>
            <a:r>
              <a:rPr lang="en-AU" sz="3600" dirty="0"/>
              <a:t>Security Operations Centres and their tools to make </a:t>
            </a:r>
            <a:r>
              <a:rPr lang="en-AU" sz="3600"/>
              <a:t>them effective</a:t>
            </a:r>
            <a:endParaRPr lang="en-AU" sz="3600" dirty="0"/>
          </a:p>
          <a:p>
            <a:pPr lvl="1"/>
            <a:r>
              <a:rPr lang="en-AU" sz="3200" dirty="0"/>
              <a:t>EDR, NDR, UDA, XDR, SIEM</a:t>
            </a:r>
          </a:p>
          <a:p>
            <a:pPr lvl="1"/>
            <a:endParaRPr lang="en-US" sz="3300" dirty="0"/>
          </a:p>
          <a:p>
            <a:endParaRPr lang="en-GB" dirty="0"/>
          </a:p>
        </p:txBody>
      </p:sp>
    </p:spTree>
    <p:extLst>
      <p:ext uri="{BB962C8B-B14F-4D97-AF65-F5344CB8AC3E}">
        <p14:creationId xmlns:p14="http://schemas.microsoft.com/office/powerpoint/2010/main" val="1488202349"/>
      </p:ext>
    </p:extLst>
  </p:cSld>
  <p:clrMapOvr>
    <a:masterClrMapping/>
  </p:clrMapOvr>
  <p:transition spd="slow"/>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7988</TotalTime>
  <Words>1899</Words>
  <Application>Microsoft Office PowerPoint</Application>
  <PresentationFormat>On-screen Show (4:3)</PresentationFormat>
  <Paragraphs>151</Paragraphs>
  <Slides>22</Slides>
  <Notes>8</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ＭＳ Ｐゴシック</vt:lpstr>
      <vt:lpstr>Arial</vt:lpstr>
      <vt:lpstr>Calibri</vt:lpstr>
      <vt:lpstr>CiscoSans</vt:lpstr>
      <vt:lpstr>IBM Plex Sans</vt:lpstr>
      <vt:lpstr>inherit</vt:lpstr>
      <vt:lpstr>Montserrat</vt:lpstr>
      <vt:lpstr>neue-haas-grotesk-display</vt:lpstr>
      <vt:lpstr>Segoe UI</vt:lpstr>
      <vt:lpstr>Times New Roman</vt:lpstr>
      <vt:lpstr>Trebuchet MS</vt:lpstr>
      <vt:lpstr>Wingdings 3</vt:lpstr>
      <vt:lpstr>Facet</vt:lpstr>
      <vt:lpstr>Threat Protection and Detection </vt:lpstr>
      <vt:lpstr>Todays topics</vt:lpstr>
      <vt:lpstr>Intrusion Prevention Systems (IPS)</vt:lpstr>
      <vt:lpstr>The Role of HIPS</vt:lpstr>
      <vt:lpstr>Host-Based IPS (HIPS)</vt:lpstr>
      <vt:lpstr>HIPS</vt:lpstr>
      <vt:lpstr>Network-Based IPS (NIPS)</vt:lpstr>
      <vt:lpstr>Wireless IPS</vt:lpstr>
      <vt:lpstr>IPS sensors in the network</vt:lpstr>
      <vt:lpstr>Unified Threat Management Appliance – Combination of all the network security tools Deployed at point of Egress and Ingress</vt:lpstr>
      <vt:lpstr>Trends in 2026</vt:lpstr>
      <vt:lpstr>Moving to Automation and Alert Analysis</vt:lpstr>
      <vt:lpstr>Security Operations Centre</vt:lpstr>
      <vt:lpstr>What else does a SOC do?</vt:lpstr>
      <vt:lpstr>Endpoint Detection and Response </vt:lpstr>
      <vt:lpstr>eXtended Detection and Response</vt:lpstr>
      <vt:lpstr>XDR continued</vt:lpstr>
      <vt:lpstr>overview of what NDR, EDR etc</vt:lpstr>
      <vt:lpstr>User Behaviour Analytics and  User Endpoint Behaviour Analytics</vt:lpstr>
      <vt:lpstr>Security Information Event Management</vt:lpstr>
      <vt:lpstr>Managed SOC</vt:lpstr>
      <vt:lpstr>Summary</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4CS012 Server Management and Virtualisation</dc:title>
  <dc:creator>Mbarushimana, Consolee</dc:creator>
  <cp:lastModifiedBy>Coulson, Ian M. (Dr)</cp:lastModifiedBy>
  <cp:revision>119</cp:revision>
  <dcterms:created xsi:type="dcterms:W3CDTF">2017-12-18T09:01:22Z</dcterms:created>
  <dcterms:modified xsi:type="dcterms:W3CDTF">2026-03-02T10:30:49Z</dcterms:modified>
</cp:coreProperties>
</file>