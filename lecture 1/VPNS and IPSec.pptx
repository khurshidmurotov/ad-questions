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7.xml" ContentType="application/vnd.openxmlformats-officedocument.presentationml.tags+xml"/>
  <Override PartName="/ppt/notesSlides/notesSlide29.xml" ContentType="application/vnd.openxmlformats-officedocument.presentationml.notesSlide+xml"/>
  <Override PartName="/ppt/tags/tag8.xml" ContentType="application/vnd.openxmlformats-officedocument.presentationml.tags+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2"/>
  </p:notesMasterIdLst>
  <p:sldIdLst>
    <p:sldId id="876" r:id="rId2"/>
    <p:sldId id="860" r:id="rId3"/>
    <p:sldId id="759" r:id="rId4"/>
    <p:sldId id="1054" r:id="rId5"/>
    <p:sldId id="1094" r:id="rId6"/>
    <p:sldId id="1096" r:id="rId7"/>
    <p:sldId id="1095" r:id="rId8"/>
    <p:sldId id="1097" r:id="rId9"/>
    <p:sldId id="1056" r:id="rId10"/>
    <p:sldId id="1098" r:id="rId11"/>
    <p:sldId id="1099" r:id="rId12"/>
    <p:sldId id="1119" r:id="rId13"/>
    <p:sldId id="1100" r:id="rId14"/>
    <p:sldId id="1101" r:id="rId15"/>
    <p:sldId id="1102" r:id="rId16"/>
    <p:sldId id="1103" r:id="rId17"/>
    <p:sldId id="1104" r:id="rId18"/>
    <p:sldId id="1105" r:id="rId19"/>
    <p:sldId id="1106" r:id="rId20"/>
    <p:sldId id="1063" r:id="rId21"/>
    <p:sldId id="1109" r:id="rId22"/>
    <p:sldId id="1108" r:id="rId23"/>
    <p:sldId id="1110" r:id="rId24"/>
    <p:sldId id="1111" r:id="rId25"/>
    <p:sldId id="1112" r:id="rId26"/>
    <p:sldId id="1113" r:id="rId27"/>
    <p:sldId id="1114" r:id="rId28"/>
    <p:sldId id="1117" r:id="rId29"/>
    <p:sldId id="1089" r:id="rId30"/>
    <p:sldId id="1118" r:id="rId31"/>
  </p:sldIdLst>
  <p:sldSz cx="9144000" cy="5143500" type="screen16x9"/>
  <p:notesSz cx="6797675" cy="9926638"/>
  <p:custDataLst>
    <p:tags r:id="rId3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2F82E-FF2F-4E2F-8AB6-9F58B3FD3116}" v="1" dt="2022-03-24T09:46:47.4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77288" autoAdjust="0"/>
  </p:normalViewPr>
  <p:slideViewPr>
    <p:cSldViewPr snapToGrid="0" showGuides="1">
      <p:cViewPr varScale="1">
        <p:scale>
          <a:sx n="66" d="100"/>
          <a:sy n="66" d="100"/>
        </p:scale>
        <p:origin x="1388"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ulson, Ian M. (Dr)" userId="a8d3dc85-8701-425a-87df-1f27458d7dd7" providerId="ADAL" clId="{7AF2F82E-FF2F-4E2F-8AB6-9F58B3FD3116}"/>
    <pc:docChg chg="modSld">
      <pc:chgData name="Coulson, Ian M. (Dr)" userId="a8d3dc85-8701-425a-87df-1f27458d7dd7" providerId="ADAL" clId="{7AF2F82E-FF2F-4E2F-8AB6-9F58B3FD3116}" dt="2022-03-24T09:46:55.687" v="9" actId="20577"/>
      <pc:docMkLst>
        <pc:docMk/>
      </pc:docMkLst>
      <pc:sldChg chg="modSp mod">
        <pc:chgData name="Coulson, Ian M. (Dr)" userId="a8d3dc85-8701-425a-87df-1f27458d7dd7" providerId="ADAL" clId="{7AF2F82E-FF2F-4E2F-8AB6-9F58B3FD3116}" dt="2022-03-23T10:16:46.991" v="1" actId="20577"/>
        <pc:sldMkLst>
          <pc:docMk/>
          <pc:sldMk cId="2978293429" sldId="1098"/>
        </pc:sldMkLst>
        <pc:spChg chg="mod">
          <ac:chgData name="Coulson, Ian M. (Dr)" userId="a8d3dc85-8701-425a-87df-1f27458d7dd7" providerId="ADAL" clId="{7AF2F82E-FF2F-4E2F-8AB6-9F58B3FD3116}" dt="2022-03-23T10:16:46.991" v="1" actId="20577"/>
          <ac:spMkLst>
            <pc:docMk/>
            <pc:sldMk cId="2978293429" sldId="1098"/>
            <ac:spMk id="4" creationId="{50693879-5816-3444-9D50-A12F1F37F5DE}"/>
          </ac:spMkLst>
        </pc:spChg>
      </pc:sldChg>
      <pc:sldChg chg="modSp mod">
        <pc:chgData name="Coulson, Ian M. (Dr)" userId="a8d3dc85-8701-425a-87df-1f27458d7dd7" providerId="ADAL" clId="{7AF2F82E-FF2F-4E2F-8AB6-9F58B3FD3116}" dt="2022-03-24T09:46:55.687" v="9" actId="20577"/>
        <pc:sldMkLst>
          <pc:docMk/>
          <pc:sldMk cId="3321340679" sldId="1109"/>
        </pc:sldMkLst>
        <pc:spChg chg="mod">
          <ac:chgData name="Coulson, Ian M. (Dr)" userId="a8d3dc85-8701-425a-87df-1f27458d7dd7" providerId="ADAL" clId="{7AF2F82E-FF2F-4E2F-8AB6-9F58B3FD3116}" dt="2022-03-24T09:46:55.687" v="9" actId="20577"/>
          <ac:spMkLst>
            <pc:docMk/>
            <pc:sldMk cId="3321340679" sldId="1109"/>
            <ac:spMk id="4" creationId="{50693879-5816-3444-9D50-A12F1F37F5DE}"/>
          </ac:spMkLst>
        </pc:spChg>
      </pc:sldChg>
      <pc:sldChg chg="modSp mod">
        <pc:chgData name="Coulson, Ian M. (Dr)" userId="a8d3dc85-8701-425a-87df-1f27458d7dd7" providerId="ADAL" clId="{7AF2F82E-FF2F-4E2F-8AB6-9F58B3FD3116}" dt="2022-03-23T10:44:54.084" v="4" actId="14100"/>
        <pc:sldMkLst>
          <pc:docMk/>
          <pc:sldMk cId="684143631" sldId="1119"/>
        </pc:sldMkLst>
        <pc:picChg chg="mod">
          <ac:chgData name="Coulson, Ian M. (Dr)" userId="a8d3dc85-8701-425a-87df-1f27458d7dd7" providerId="ADAL" clId="{7AF2F82E-FF2F-4E2F-8AB6-9F58B3FD3116}" dt="2022-03-23T10:44:46.949" v="2" actId="1076"/>
          <ac:picMkLst>
            <pc:docMk/>
            <pc:sldMk cId="684143631" sldId="1119"/>
            <ac:picMk id="4" creationId="{026E84C0-0C48-4BF1-9C69-CF7F2F2B24D3}"/>
          </ac:picMkLst>
        </pc:picChg>
        <pc:picChg chg="mod">
          <ac:chgData name="Coulson, Ian M. (Dr)" userId="a8d3dc85-8701-425a-87df-1f27458d7dd7" providerId="ADAL" clId="{7AF2F82E-FF2F-4E2F-8AB6-9F58B3FD3116}" dt="2022-03-23T10:44:54.084" v="4" actId="14100"/>
          <ac:picMkLst>
            <pc:docMk/>
            <pc:sldMk cId="684143631" sldId="1119"/>
            <ac:picMk id="5" creationId="{5B0E6241-54EC-4931-B5E7-0DF523CB015F}"/>
          </ac:picMkLst>
        </pc:picChg>
      </pc:sldChg>
    </pc:docChg>
  </pc:docChgLst>
  <pc:docChgLst>
    <pc:chgData name="Coulson, Ian M. (Dr)" userId="a8d3dc85-8701-425a-87df-1f27458d7dd7" providerId="ADAL" clId="{176149F5-0DA8-422C-A24B-1468EB07823E}"/>
    <pc:docChg chg="custSel modSld">
      <pc:chgData name="Coulson, Ian M. (Dr)" userId="a8d3dc85-8701-425a-87df-1f27458d7dd7" providerId="ADAL" clId="{176149F5-0DA8-422C-A24B-1468EB07823E}" dt="2022-03-22T20:34:01.239" v="53" actId="6549"/>
      <pc:docMkLst>
        <pc:docMk/>
      </pc:docMkLst>
      <pc:sldChg chg="modSp mod modNotesTx">
        <pc:chgData name="Coulson, Ian M. (Dr)" userId="a8d3dc85-8701-425a-87df-1f27458d7dd7" providerId="ADAL" clId="{176149F5-0DA8-422C-A24B-1468EB07823E}" dt="2022-03-22T20:32:46.287" v="44" actId="20577"/>
        <pc:sldMkLst>
          <pc:docMk/>
          <pc:sldMk cId="673099643" sldId="759"/>
        </pc:sldMkLst>
        <pc:spChg chg="mod">
          <ac:chgData name="Coulson, Ian M. (Dr)" userId="a8d3dc85-8701-425a-87df-1f27458d7dd7" providerId="ADAL" clId="{176149F5-0DA8-422C-A24B-1468EB07823E}" dt="2022-03-22T20:25:03.547" v="40" actId="20577"/>
          <ac:spMkLst>
            <pc:docMk/>
            <pc:sldMk cId="673099643" sldId="759"/>
            <ac:spMk id="2" creationId="{00000000-0000-0000-0000-000000000000}"/>
          </ac:spMkLst>
        </pc:spChg>
      </pc:sldChg>
      <pc:sldChg chg="modSp mod modNotesTx">
        <pc:chgData name="Coulson, Ian M. (Dr)" userId="a8d3dc85-8701-425a-87df-1f27458d7dd7" providerId="ADAL" clId="{176149F5-0DA8-422C-A24B-1468EB07823E}" dt="2022-03-22T20:33:28.049" v="47" actId="6549"/>
        <pc:sldMkLst>
          <pc:docMk/>
          <pc:sldMk cId="111192384" sldId="860"/>
        </pc:sldMkLst>
        <pc:spChg chg="mod">
          <ac:chgData name="Coulson, Ian M. (Dr)" userId="a8d3dc85-8701-425a-87df-1f27458d7dd7" providerId="ADAL" clId="{176149F5-0DA8-422C-A24B-1468EB07823E}" dt="2022-03-22T20:24:20.231" v="26" actId="20577"/>
          <ac:spMkLst>
            <pc:docMk/>
            <pc:sldMk cId="111192384" sldId="860"/>
            <ac:spMk id="3" creationId="{B5758CB9-E7D6-4639-ACDC-3F86DC2D2F72}"/>
          </ac:spMkLst>
        </pc:spChg>
        <pc:spChg chg="mod">
          <ac:chgData name="Coulson, Ian M. (Dr)" userId="a8d3dc85-8701-425a-87df-1f27458d7dd7" providerId="ADAL" clId="{176149F5-0DA8-422C-A24B-1468EB07823E}" dt="2022-03-22T20:23:52.927" v="9" actId="20577"/>
          <ac:spMkLst>
            <pc:docMk/>
            <pc:sldMk cId="111192384" sldId="860"/>
            <ac:spMk id="4098" creationId="{00000000-0000-0000-0000-000000000000}"/>
          </ac:spMkLst>
        </pc:spChg>
      </pc:sldChg>
      <pc:sldChg chg="addSp delSp modSp mod modNotesTx">
        <pc:chgData name="Coulson, Ian M. (Dr)" userId="a8d3dc85-8701-425a-87df-1f27458d7dd7" providerId="ADAL" clId="{176149F5-0DA8-422C-A24B-1468EB07823E}" dt="2022-03-22T20:32:53.499" v="45" actId="6549"/>
        <pc:sldMkLst>
          <pc:docMk/>
          <pc:sldMk cId="1989389863" sldId="876"/>
        </pc:sldMkLst>
        <pc:spChg chg="add mod">
          <ac:chgData name="Coulson, Ian M. (Dr)" userId="a8d3dc85-8701-425a-87df-1f27458d7dd7" providerId="ADAL" clId="{176149F5-0DA8-422C-A24B-1468EB07823E}" dt="2022-03-22T20:24:51.333" v="38" actId="478"/>
          <ac:spMkLst>
            <pc:docMk/>
            <pc:sldMk cId="1989389863" sldId="876"/>
            <ac:spMk id="3" creationId="{1F70396E-9690-4AAA-83A9-936EA36FED8E}"/>
          </ac:spMkLst>
        </pc:spChg>
        <pc:spChg chg="mod">
          <ac:chgData name="Coulson, Ian M. (Dr)" userId="a8d3dc85-8701-425a-87df-1f27458d7dd7" providerId="ADAL" clId="{176149F5-0DA8-422C-A24B-1468EB07823E}" dt="2022-03-22T20:24:45.569" v="37" actId="20577"/>
          <ac:spMkLst>
            <pc:docMk/>
            <pc:sldMk cId="1989389863" sldId="876"/>
            <ac:spMk id="6" creationId="{00000000-0000-0000-0000-000000000000}"/>
          </ac:spMkLst>
        </pc:spChg>
        <pc:spChg chg="del">
          <ac:chgData name="Coulson, Ian M. (Dr)" userId="a8d3dc85-8701-425a-87df-1f27458d7dd7" providerId="ADAL" clId="{176149F5-0DA8-422C-A24B-1468EB07823E}" dt="2022-03-22T20:24:51.333" v="38" actId="478"/>
          <ac:spMkLst>
            <pc:docMk/>
            <pc:sldMk cId="1989389863" sldId="876"/>
            <ac:spMk id="7" creationId="{00000000-0000-0000-0000-000000000000}"/>
          </ac:spMkLst>
        </pc:spChg>
      </pc:sldChg>
      <pc:sldChg chg="modNotesTx">
        <pc:chgData name="Coulson, Ian M. (Dr)" userId="a8d3dc85-8701-425a-87df-1f27458d7dd7" providerId="ADAL" clId="{176149F5-0DA8-422C-A24B-1468EB07823E}" dt="2022-03-22T20:33:23.014" v="46" actId="6549"/>
        <pc:sldMkLst>
          <pc:docMk/>
          <pc:sldMk cId="1671064827" sldId="1054"/>
        </pc:sldMkLst>
      </pc:sldChg>
      <pc:sldChg chg="modSp mod modNotesTx">
        <pc:chgData name="Coulson, Ian M. (Dr)" userId="a8d3dc85-8701-425a-87df-1f27458d7dd7" providerId="ADAL" clId="{176149F5-0DA8-422C-A24B-1468EB07823E}" dt="2022-03-22T20:33:57.419" v="52" actId="6549"/>
        <pc:sldMkLst>
          <pc:docMk/>
          <pc:sldMk cId="1619359580" sldId="1056"/>
        </pc:sldMkLst>
        <pc:spChg chg="mod">
          <ac:chgData name="Coulson, Ian M. (Dr)" userId="a8d3dc85-8701-425a-87df-1f27458d7dd7" providerId="ADAL" clId="{176149F5-0DA8-422C-A24B-1468EB07823E}" dt="2022-03-22T20:32:19.220" v="41" actId="20577"/>
          <ac:spMkLst>
            <pc:docMk/>
            <pc:sldMk cId="1619359580" sldId="1056"/>
            <ac:spMk id="2" creationId="{00000000-0000-0000-0000-000000000000}"/>
          </ac:spMkLst>
        </pc:spChg>
      </pc:sldChg>
      <pc:sldChg chg="modSp mod modNotesTx">
        <pc:chgData name="Coulson, Ian M. (Dr)" userId="a8d3dc85-8701-425a-87df-1f27458d7dd7" providerId="ADAL" clId="{176149F5-0DA8-422C-A24B-1468EB07823E}" dt="2022-03-22T20:32:37.102" v="43" actId="20577"/>
        <pc:sldMkLst>
          <pc:docMk/>
          <pc:sldMk cId="473391011" sldId="1063"/>
        </pc:sldMkLst>
        <pc:spChg chg="mod">
          <ac:chgData name="Coulson, Ian M. (Dr)" userId="a8d3dc85-8701-425a-87df-1f27458d7dd7" providerId="ADAL" clId="{176149F5-0DA8-422C-A24B-1468EB07823E}" dt="2022-03-22T20:32:31.043" v="42" actId="20577"/>
          <ac:spMkLst>
            <pc:docMk/>
            <pc:sldMk cId="473391011" sldId="1063"/>
            <ac:spMk id="2" creationId="{00000000-0000-0000-0000-000000000000}"/>
          </ac:spMkLst>
        </pc:spChg>
      </pc:sldChg>
      <pc:sldChg chg="modNotesTx">
        <pc:chgData name="Coulson, Ian M. (Dr)" userId="a8d3dc85-8701-425a-87df-1f27458d7dd7" providerId="ADAL" clId="{176149F5-0DA8-422C-A24B-1468EB07823E}" dt="2022-03-22T20:33:32.939" v="48" actId="6549"/>
        <pc:sldMkLst>
          <pc:docMk/>
          <pc:sldMk cId="3490214741" sldId="1094"/>
        </pc:sldMkLst>
      </pc:sldChg>
      <pc:sldChg chg="modNotesTx">
        <pc:chgData name="Coulson, Ian M. (Dr)" userId="a8d3dc85-8701-425a-87df-1f27458d7dd7" providerId="ADAL" clId="{176149F5-0DA8-422C-A24B-1468EB07823E}" dt="2022-03-22T20:33:45.283" v="50" actId="6549"/>
        <pc:sldMkLst>
          <pc:docMk/>
          <pc:sldMk cId="3245492202" sldId="1095"/>
        </pc:sldMkLst>
      </pc:sldChg>
      <pc:sldChg chg="modNotesTx">
        <pc:chgData name="Coulson, Ian M. (Dr)" userId="a8d3dc85-8701-425a-87df-1f27458d7dd7" providerId="ADAL" clId="{176149F5-0DA8-422C-A24B-1468EB07823E}" dt="2022-03-22T20:33:37.933" v="49" actId="6549"/>
        <pc:sldMkLst>
          <pc:docMk/>
          <pc:sldMk cId="3135922286" sldId="1096"/>
        </pc:sldMkLst>
      </pc:sldChg>
      <pc:sldChg chg="modNotesTx">
        <pc:chgData name="Coulson, Ian M. (Dr)" userId="a8d3dc85-8701-425a-87df-1f27458d7dd7" providerId="ADAL" clId="{176149F5-0DA8-422C-A24B-1468EB07823E}" dt="2022-03-22T20:33:51.230" v="51" actId="6549"/>
        <pc:sldMkLst>
          <pc:docMk/>
          <pc:sldMk cId="3150841884" sldId="1097"/>
        </pc:sldMkLst>
      </pc:sldChg>
      <pc:sldChg chg="modNotesTx">
        <pc:chgData name="Coulson, Ian M. (Dr)" userId="a8d3dc85-8701-425a-87df-1f27458d7dd7" providerId="ADAL" clId="{176149F5-0DA8-422C-A24B-1468EB07823E}" dt="2022-03-22T20:34:01.239" v="53" actId="6549"/>
        <pc:sldMkLst>
          <pc:docMk/>
          <pc:sldMk cId="2978293429" sldId="10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136337D9-3022-3D41-8D8A-BDF2F3B0DD8E}" type="datetimeFigureOut">
              <a:rPr lang="en-US" smtClean="0"/>
              <a:t>3/18/2025</a:t>
            </a:fld>
            <a:endParaRPr lang="en-US" dirty="0"/>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www.ssl.com/" TargetMode="External"/><Relationship Id="rId3" Type="http://schemas.openxmlformats.org/officeDocument/2006/relationships/hyperlink" Target="https://www.cloudflare.com/learning/ssl/what-is-encryption/" TargetMode="External"/><Relationship Id="rId7" Type="http://schemas.openxmlformats.org/officeDocument/2006/relationships/hyperlink" Target="https://www.ssl.com/faqs/what-is-https/"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www.ssl.com/article/ssl-tls-handshake-overview/" TargetMode="External"/><Relationship Id="rId5" Type="http://schemas.openxmlformats.org/officeDocument/2006/relationships/hyperlink" Target="https://www.cloudflare.com/learning/network-layer/internet-protocol/" TargetMode="External"/><Relationship Id="rId4" Type="http://schemas.openxmlformats.org/officeDocument/2006/relationships/hyperlink" Target="https://www.cloudflare.com/learning/access-management/what-is-a-vp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endParaRPr lang="en-US"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877157" y="9423413"/>
            <a:ext cx="805650" cy="31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i="0" dirty="0">
              <a:solidFill>
                <a:srgbClr val="222222"/>
              </a:solidFill>
              <a:effectLst/>
              <a:latin typeface="-apple-system"/>
            </a:endParaRPr>
          </a:p>
          <a:p>
            <a:endParaRPr lang="en-GB" b="0" i="0" dirty="0">
              <a:solidFill>
                <a:srgbClr val="222222"/>
              </a:solidFill>
              <a:effectLst/>
              <a:latin typeface="-apple-system"/>
            </a:endParaRPr>
          </a:p>
          <a:p>
            <a:r>
              <a:rPr lang="en-GB" b="0" i="0" dirty="0">
                <a:solidFill>
                  <a:srgbClr val="222222"/>
                </a:solidFill>
                <a:effectLst/>
                <a:latin typeface="-apple-system"/>
              </a:rPr>
              <a:t>IPsec is a group of protocols that are used together to set up </a:t>
            </a:r>
            <a:r>
              <a:rPr lang="en-GB" b="0" i="0" u="sng" strike="noStrike" baseline="0" dirty="0">
                <a:solidFill>
                  <a:schemeClr val="tx1"/>
                </a:solidFill>
                <a:effectLst/>
                <a:latin typeface="Arial" panose="020B0604020202020204" pitchFamily="34" charset="0"/>
                <a:hlinkClick r:id="rId3">
                  <a:extLst>
                    <a:ext uri="{A12FA001-AC4F-418D-AE19-62706E023703}">
                      <ahyp:hlinkClr xmlns:ahyp="http://schemas.microsoft.com/office/drawing/2018/hyperlinkcolor" val="tx"/>
                    </a:ext>
                  </a:extLst>
                </a:hlinkClick>
              </a:rPr>
              <a:t>encrypted</a:t>
            </a:r>
            <a:r>
              <a:rPr lang="en-GB" b="0" i="0" u="none" dirty="0">
                <a:solidFill>
                  <a:schemeClr val="tx1"/>
                </a:solidFill>
                <a:effectLst/>
                <a:latin typeface="-apple-system"/>
              </a:rPr>
              <a:t> </a:t>
            </a:r>
            <a:r>
              <a:rPr lang="en-GB" b="0" i="0" dirty="0">
                <a:solidFill>
                  <a:srgbClr val="222222"/>
                </a:solidFill>
                <a:effectLst/>
                <a:latin typeface="-apple-system"/>
              </a:rPr>
              <a:t>connections between devices. It helps keep data sent over public networks secure. IPsec is often used to set up </a:t>
            </a:r>
            <a:r>
              <a:rPr lang="en-GB" b="0" i="0" u="none" strike="noStrike" dirty="0">
                <a:solidFill>
                  <a:schemeClr val="tx1"/>
                </a:solidFill>
                <a:effectLst/>
                <a:latin typeface="-apple-system"/>
                <a:hlinkClick r:id="rId4">
                  <a:extLst>
                    <a:ext uri="{A12FA001-AC4F-418D-AE19-62706E023703}">
                      <ahyp:hlinkClr xmlns:ahyp="http://schemas.microsoft.com/office/drawing/2018/hyperlinkcolor" val="tx"/>
                    </a:ext>
                  </a:extLst>
                </a:hlinkClick>
              </a:rPr>
              <a:t>VPNs</a:t>
            </a:r>
            <a:r>
              <a:rPr lang="en-GB" b="0" i="0" dirty="0">
                <a:solidFill>
                  <a:schemeClr val="tx1"/>
                </a:solidFill>
                <a:effectLst/>
                <a:latin typeface="-apple-system"/>
              </a:rPr>
              <a:t>, </a:t>
            </a:r>
            <a:r>
              <a:rPr lang="en-GB" b="0" i="0" dirty="0">
                <a:solidFill>
                  <a:srgbClr val="222222"/>
                </a:solidFill>
                <a:effectLst/>
                <a:latin typeface="-apple-system"/>
              </a:rPr>
              <a:t>and it works by encrypting</a:t>
            </a:r>
            <a:r>
              <a:rPr lang="en-GB" b="0" i="0" dirty="0">
                <a:solidFill>
                  <a:schemeClr val="tx1"/>
                </a:solidFill>
                <a:effectLst/>
                <a:latin typeface="-apple-system"/>
              </a:rPr>
              <a:t> </a:t>
            </a:r>
            <a:r>
              <a:rPr lang="en-GB" b="0" i="0" u="none" strike="noStrike" dirty="0">
                <a:solidFill>
                  <a:schemeClr val="tx1"/>
                </a:solidFill>
                <a:effectLst/>
                <a:latin typeface="-apple-system"/>
                <a:hlinkClick r:id="rId5">
                  <a:extLst>
                    <a:ext uri="{A12FA001-AC4F-418D-AE19-62706E023703}">
                      <ahyp:hlinkClr xmlns:ahyp="http://schemas.microsoft.com/office/drawing/2018/hyperlinkcolor" val="tx"/>
                    </a:ext>
                  </a:extLst>
                </a:hlinkClick>
              </a:rPr>
              <a:t>IP</a:t>
            </a:r>
            <a:r>
              <a:rPr lang="en-GB" b="0" i="0" dirty="0">
                <a:solidFill>
                  <a:schemeClr val="tx1"/>
                </a:solidFill>
                <a:effectLst/>
                <a:latin typeface="-apple-system"/>
              </a:rPr>
              <a:t> </a:t>
            </a:r>
            <a:r>
              <a:rPr lang="en-GB" b="0" i="0" dirty="0">
                <a:solidFill>
                  <a:srgbClr val="222222"/>
                </a:solidFill>
                <a:effectLst/>
                <a:latin typeface="-apple-system"/>
              </a:rPr>
              <a:t>packets, along with authenticating the source where the packets come from.</a:t>
            </a:r>
          </a:p>
          <a:p>
            <a:endParaRPr lang="en-GB" b="0" i="0" dirty="0">
              <a:solidFill>
                <a:srgbClr val="222222"/>
              </a:solidFill>
              <a:effectLst/>
              <a:latin typeface="-apple-system"/>
            </a:endParaRPr>
          </a:p>
          <a:p>
            <a:r>
              <a:rPr lang="en-GB" b="0" i="0" dirty="0">
                <a:solidFill>
                  <a:srgbClr val="222222"/>
                </a:solidFill>
                <a:effectLst/>
                <a:latin typeface="Roboto" panose="02000000000000000000" pitchFamily="2" charset="0"/>
              </a:rPr>
              <a:t>An </a:t>
            </a:r>
            <a:r>
              <a:rPr lang="en-GB" b="1" i="0" dirty="0">
                <a:solidFill>
                  <a:srgbClr val="222222"/>
                </a:solidFill>
                <a:effectLst/>
                <a:latin typeface="Roboto" panose="02000000000000000000" pitchFamily="2" charset="0"/>
              </a:rPr>
              <a:t>SSL certificate</a:t>
            </a:r>
            <a:r>
              <a:rPr lang="en-GB" b="0" i="0" dirty="0">
                <a:solidFill>
                  <a:srgbClr val="222222"/>
                </a:solidFill>
                <a:effectLst/>
                <a:latin typeface="Roboto" panose="02000000000000000000" pitchFamily="2" charset="0"/>
              </a:rPr>
              <a:t> (also known as a TLS or SSL/TLS certificate) is a digital document that binds the identity of a website to a cryptographic key pair consisting of a public key and a private key. The public key, included in the certificate, allows a web browser to </a:t>
            </a:r>
            <a:r>
              <a:rPr lang="en-GB" b="0" i="0" u="none" strike="noStrike" dirty="0">
                <a:solidFill>
                  <a:schemeClr val="tx1"/>
                </a:solidFill>
                <a:effectLst/>
                <a:latin typeface="Roboto" panose="02000000000000000000" pitchFamily="2" charset="0"/>
                <a:hlinkClick r:id="rId6">
                  <a:extLst>
                    <a:ext uri="{A12FA001-AC4F-418D-AE19-62706E023703}">
                      <ahyp:hlinkClr xmlns:ahyp="http://schemas.microsoft.com/office/drawing/2018/hyperlinkcolor" val="tx"/>
                    </a:ext>
                  </a:extLst>
                </a:hlinkClick>
              </a:rPr>
              <a:t>initiate</a:t>
            </a:r>
            <a:r>
              <a:rPr lang="en-GB" b="0" i="0" dirty="0">
                <a:solidFill>
                  <a:srgbClr val="222222"/>
                </a:solidFill>
                <a:effectLst/>
                <a:latin typeface="Roboto" panose="02000000000000000000" pitchFamily="2" charset="0"/>
              </a:rPr>
              <a:t> an encrypted communication session with a web server via the TLS and </a:t>
            </a:r>
            <a:r>
              <a:rPr lang="en-GB" b="0" i="0" u="none" strike="noStrike" dirty="0">
                <a:solidFill>
                  <a:schemeClr val="tx1"/>
                </a:solidFill>
                <a:effectLst/>
                <a:latin typeface="Roboto" panose="02000000000000000000" pitchFamily="2" charset="0"/>
                <a:hlinkClick r:id="rId7">
                  <a:extLst>
                    <a:ext uri="{A12FA001-AC4F-418D-AE19-62706E023703}">
                      <ahyp:hlinkClr xmlns:ahyp="http://schemas.microsoft.com/office/drawing/2018/hyperlinkcolor" val="tx"/>
                    </a:ext>
                  </a:extLst>
                </a:hlinkClick>
              </a:rPr>
              <a:t>HTTPS</a:t>
            </a:r>
            <a:r>
              <a:rPr lang="en-GB" b="0" i="0" dirty="0">
                <a:solidFill>
                  <a:srgbClr val="222222"/>
                </a:solidFill>
                <a:effectLst/>
                <a:latin typeface="Roboto" panose="02000000000000000000" pitchFamily="2" charset="0"/>
              </a:rPr>
              <a:t> protocols. The private key is kept secure on the server, and is used to digitally sign web pages and other documents (such as images and JavaScript files).</a:t>
            </a:r>
          </a:p>
          <a:p>
            <a:r>
              <a:rPr lang="en-GB" b="0" i="0" dirty="0">
                <a:solidFill>
                  <a:srgbClr val="222222"/>
                </a:solidFill>
                <a:effectLst/>
                <a:latin typeface="Roboto" panose="02000000000000000000" pitchFamily="2" charset="0"/>
              </a:rPr>
              <a:t>An SSL certificate also includes identifying information about a website, including its domain name and, optionally, identifying information about the site’s owner. If the web server’s SSL certificate is signed by a publicly trusted certificate authority (CA), like </a:t>
            </a:r>
            <a:r>
              <a:rPr lang="en-GB" b="0" i="0" u="none" strike="noStrike" dirty="0">
                <a:solidFill>
                  <a:srgbClr val="10A3CE"/>
                </a:solidFill>
                <a:effectLst/>
                <a:latin typeface="Roboto" panose="02000000000000000000" pitchFamily="2" charset="0"/>
                <a:hlinkClick r:id="rId8"/>
              </a:rPr>
              <a:t>SSL.com</a:t>
            </a:r>
            <a:r>
              <a:rPr lang="en-GB" b="0" i="0" dirty="0">
                <a:solidFill>
                  <a:srgbClr val="222222"/>
                </a:solidFill>
                <a:effectLst/>
                <a:latin typeface="Roboto" panose="02000000000000000000" pitchFamily="2" charset="0"/>
              </a:rPr>
              <a:t>, digitally signed content from the server will be trusted by end users’ web browsers and operating systems as authentic.</a:t>
            </a:r>
          </a:p>
          <a:p>
            <a:endParaRPr lang="en-GB" b="0" i="0" dirty="0">
              <a:solidFill>
                <a:srgbClr val="222222"/>
              </a:solidFill>
              <a:effectLst/>
              <a:latin typeface="Roboto" panose="02000000000000000000" pitchFamily="2" charset="0"/>
            </a:endParaRP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https://www.youtube.com/watch?v=ohn89zOcf4M&amp;t=72s</a:t>
            </a:r>
          </a:p>
          <a:p>
            <a:endParaRPr lang="en-GB" dirty="0"/>
          </a:p>
          <a:p>
            <a:endParaRPr lang="en-GB" dirty="0"/>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728206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Proxima-Nova"/>
              </a:rPr>
              <a:t>KE is part of the Internet Security Protocol (</a:t>
            </a:r>
            <a:r>
              <a:rPr lang="en-GB" b="0" i="0" dirty="0" err="1">
                <a:solidFill>
                  <a:srgbClr val="000000"/>
                </a:solidFill>
                <a:effectLst/>
                <a:latin typeface="Proxima-Nova"/>
              </a:rPr>
              <a:t>IPSec</a:t>
            </a:r>
            <a:r>
              <a:rPr lang="en-GB" b="0" i="0" dirty="0">
                <a:solidFill>
                  <a:srgbClr val="000000"/>
                </a:solidFill>
                <a:effectLst/>
                <a:latin typeface="Proxima-Nova"/>
              </a:rPr>
              <a:t>) which is responsible for negotiating security associations (SAs), which are a set of mutually agreed-upon keys and algorithms to be used by both parties trying to establish a VPN connection/tunnel.</a:t>
            </a:r>
          </a:p>
          <a:p>
            <a:endParaRPr lang="en-GB" b="0" i="0" dirty="0">
              <a:solidFill>
                <a:srgbClr val="000000"/>
              </a:solidFill>
              <a:effectLst/>
              <a:latin typeface="Proxima-Nova"/>
            </a:endParaRPr>
          </a:p>
          <a:p>
            <a:pPr algn="l">
              <a:buFont typeface="Arial" panose="020B0604020202020204" pitchFamily="34" charset="0"/>
              <a:buChar char="•"/>
            </a:pPr>
            <a:r>
              <a:rPr lang="en-GB" b="0" i="0" dirty="0">
                <a:solidFill>
                  <a:srgbClr val="000000"/>
                </a:solidFill>
                <a:effectLst/>
                <a:latin typeface="Proxima-Nova"/>
              </a:rPr>
              <a:t>Pre-shared keys. A key value entered into each peer manually (out of band) and used to authenticate the peer.</a:t>
            </a:r>
          </a:p>
          <a:p>
            <a:pPr algn="l">
              <a:buFont typeface="Arial" panose="020B0604020202020204" pitchFamily="34" charset="0"/>
              <a:buChar char="•"/>
            </a:pPr>
            <a:r>
              <a:rPr lang="en-GB" b="0" i="0" dirty="0">
                <a:solidFill>
                  <a:srgbClr val="000000"/>
                </a:solidFill>
                <a:effectLst/>
                <a:latin typeface="Proxima-Nova"/>
              </a:rPr>
              <a:t>RSA signatures. Uses a digital certificate authenticated by an RSA signature.</a:t>
            </a:r>
          </a:p>
          <a:p>
            <a:pPr algn="l">
              <a:buFont typeface="Arial" panose="020B0604020202020204" pitchFamily="34" charset="0"/>
              <a:buChar char="•"/>
            </a:pPr>
            <a:r>
              <a:rPr lang="en-GB" b="0" i="0" dirty="0">
                <a:solidFill>
                  <a:srgbClr val="000000"/>
                </a:solidFill>
                <a:effectLst/>
                <a:latin typeface="Proxima-Nova"/>
              </a:rPr>
              <a:t>RSA encrypted nonces. Uses RSA encryption to encrypt a nonce value (a random number generated by the peer).</a:t>
            </a:r>
          </a:p>
          <a:p>
            <a:pPr algn="l"/>
            <a:r>
              <a:rPr lang="en-GB" b="0" i="0" dirty="0">
                <a:solidFill>
                  <a:srgbClr val="000000"/>
                </a:solidFill>
                <a:effectLst/>
                <a:latin typeface="Proxima-Nova"/>
              </a:rPr>
              <a:t>In phase 2, IKE negotiates the </a:t>
            </a:r>
            <a:r>
              <a:rPr lang="en-GB" b="0" i="0" dirty="0" err="1">
                <a:solidFill>
                  <a:srgbClr val="000000"/>
                </a:solidFill>
                <a:effectLst/>
                <a:latin typeface="Proxima-Nova"/>
              </a:rPr>
              <a:t>IPSec</a:t>
            </a:r>
            <a:r>
              <a:rPr lang="en-GB" b="0" i="0" dirty="0">
                <a:solidFill>
                  <a:srgbClr val="000000"/>
                </a:solidFill>
                <a:effectLst/>
                <a:latin typeface="Proxima-Nova"/>
              </a:rPr>
              <a:t> security associations and generates the required key material for </a:t>
            </a:r>
            <a:r>
              <a:rPr lang="en-GB" b="0" i="0" dirty="0" err="1">
                <a:solidFill>
                  <a:srgbClr val="000000"/>
                </a:solidFill>
                <a:effectLst/>
                <a:latin typeface="Proxima-Nova"/>
              </a:rPr>
              <a:t>IPSec</a:t>
            </a:r>
            <a:r>
              <a:rPr lang="en-GB" b="0" i="0" dirty="0">
                <a:solidFill>
                  <a:srgbClr val="000000"/>
                </a:solidFill>
                <a:effectLst/>
                <a:latin typeface="Proxima-Nova"/>
              </a:rPr>
              <a: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29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 (Cont.)</a:t>
            </a:r>
          </a:p>
        </p:txBody>
      </p:sp>
    </p:spTree>
    <p:extLst>
      <p:ext uri="{BB962C8B-B14F-4D97-AF65-F5344CB8AC3E}">
        <p14:creationId xmlns:p14="http://schemas.microsoft.com/office/powerpoint/2010/main" val="1312627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hyperlink" Target="https://www.youtube.com/watch?v=ohn89zOcf4M&amp;t=72s" TargetMode="Externa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hyperlink" Target="https://www.youtube.com/watch?v=CuxyZiSCSfc"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hyperlink" Target="https://www.youtube.com/watch?v=15amNny_kKI"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Lecture 9: VPN and IPsec Concepts</a:t>
            </a:r>
          </a:p>
        </p:txBody>
      </p:sp>
      <p:sp>
        <p:nvSpPr>
          <p:cNvPr id="3" name="Subtitle 2">
            <a:extLst>
              <a:ext uri="{FF2B5EF4-FFF2-40B4-BE49-F238E27FC236}">
                <a16:creationId xmlns:a16="http://schemas.microsoft.com/office/drawing/2014/main" id="{1F70396E-9690-4AAA-83A9-936EA36FED8E}"/>
              </a:ext>
            </a:extLst>
          </p:cNvPr>
          <p:cNvSpPr>
            <a:spLocks noGrp="1"/>
          </p:cNvSpPr>
          <p:nvPr>
            <p:ph type="subTitle" idx="1"/>
          </p:nvPr>
        </p:nvSpPr>
        <p:spPr/>
        <p:txBody>
          <a:bodyPr/>
          <a:lstStyle/>
          <a:p>
            <a:endParaRPr lang="en-GB"/>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Lecture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mn-lt"/>
                <a:ea typeface="Calibri" panose="020F0502020204030204" pitchFamily="34" charset="0"/>
                <a:cs typeface="Calibri" panose="020F0502020204030204" pitchFamily="34" charset="0"/>
              </a:rPr>
              <a:t>Lecture</a:t>
            </a: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Lecture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34780"/>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actually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224018153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 By using the internet rather than leased lines</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IPsec and SSL VPNs.</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(MPLS) at Layer 2 or Layer 3 to create secure channels between an enterprise’s sites, effectively segregating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web browser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Cisco AnyConnect 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7947756"/>
              </p:ext>
            </p:extLst>
          </p:nvPr>
        </p:nvGraphicFramePr>
        <p:xfrm>
          <a:off x="431972" y="188258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one-way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
        <p:nvSpPr>
          <p:cNvPr id="7" name="TextBox 6">
            <a:extLst>
              <a:ext uri="{FF2B5EF4-FFF2-40B4-BE49-F238E27FC236}">
                <a16:creationId xmlns:a16="http://schemas.microsoft.com/office/drawing/2014/main" id="{53AC26E3-BE02-4EAE-B444-66884E064A0C}"/>
              </a:ext>
            </a:extLst>
          </p:cNvPr>
          <p:cNvSpPr txBox="1"/>
          <p:nvPr/>
        </p:nvSpPr>
        <p:spPr>
          <a:xfrm>
            <a:off x="1031788" y="4539426"/>
            <a:ext cx="7913515" cy="276999"/>
          </a:xfrm>
          <a:prstGeom prst="rect">
            <a:avLst/>
          </a:prstGeom>
          <a:noFill/>
        </p:spPr>
        <p:txBody>
          <a:bodyPr wrap="square">
            <a:spAutoFit/>
          </a:bodyPr>
          <a:lstStyle/>
          <a:p>
            <a:r>
              <a:rPr lang="en-GB" sz="1200" dirty="0"/>
              <a:t>https://www.techtarget.com/searchsecurity/tip/IPSec-VPN-vs-SSL-VPN-Comparing-respective-VPN-security-risks</a:t>
            </a:r>
          </a:p>
        </p:txBody>
      </p:sp>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0795C4-FAAF-44C5-9DCF-E12777035872}"/>
              </a:ext>
            </a:extLst>
          </p:cNvPr>
          <p:cNvSpPr>
            <a:spLocks noGrp="1"/>
          </p:cNvSpPr>
          <p:nvPr>
            <p:ph type="title"/>
          </p:nvPr>
        </p:nvSpPr>
        <p:spPr/>
        <p:txBody>
          <a:bodyPr/>
          <a:lstStyle/>
          <a:p>
            <a:r>
              <a:rPr lang="en-GB" dirty="0"/>
              <a:t>Authentication</a:t>
            </a:r>
          </a:p>
        </p:txBody>
      </p:sp>
      <p:pic>
        <p:nvPicPr>
          <p:cNvPr id="4" name="Picture 3">
            <a:extLst>
              <a:ext uri="{FF2B5EF4-FFF2-40B4-BE49-F238E27FC236}">
                <a16:creationId xmlns:a16="http://schemas.microsoft.com/office/drawing/2014/main" id="{026E84C0-0C48-4BF1-9C69-CF7F2F2B24D3}"/>
              </a:ext>
            </a:extLst>
          </p:cNvPr>
          <p:cNvPicPr>
            <a:picLocks noChangeAspect="1"/>
          </p:cNvPicPr>
          <p:nvPr/>
        </p:nvPicPr>
        <p:blipFill>
          <a:blip r:embed="rId3"/>
          <a:stretch>
            <a:fillRect/>
          </a:stretch>
        </p:blipFill>
        <p:spPr>
          <a:xfrm>
            <a:off x="356015" y="1093744"/>
            <a:ext cx="4215985" cy="1774262"/>
          </a:xfrm>
          <a:prstGeom prst="rect">
            <a:avLst/>
          </a:prstGeom>
        </p:spPr>
      </p:pic>
      <p:pic>
        <p:nvPicPr>
          <p:cNvPr id="5" name="Picture 4">
            <a:extLst>
              <a:ext uri="{FF2B5EF4-FFF2-40B4-BE49-F238E27FC236}">
                <a16:creationId xmlns:a16="http://schemas.microsoft.com/office/drawing/2014/main" id="{5B0E6241-54EC-4931-B5E7-0DF523CB015F}"/>
              </a:ext>
            </a:extLst>
          </p:cNvPr>
          <p:cNvPicPr>
            <a:picLocks noChangeAspect="1"/>
          </p:cNvPicPr>
          <p:nvPr/>
        </p:nvPicPr>
        <p:blipFill>
          <a:blip r:embed="rId4"/>
          <a:stretch>
            <a:fillRect/>
          </a:stretch>
        </p:blipFill>
        <p:spPr>
          <a:xfrm>
            <a:off x="4730484" y="2051222"/>
            <a:ext cx="4168142" cy="1517001"/>
          </a:xfrm>
          <a:prstGeom prst="rect">
            <a:avLst/>
          </a:prstGeom>
        </p:spPr>
      </p:pic>
      <p:sp>
        <p:nvSpPr>
          <p:cNvPr id="7" name="TextBox 6">
            <a:extLst>
              <a:ext uri="{FF2B5EF4-FFF2-40B4-BE49-F238E27FC236}">
                <a16:creationId xmlns:a16="http://schemas.microsoft.com/office/drawing/2014/main" id="{938397B0-38B4-47C2-ADD5-8C6277034959}"/>
              </a:ext>
            </a:extLst>
          </p:cNvPr>
          <p:cNvSpPr txBox="1"/>
          <p:nvPr/>
        </p:nvSpPr>
        <p:spPr>
          <a:xfrm>
            <a:off x="1396313" y="3680424"/>
            <a:ext cx="6973330" cy="369332"/>
          </a:xfrm>
          <a:prstGeom prst="rect">
            <a:avLst/>
          </a:prstGeom>
          <a:noFill/>
        </p:spPr>
        <p:txBody>
          <a:bodyPr wrap="square">
            <a:spAutoFit/>
          </a:bodyPr>
          <a:lstStyle/>
          <a:p>
            <a:r>
              <a:rPr lang="en-GB" dirty="0">
                <a:hlinkClick r:id="rId5"/>
              </a:rPr>
              <a:t>one and two way authentication</a:t>
            </a:r>
            <a:endParaRPr lang="en-GB" dirty="0"/>
          </a:p>
        </p:txBody>
      </p:sp>
    </p:spTree>
    <p:extLst>
      <p:ext uri="{BB962C8B-B14F-4D97-AF65-F5344CB8AC3E}">
        <p14:creationId xmlns:p14="http://schemas.microsoft.com/office/powerpoint/2010/main" val="68414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
        <p:nvSpPr>
          <p:cNvPr id="6" name="TextBox 5">
            <a:extLst>
              <a:ext uri="{FF2B5EF4-FFF2-40B4-BE49-F238E27FC236}">
                <a16:creationId xmlns:a16="http://schemas.microsoft.com/office/drawing/2014/main" id="{06A7147D-8892-4F75-8325-D82E41DCE308}"/>
              </a:ext>
            </a:extLst>
          </p:cNvPr>
          <p:cNvSpPr txBox="1"/>
          <p:nvPr/>
        </p:nvSpPr>
        <p:spPr>
          <a:xfrm>
            <a:off x="5700584" y="3824420"/>
            <a:ext cx="4617308" cy="369332"/>
          </a:xfrm>
          <a:prstGeom prst="rect">
            <a:avLst/>
          </a:prstGeom>
          <a:noFill/>
        </p:spPr>
        <p:txBody>
          <a:bodyPr wrap="square">
            <a:spAutoFit/>
          </a:bodyPr>
          <a:lstStyle/>
          <a:p>
            <a:r>
              <a:rPr lang="en-GB" dirty="0" err="1">
                <a:hlinkClick r:id="rId4"/>
              </a:rPr>
              <a:t>IPSec</a:t>
            </a:r>
            <a:r>
              <a:rPr lang="en-GB" dirty="0">
                <a:hlinkClick r:id="rId4"/>
              </a:rPr>
              <a:t> VPN tunnels</a:t>
            </a:r>
            <a:endParaRPr lang="en-GB" dirty="0"/>
          </a:p>
        </p:txBody>
      </p:sp>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 It is used to encapsulate routing protocols across a network that does not support those protocols.</a:t>
            </a:r>
          </a:p>
          <a:p>
            <a:pPr marL="285750" indent="-285750" algn="l">
              <a:buFont typeface="Arial" panose="020B0604020202020204" pitchFamily="34" charset="0"/>
              <a:buChar char="•"/>
            </a:pPr>
            <a:r>
              <a:rPr lang="en-US" sz="1600" dirty="0">
                <a:solidFill>
                  <a:srgbClr val="000000"/>
                </a:solidFill>
              </a:rPr>
              <a:t>A GRE tunnel can encapsulate various network layer protocols as well as multicast and broadcast traffic.</a:t>
            </a:r>
          </a:p>
          <a:p>
            <a:pPr marL="285750" indent="-285750" algn="l">
              <a:buFont typeface="Arial" panose="020B0604020202020204" pitchFamily="34" charset="0"/>
              <a:buChar char="•"/>
            </a:pPr>
            <a:r>
              <a:rPr lang="en-US" sz="1600" dirty="0">
                <a:solidFill>
                  <a:srgbClr val="000000"/>
                </a:solidFill>
              </a:rPr>
              <a:t>GRE does not by default support encryption;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only create secure tunnels for 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actually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23735" y="616519"/>
            <a:ext cx="7781152" cy="3608299"/>
          </a:xfrm>
        </p:spPr>
        <p:txBody>
          <a:bodyPr/>
          <a:lstStyle/>
          <a:p>
            <a:pPr marL="0" indent="0" algn="l"/>
            <a:r>
              <a:rPr lang="en-US" sz="14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dirty="0">
                <a:solidFill>
                  <a:srgbClr val="000000"/>
                </a:solidFill>
              </a:rPr>
              <a:t>It uses a hub-and-spoke configuration to establish a full mesh topology. </a:t>
            </a:r>
          </a:p>
          <a:p>
            <a:pPr marL="358835" lvl="1" indent="-285750">
              <a:buFont typeface="Arial" panose="020B0604020202020204" pitchFamily="34" charset="0"/>
              <a:buChar char="•"/>
            </a:pPr>
            <a:r>
              <a:rPr lang="en-US" dirty="0">
                <a:solidFill>
                  <a:srgbClr val="000000"/>
                </a:solidFill>
              </a:rPr>
              <a:t>Spoke sites establish secure VPN tunnels with the hub site.</a:t>
            </a:r>
          </a:p>
          <a:p>
            <a:pPr marL="358835" lvl="1" indent="-285750">
              <a:buFont typeface="Arial" panose="020B0604020202020204" pitchFamily="34" charset="0"/>
              <a:buChar char="•"/>
            </a:pPr>
            <a:r>
              <a:rPr lang="en-US" dirty="0">
                <a:solidFill>
                  <a:srgbClr val="000000"/>
                </a:solidFill>
              </a:rPr>
              <a:t>Each site is configure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dirty="0">
                <a:solidFill>
                  <a:srgbClr val="000000"/>
                </a:solidFill>
              </a:rPr>
              <a:t>Spoke sites can also obtain information about each other, and alternatively build direct tunnels between themselves (spoke-to-spoke tunnels).</a:t>
            </a:r>
          </a:p>
        </p:txBody>
      </p:sp>
      <p:pic>
        <p:nvPicPr>
          <p:cNvPr id="2" name="Picture 1">
            <a:extLst>
              <a:ext uri="{FF2B5EF4-FFF2-40B4-BE49-F238E27FC236}">
                <a16:creationId xmlns:a16="http://schemas.microsoft.com/office/drawing/2014/main" id="{9575707E-9581-28E4-83B4-F9377D654730}"/>
              </a:ext>
            </a:extLst>
          </p:cNvPr>
          <p:cNvPicPr>
            <a:picLocks noChangeAspect="1"/>
          </p:cNvPicPr>
          <p:nvPr/>
        </p:nvPicPr>
        <p:blipFill>
          <a:blip r:embed="rId3"/>
          <a:stretch>
            <a:fillRect/>
          </a:stretch>
        </p:blipFill>
        <p:spPr>
          <a:xfrm>
            <a:off x="1453207" y="3267332"/>
            <a:ext cx="5314950" cy="1866900"/>
          </a:xfrm>
          <a:prstGeom prst="rect">
            <a:avLst/>
          </a:prstGeom>
        </p:spPr>
      </p:pic>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B1C2A036-1981-48F7-ABB7-DA2F4CF048C3}"/>
              </a:ext>
            </a:extLst>
          </p:cNvPr>
          <p:cNvPicPr>
            <a:picLocks noChangeAspect="1"/>
          </p:cNvPicPr>
          <p:nvPr/>
        </p:nvPicPr>
        <p:blipFill>
          <a:blip r:embed="rId3"/>
          <a:stretch>
            <a:fillRect/>
          </a:stretch>
        </p:blipFill>
        <p:spPr>
          <a:xfrm>
            <a:off x="1941438" y="3209703"/>
            <a:ext cx="5261123" cy="1721232"/>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dirty="0">
                <a:solidFill>
                  <a:srgbClr val="000000"/>
                </a:solidFill>
              </a:rPr>
              <a:t>MPLS is private. There is no inherent encryption within MPLS. It is, simply, a traffic routing mechanism that creates the feel of private lines by directing packets based on predetermined labeled paths within the network – but it still allows shared network elements.</a:t>
            </a:r>
          </a:p>
          <a:p>
            <a:pPr marL="285750" indent="-285750" algn="l">
              <a:buFont typeface="Arial" panose="020B0604020202020204" pitchFamily="34" charset="0"/>
              <a:buChar char="•"/>
            </a:pPr>
            <a:r>
              <a:rPr lang="en-US" dirty="0">
                <a:solidFill>
                  <a:srgbClr val="000000"/>
                </a:solidFill>
              </a:rPr>
              <a:t>MPLS security is founded on the premise that the network core is secure</a:t>
            </a:r>
          </a:p>
          <a:p>
            <a:pPr marL="285750" indent="-285750" algn="l">
              <a:buFont typeface="Arial" panose="020B0604020202020204" pitchFamily="34" charset="0"/>
              <a:buChar char="•"/>
            </a:pPr>
            <a:r>
              <a:rPr lang="en-US" sz="1600" dirty="0">
                <a:solidFill>
                  <a:srgbClr val="000000"/>
                </a:solidFill>
              </a:rPr>
              <a:t>Layer 2 version – used in a switched environment within an enterprise</a:t>
            </a:r>
          </a:p>
          <a:p>
            <a:pPr marL="285750" indent="-285750" algn="l">
              <a:buFont typeface="Arial" panose="020B0604020202020204" pitchFamily="34" charset="0"/>
              <a:buChar char="•"/>
            </a:pPr>
            <a:r>
              <a:rPr lang="en-US" sz="1600" dirty="0">
                <a:solidFill>
                  <a:srgbClr val="000000"/>
                </a:solidFill>
              </a:rPr>
              <a:t>Layer 3 version – across networks</a:t>
            </a:r>
          </a:p>
          <a:p>
            <a:pPr fontAlgn="base"/>
            <a:r>
              <a:rPr lang="en-US" dirty="0"/>
              <a:t>Some argue that rather than being truly secure, MPLS is private. There is no inherent encryption within MPLS. It is, simply, a traffic routing mechanism that creates the feel of private lines by directing packets based on predetermined labeled paths within, may be shared between multiple customers.</a:t>
            </a:r>
          </a:p>
          <a:p>
            <a:pPr fontAlgn="base"/>
            <a:r>
              <a:rPr lang="en-US" dirty="0"/>
              <a:t>MPLS security is founded on the premise that the network core is secure, according to network professional Ivan </a:t>
            </a:r>
            <a:r>
              <a:rPr lang="en-US" dirty="0" err="1"/>
              <a:t>Pepelnjak</a:t>
            </a:r>
            <a:r>
              <a:rPr lang="en-US" dirty="0"/>
              <a:t>, chief technology advisor for NIL Data Communications Ltd. Most service providers concentrate on providing security from “outside” attacks, meaning the Internet or connected VPNs.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 </a:t>
            </a: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8958"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is appropriate only when confidentiality is not required or permitted.</a:t>
            </a: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a:t>
            </a:r>
          </a:p>
          <a:p>
            <a:pPr marL="358835" lvl="1" indent="-285750">
              <a:buFont typeface="Arial" panose="020B0604020202020204" pitchFamily="34" charset="0"/>
              <a:buChar char="•"/>
            </a:pPr>
            <a:r>
              <a:rPr lang="en-US" sz="1600" dirty="0">
                <a:solidFill>
                  <a:srgbClr val="000000"/>
                </a:solidFill>
              </a:rPr>
              <a:t>The Secure Hash Algorithm (SHA) uses a 160-bit secret key.</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
        <p:nvSpPr>
          <p:cNvPr id="5" name="TextBox 4">
            <a:extLst>
              <a:ext uri="{FF2B5EF4-FFF2-40B4-BE49-F238E27FC236}">
                <a16:creationId xmlns:a16="http://schemas.microsoft.com/office/drawing/2014/main" id="{A5796241-0B07-0387-A49F-9378A63E01E8}"/>
              </a:ext>
            </a:extLst>
          </p:cNvPr>
          <p:cNvSpPr txBox="1"/>
          <p:nvPr/>
        </p:nvSpPr>
        <p:spPr>
          <a:xfrm>
            <a:off x="3049399" y="4525338"/>
            <a:ext cx="4622334" cy="326243"/>
          </a:xfrm>
          <a:prstGeom prst="rect">
            <a:avLst/>
          </a:prstGeom>
          <a:noFill/>
        </p:spPr>
        <p:txBody>
          <a:bodyPr wrap="square">
            <a:spAutoFit/>
          </a:bodyPr>
          <a:lstStyle/>
          <a:p>
            <a:pPr marL="415985" marR="0" lvl="1" indent="-285750" algn="l" defTabSz="457200" rtl="0" eaLnBrk="1" fontAlgn="base" latinLnBrk="0" hangingPunct="1">
              <a:lnSpc>
                <a:spcPct val="95000"/>
              </a:lnSpc>
              <a:spcBef>
                <a:spcPct val="0"/>
              </a:spcBef>
              <a:spcAft>
                <a:spcPct val="0"/>
              </a:spcAft>
              <a:buClr>
                <a:srgbClr val="58585B"/>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hlinkClick r:id="rId4"/>
              </a:rPr>
              <a:t>IPsec process explained</a:t>
            </a:r>
            <a:endParaRPr kumimoji="0" lang="en-US" sz="1600" b="0" i="0" u="none" strike="noStrike" kern="1200" cap="none" spc="0" normalizeH="0" baseline="0" noProof="0" dirty="0">
              <a:ln>
                <a:noFill/>
              </a:ln>
              <a:solidFill>
                <a:srgbClr val="000000"/>
              </a:solidFill>
              <a:effectLst/>
              <a:uLnTx/>
              <a:uFillTx/>
              <a:latin typeface="Arial"/>
              <a:ea typeface="ＭＳ Ｐゴシック" charset="0"/>
            </a:endParaRPr>
          </a:p>
        </p:txBody>
      </p:sp>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VPN is private in that the traffic is encrypted to keep the data confidential while it is transported across the public network. </a:t>
            </a:r>
          </a:p>
          <a:p>
            <a:pPr>
              <a:spcBef>
                <a:spcPts val="0"/>
              </a:spcBef>
              <a:spcAft>
                <a:spcPts val="0"/>
              </a:spcAft>
              <a:buFont typeface="Arial" panose="020B0604020202020204" pitchFamily="34" charset="0"/>
              <a:buChar char="•"/>
            </a:pPr>
            <a:r>
              <a:rPr lang="en-US" sz="1600" dirty="0"/>
              <a:t>Benefits of VPNs are cost savings, security, scalability, and compatibility.</a:t>
            </a:r>
          </a:p>
          <a:p>
            <a:pPr>
              <a:spcBef>
                <a:spcPts val="0"/>
              </a:spcBef>
              <a:spcAft>
                <a:spcPts val="0"/>
              </a:spcAft>
              <a:buFont typeface="Arial" panose="020B0604020202020204" pitchFamily="34" charset="0"/>
              <a:buChar char="•"/>
            </a:pPr>
            <a:r>
              <a:rPr lang="en-US" sz="1600" dirty="0"/>
              <a:t>Remote-access VPNs let remote and mobile users securely connect to the enterprise by creating an encrypted tunnel. Remote access VPNs can be created using either IPsec or SSL. </a:t>
            </a:r>
          </a:p>
          <a:p>
            <a:pPr>
              <a:spcBef>
                <a:spcPts val="0"/>
              </a:spcBef>
              <a:spcAft>
                <a:spcPts val="0"/>
              </a:spcAft>
              <a:buFont typeface="Arial" panose="020B0604020202020204" pitchFamily="34" charset="0"/>
              <a:buChar char="•"/>
            </a:pPr>
            <a:r>
              <a:rPr lang="en-US" sz="1600" dirty="0"/>
              <a:t>Site-to-site VPNs are used to connect networks across an untrusted network such as the internet.</a:t>
            </a:r>
          </a:p>
          <a:p>
            <a:pPr>
              <a:spcBef>
                <a:spcPts val="0"/>
              </a:spcBef>
              <a:spcAft>
                <a:spcPts val="0"/>
              </a:spcAft>
              <a:buFont typeface="Arial" panose="020B0604020202020204" pitchFamily="34" charset="0"/>
              <a:buChar char="•"/>
            </a:pPr>
            <a:r>
              <a:rPr lang="en-US" sz="1600" dirty="0"/>
              <a:t>In a site-to-site VPN, end hosts send and receive normal unencrypted TCP/IP traffic through a VPN terminating device. The VPN terminating device is typically called a VPN gateway.</a:t>
            </a:r>
          </a:p>
          <a:p>
            <a:pPr>
              <a:spcBef>
                <a:spcPts val="0"/>
              </a:spcBef>
              <a:spcAft>
                <a:spcPts val="0"/>
              </a:spcAft>
              <a:buFont typeface="Arial" panose="020B0604020202020204" pitchFamily="34" charset="0"/>
              <a:buChar char="•"/>
            </a:pPr>
            <a:r>
              <a:rPr lang="en-US" sz="1600" dirty="0"/>
              <a:t>GRE is a non-secure site-to-site VPN tunneling protocol.</a:t>
            </a:r>
          </a:p>
          <a:p>
            <a:pPr>
              <a:spcBef>
                <a:spcPts val="0"/>
              </a:spcBef>
              <a:spcAft>
                <a:spcPts val="0"/>
              </a:spcAft>
              <a:buFont typeface="Arial" panose="020B0604020202020204" pitchFamily="34" charset="0"/>
              <a:buChar char="•"/>
            </a:pPr>
            <a:r>
              <a:rPr lang="en-US" sz="1600" dirty="0"/>
              <a:t>DMVPN is a Cisco software solution for easily building multiple, dynamic, scalable VPNs. </a:t>
            </a:r>
          </a:p>
          <a:p>
            <a:pPr>
              <a:spcBef>
                <a:spcPts val="0"/>
              </a:spcBef>
              <a:spcAft>
                <a:spcPts val="0"/>
              </a:spcAft>
              <a:buFont typeface="Arial" panose="020B0604020202020204" pitchFamily="34" charset="0"/>
              <a:buChar char="•"/>
            </a:pPr>
            <a:r>
              <a:rPr lang="en-US" sz="1600" dirty="0"/>
              <a:t>Like DMVPNs, IPsec VTI simplifies the configuration process required to support multiple sites and remote access. </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IPsec protects and authenticates IP packets between source and destination. </a:t>
            </a:r>
          </a:p>
          <a:p>
            <a:pPr>
              <a:spcBef>
                <a:spcPts val="0"/>
              </a:spcBef>
              <a:spcAft>
                <a:spcPts val="0"/>
              </a:spcAft>
              <a:buFont typeface="Arial" panose="020B0604020202020204" pitchFamily="34" charset="0"/>
              <a:buChar char="•"/>
            </a:pPr>
            <a:r>
              <a:rPr lang="en-US" sz="1600" dirty="0"/>
              <a:t>IPsec can protect traffic from Layer 4 through Layer 7. </a:t>
            </a:r>
          </a:p>
          <a:p>
            <a:pPr>
              <a:spcBef>
                <a:spcPts val="0"/>
              </a:spcBef>
              <a:spcAft>
                <a:spcPts val="0"/>
              </a:spcAft>
              <a:buFont typeface="Arial" panose="020B0604020202020204" pitchFamily="34" charset="0"/>
              <a:buChar char="•"/>
            </a:pPr>
            <a:r>
              <a:rPr lang="en-US" sz="1600" dirty="0"/>
              <a:t>Using the IPsec framework, IPsec provides confidentiality, integrity, origin authentication, and Diffie-Hellman.</a:t>
            </a:r>
          </a:p>
          <a:p>
            <a:pPr>
              <a:spcBef>
                <a:spcPts val="0"/>
              </a:spcBef>
              <a:spcAft>
                <a:spcPts val="0"/>
              </a:spcAft>
              <a:buFont typeface="Arial" panose="020B0604020202020204" pitchFamily="34" charset="0"/>
              <a:buChar char="•"/>
            </a:pPr>
            <a:r>
              <a:rPr lang="en-US" sz="1600" dirty="0"/>
              <a:t>IPsec encapsulates packets using AH or ESP. </a:t>
            </a:r>
          </a:p>
          <a:p>
            <a:pPr>
              <a:spcBef>
                <a:spcPts val="0"/>
              </a:spcBef>
              <a:spcAft>
                <a:spcPts val="0"/>
              </a:spcAft>
              <a:buFont typeface="Arial" panose="020B0604020202020204" pitchFamily="34" charset="0"/>
              <a:buChar char="•"/>
            </a:pPr>
            <a:r>
              <a:rPr lang="en-US" sz="1600" dirty="0"/>
              <a:t>The degree of confidentiality depends on the encryption algorithm and the length of the key used in the encryption algorithm.</a:t>
            </a:r>
          </a:p>
          <a:p>
            <a:pPr>
              <a:spcBef>
                <a:spcPts val="0"/>
              </a:spcBef>
              <a:spcAft>
                <a:spcPts val="0"/>
              </a:spcAft>
              <a:buFont typeface="Arial" panose="020B0604020202020204" pitchFamily="34" charset="0"/>
              <a:buChar char="•"/>
            </a:pPr>
            <a:r>
              <a:rPr lang="en-US" sz="1600" dirty="0"/>
              <a:t>DH provides a way for two peers to establish a shared secret key that only they know, even though they are communicating over an insecure channel.</a:t>
            </a:r>
          </a:p>
        </p:txBody>
      </p:sp>
    </p:spTree>
    <p:custDataLst>
      <p:tags r:id="rId1"/>
    </p:custDataLst>
    <p:extLst>
      <p:ext uri="{BB962C8B-B14F-4D97-AF65-F5344CB8AC3E}">
        <p14:creationId xmlns:p14="http://schemas.microsoft.com/office/powerpoint/2010/main" val="935809628"/>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23045</TotalTime>
  <Words>3159</Words>
  <Application>Microsoft Office PowerPoint</Application>
  <PresentationFormat>On-screen Show (16:9)</PresentationFormat>
  <Paragraphs>267</Paragraphs>
  <Slides>30</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ＭＳ Ｐゴシック</vt:lpstr>
      <vt:lpstr>-apple-system</vt:lpstr>
      <vt:lpstr>Arial</vt:lpstr>
      <vt:lpstr>Calibri</vt:lpstr>
      <vt:lpstr>CiscoSans ExtraLight</vt:lpstr>
      <vt:lpstr>Proxima-Nova</vt:lpstr>
      <vt:lpstr>Roboto</vt:lpstr>
      <vt:lpstr>Wingdings</vt:lpstr>
      <vt:lpstr>Default Theme</vt:lpstr>
      <vt:lpstr>Lecture 9: VPN and IPsec Concepts</vt:lpstr>
      <vt:lpstr>Lecture Objectives</vt:lpstr>
      <vt:lpstr>9.1 VPN Technology</vt:lpstr>
      <vt:lpstr>VPN Technology Virtual Private Networks</vt:lpstr>
      <vt:lpstr>VPN Technology VPN Benefits</vt:lpstr>
      <vt:lpstr>VPN Technology Site-to-Site and Remote Access VPNs</vt:lpstr>
      <vt:lpstr>VPN Technology Site-to-Site and Remote Access VPNs (Cont.)</vt:lpstr>
      <vt:lpstr>VPN Technology Enterprise and Service Provider VPNs</vt:lpstr>
      <vt:lpstr>9.2 Types of VPNs</vt:lpstr>
      <vt:lpstr>Types of VPNs Remote-Access VPNs</vt:lpstr>
      <vt:lpstr>Types of VPNs SSL VPNs</vt:lpstr>
      <vt:lpstr>Authentication</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9.3 IPsec</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Module Practice and Quiz What did I learn in this module?</vt:lpstr>
      <vt:lpstr>Module Practice and Quiz What did I learn in this module?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Coulson, Ian M. (Dr)</cp:lastModifiedBy>
  <cp:revision>274</cp:revision>
  <cp:lastPrinted>2022-03-24T09:40:22Z</cp:lastPrinted>
  <dcterms:created xsi:type="dcterms:W3CDTF">2019-10-18T06:21:22Z</dcterms:created>
  <dcterms:modified xsi:type="dcterms:W3CDTF">2025-03-20T10:49:19Z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