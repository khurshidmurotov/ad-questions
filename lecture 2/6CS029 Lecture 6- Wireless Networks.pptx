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27.jpg" ContentType="image/jpg"/>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4.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handoutMasterIdLst>
    <p:handoutMasterId r:id="rId42"/>
  </p:handoutMasterIdLst>
  <p:sldIdLst>
    <p:sldId id="260" r:id="rId2"/>
    <p:sldId id="334" r:id="rId3"/>
    <p:sldId id="365" r:id="rId4"/>
    <p:sldId id="366" r:id="rId5"/>
    <p:sldId id="347" r:id="rId6"/>
    <p:sldId id="368" r:id="rId7"/>
    <p:sldId id="280" r:id="rId8"/>
    <p:sldId id="330" r:id="rId9"/>
    <p:sldId id="331" r:id="rId10"/>
    <p:sldId id="369" r:id="rId11"/>
    <p:sldId id="287" r:id="rId12"/>
    <p:sldId id="289" r:id="rId13"/>
    <p:sldId id="291" r:id="rId14"/>
    <p:sldId id="292" r:id="rId15"/>
    <p:sldId id="335" r:id="rId16"/>
    <p:sldId id="333" r:id="rId17"/>
    <p:sldId id="337" r:id="rId18"/>
    <p:sldId id="294" r:id="rId19"/>
    <p:sldId id="332" r:id="rId20"/>
    <p:sldId id="340" r:id="rId21"/>
    <p:sldId id="295" r:id="rId22"/>
    <p:sldId id="297" r:id="rId23"/>
    <p:sldId id="339" r:id="rId24"/>
    <p:sldId id="298" r:id="rId25"/>
    <p:sldId id="345" r:id="rId26"/>
    <p:sldId id="300" r:id="rId27"/>
    <p:sldId id="302" r:id="rId28"/>
    <p:sldId id="303" r:id="rId29"/>
    <p:sldId id="304" r:id="rId30"/>
    <p:sldId id="305" r:id="rId31"/>
    <p:sldId id="306" r:id="rId32"/>
    <p:sldId id="307" r:id="rId33"/>
    <p:sldId id="308" r:id="rId34"/>
    <p:sldId id="311" r:id="rId35"/>
    <p:sldId id="342" r:id="rId36"/>
    <p:sldId id="341" r:id="rId37"/>
    <p:sldId id="343" r:id="rId38"/>
    <p:sldId id="344" r:id="rId39"/>
    <p:sldId id="346" r:id="rId40"/>
  </p:sldIdLst>
  <p:sldSz cx="9144000" cy="6858000" type="screen4x3"/>
  <p:notesSz cx="6797675" cy="9926638"/>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126">
          <p15:clr>
            <a:srgbClr val="A4A3A4"/>
          </p15:clr>
        </p15:guide>
        <p15:guide id="2" pos="2098">
          <p15:clr>
            <a:srgbClr val="A4A3A4"/>
          </p15:clr>
        </p15:guide>
        <p15:guide id="3"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E814"/>
    <a:srgbClr val="FACB18"/>
    <a:srgbClr val="660066"/>
    <a:srgbClr val="CC0099"/>
    <a:srgbClr val="200029"/>
    <a:srgbClr val="1A00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07" autoAdjust="0"/>
    <p:restoredTop sz="63807" autoAdjust="0"/>
  </p:normalViewPr>
  <p:slideViewPr>
    <p:cSldViewPr>
      <p:cViewPr varScale="1">
        <p:scale>
          <a:sx n="71" d="100"/>
          <a:sy n="71" d="100"/>
        </p:scale>
        <p:origin x="235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406" y="-90"/>
      </p:cViewPr>
      <p:guideLst>
        <p:guide orient="horz" pos="3126"/>
        <p:guide pos="2098"/>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barushimana, Consolee" userId="590bd641-1445-4ca5-b0d0-e8a1894872d1" providerId="ADAL" clId="{0A33809A-16D0-42AE-9394-C82824297ED3}"/>
    <pc:docChg chg="custSel addSld modSld">
      <pc:chgData name="Mbarushimana, Consolee" userId="590bd641-1445-4ca5-b0d0-e8a1894872d1" providerId="ADAL" clId="{0A33809A-16D0-42AE-9394-C82824297ED3}" dt="2022-03-02T13:22:53.879" v="11"/>
      <pc:docMkLst>
        <pc:docMk/>
      </pc:docMkLst>
      <pc:sldChg chg="modNotesTx">
        <pc:chgData name="Mbarushimana, Consolee" userId="590bd641-1445-4ca5-b0d0-e8a1894872d1" providerId="ADAL" clId="{0A33809A-16D0-42AE-9394-C82824297ED3}" dt="2022-03-02T13:22:53.879" v="11"/>
        <pc:sldMkLst>
          <pc:docMk/>
          <pc:sldMk cId="477491677" sldId="329"/>
        </pc:sldMkLst>
      </pc:sldChg>
      <pc:sldChg chg="addSp delSp modSp new mod modClrScheme chgLayout modNotesTx">
        <pc:chgData name="Mbarushimana, Consolee" userId="590bd641-1445-4ca5-b0d0-e8a1894872d1" providerId="ADAL" clId="{0A33809A-16D0-42AE-9394-C82824297ED3}" dt="2022-03-02T13:21:47.003" v="10"/>
        <pc:sldMkLst>
          <pc:docMk/>
          <pc:sldMk cId="967213567" sldId="347"/>
        </pc:sldMkLst>
        <pc:spChg chg="del">
          <ac:chgData name="Mbarushimana, Consolee" userId="590bd641-1445-4ca5-b0d0-e8a1894872d1" providerId="ADAL" clId="{0A33809A-16D0-42AE-9394-C82824297ED3}" dt="2022-03-02T13:19:38.592" v="1" actId="700"/>
          <ac:spMkLst>
            <pc:docMk/>
            <pc:sldMk cId="967213567" sldId="347"/>
            <ac:spMk id="2" creationId="{C93A477A-C924-4E4A-B89D-0C6C7DA1C9D6}"/>
          </ac:spMkLst>
        </pc:spChg>
        <pc:spChg chg="del">
          <ac:chgData name="Mbarushimana, Consolee" userId="590bd641-1445-4ca5-b0d0-e8a1894872d1" providerId="ADAL" clId="{0A33809A-16D0-42AE-9394-C82824297ED3}" dt="2022-03-02T13:19:38.592" v="1" actId="700"/>
          <ac:spMkLst>
            <pc:docMk/>
            <pc:sldMk cId="967213567" sldId="347"/>
            <ac:spMk id="3" creationId="{30810B28-7327-4EAF-AA8C-B655D00FCB7D}"/>
          </ac:spMkLst>
        </pc:spChg>
        <pc:picChg chg="add mod">
          <ac:chgData name="Mbarushimana, Consolee" userId="590bd641-1445-4ca5-b0d0-e8a1894872d1" providerId="ADAL" clId="{0A33809A-16D0-42AE-9394-C82824297ED3}" dt="2022-03-02T13:19:47.684" v="6" actId="1036"/>
          <ac:picMkLst>
            <pc:docMk/>
            <pc:sldMk cId="967213567" sldId="347"/>
            <ac:picMk id="5" creationId="{B5AD66C4-FF07-475F-809F-1AF6ADA8AC4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46083" name="Rectangle 3"/>
          <p:cNvSpPr>
            <a:spLocks noGrp="1" noChangeArrowheads="1"/>
          </p:cNvSpPr>
          <p:nvPr>
            <p:ph type="dt" sz="quarter"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6084" name="Rectangle 4"/>
          <p:cNvSpPr>
            <a:spLocks noGrp="1" noChangeArrowheads="1"/>
          </p:cNvSpPr>
          <p:nvPr>
            <p:ph type="ftr" sz="quarter" idx="2"/>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46085" name="Rectangle 5"/>
          <p:cNvSpPr>
            <a:spLocks noGrp="1" noChangeArrowheads="1"/>
          </p:cNvSpPr>
          <p:nvPr>
            <p:ph type="sldNum" sz="quarter" idx="3"/>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DFF9B02-B511-41B7-B86E-BB5F03402011}" type="slidenum">
              <a:rPr lang="en-GB"/>
              <a:pPr>
                <a:defRPr/>
              </a:pPr>
              <a:t>‹#›</a:t>
            </a:fld>
            <a:endParaRPr lang="en-GB"/>
          </a:p>
        </p:txBody>
      </p:sp>
    </p:spTree>
    <p:extLst>
      <p:ext uri="{BB962C8B-B14F-4D97-AF65-F5344CB8AC3E}">
        <p14:creationId xmlns:p14="http://schemas.microsoft.com/office/powerpoint/2010/main" val="2000052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03" name="Rectangle 3"/>
          <p:cNvSpPr>
            <a:spLocks noGrp="1" noChangeArrowheads="1"/>
          </p:cNvSpPr>
          <p:nvPr>
            <p:ph type="dt"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4340"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680254" y="4714876"/>
            <a:ext cx="5437168" cy="4467225"/>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06" name="Rectangle 6"/>
          <p:cNvSpPr>
            <a:spLocks noGrp="1" noChangeArrowheads="1"/>
          </p:cNvSpPr>
          <p:nvPr>
            <p:ph type="ftr" sz="quarter" idx="4"/>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07" name="Rectangle 7"/>
          <p:cNvSpPr>
            <a:spLocks noGrp="1" noChangeArrowheads="1"/>
          </p:cNvSpPr>
          <p:nvPr>
            <p:ph type="sldNum" sz="quarter" idx="5"/>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C91629A-89CF-4C2C-9865-CC6C32D5498C}" type="slidenum">
              <a:rPr lang="en-GB"/>
              <a:pPr>
                <a:defRPr/>
              </a:pPr>
              <a:t>‹#›</a:t>
            </a:fld>
            <a:endParaRPr lang="en-GB"/>
          </a:p>
        </p:txBody>
      </p:sp>
    </p:spTree>
    <p:extLst>
      <p:ext uri="{BB962C8B-B14F-4D97-AF65-F5344CB8AC3E}">
        <p14:creationId xmlns:p14="http://schemas.microsoft.com/office/powerpoint/2010/main" val="40788705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starlink.co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en.wikipedia.org/wiki/Wi-Fi"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en.wikipedia.org/wiki/Wireless_access_point"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learning.oreilly.com/library/view/switching-routing-and/9780136729471/ch12.xhtml#ch12fig39"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A Wireless LAN (WLAN) is a type of wireless network that is commonly used in homes, offices, and campus environments. Networks must support people who are on the move. People connect using computers, laptops, tablets, and smart phones. There are many different network infrastructures that provide network access, such as wired LANs, service provider networks, and cell phone networks. But it’s the WLAN that makes mobility possible within the home and business environments.</a:t>
            </a:r>
          </a:p>
          <a:p>
            <a:r>
              <a:rPr lang="en-GB" sz="1200" b="0" i="0" kern="1200" dirty="0">
                <a:solidFill>
                  <a:schemeClr val="tx1"/>
                </a:solidFill>
                <a:effectLst/>
                <a:latin typeface="Arial" charset="0"/>
                <a:ea typeface="+mn-ea"/>
                <a:cs typeface="+mn-cs"/>
              </a:rPr>
              <a:t>In businesses with a wireless infrastructure in place, there can be a cost savings any time equipment changes, or when relocating an employee within a building, reorganizing equipment or a lab, or moving to temporary locations or project sites. A wireless infrastructure can adapt to rapidly changing needs and technologies.</a:t>
            </a:r>
          </a:p>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a:t>
            </a:fld>
            <a:endParaRPr lang="en-GB"/>
          </a:p>
        </p:txBody>
      </p:sp>
    </p:spTree>
    <p:extLst>
      <p:ext uri="{BB962C8B-B14F-4D97-AF65-F5344CB8AC3E}">
        <p14:creationId xmlns:p14="http://schemas.microsoft.com/office/powerpoint/2010/main" val="3153157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3</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4</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err="1">
                <a:solidFill>
                  <a:srgbClr val="000000"/>
                </a:solidFill>
                <a:effectLst/>
                <a:latin typeface="Proxima Nova"/>
                <a:hlinkClick r:id="rId3"/>
              </a:rPr>
              <a:t>Starlink</a:t>
            </a:r>
            <a:r>
              <a:rPr lang="en-GB" b="0" i="0" dirty="0">
                <a:solidFill>
                  <a:srgbClr val="000000"/>
                </a:solidFill>
                <a:effectLst/>
                <a:latin typeface="Proxima Nova"/>
              </a:rPr>
              <a:t>, which aims to sell internet connections to almost anyone on the planet,</a:t>
            </a:r>
          </a:p>
          <a:p>
            <a:r>
              <a:rPr lang="en-GB" b="0" i="0" dirty="0" err="1">
                <a:solidFill>
                  <a:srgbClr val="000000"/>
                </a:solidFill>
                <a:effectLst/>
                <a:latin typeface="Proxima Nova"/>
              </a:rPr>
              <a:t>Starlink</a:t>
            </a:r>
            <a:r>
              <a:rPr lang="en-GB" b="0" i="0" dirty="0">
                <a:solidFill>
                  <a:srgbClr val="000000"/>
                </a:solidFill>
                <a:effectLst/>
                <a:latin typeface="Proxima Nova"/>
              </a:rPr>
              <a:t> wants to sell internet access -- particularly to people in rural areas and other parts of the world who don't already have access to high-speed broadband. by way of a growing network of private satellites orbiting overhead.</a:t>
            </a:r>
            <a:endParaRPr lang="en-GB" dirty="0"/>
          </a:p>
        </p:txBody>
      </p:sp>
      <p:sp>
        <p:nvSpPr>
          <p:cNvPr id="4" name="Slide Number Placeholder 3"/>
          <p:cNvSpPr>
            <a:spLocks noGrp="1"/>
          </p:cNvSpPr>
          <p:nvPr>
            <p:ph type="sldNum" sz="quarter" idx="5"/>
          </p:nvPr>
        </p:nvSpPr>
        <p:spPr/>
        <p:txBody>
          <a:bodyPr/>
          <a:lstStyle/>
          <a:p>
            <a:pPr>
              <a:defRPr/>
            </a:pPr>
            <a:fld id="{8C91629A-89CF-4C2C-9865-CC6C32D5498C}" type="slidenum">
              <a:rPr lang="en-GB" smtClean="0"/>
              <a:pPr>
                <a:defRPr/>
              </a:pPr>
              <a:t>5</a:t>
            </a:fld>
            <a:endParaRPr lang="en-GB"/>
          </a:p>
        </p:txBody>
      </p:sp>
    </p:spTree>
    <p:extLst>
      <p:ext uri="{BB962C8B-B14F-4D97-AF65-F5344CB8AC3E}">
        <p14:creationId xmlns:p14="http://schemas.microsoft.com/office/powerpoint/2010/main" val="1992874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6</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All wireless devices operate in the radio waves range of the electromagnetic spectrum. WLAN networks operate in the 2.4 GHz frequency band and the 5 GHz band. Wireless LAN devices have transmitters and receivers tuned to specific frequencies of the radio waves range, as shown in Figure 12-5. Specifically, the following frequency bands are allocated to 802.11 wireless LANs:2.4 GHz (UHF) - 802.11b/g/n/ax5 GHz (SHF) - 802.11a/n/ac/</a:t>
            </a:r>
            <a:r>
              <a:rPr lang="en-GB" dirty="0" err="1"/>
              <a:t>ax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4250283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Wireless deployments require a minimum of two devices that have a radio transmitter and a radio receiver tuned to the same radio frequencies:</a:t>
            </a:r>
          </a:p>
          <a:p>
            <a:r>
              <a:rPr lang="en-GB" sz="1200" b="0" i="0" kern="1200" dirty="0">
                <a:solidFill>
                  <a:schemeClr val="tx1"/>
                </a:solidFill>
                <a:effectLst/>
                <a:latin typeface="Arial" charset="0"/>
                <a:ea typeface="+mn-ea"/>
                <a:cs typeface="+mn-cs"/>
              </a:rPr>
              <a:t>End devices with wireless NICs</a:t>
            </a:r>
          </a:p>
          <a:p>
            <a:r>
              <a:rPr lang="en-GB" sz="1200" b="0" i="0" kern="1200" dirty="0">
                <a:solidFill>
                  <a:schemeClr val="tx1"/>
                </a:solidFill>
                <a:effectLst/>
                <a:latin typeface="Arial" charset="0"/>
                <a:ea typeface="+mn-ea"/>
                <a:cs typeface="+mn-cs"/>
              </a:rPr>
              <a:t>A network device, such as a wireless router or wireless AP</a:t>
            </a:r>
          </a:p>
          <a:p>
            <a:r>
              <a:rPr lang="en-GB" sz="1200" b="0" i="0" kern="1200" dirty="0">
                <a:solidFill>
                  <a:schemeClr val="tx1"/>
                </a:solidFill>
                <a:effectLst/>
                <a:latin typeface="Arial" charset="0"/>
                <a:ea typeface="+mn-ea"/>
                <a:cs typeface="+mn-cs"/>
              </a:rPr>
              <a:t>To communicate wirelessly, laptops, tablets, smart phones, and even the latest automobiles include integrated wireless NICs that incorporate a radio transmitter/receiver. However, if a device does not have an integrated wireless NIC, then a USB wireless adapter can be used</a:t>
            </a:r>
          </a:p>
          <a:p>
            <a:r>
              <a:rPr lang="en-GB" sz="1200" b="1" i="0" kern="1200" dirty="0">
                <a:solidFill>
                  <a:schemeClr val="tx1"/>
                </a:solidFill>
                <a:effectLst/>
                <a:latin typeface="Arial" charset="0"/>
                <a:ea typeface="+mn-ea"/>
                <a:cs typeface="+mn-cs"/>
              </a:rPr>
              <a:t>Note</a:t>
            </a:r>
            <a:r>
              <a:rPr lang="en-GB" sz="1200" b="0" i="0" kern="1200" dirty="0">
                <a:solidFill>
                  <a:schemeClr val="tx1"/>
                </a:solidFill>
                <a:effectLst/>
                <a:latin typeface="Arial" charset="0"/>
                <a:ea typeface="+mn-ea"/>
                <a:cs typeface="+mn-cs"/>
              </a:rPr>
              <a:t>: Many wireless devices you are familiar with do not have visible antennas. They are embedded inside smartphones, laptops, and wireless home routers.</a:t>
            </a:r>
          </a:p>
          <a:p>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A wireless router is commonly implemented as a small business or residential wireless access device. The wireless router advertises its wireless services by sending beacons containing its shared service set identifier (SSID). Devices wirelessly discover the SSID and attempt to associate and authenticate with it to access the local network and internet.</a:t>
            </a:r>
          </a:p>
          <a:p>
            <a:r>
              <a:rPr lang="en-GB" sz="1200" b="0" i="0" kern="1200" dirty="0">
                <a:solidFill>
                  <a:schemeClr val="tx1"/>
                </a:solidFill>
                <a:effectLst/>
                <a:latin typeface="Arial" charset="0"/>
                <a:ea typeface="+mn-ea"/>
                <a:cs typeface="+mn-cs"/>
              </a:rPr>
              <a:t>Most wireless routers also provide advanced features, such as high-speed access, support for video streaming, IPv6 addressing, quality of service (</a:t>
            </a:r>
            <a:r>
              <a:rPr lang="en-GB" sz="1200" b="0" i="0" kern="1200" dirty="0" err="1">
                <a:solidFill>
                  <a:schemeClr val="tx1"/>
                </a:solidFill>
                <a:effectLst/>
                <a:latin typeface="Arial" charset="0"/>
                <a:ea typeface="+mn-ea"/>
                <a:cs typeface="+mn-cs"/>
              </a:rPr>
              <a:t>QoS</a:t>
            </a:r>
            <a:r>
              <a:rPr lang="en-GB" sz="1200" b="0" i="0" kern="1200" dirty="0">
                <a:solidFill>
                  <a:schemeClr val="tx1"/>
                </a:solidFill>
                <a:effectLst/>
                <a:latin typeface="Arial" charset="0"/>
                <a:ea typeface="+mn-ea"/>
                <a:cs typeface="+mn-cs"/>
              </a:rPr>
              <a:t>), configuration utilities, and USB ports to connect printers or portable drives.</a:t>
            </a:r>
          </a:p>
          <a:p>
            <a:r>
              <a:rPr lang="en-GB" sz="1200" b="0" i="0" kern="1200" dirty="0">
                <a:solidFill>
                  <a:schemeClr val="tx1"/>
                </a:solidFill>
                <a:effectLst/>
                <a:latin typeface="Arial" charset="0"/>
                <a:ea typeface="+mn-ea"/>
                <a:cs typeface="+mn-cs"/>
              </a:rPr>
              <a:t>Additionally, home users who want to extend their network services can implement Wi-Fi range extenders. A device can connect wirelessly to the extender, which boosts its communications to be repeated to the wireless router.</a:t>
            </a:r>
          </a:p>
          <a:p>
            <a:endParaRPr lang="en-GB" sz="1200" b="0" i="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192829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While range extenders are easy to set up and configure, the best solution would be to install another wireless access point to provide dedicated wireless access to the user devices. Wireless clients use their wireless NIC to discover nearby APs advertising their SSID. Clients then attempt to associate and authenticate with an AP. After being authenticated, wireless users have access to network resources. The Cisco Meraki Go APs are shown in the figure.</a:t>
            </a:r>
          </a:p>
          <a:p>
            <a:r>
              <a:rPr lang="en-GB" sz="1200" b="0" i="0" kern="1200" dirty="0">
                <a:solidFill>
                  <a:schemeClr val="tx1"/>
                </a:solidFill>
                <a:effectLst/>
                <a:latin typeface="Arial" charset="0"/>
                <a:ea typeface="+mn-ea"/>
                <a:cs typeface="+mn-cs"/>
              </a:rPr>
              <a:t>Most business class APs require external antennas to make them fully functioning units.</a:t>
            </a:r>
          </a:p>
          <a:p>
            <a:br>
              <a:rPr lang="en-GB" sz="1200" b="0" i="0" kern="1200" dirty="0">
                <a:solidFill>
                  <a:schemeClr val="tx1"/>
                </a:solidFill>
                <a:effectLst/>
                <a:latin typeface="Arial" charset="0"/>
                <a:ea typeface="+mn-ea"/>
                <a:cs typeface="+mn-cs"/>
              </a:rPr>
            </a:b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660312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1" i="0" kern="1200" dirty="0">
                <a:solidFill>
                  <a:schemeClr val="tx1"/>
                </a:solidFill>
                <a:effectLst/>
                <a:latin typeface="Arial" charset="0"/>
                <a:ea typeface="+mn-ea"/>
                <a:cs typeface="+mn-cs"/>
              </a:rPr>
              <a:t>Autonomous APs</a:t>
            </a:r>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These are standalone devices configured using a command line interface or a GUI, as shown in the figure. Autonomous APs are useful in situations where only a couple of APs are required in the organization. A home router is an example of an autonomous AP because the entire AP configuration resides on the device. If the wireless demands increase, more APs would be required. Each AP would operate independent of other APs and each AP would require manual configuration and management. This would become overwhelming if many APs were needed.</a:t>
            </a:r>
          </a:p>
          <a:p>
            <a:r>
              <a:rPr lang="en-GB" sz="1200" b="1" i="0" kern="1200" dirty="0">
                <a:solidFill>
                  <a:schemeClr val="tx1"/>
                </a:solidFill>
                <a:effectLst/>
                <a:latin typeface="Arial" charset="0"/>
                <a:ea typeface="+mn-ea"/>
                <a:cs typeface="+mn-cs"/>
              </a:rPr>
              <a:t>Controller-based APs</a:t>
            </a:r>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These devices require no initial configuration and are often called lightweight APs (LAPs). LAPs use the Lightweight Access Point Protocol (LWAPP) to communicate with a WLAN controller (WLC), as shown in the next figure. Controller-based APs are useful in situations where many APs are required in the network. As more APs are added, each AP is automatically configured and managed by the WLC.</a:t>
            </a:r>
          </a:p>
          <a:p>
            <a:r>
              <a:rPr lang="en-GB" sz="1200" b="0" i="0" kern="1200" dirty="0">
                <a:solidFill>
                  <a:schemeClr val="tx1"/>
                </a:solidFill>
                <a:effectLst/>
                <a:latin typeface="Arial" charset="0"/>
                <a:ea typeface="+mn-ea"/>
                <a:cs typeface="+mn-cs"/>
              </a:rPr>
              <a:t>Notice in the figure that the WLC has four ports connected to the switching infrastructure. These four ports are configured as a link aggregation group (LAG) to bundle them together. Much like how </a:t>
            </a:r>
            <a:r>
              <a:rPr lang="en-GB" sz="1200" b="0" i="0" kern="1200" dirty="0" err="1">
                <a:solidFill>
                  <a:schemeClr val="tx1"/>
                </a:solidFill>
                <a:effectLst/>
                <a:latin typeface="Arial" charset="0"/>
                <a:ea typeface="+mn-ea"/>
                <a:cs typeface="+mn-cs"/>
              </a:rPr>
              <a:t>EtherChannel</a:t>
            </a:r>
            <a:r>
              <a:rPr lang="en-GB" sz="1200" b="0" i="0" kern="1200" dirty="0">
                <a:solidFill>
                  <a:schemeClr val="tx1"/>
                </a:solidFill>
                <a:effectLst/>
                <a:latin typeface="Arial" charset="0"/>
                <a:ea typeface="+mn-ea"/>
                <a:cs typeface="+mn-cs"/>
              </a:rPr>
              <a:t> operates, LAG provides redundancy and load-balancing. All the ports on the switch that are connected to the WLC need to be trunking and configured with </a:t>
            </a:r>
            <a:r>
              <a:rPr lang="en-GB" sz="1200" b="0" i="0" kern="1200" dirty="0" err="1">
                <a:solidFill>
                  <a:schemeClr val="tx1"/>
                </a:solidFill>
                <a:effectLst/>
                <a:latin typeface="Arial" charset="0"/>
                <a:ea typeface="+mn-ea"/>
                <a:cs typeface="+mn-cs"/>
              </a:rPr>
              <a:t>EtherChannel</a:t>
            </a:r>
            <a:r>
              <a:rPr lang="en-GB" sz="1200" b="0" i="0" kern="1200" dirty="0">
                <a:solidFill>
                  <a:schemeClr val="tx1"/>
                </a:solidFill>
                <a:effectLst/>
                <a:latin typeface="Arial" charset="0"/>
                <a:ea typeface="+mn-ea"/>
                <a:cs typeface="+mn-cs"/>
              </a:rPr>
              <a:t> on. However, LAG does not operate exactly like </a:t>
            </a:r>
            <a:r>
              <a:rPr lang="en-GB" sz="1200" b="0" i="0" kern="1200" dirty="0" err="1">
                <a:solidFill>
                  <a:schemeClr val="tx1"/>
                </a:solidFill>
                <a:effectLst/>
                <a:latin typeface="Arial" charset="0"/>
                <a:ea typeface="+mn-ea"/>
                <a:cs typeface="+mn-cs"/>
              </a:rPr>
              <a:t>EtherChannel</a:t>
            </a:r>
            <a:r>
              <a:rPr lang="en-GB" sz="1200" b="0" i="0" kern="1200" dirty="0">
                <a:solidFill>
                  <a:schemeClr val="tx1"/>
                </a:solidFill>
                <a:effectLst/>
                <a:latin typeface="Arial" charset="0"/>
                <a:ea typeface="+mn-ea"/>
                <a:cs typeface="+mn-cs"/>
              </a:rPr>
              <a:t>. The WLC does not support Port Aggregation Protocol (</a:t>
            </a:r>
            <a:r>
              <a:rPr lang="en-GB" sz="1200" b="0" i="0" kern="1200" dirty="0" err="1">
                <a:solidFill>
                  <a:schemeClr val="tx1"/>
                </a:solidFill>
                <a:effectLst/>
                <a:latin typeface="Arial" charset="0"/>
                <a:ea typeface="+mn-ea"/>
                <a:cs typeface="+mn-cs"/>
              </a:rPr>
              <a:t>PaGP</a:t>
            </a:r>
            <a:r>
              <a:rPr lang="en-GB" sz="1200" b="0" i="0" kern="1200" dirty="0">
                <a:solidFill>
                  <a:schemeClr val="tx1"/>
                </a:solidFill>
                <a:effectLst/>
                <a:latin typeface="Arial" charset="0"/>
                <a:ea typeface="+mn-ea"/>
                <a:cs typeface="+mn-cs"/>
              </a:rPr>
              <a:t>) or Link Aggregation Control Protocol (LACP).</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694351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1" i="0" kern="1200" dirty="0">
                <a:solidFill>
                  <a:schemeClr val="tx1"/>
                </a:solidFill>
                <a:effectLst/>
                <a:latin typeface="Arial" charset="0"/>
                <a:ea typeface="+mn-ea"/>
                <a:cs typeface="+mn-cs"/>
              </a:rPr>
              <a:t>Ad hoc mode -</a:t>
            </a:r>
            <a:r>
              <a:rPr lang="en-GB" sz="1200" b="0" i="0" kern="1200" dirty="0">
                <a:solidFill>
                  <a:schemeClr val="tx1"/>
                </a:solidFill>
                <a:effectLst/>
                <a:latin typeface="Arial" charset="0"/>
                <a:ea typeface="+mn-ea"/>
                <a:cs typeface="+mn-cs"/>
              </a:rPr>
              <a:t> This is when two devices connect wirelessly in a peer-to-peer (P2P) manner without using APs or wireless routers. Examples include wireless clients connecting directly to each other using Bluetooth or Wi-Fi Direct. The IEEE 802.11 standard refers to an ad hoc network as an independent basic service set (IBSS).</a:t>
            </a:r>
          </a:p>
          <a:p>
            <a:r>
              <a:rPr lang="en-GB" sz="1200" b="1" i="0" kern="1200" dirty="0">
                <a:solidFill>
                  <a:schemeClr val="tx1"/>
                </a:solidFill>
                <a:effectLst/>
                <a:latin typeface="Arial" charset="0"/>
                <a:ea typeface="+mn-ea"/>
                <a:cs typeface="+mn-cs"/>
              </a:rPr>
              <a:t>Infrastructure mode -</a:t>
            </a:r>
            <a:r>
              <a:rPr lang="en-GB" sz="1200" b="0" i="0" kern="1200" dirty="0">
                <a:solidFill>
                  <a:schemeClr val="tx1"/>
                </a:solidFill>
                <a:effectLst/>
                <a:latin typeface="Arial" charset="0"/>
                <a:ea typeface="+mn-ea"/>
                <a:cs typeface="+mn-cs"/>
              </a:rPr>
              <a:t> This is when wireless clients interconnect via a wireless router or AP, such as in WLANs. APs connect to the network infrastructure using the wired distribution system, such as Ethernet.</a:t>
            </a:r>
          </a:p>
          <a:p>
            <a:r>
              <a:rPr lang="en-GB" sz="1200" b="1" i="0" kern="1200" dirty="0">
                <a:solidFill>
                  <a:schemeClr val="tx1"/>
                </a:solidFill>
                <a:effectLst/>
                <a:latin typeface="Arial" charset="0"/>
                <a:ea typeface="+mn-ea"/>
                <a:cs typeface="+mn-cs"/>
              </a:rPr>
              <a:t>Tethering</a:t>
            </a:r>
            <a:r>
              <a:rPr lang="en-GB" sz="1200" b="0" i="0" kern="1200" dirty="0">
                <a:solidFill>
                  <a:schemeClr val="tx1"/>
                </a:solidFill>
                <a:effectLst/>
                <a:latin typeface="Arial" charset="0"/>
                <a:ea typeface="+mn-ea"/>
                <a:cs typeface="+mn-cs"/>
              </a:rPr>
              <a:t> - A variation of the ad hoc topology is when a smart phone or tablet with cellular data access is enabled to create a personal hotspot. This feature is sometimes referred to as tethering. A hotspot is usually a temporary quick solution that enables a smart phone to provide the wireless services of a Wi-Fi router. Other devices can associate and authenticate with the smart phone to use the internet connection.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1670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1" i="0" kern="1200" dirty="0">
                <a:solidFill>
                  <a:schemeClr val="tx1"/>
                </a:solidFill>
                <a:effectLst/>
                <a:latin typeface="Arial" charset="0"/>
                <a:ea typeface="+mn-ea"/>
                <a:cs typeface="+mn-cs"/>
              </a:rPr>
              <a:t>Basic Service Set</a:t>
            </a:r>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A BSS consists of a single AP interconnecting all associated wireless clients. Two BSSs are shown in the figure. The circles depict the coverage area for the BSS, which is called the Basic Service Area (BSA). If a wireless client moves out of its BSA, it can no longer directly communicate with other wireless clients within the BSA.</a:t>
            </a:r>
          </a:p>
          <a:p>
            <a:r>
              <a:rPr lang="en-GB" sz="1200" b="0" i="0" kern="1200" dirty="0">
                <a:solidFill>
                  <a:schemeClr val="tx1"/>
                </a:solidFill>
                <a:effectLst/>
                <a:latin typeface="Arial" charset="0"/>
                <a:ea typeface="+mn-ea"/>
                <a:cs typeface="+mn-cs"/>
              </a:rPr>
              <a:t>The Layer 2 MAC address of the AP is used to uniquely identify each BSS, which is called the Basic Service Set Identifier (BSSID). Therefore, the BSSID is the formal name of the BSS and is always associated with only one AP.</a:t>
            </a:r>
          </a:p>
          <a:p>
            <a:r>
              <a:rPr lang="en-GB" sz="1200" b="1" i="0" kern="1200" dirty="0">
                <a:solidFill>
                  <a:schemeClr val="tx1"/>
                </a:solidFill>
                <a:effectLst/>
                <a:latin typeface="Arial" charset="0"/>
                <a:ea typeface="+mn-ea"/>
                <a:cs typeface="+mn-cs"/>
              </a:rPr>
              <a:t>Extended Service Set</a:t>
            </a:r>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When a single BSS provides insufficient coverage, two or more BSSs can be joined through a common distribution system (DS) into an ESS. An ESS is the union of two or more BSSs interconnected by a wired DS. Each ESS is identified by a SSID and each BSS is identified by its BSSID.</a:t>
            </a:r>
          </a:p>
          <a:p>
            <a:r>
              <a:rPr lang="en-GB" sz="1200" b="0" i="0" kern="1200" dirty="0">
                <a:solidFill>
                  <a:schemeClr val="tx1"/>
                </a:solidFill>
                <a:effectLst/>
                <a:latin typeface="Arial" charset="0"/>
                <a:ea typeface="+mn-ea"/>
                <a:cs typeface="+mn-cs"/>
              </a:rPr>
              <a:t>Wireless clients in one BSA can now communicate with wireless clients in another BSA within the same ESS. Roaming mobile wireless clients may move from one BSA to another (within the same ESS) and seamlessly connect.</a:t>
            </a:r>
          </a:p>
          <a:p>
            <a:r>
              <a:rPr lang="en-GB" sz="1200" b="0" i="0" kern="1200" dirty="0">
                <a:solidFill>
                  <a:schemeClr val="tx1"/>
                </a:solidFill>
                <a:effectLst/>
                <a:latin typeface="Arial" charset="0"/>
                <a:ea typeface="+mn-ea"/>
                <a:cs typeface="+mn-cs"/>
              </a:rPr>
              <a:t>The rectangular area in the figure depicts the coverage area within which members of an ESS may communicate. This area is called the Extended Service Area (ESA).</a:t>
            </a:r>
          </a:p>
          <a:p>
            <a:endParaRPr lang="en-GB" sz="1200" b="0" i="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962962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C91629A-89CF-4C2C-9865-CC6C32D5498C}" type="slidenum">
              <a:rPr lang="en-GB" smtClean="0"/>
              <a:pPr>
                <a:defRPr/>
              </a:pPr>
              <a:t>17</a:t>
            </a:fld>
            <a:endParaRPr lang="en-GB"/>
          </a:p>
        </p:txBody>
      </p:sp>
    </p:spTree>
    <p:extLst>
      <p:ext uri="{BB962C8B-B14F-4D97-AF65-F5344CB8AC3E}">
        <p14:creationId xmlns:p14="http://schemas.microsoft.com/office/powerpoint/2010/main" val="37450475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101946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C91629A-89CF-4C2C-9865-CC6C32D5498C}" type="slidenum">
              <a:rPr lang="en-GB" smtClean="0"/>
              <a:pPr>
                <a:defRPr/>
              </a:pPr>
              <a:t>19</a:t>
            </a:fld>
            <a:endParaRPr lang="en-GB"/>
          </a:p>
        </p:txBody>
      </p:sp>
    </p:spTree>
    <p:extLst>
      <p:ext uri="{BB962C8B-B14F-4D97-AF65-F5344CB8AC3E}">
        <p14:creationId xmlns:p14="http://schemas.microsoft.com/office/powerpoint/2010/main" val="29740327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marL="358835" marR="0" lvl="1" indent="-285750" algn="l" defTabSz="914400" rtl="0" eaLnBrk="0" fontAlgn="base" latinLnBrk="0" hangingPunct="0">
              <a:lnSpc>
                <a:spcPct val="100000"/>
              </a:lnSpc>
              <a:spcBef>
                <a:spcPct val="30000"/>
              </a:spcBef>
              <a:spcAft>
                <a:spcPct val="0"/>
              </a:spcAft>
              <a:buClrTx/>
              <a:buSzTx/>
              <a:buFontTx/>
              <a:buNone/>
              <a:tabLst/>
              <a:defRPr/>
            </a:pPr>
            <a:r>
              <a:rPr lang="en-US" sz="1800" dirty="0">
                <a:solidFill>
                  <a:srgbClr val="000000"/>
                </a:solidFill>
              </a:rPr>
              <a:t>To achieve successful association, a wireless client and an AP must agree on specific parameters:</a:t>
            </a:r>
          </a:p>
          <a:p>
            <a:pPr marL="358835" lvl="1" indent="-285750"/>
            <a:r>
              <a:rPr lang="en-US" sz="1800" b="1" dirty="0">
                <a:solidFill>
                  <a:srgbClr val="000000"/>
                </a:solidFill>
              </a:rPr>
              <a:t>SSID</a:t>
            </a:r>
            <a:r>
              <a:rPr lang="en-US" sz="1800" dirty="0">
                <a:solidFill>
                  <a:srgbClr val="000000"/>
                </a:solidFill>
              </a:rPr>
              <a:t> – The client needs to know the name of the network to connect.</a:t>
            </a:r>
          </a:p>
          <a:p>
            <a:pPr marL="358835" lvl="1" indent="-285750"/>
            <a:r>
              <a:rPr lang="en-US" sz="1800" b="1" dirty="0">
                <a:solidFill>
                  <a:srgbClr val="000000"/>
                </a:solidFill>
              </a:rPr>
              <a:t>Password</a:t>
            </a:r>
            <a:r>
              <a:rPr lang="en-US" sz="1800" dirty="0">
                <a:solidFill>
                  <a:srgbClr val="000000"/>
                </a:solidFill>
              </a:rPr>
              <a:t> – This is required for the client to authenticate to the AP.</a:t>
            </a:r>
          </a:p>
          <a:p>
            <a:pPr marL="358835" lvl="1" indent="-285750"/>
            <a:r>
              <a:rPr lang="en-US" sz="1800" b="1" dirty="0">
                <a:solidFill>
                  <a:srgbClr val="000000"/>
                </a:solidFill>
              </a:rPr>
              <a:t>Network mode </a:t>
            </a:r>
            <a:r>
              <a:rPr lang="en-US" sz="1800" dirty="0">
                <a:solidFill>
                  <a:srgbClr val="000000"/>
                </a:solidFill>
              </a:rPr>
              <a:t>– The 802.11 standard in use.</a:t>
            </a:r>
          </a:p>
          <a:p>
            <a:pPr marL="358835" lvl="1" indent="-285750"/>
            <a:r>
              <a:rPr lang="en-US" sz="1800" b="1" dirty="0">
                <a:solidFill>
                  <a:srgbClr val="000000"/>
                </a:solidFill>
              </a:rPr>
              <a:t>Security mode </a:t>
            </a:r>
            <a:r>
              <a:rPr lang="en-US" sz="1800" dirty="0">
                <a:solidFill>
                  <a:srgbClr val="000000"/>
                </a:solidFill>
              </a:rPr>
              <a:t>– The security parameter settings, i.e. WEP, WPA, or WPA2.</a:t>
            </a:r>
          </a:p>
          <a:p>
            <a:pPr marL="358835" lvl="1" indent="-285750"/>
            <a:r>
              <a:rPr lang="en-US" sz="1800" b="1" dirty="0">
                <a:solidFill>
                  <a:srgbClr val="000000"/>
                </a:solidFill>
              </a:rPr>
              <a:t>Channel settings </a:t>
            </a:r>
            <a:r>
              <a:rPr lang="en-US" sz="1800" dirty="0">
                <a:solidFill>
                  <a:srgbClr val="000000"/>
                </a:solidFill>
              </a:rPr>
              <a:t>– The frequency bands in use.</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4080071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In passive mode, the AP openly advertises its service by periodically sending broadcast beacon frames containing the SSID, supported standards, and security settings. The primary purpose of the beacon is to allow wireless clients to learn which networks and APs are available in a given area. This allows the wireless clients to choose which network and AP to use.</a:t>
            </a:r>
          </a:p>
          <a:p>
            <a:r>
              <a:rPr lang="en-GB" sz="1200" b="0" i="0" kern="1200" dirty="0">
                <a:solidFill>
                  <a:schemeClr val="tx1"/>
                </a:solidFill>
                <a:effectLst/>
                <a:latin typeface="Arial" charset="0"/>
                <a:ea typeface="+mn-ea"/>
                <a:cs typeface="+mn-cs"/>
              </a:rPr>
              <a:t>In active mode, wireless clients must know the name of the SSID. The wireless client initiates the process by broadcasting a probe request frame on multiple channels. The probe request includes the SSID name and standards supported. APs configured with the SSID will send a probe response that includes the SSID, supported standards, and security settings. Active mode may be required if an AP or wireless router is configured to not broadcast beacon frames.</a:t>
            </a:r>
          </a:p>
          <a:p>
            <a:r>
              <a:rPr lang="en-GB" sz="1200" b="0" i="0" kern="1200" dirty="0">
                <a:solidFill>
                  <a:schemeClr val="tx1"/>
                </a:solidFill>
                <a:effectLst/>
                <a:latin typeface="Arial" charset="0"/>
                <a:ea typeface="+mn-ea"/>
                <a:cs typeface="+mn-cs"/>
              </a:rPr>
              <a:t>A wireless client could also send a probe request without a SSID name to discover nearby WLAN networks. APs configured to broadcast beacon frames would respond to the wireless client with a probe response and provide the SSID name. APs with the broadcast SSID feature disabled do not respond.</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6859790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993B1-30A1-FFFE-CF7C-31C8F4A8A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39303-3018-2CDE-1E8D-560B0BC40D10}"/>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1C879046-664A-4574-01A3-E520CBFDAE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FD4F5E-C43B-BDFD-1305-DCAC82AB7367}"/>
              </a:ext>
            </a:extLst>
          </p:cNvPr>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1743298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1" i="0" kern="1200" dirty="0">
                <a:solidFill>
                  <a:schemeClr val="tx1"/>
                </a:solidFill>
                <a:effectLst/>
                <a:latin typeface="Arial" charset="0"/>
                <a:ea typeface="+mn-ea"/>
                <a:cs typeface="+mn-cs"/>
              </a:rPr>
              <a:t>Lightweight Access Point Protocol</a:t>
            </a:r>
            <a:r>
              <a:rPr lang="en-GB" sz="1200" b="0" i="0" kern="1200" dirty="0">
                <a:solidFill>
                  <a:schemeClr val="tx1"/>
                </a:solidFill>
                <a:effectLst/>
                <a:latin typeface="Arial" charset="0"/>
                <a:ea typeface="+mn-ea"/>
                <a:cs typeface="+mn-cs"/>
              </a:rPr>
              <a:t> (</a:t>
            </a:r>
            <a:r>
              <a:rPr lang="en-GB" sz="1200" b="1" i="0" kern="1200" dirty="0">
                <a:solidFill>
                  <a:schemeClr val="tx1"/>
                </a:solidFill>
                <a:effectLst/>
                <a:latin typeface="Arial" charset="0"/>
                <a:ea typeface="+mn-ea"/>
                <a:cs typeface="+mn-cs"/>
              </a:rPr>
              <a:t>LWAPP</a:t>
            </a:r>
            <a:r>
              <a:rPr lang="en-GB" sz="1200" b="0" i="0" kern="1200" dirty="0">
                <a:solidFill>
                  <a:schemeClr val="tx1"/>
                </a:solidFill>
                <a:effectLst/>
                <a:latin typeface="Arial" charset="0"/>
                <a:ea typeface="+mn-ea"/>
                <a:cs typeface="+mn-cs"/>
              </a:rPr>
              <a:t>) is the name of a protocol that can control multiple </a:t>
            </a:r>
            <a:r>
              <a:rPr lang="en-GB" sz="1200" b="0" i="0" u="none" strike="noStrike" kern="1200" dirty="0">
                <a:solidFill>
                  <a:schemeClr val="tx1"/>
                </a:solidFill>
                <a:effectLst/>
                <a:latin typeface="Arial" charset="0"/>
                <a:ea typeface="+mn-ea"/>
                <a:cs typeface="+mn-cs"/>
                <a:hlinkClick r:id="rId3" tooltip="Wi-Fi"/>
              </a:rPr>
              <a:t>Wi-Fi</a:t>
            </a:r>
            <a:r>
              <a:rPr lang="en-GB" sz="1200" b="0" i="0" kern="1200" dirty="0">
                <a:solidFill>
                  <a:schemeClr val="tx1"/>
                </a:solidFill>
                <a:effectLst/>
                <a:latin typeface="Arial" charset="0"/>
                <a:ea typeface="+mn-ea"/>
                <a:cs typeface="+mn-cs"/>
              </a:rPr>
              <a:t> </a:t>
            </a:r>
            <a:r>
              <a:rPr lang="en-GB" sz="1200" b="0" i="0" u="none" strike="noStrike" kern="1200" dirty="0">
                <a:solidFill>
                  <a:schemeClr val="tx1"/>
                </a:solidFill>
                <a:effectLst/>
                <a:latin typeface="Arial" charset="0"/>
                <a:ea typeface="+mn-ea"/>
                <a:cs typeface="+mn-cs"/>
                <a:hlinkClick r:id="rId4" tooltip="Wireless access point"/>
              </a:rPr>
              <a:t>wireless access points</a:t>
            </a:r>
            <a:r>
              <a:rPr lang="en-GB" sz="1200" b="0" i="0" kern="1200" dirty="0">
                <a:solidFill>
                  <a:schemeClr val="tx1"/>
                </a:solidFill>
                <a:effectLst/>
                <a:latin typeface="Arial" charset="0"/>
                <a:ea typeface="+mn-ea"/>
                <a:cs typeface="+mn-cs"/>
              </a:rPr>
              <a:t> at once. This can reduce the amount of time spent on configuring, monitoring or troubleshooting a large network. The system will also allow network administrators to closely </a:t>
            </a:r>
            <a:r>
              <a:rPr lang="en-GB" sz="1200" b="0" i="0" kern="1200" dirty="0" err="1">
                <a:solidFill>
                  <a:schemeClr val="tx1"/>
                </a:solidFill>
                <a:effectLst/>
                <a:latin typeface="Arial" charset="0"/>
                <a:ea typeface="+mn-ea"/>
                <a:cs typeface="+mn-cs"/>
              </a:rPr>
              <a:t>analyze</a:t>
            </a:r>
            <a:r>
              <a:rPr lang="en-GB" sz="1200" b="0" i="0" kern="1200" dirty="0">
                <a:solidFill>
                  <a:schemeClr val="tx1"/>
                </a:solidFill>
                <a:effectLst/>
                <a:latin typeface="Arial" charset="0"/>
                <a:ea typeface="+mn-ea"/>
                <a:cs typeface="+mn-cs"/>
              </a:rPr>
              <a:t> the network.</a:t>
            </a:r>
          </a:p>
          <a:p>
            <a:r>
              <a:rPr lang="en-GB" sz="1200" b="0" i="0" kern="1200" dirty="0">
                <a:solidFill>
                  <a:schemeClr val="tx1"/>
                </a:solidFill>
                <a:effectLst/>
                <a:latin typeface="Arial" charset="0"/>
                <a:ea typeface="+mn-ea"/>
                <a:cs typeface="+mn-cs"/>
              </a:rPr>
              <a:t>This system is installed in a central server that gathers data from RF devices from different brands and settings. The server can command a selected group of devices to apply given settings simultaneously.</a:t>
            </a:r>
          </a:p>
          <a:p>
            <a:r>
              <a:rPr lang="en-GB" sz="1200" b="0" i="0" kern="1200" dirty="0">
                <a:solidFill>
                  <a:schemeClr val="tx1"/>
                </a:solidFill>
                <a:effectLst/>
                <a:latin typeface="Arial" charset="0"/>
                <a:ea typeface="+mn-ea"/>
                <a:cs typeface="+mn-cs"/>
              </a:rPr>
              <a:t>CAPWAP is an IEEE standard protocol that enables a WLC to manage multiple APs and WLANs. CAPWAP is also responsible for the encapsulation and forwarding of WLAN client traffic between an AP and a WLC.</a:t>
            </a:r>
          </a:p>
          <a:p>
            <a:r>
              <a:rPr lang="en-GB" sz="1200" b="0" i="0" kern="1200" dirty="0">
                <a:solidFill>
                  <a:schemeClr val="tx1"/>
                </a:solidFill>
                <a:effectLst/>
                <a:latin typeface="Arial" charset="0"/>
                <a:ea typeface="+mn-ea"/>
                <a:cs typeface="+mn-cs"/>
              </a:rPr>
              <a:t>CAPWAP is based on LWAPP but adds additional security with Datagram Transport Layer Security (DTLS). CAPWAP establishes tunnels on User Datagram Protocol (UDP) ports. CAPWAP can operate either over IPv4 or IPv6, as shown in the figure, but uses IPv4 by default.</a:t>
            </a:r>
          </a:p>
          <a:p>
            <a:r>
              <a:rPr lang="en-GB" sz="1200" b="0" i="0" kern="1200" dirty="0">
                <a:solidFill>
                  <a:schemeClr val="tx1"/>
                </a:solidFill>
                <a:effectLst/>
                <a:latin typeface="Arial" charset="0"/>
                <a:ea typeface="+mn-ea"/>
                <a:cs typeface="+mn-cs"/>
              </a:rPr>
              <a:t>IPv4 and IPv6 both use UDP ports 5246 and 5247. Port 5246 is for CAPWAP control messages used by the WLC to manage the AP. Port 5247 is used by CAPWAP to encapsulate data packets traveling to and from wireless clients. However, CAPWAP tunnels use different IP protocols in the packet header. IPv4 uses IP protocol 17 and IPv6 uses IP protocol 136.</a:t>
            </a:r>
          </a:p>
          <a:p>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A key component of CAPWAP is the concept of a split media access control (MAC). The CAPWAP split MAC concept does all of the functions normally performed by individual APs and distributes them between two functional components:</a:t>
            </a:r>
          </a:p>
          <a:p>
            <a:r>
              <a:rPr lang="en-GB" sz="1200" b="0" i="0" kern="1200" dirty="0">
                <a:solidFill>
                  <a:schemeClr val="tx1"/>
                </a:solidFill>
                <a:effectLst/>
                <a:latin typeface="Arial" charset="0"/>
                <a:ea typeface="+mn-ea"/>
                <a:cs typeface="+mn-cs"/>
              </a:rPr>
              <a:t>AP MAC Functions</a:t>
            </a:r>
          </a:p>
          <a:p>
            <a:r>
              <a:rPr lang="en-GB" sz="1200" b="0" i="0" kern="1200" dirty="0">
                <a:solidFill>
                  <a:schemeClr val="tx1"/>
                </a:solidFill>
                <a:effectLst/>
                <a:latin typeface="Arial" charset="0"/>
                <a:ea typeface="+mn-ea"/>
                <a:cs typeface="+mn-cs"/>
              </a:rPr>
              <a:t>WLC MAC Functions</a:t>
            </a:r>
          </a:p>
          <a:p>
            <a:r>
              <a:rPr lang="en-GB" sz="1200" b="0" i="0" kern="1200" dirty="0">
                <a:solidFill>
                  <a:schemeClr val="tx1"/>
                </a:solidFill>
                <a:effectLst/>
                <a:latin typeface="Arial" charset="0"/>
                <a:ea typeface="+mn-ea"/>
                <a:cs typeface="+mn-cs"/>
              </a:rPr>
              <a:t>The table shows some of the MAC functions performed by each.</a:t>
            </a:r>
          </a:p>
          <a:p>
            <a:endParaRPr lang="en-GB" sz="1200" b="0" i="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059638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DTLS </a:t>
            </a:r>
            <a:r>
              <a:rPr lang="en-US" sz="1200" dirty="0">
                <a:solidFill>
                  <a:srgbClr val="000000"/>
                </a:solidFill>
              </a:rPr>
              <a:t>Datagram Transport Layer Security </a:t>
            </a:r>
            <a:r>
              <a:rPr lang="en-GB" sz="1200" b="0" i="0" kern="1200" dirty="0">
                <a:solidFill>
                  <a:schemeClr val="tx1"/>
                </a:solidFill>
                <a:effectLst/>
                <a:latin typeface="Arial" charset="0"/>
                <a:ea typeface="+mn-ea"/>
                <a:cs typeface="+mn-cs"/>
              </a:rPr>
              <a:t>is a protocol which provides security between the AP and the WLC. It allows them to communicate using encryption and prevents eavesdropping or tampering.</a:t>
            </a:r>
          </a:p>
          <a:p>
            <a:r>
              <a:rPr lang="en-GB" sz="1200" b="0" i="0" kern="1200" dirty="0">
                <a:solidFill>
                  <a:schemeClr val="tx1"/>
                </a:solidFill>
                <a:effectLst/>
                <a:latin typeface="Arial" charset="0"/>
                <a:ea typeface="+mn-ea"/>
                <a:cs typeface="+mn-cs"/>
              </a:rPr>
              <a:t>DTLS is enabled by default to secure the CAPWAP control channel but is disabled by default for the data channel, as shown in the figure. All CAPWAP management and control traffic exchanged between an AP and WLC is encrypted and secured by default to provide control plane privacy and prevent Man-In-the-Middle (MITM) attacks.</a:t>
            </a:r>
          </a:p>
          <a:p>
            <a:r>
              <a:rPr lang="en-GB" sz="1200" b="0" i="0" kern="1200" dirty="0">
                <a:solidFill>
                  <a:schemeClr val="tx1"/>
                </a:solidFill>
                <a:effectLst/>
                <a:latin typeface="Arial" charset="0"/>
                <a:ea typeface="+mn-ea"/>
                <a:cs typeface="+mn-cs"/>
              </a:rPr>
              <a:t>CAPWAP data encryption is optional and is enabled per AP. Data encryption requires a DTLS license to be installed on the WLC prior to being enabled on an AP. When enabled, all WLAN client traffic is encrypted at the AP before being forwarded to the WLC and vice versa.</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6039607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err="1">
                <a:effectLst/>
              </a:rPr>
              <a:t>FlexConnect</a:t>
            </a:r>
            <a:r>
              <a:rPr lang="en-GB" dirty="0">
                <a:effectLst/>
              </a:rPr>
              <a:t> is a wireless solution for branch office and remote office deployments. It lets you configure and control access points in a branch office from the corporate office through a WAN link, without deploying a controller in each office.</a:t>
            </a:r>
          </a:p>
          <a:p>
            <a:r>
              <a:rPr lang="en-GB" dirty="0">
                <a:effectLst/>
              </a:rPr>
              <a:t>There are two modes of operation for the </a:t>
            </a:r>
            <a:r>
              <a:rPr lang="en-GB" dirty="0" err="1">
                <a:effectLst/>
              </a:rPr>
              <a:t>FlexConnect</a:t>
            </a:r>
            <a:r>
              <a:rPr lang="en-GB" dirty="0">
                <a:effectLst/>
              </a:rPr>
              <a:t> AP.</a:t>
            </a:r>
          </a:p>
          <a:p>
            <a:r>
              <a:rPr lang="en-GB" b="1" dirty="0">
                <a:effectLst/>
              </a:rPr>
              <a:t>Connected mode</a:t>
            </a:r>
            <a:r>
              <a:rPr lang="en-GB" dirty="0">
                <a:effectLst/>
              </a:rPr>
              <a:t> - The WLC is reachable. In this mode the </a:t>
            </a:r>
            <a:r>
              <a:rPr lang="en-GB" dirty="0" err="1">
                <a:effectLst/>
              </a:rPr>
              <a:t>FlexConnect</a:t>
            </a:r>
            <a:r>
              <a:rPr lang="en-GB" dirty="0">
                <a:effectLst/>
              </a:rPr>
              <a:t> AP has CAPWAP connectivity with its WLC and can send traffic through the CAPWAP tunnel, as shown in the figure. The WLC performs all its CAPWAP functions.</a:t>
            </a:r>
          </a:p>
          <a:p>
            <a:r>
              <a:rPr lang="en-GB" b="1" dirty="0">
                <a:effectLst/>
              </a:rPr>
              <a:t>Standalone mode</a:t>
            </a:r>
            <a:r>
              <a:rPr lang="en-GB" dirty="0">
                <a:effectLst/>
              </a:rPr>
              <a:t> - The WLC is unreachable. The </a:t>
            </a:r>
            <a:r>
              <a:rPr lang="en-GB" dirty="0" err="1">
                <a:effectLst/>
              </a:rPr>
              <a:t>FlexConnect</a:t>
            </a:r>
            <a:r>
              <a:rPr lang="en-GB" dirty="0">
                <a:effectLst/>
              </a:rPr>
              <a:t> has lost or failed to establish CAPWAP connectivity with its WLC. In this mode, a </a:t>
            </a:r>
            <a:r>
              <a:rPr lang="en-GB" dirty="0" err="1">
                <a:effectLst/>
              </a:rPr>
              <a:t>FlexConnect</a:t>
            </a:r>
            <a:r>
              <a:rPr lang="en-GB" dirty="0">
                <a:effectLst/>
              </a:rPr>
              <a:t> AP can assume some of the WLC functions such as switching client data traffic locally and performing client authentication locally.</a:t>
            </a:r>
          </a:p>
          <a:p>
            <a:r>
              <a:rPr lang="en-GB" dirty="0">
                <a:effectLst/>
              </a:rPr>
              <a:t>The figure shows a CAPWAP tunnel formed between a </a:t>
            </a:r>
            <a:r>
              <a:rPr lang="en-GB" dirty="0" err="1">
                <a:effectLst/>
              </a:rPr>
              <a:t>FlexConnect</a:t>
            </a:r>
            <a:r>
              <a:rPr lang="en-GB" dirty="0">
                <a:effectLst/>
              </a:rPr>
              <a:t> AP at a branch office and a WLC at a corporate office. The branch office equipment consists of a laptop with a wireless connection to a </a:t>
            </a:r>
            <a:r>
              <a:rPr lang="en-GB" dirty="0" err="1">
                <a:effectLst/>
              </a:rPr>
              <a:t>FlexConnect</a:t>
            </a:r>
            <a:r>
              <a:rPr lang="en-GB" dirty="0">
                <a:effectLst/>
              </a:rPr>
              <a:t> AP which is connected to a switch which is connected to a router. The router is then connected to another router in the corporate office to which the WLC is connected. The WLC provides access into the corporate network and the Internet.</a:t>
            </a:r>
          </a:p>
          <a:p>
            <a:br>
              <a:rPr lang="en-GB" sz="1200" b="0" i="0" kern="1200" dirty="0">
                <a:solidFill>
                  <a:schemeClr val="tx1"/>
                </a:solidFill>
                <a:effectLst/>
                <a:latin typeface="Arial" charset="0"/>
                <a:ea typeface="+mn-ea"/>
                <a:cs typeface="+mn-cs"/>
              </a:rPr>
            </a:b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6253235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887952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Wireless LAN devices have transmitters and receivers tuned to specific frequencies of radio waves to communicate. A common practice is for frequencies to be allocated as ranges. Such ranges are then split into smaller ranges called channels.</a:t>
            </a:r>
          </a:p>
          <a:p>
            <a:r>
              <a:rPr lang="en-GB" sz="1200" b="0" i="0" kern="1200" dirty="0">
                <a:solidFill>
                  <a:schemeClr val="tx1"/>
                </a:solidFill>
                <a:effectLst/>
                <a:latin typeface="Arial" charset="0"/>
                <a:ea typeface="+mn-ea"/>
                <a:cs typeface="+mn-cs"/>
              </a:rPr>
              <a:t>If the demand for a specific channel is too high, that channel is likely to become oversaturated. The saturation of the wireless medium degrades the quality of the communication. Over the years, a number of techniques have been created to improve wireless communication and alleviate saturation. These techniques mitigate channel saturation by using the channels in a more efficient way.</a:t>
            </a:r>
          </a:p>
          <a:p>
            <a:endParaRPr lang="en-GB" sz="1200" b="0" i="0" kern="1200" dirty="0">
              <a:solidFill>
                <a:schemeClr val="tx1"/>
              </a:solidFill>
              <a:effectLst/>
              <a:latin typeface="Arial" charset="0"/>
              <a:ea typeface="+mn-ea"/>
              <a:cs typeface="+mn-cs"/>
            </a:endParaRPr>
          </a:p>
          <a:p>
            <a:r>
              <a:rPr lang="en-GB" sz="1200" b="1" i="0" kern="1200" dirty="0">
                <a:solidFill>
                  <a:schemeClr val="tx1"/>
                </a:solidFill>
                <a:effectLst/>
                <a:latin typeface="Arial" charset="0"/>
                <a:ea typeface="+mn-ea"/>
                <a:cs typeface="+mn-cs"/>
              </a:rPr>
              <a:t>Direct-Sequence Spread Spectrum (DSSS)</a:t>
            </a:r>
            <a:r>
              <a:rPr lang="en-GB" sz="1200" b="0" i="0" kern="1200" dirty="0">
                <a:solidFill>
                  <a:schemeClr val="tx1"/>
                </a:solidFill>
                <a:effectLst/>
                <a:latin typeface="Arial" charset="0"/>
                <a:ea typeface="+mn-ea"/>
                <a:cs typeface="+mn-cs"/>
              </a:rPr>
              <a:t> - This is a modulation technique designed to spread a signal over a larger frequency band. Spread spectrum techniques were developed during war time to make it more difficult for enemies to intercept or jam a communication signal. It does this by spreading the signal over a wider frequency which effectively hides the </a:t>
            </a:r>
            <a:r>
              <a:rPr lang="en-GB" sz="1200" b="0" i="0" kern="1200" dirty="0" err="1">
                <a:solidFill>
                  <a:schemeClr val="tx1"/>
                </a:solidFill>
                <a:effectLst/>
                <a:latin typeface="Arial" charset="0"/>
                <a:ea typeface="+mn-ea"/>
                <a:cs typeface="+mn-cs"/>
              </a:rPr>
              <a:t>discernable</a:t>
            </a:r>
            <a:r>
              <a:rPr lang="en-GB" sz="1200" b="0" i="0" kern="1200" dirty="0">
                <a:solidFill>
                  <a:schemeClr val="tx1"/>
                </a:solidFill>
                <a:effectLst/>
                <a:latin typeface="Arial" charset="0"/>
                <a:ea typeface="+mn-ea"/>
                <a:cs typeface="+mn-cs"/>
              </a:rPr>
              <a:t> peak of the signal, as shown in the figure. A properly configured receiver can reverse the DSSS modulation and re-construct the original signal. DSSS is used by 802.11b devices to avoid interference from other devices using the same 2.4 GHz frequency.</a:t>
            </a:r>
          </a:p>
          <a:p>
            <a:r>
              <a:rPr lang="en-GB" sz="1200" b="1" i="0" kern="1200" dirty="0">
                <a:solidFill>
                  <a:schemeClr val="tx1"/>
                </a:solidFill>
                <a:effectLst/>
                <a:latin typeface="Arial" charset="0"/>
                <a:ea typeface="+mn-ea"/>
                <a:cs typeface="+mn-cs"/>
              </a:rPr>
              <a:t>Frequency-Hopping Spread Spectrum (FHSS)</a:t>
            </a:r>
            <a:r>
              <a:rPr lang="en-GB" sz="1200" b="0" i="0" kern="1200" dirty="0">
                <a:solidFill>
                  <a:schemeClr val="tx1"/>
                </a:solidFill>
                <a:effectLst/>
                <a:latin typeface="Arial" charset="0"/>
                <a:ea typeface="+mn-ea"/>
                <a:cs typeface="+mn-cs"/>
              </a:rPr>
              <a:t> - This relies on spread spectrum methods to communicate. It transmits radio signals by rapidly switching a carrier signal among many frequency channels. With the FHSS, the sender and receiver must be synchronized to “know” which channel to jump to. This channel hopping process allows for a more efficient usage of the channels, decreasing channel congestion. FHSS was used by the original 802.11 standard. Walkie-talkies and 900 MHz cordless phones also use FHSS, and Bluetooth uses a variation of FHSS.</a:t>
            </a:r>
          </a:p>
          <a:p>
            <a:r>
              <a:rPr lang="en-GB" sz="1200" b="1" i="0" kern="1200" dirty="0">
                <a:solidFill>
                  <a:schemeClr val="tx1"/>
                </a:solidFill>
                <a:effectLst/>
                <a:latin typeface="Arial" charset="0"/>
                <a:ea typeface="+mn-ea"/>
                <a:cs typeface="+mn-cs"/>
              </a:rPr>
              <a:t>Orthogonal Frequency-Division Multiplexing (OFDM)</a:t>
            </a:r>
            <a:r>
              <a:rPr lang="en-GB" sz="1200" b="0" i="0" kern="1200" dirty="0">
                <a:solidFill>
                  <a:schemeClr val="tx1"/>
                </a:solidFill>
                <a:effectLst/>
                <a:latin typeface="Arial" charset="0"/>
                <a:ea typeface="+mn-ea"/>
                <a:cs typeface="+mn-cs"/>
              </a:rPr>
              <a:t> - This is a subset of frequency division multiplexing in which a single channel uses multiple sub-channels on adjacent frequencies. Sub-channels in an OFDM system are precisely orthogonal to one another which allow the sub-channels to overlap without interfering. OFDM is used by a number of communication systems including 802.11a/g/n/ac. The new 802.11ax uses a variation of OFDM called Orthogonal frequency-division </a:t>
            </a:r>
            <a:r>
              <a:rPr lang="en-GB" sz="1200" b="0" i="0" kern="1200" dirty="0" err="1">
                <a:solidFill>
                  <a:schemeClr val="tx1"/>
                </a:solidFill>
                <a:effectLst/>
                <a:latin typeface="Arial" charset="0"/>
                <a:ea typeface="+mn-ea"/>
                <a:cs typeface="+mn-cs"/>
              </a:rPr>
              <a:t>multiaccess</a:t>
            </a:r>
            <a:r>
              <a:rPr lang="en-GB" sz="1200" b="0" i="0" kern="1200" dirty="0">
                <a:solidFill>
                  <a:schemeClr val="tx1"/>
                </a:solidFill>
                <a:effectLst/>
                <a:latin typeface="Arial" charset="0"/>
                <a:ea typeface="+mn-ea"/>
                <a:cs typeface="+mn-cs"/>
              </a:rPr>
              <a:t> (OFDMA).</a:t>
            </a:r>
            <a:br>
              <a:rPr lang="en-GB" sz="1200" b="0" i="0" kern="1200" dirty="0">
                <a:solidFill>
                  <a:schemeClr val="tx1"/>
                </a:solidFill>
                <a:effectLst/>
                <a:latin typeface="Arial" charset="0"/>
                <a:ea typeface="+mn-ea"/>
                <a:cs typeface="+mn-cs"/>
              </a:rPr>
            </a:b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3168047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A best practice for WLANs requiring multiple APs is to use non-overlapping channels. For example, the 802.11b/g/n standards operate in the 2.4 GHz to 2.5 GHz spectrum. The 2.4 GHz band is subdivided into multiple channels. Each channel is allotted 22 MHz bandwidth and is separated from the next channel by 5 </a:t>
            </a:r>
            <a:r>
              <a:rPr lang="en-GB" sz="1200" b="0" i="0" kern="1200" dirty="0" err="1">
                <a:solidFill>
                  <a:schemeClr val="tx1"/>
                </a:solidFill>
                <a:effectLst/>
                <a:latin typeface="Arial" charset="0"/>
                <a:ea typeface="+mn-ea"/>
                <a:cs typeface="+mn-cs"/>
              </a:rPr>
              <a:t>MHz.</a:t>
            </a:r>
            <a:r>
              <a:rPr lang="en-GB" sz="1200" b="0" i="0" kern="1200" dirty="0">
                <a:solidFill>
                  <a:schemeClr val="tx1"/>
                </a:solidFill>
                <a:effectLst/>
                <a:latin typeface="Arial" charset="0"/>
                <a:ea typeface="+mn-ea"/>
                <a:cs typeface="+mn-cs"/>
              </a:rPr>
              <a:t> The 802.11b standard identifies 11 channels for North America, as shown in Figure 12-29 (13 in Europe and 14 in Japan).</a:t>
            </a:r>
          </a:p>
          <a:p>
            <a:r>
              <a:rPr lang="en-GB" sz="1200" b="1" i="0" kern="1200" dirty="0">
                <a:solidFill>
                  <a:schemeClr val="tx1"/>
                </a:solidFill>
                <a:effectLst/>
                <a:latin typeface="Arial" charset="0"/>
                <a:ea typeface="+mn-ea"/>
                <a:cs typeface="+mn-cs"/>
              </a:rPr>
              <a:t>Note</a:t>
            </a:r>
            <a:r>
              <a:rPr lang="en-GB" sz="1200" b="0" i="0" kern="1200" dirty="0">
                <a:solidFill>
                  <a:schemeClr val="tx1"/>
                </a:solidFill>
                <a:effectLst/>
                <a:latin typeface="Arial" charset="0"/>
                <a:ea typeface="+mn-ea"/>
                <a:cs typeface="+mn-cs"/>
              </a:rPr>
              <a:t>: Search the internet for 2.4 GHz channels to learn more about the variations for different countries.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144102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1319901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Arial" charset="0"/>
                <a:ea typeface="+mn-ea"/>
                <a:cs typeface="+mn-cs"/>
              </a:rPr>
              <a:t>The number of users supported by a WLAN depends on the geographical layout of the facility, including the number of bodies and devices that can fit in a space, the data rates users expect, the use of non-overlapping channels by multiple APs in an ESS, and transmit power settings.</a:t>
            </a:r>
          </a:p>
          <a:p>
            <a:r>
              <a:rPr lang="en-GB" sz="1200" b="0" i="0" kern="1200" dirty="0">
                <a:solidFill>
                  <a:schemeClr val="tx1"/>
                </a:solidFill>
                <a:effectLst/>
                <a:latin typeface="Arial" charset="0"/>
                <a:ea typeface="+mn-ea"/>
                <a:cs typeface="+mn-cs"/>
              </a:rPr>
              <a:t>When planning the location of APs, the approximate circular coverage area is important</a:t>
            </a:r>
          </a:p>
          <a:p>
            <a:endParaRPr lang="en-GB" sz="1200" b="0" i="0" kern="1200" dirty="0">
              <a:solidFill>
                <a:schemeClr val="tx1"/>
              </a:solidFill>
              <a:effectLst/>
              <a:latin typeface="Arial" charset="0"/>
              <a:ea typeface="+mn-ea"/>
              <a:cs typeface="+mn-cs"/>
            </a:endParaRPr>
          </a:p>
          <a:p>
            <a:r>
              <a:rPr lang="en-GB" sz="1200" b="0" i="0" kern="1200" dirty="0">
                <a:solidFill>
                  <a:schemeClr val="tx1"/>
                </a:solidFill>
                <a:effectLst/>
                <a:latin typeface="Arial" charset="0"/>
                <a:ea typeface="+mn-ea"/>
                <a:cs typeface="+mn-cs"/>
              </a:rPr>
              <a:t>However, there are some additional recommendations:</a:t>
            </a:r>
          </a:p>
          <a:p>
            <a:r>
              <a:rPr lang="en-GB" sz="1200" b="0" i="0" kern="1200" dirty="0">
                <a:solidFill>
                  <a:schemeClr val="tx1"/>
                </a:solidFill>
                <a:effectLst/>
                <a:latin typeface="Arial" charset="0"/>
                <a:ea typeface="+mn-ea"/>
                <a:cs typeface="+mn-cs"/>
              </a:rPr>
              <a:t>If APs are to use existing wiring, or if there are locations where APs cannot be placed, note these locations on the map.</a:t>
            </a:r>
          </a:p>
          <a:p>
            <a:r>
              <a:rPr lang="en-GB" sz="1200" b="0" i="0" kern="1200" dirty="0">
                <a:solidFill>
                  <a:schemeClr val="tx1"/>
                </a:solidFill>
                <a:effectLst/>
                <a:latin typeface="Arial" charset="0"/>
                <a:ea typeface="+mn-ea"/>
                <a:cs typeface="+mn-cs"/>
              </a:rPr>
              <a:t>Note all potential sources of interference, which can include microwave ovens, wireless video cameras, fluorescent lights, motion detectors, or any other device that uses the 2.4 GHz range.</a:t>
            </a:r>
          </a:p>
          <a:p>
            <a:r>
              <a:rPr lang="en-GB" sz="1200" b="0" i="0" kern="1200" dirty="0">
                <a:solidFill>
                  <a:schemeClr val="tx1"/>
                </a:solidFill>
                <a:effectLst/>
                <a:latin typeface="Arial" charset="0"/>
                <a:ea typeface="+mn-ea"/>
                <a:cs typeface="+mn-cs"/>
              </a:rPr>
              <a:t>Position APs above obstructions.</a:t>
            </a:r>
          </a:p>
          <a:p>
            <a:r>
              <a:rPr lang="en-GB" sz="1200" b="0" i="0" kern="1200" dirty="0">
                <a:solidFill>
                  <a:schemeClr val="tx1"/>
                </a:solidFill>
                <a:effectLst/>
                <a:latin typeface="Arial" charset="0"/>
                <a:ea typeface="+mn-ea"/>
                <a:cs typeface="+mn-cs"/>
              </a:rPr>
              <a:t>Position APs vertically near the ceiling in the </a:t>
            </a:r>
            <a:r>
              <a:rPr lang="en-GB" sz="1200" b="0" i="0" kern="1200" dirty="0" err="1">
                <a:solidFill>
                  <a:schemeClr val="tx1"/>
                </a:solidFill>
                <a:effectLst/>
                <a:latin typeface="Arial" charset="0"/>
                <a:ea typeface="+mn-ea"/>
                <a:cs typeface="+mn-cs"/>
              </a:rPr>
              <a:t>center</a:t>
            </a:r>
            <a:r>
              <a:rPr lang="en-GB" sz="1200" b="0" i="0" kern="1200" dirty="0">
                <a:solidFill>
                  <a:schemeClr val="tx1"/>
                </a:solidFill>
                <a:effectLst/>
                <a:latin typeface="Arial" charset="0"/>
                <a:ea typeface="+mn-ea"/>
                <a:cs typeface="+mn-cs"/>
              </a:rPr>
              <a:t> of each coverage area, if possible.</a:t>
            </a:r>
          </a:p>
          <a:p>
            <a:r>
              <a:rPr lang="en-GB" sz="1200" b="0" i="0" kern="1200" dirty="0">
                <a:solidFill>
                  <a:schemeClr val="tx1"/>
                </a:solidFill>
                <a:effectLst/>
                <a:latin typeface="Arial" charset="0"/>
                <a:ea typeface="+mn-ea"/>
                <a:cs typeface="+mn-cs"/>
              </a:rPr>
              <a:t>Position APs in locations where users are expected to be. For example, conference rooms are typically a better location for APs than a hallway.</a:t>
            </a:r>
          </a:p>
          <a:p>
            <a:r>
              <a:rPr lang="en-GB" sz="1200" b="0" i="0" kern="1200" dirty="0">
                <a:solidFill>
                  <a:schemeClr val="tx1"/>
                </a:solidFill>
                <a:effectLst/>
                <a:latin typeface="Arial" charset="0"/>
                <a:ea typeface="+mn-ea"/>
                <a:cs typeface="+mn-cs"/>
              </a:rPr>
              <a:t>If an IEEE 802.11 network has been configured for mixed mode, the wireless clients may experience slower than normal speeds to support the older wireless standards.</a:t>
            </a:r>
          </a:p>
          <a:p>
            <a:r>
              <a:rPr lang="en-GB" sz="1200" b="0" i="0" kern="1200" dirty="0">
                <a:solidFill>
                  <a:schemeClr val="tx1"/>
                </a:solidFill>
                <a:effectLst/>
                <a:latin typeface="Arial" charset="0"/>
                <a:ea typeface="+mn-ea"/>
                <a:cs typeface="+mn-cs"/>
              </a:rPr>
              <a:t>When estimating the expected coverage area of an AP, realize that this value varies depending on the WLAN standard or mix of standards that are deployed, the nature of the facility, and the transmit power that the AP is configured for. Always consult the specifications for the AP when planning for coverage areas.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9990317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pPr marL="0" indent="0" algn="l" defTabSz="684213" fontAlgn="base">
              <a:lnSpc>
                <a:spcPct val="85000"/>
              </a:lnSpc>
              <a:spcBef>
                <a:spcPct val="30000"/>
              </a:spcBef>
              <a:spcAft>
                <a:spcPts val="600"/>
              </a:spcAft>
              <a:buClr>
                <a:schemeClr val="tx2"/>
              </a:buClr>
              <a:buSzPct val="90000"/>
            </a:pPr>
            <a:r>
              <a:rPr lang="en-US" sz="1200" dirty="0">
                <a:solidFill>
                  <a:srgbClr val="000000"/>
                </a:solidFill>
              </a:rPr>
              <a:t>A WLAN is open to anyone within range of an AP and the appropriate credentials to associate to it.</a:t>
            </a:r>
          </a:p>
          <a:p>
            <a:pPr marL="0" indent="0" algn="l" defTabSz="684213" fontAlgn="base">
              <a:lnSpc>
                <a:spcPct val="85000"/>
              </a:lnSpc>
              <a:spcBef>
                <a:spcPct val="30000"/>
              </a:spcBef>
              <a:spcAft>
                <a:spcPts val="600"/>
              </a:spcAft>
              <a:buClr>
                <a:schemeClr val="tx2"/>
              </a:buClr>
              <a:buSzPct val="90000"/>
            </a:pPr>
            <a:r>
              <a:rPr lang="en-US" sz="1200" dirty="0">
                <a:solidFill>
                  <a:srgbClr val="000000"/>
                </a:solidFill>
              </a:rPr>
              <a:t>Attacks can be generated by outsiders, disgruntled employees, and even unintentionally by employees. Wireless networks are specifically susceptible to several threats, including the following:</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200" dirty="0">
                <a:solidFill>
                  <a:srgbClr val="000000"/>
                </a:solidFill>
              </a:rPr>
              <a:t>Interception of data</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200" dirty="0">
                <a:solidFill>
                  <a:srgbClr val="000000"/>
                </a:solidFill>
              </a:rPr>
              <a:t>Wireless intruders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200" dirty="0">
                <a:solidFill>
                  <a:srgbClr val="000000"/>
                </a:solidFill>
              </a:rPr>
              <a:t>Denial of Service (</a:t>
            </a:r>
            <a:r>
              <a:rPr lang="en-US" sz="1200" dirty="0" err="1">
                <a:solidFill>
                  <a:srgbClr val="000000"/>
                </a:solidFill>
              </a:rPr>
              <a:t>DoS</a:t>
            </a:r>
            <a:r>
              <a:rPr lang="en-US" sz="1200" dirty="0">
                <a:solidFill>
                  <a:srgbClr val="000000"/>
                </a:solidFill>
              </a:rPr>
              <a:t>) Attacks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200" dirty="0">
                <a:solidFill>
                  <a:srgbClr val="000000"/>
                </a:solidFill>
              </a:rPr>
              <a:t>Rogue Aps</a:t>
            </a:r>
          </a:p>
          <a:p>
            <a:pPr marL="0" indent="0" algn="l" defTabSz="684213" fontAlgn="base">
              <a:lnSpc>
                <a:spcPct val="85000"/>
              </a:lnSpc>
              <a:spcBef>
                <a:spcPct val="30000"/>
              </a:spcBef>
              <a:spcAft>
                <a:spcPts val="600"/>
              </a:spcAft>
              <a:buClr>
                <a:schemeClr val="tx2"/>
              </a:buClr>
              <a:buSzPct val="90000"/>
            </a:pPr>
            <a:endParaRPr lang="en-US" sz="1200" dirty="0">
              <a:solidFill>
                <a:srgbClr val="000000"/>
              </a:solidFill>
            </a:endParaRPr>
          </a:p>
          <a:p>
            <a:r>
              <a:rPr lang="en-GB" dirty="0"/>
              <a:t>Wireless signals can travel through solid matter, such as ceilings, floors, walls, outside of the home, or office space. Without stringent security measures in place, installing a WLAN can be the equivalent of putting Ethernet ports everywhere, even outside.</a:t>
            </a:r>
          </a:p>
          <a:p>
            <a:r>
              <a:rPr lang="en-GB" dirty="0"/>
              <a:t>To address the threats of keeping wireless intruders out and protecting data, two early security features were used and are still available on most routers and APs: SSID cloaking and MAC address filtering.</a:t>
            </a:r>
          </a:p>
          <a:p>
            <a:r>
              <a:rPr lang="en-GB" dirty="0"/>
              <a:t>SSID Cloaking</a:t>
            </a:r>
          </a:p>
          <a:p>
            <a:r>
              <a:rPr lang="en-GB" dirty="0"/>
              <a:t>APs and some wireless routers allow the SSID beacon frame to be disabled, as shown Figure 12-38. Wireless clients must manually configure the SSID to connect to the network. This is referred to as active mode because the wireless clients must know the name of the SSID.</a:t>
            </a:r>
          </a:p>
          <a:p>
            <a:r>
              <a:rPr lang="en-GB" sz="1200" b="0" i="0" kern="1200" dirty="0">
                <a:solidFill>
                  <a:schemeClr val="tx1"/>
                </a:solidFill>
                <a:effectLst/>
                <a:latin typeface="Arial" charset="0"/>
                <a:ea typeface="+mn-ea"/>
                <a:cs typeface="+mn-cs"/>
              </a:rPr>
              <a:t>MAC Addresses Filtering</a:t>
            </a:r>
          </a:p>
          <a:p>
            <a:r>
              <a:rPr lang="en-GB" sz="1200" b="0" i="0" kern="1200" dirty="0">
                <a:solidFill>
                  <a:schemeClr val="tx1"/>
                </a:solidFill>
                <a:effectLst/>
                <a:latin typeface="Arial" charset="0"/>
                <a:ea typeface="+mn-ea"/>
                <a:cs typeface="+mn-cs"/>
              </a:rPr>
              <a:t>An administrator can manually permit or deny clients wireless access based on their physical MAC hardware address. In </a:t>
            </a:r>
            <a:r>
              <a:rPr lang="en-GB" sz="1200" b="0" i="0" u="none" strike="noStrike" kern="1200" dirty="0">
                <a:solidFill>
                  <a:schemeClr val="tx1"/>
                </a:solidFill>
                <a:effectLst/>
                <a:latin typeface="Arial" charset="0"/>
                <a:ea typeface="+mn-ea"/>
                <a:cs typeface="+mn-cs"/>
                <a:hlinkClick r:id="rId3"/>
              </a:rPr>
              <a:t>Figure 12-39</a:t>
            </a:r>
            <a:r>
              <a:rPr lang="en-GB" sz="1200" b="0" i="0" kern="1200" dirty="0">
                <a:solidFill>
                  <a:schemeClr val="tx1"/>
                </a:solidFill>
                <a:effectLst/>
                <a:latin typeface="Arial" charset="0"/>
                <a:ea typeface="+mn-ea"/>
                <a:cs typeface="+mn-cs"/>
              </a:rPr>
              <a:t>, the router is configured to permit two MAC addresses. Devices with different MAC addresses will not be able to join the 2.4GHz WLAN.</a:t>
            </a:r>
          </a:p>
          <a:p>
            <a:endParaRPr lang="en-GB" sz="1200" b="0" i="0" kern="1200" dirty="0">
              <a:solidFill>
                <a:schemeClr val="tx1"/>
              </a:solidFill>
              <a:effectLst/>
              <a:latin typeface="Arial" charset="0"/>
              <a:ea typeface="+mn-ea"/>
              <a:cs typeface="+mn-cs"/>
            </a:endParaRPr>
          </a:p>
          <a:p>
            <a:pPr marL="0" indent="0" algn="l" defTabSz="684213" fontAlgn="base">
              <a:lnSpc>
                <a:spcPct val="85000"/>
              </a:lnSpc>
              <a:spcBef>
                <a:spcPct val="30000"/>
              </a:spcBef>
              <a:spcAft>
                <a:spcPts val="600"/>
              </a:spcAft>
              <a:buClr>
                <a:schemeClr val="tx2"/>
              </a:buClr>
              <a:buSzPct val="90000"/>
            </a:pPr>
            <a:r>
              <a:rPr lang="en-US" sz="1200" dirty="0">
                <a:solidFill>
                  <a:srgbClr val="000000"/>
                </a:solidFill>
              </a:rPr>
              <a:t>The best way to secure a wireless network is to use authentication and encryption systems. Two types of authentication were introduced with the original 802.11 standard:</a:t>
            </a:r>
            <a:endParaRPr lang="en-US" sz="1200" b="1" dirty="0">
              <a:solidFill>
                <a:srgbClr val="000000"/>
              </a:solidFill>
            </a:endParaRPr>
          </a:p>
          <a:p>
            <a:pPr marL="0" indent="0" algn="l" defTabSz="684213" fontAlgn="base">
              <a:lnSpc>
                <a:spcPct val="85000"/>
              </a:lnSpc>
              <a:spcBef>
                <a:spcPct val="30000"/>
              </a:spcBef>
              <a:spcAft>
                <a:spcPts val="600"/>
              </a:spcAft>
              <a:buClr>
                <a:schemeClr val="tx2"/>
              </a:buClr>
              <a:buSzPct val="90000"/>
            </a:pPr>
            <a:r>
              <a:rPr lang="en-US" sz="1200" b="1" dirty="0">
                <a:solidFill>
                  <a:srgbClr val="000000"/>
                </a:solidFill>
              </a:rPr>
              <a:t>Open system authentication</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200" dirty="0">
                <a:solidFill>
                  <a:srgbClr val="000000"/>
                </a:solidFill>
              </a:rPr>
              <a:t>No password required. Typically used to provide free internet access in public areas like cafes, airports, and hotels.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200" dirty="0">
                <a:solidFill>
                  <a:srgbClr val="000000"/>
                </a:solidFill>
              </a:rPr>
              <a:t>Client is responsible for providing security such as through a VPN. </a:t>
            </a:r>
            <a:endParaRPr lang="en-US" sz="1200" b="1" dirty="0">
              <a:solidFill>
                <a:srgbClr val="000000"/>
              </a:solidFill>
            </a:endParaRPr>
          </a:p>
          <a:p>
            <a:pPr marL="0" indent="0" algn="l" defTabSz="684213" fontAlgn="base">
              <a:lnSpc>
                <a:spcPct val="85000"/>
              </a:lnSpc>
              <a:spcBef>
                <a:spcPct val="30000"/>
              </a:spcBef>
              <a:spcAft>
                <a:spcPts val="600"/>
              </a:spcAft>
              <a:buClr>
                <a:schemeClr val="tx2"/>
              </a:buClr>
              <a:buSzPct val="90000"/>
            </a:pPr>
            <a:r>
              <a:rPr lang="en-US" sz="1200" b="1" dirty="0">
                <a:solidFill>
                  <a:srgbClr val="000000"/>
                </a:solidFill>
              </a:rPr>
              <a:t>Shared key authentication</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200" dirty="0">
                <a:solidFill>
                  <a:srgbClr val="000000"/>
                </a:solidFill>
              </a:rPr>
              <a:t>Provides mechanisms, such as WEP, WPA, WPA2, and WPA3 to authenticate and encrypt data between a wireless client and AP. However, the password must be pre-shared between both parties to connect.</a:t>
            </a:r>
            <a:endParaRPr lang="en-US" sz="1200" b="1" dirty="0">
              <a:solidFill>
                <a:srgbClr val="000000"/>
              </a:solidFill>
            </a:endParaRPr>
          </a:p>
          <a:p>
            <a:endParaRPr lang="en-GB" sz="1200" b="0" i="0" kern="1200" dirty="0">
              <a:solidFill>
                <a:schemeClr val="tx1"/>
              </a:solidFill>
              <a:effectLst/>
              <a:latin typeface="Arial"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0446870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r>
              <a:rPr lang="en-GB" dirty="0"/>
              <a:t>Remote workers, small branch offices, and home networks often use a small office and home router. These routers are sometimes called an integrated router because they typically include a switch for wired clients, a port for an Internet connection (sometimes </a:t>
            </a:r>
            <a:r>
              <a:rPr lang="en-GB" dirty="0" err="1"/>
              <a:t>labeled</a:t>
            </a:r>
            <a:r>
              <a:rPr lang="en-GB" dirty="0"/>
              <a:t> “WAN”), and wireless components for wireless client access, as shown for the Cisco Meraki MX64W in Figure 13-1. For the rest of this module, small office and home routers are referred to as wireless routers.</a:t>
            </a:r>
          </a:p>
          <a:p>
            <a:endParaRPr lang="en-GB" dirty="0"/>
          </a:p>
          <a:p>
            <a:pPr marL="0" indent="0" algn="l"/>
            <a:r>
              <a:rPr lang="en-US" sz="1400" dirty="0">
                <a:solidFill>
                  <a:srgbClr val="000000"/>
                </a:solidFill>
              </a:rPr>
              <a:t>Most wireless routers are preconfigured to be connected to the network and provide services. </a:t>
            </a:r>
          </a:p>
          <a:p>
            <a:pPr marL="285750" indent="-285750" algn="l">
              <a:buFont typeface="Arial" panose="020B0604020202020204" pitchFamily="34" charset="0"/>
              <a:buChar char="•"/>
            </a:pPr>
            <a:r>
              <a:rPr lang="en-US" sz="1200" dirty="0">
                <a:solidFill>
                  <a:srgbClr val="000000"/>
                </a:solidFill>
              </a:rPr>
              <a:t>Wireless router default IP addresses, usernames, and passwords can easily be found on the internet. </a:t>
            </a:r>
          </a:p>
          <a:p>
            <a:pPr marL="285750" indent="-285750" algn="l">
              <a:buFont typeface="Arial" panose="020B0604020202020204" pitchFamily="34" charset="0"/>
              <a:buChar char="•"/>
            </a:pPr>
            <a:r>
              <a:rPr lang="en-US" sz="1200" dirty="0">
                <a:solidFill>
                  <a:srgbClr val="000000"/>
                </a:solidFill>
              </a:rPr>
              <a:t>Therefore, your first priority should be to change these defaults for security reasons.</a:t>
            </a:r>
          </a:p>
          <a:p>
            <a:pPr marL="0" indent="0" algn="l"/>
            <a:endParaRPr lang="en-US" sz="1400" dirty="0">
              <a:solidFill>
                <a:srgbClr val="000000"/>
              </a:solidFill>
            </a:endParaRPr>
          </a:p>
          <a:p>
            <a:pPr marL="0" indent="0" algn="l"/>
            <a:r>
              <a:rPr lang="en-US" sz="1400" dirty="0">
                <a:solidFill>
                  <a:srgbClr val="000000"/>
                </a:solidFill>
              </a:rPr>
              <a:t>To gain access to the wireless router’s configuration GUI</a:t>
            </a:r>
          </a:p>
          <a:p>
            <a:pPr marL="285750" indent="-285750" algn="l">
              <a:buFont typeface="Arial" panose="020B0604020202020204" pitchFamily="34" charset="0"/>
              <a:buChar char="•"/>
            </a:pPr>
            <a:r>
              <a:rPr lang="en-US" sz="1200" dirty="0">
                <a:solidFill>
                  <a:srgbClr val="000000"/>
                </a:solidFill>
              </a:rPr>
              <a:t>Open a web browser and enter the default IP address for your wireless router. </a:t>
            </a:r>
          </a:p>
          <a:p>
            <a:pPr marL="285750" indent="-285750" algn="l">
              <a:buFont typeface="Arial" panose="020B0604020202020204" pitchFamily="34" charset="0"/>
              <a:buChar char="•"/>
            </a:pPr>
            <a:r>
              <a:rPr lang="en-US" sz="1200" dirty="0">
                <a:solidFill>
                  <a:srgbClr val="000000"/>
                </a:solidFill>
              </a:rPr>
              <a:t>The default IP address can be found in the documentation that came with the wireless router or you can search the internet. </a:t>
            </a:r>
          </a:p>
          <a:p>
            <a:pPr marL="285750" indent="-285750" algn="l">
              <a:buFont typeface="Arial" panose="020B0604020202020204" pitchFamily="34" charset="0"/>
              <a:buChar char="•"/>
            </a:pPr>
            <a:r>
              <a:rPr lang="en-US" sz="1200" dirty="0">
                <a:solidFill>
                  <a:srgbClr val="000000"/>
                </a:solidFill>
              </a:rPr>
              <a:t>The word </a:t>
            </a:r>
            <a:r>
              <a:rPr lang="en-US" sz="1200" b="1" dirty="0">
                <a:solidFill>
                  <a:srgbClr val="000000"/>
                </a:solidFill>
              </a:rPr>
              <a:t>admin </a:t>
            </a:r>
            <a:r>
              <a:rPr lang="en-US" sz="1200" dirty="0">
                <a:solidFill>
                  <a:srgbClr val="000000"/>
                </a:solidFill>
              </a:rPr>
              <a:t>is commonly used as the default username and password. </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4067203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378486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5822355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95536" y="2512921"/>
            <a:ext cx="7772400" cy="1470025"/>
          </a:xfrm>
        </p:spPr>
        <p:txBody>
          <a:bodyPr/>
          <a:lstStyle>
            <a:lvl1pPr algn="l">
              <a:defRPr b="1">
                <a:solidFill>
                  <a:schemeClr val="bg1"/>
                </a:solidFill>
              </a:defRPr>
            </a:lvl1pPr>
          </a:lstStyle>
          <a:p>
            <a:pPr lvl="0"/>
            <a:r>
              <a:rPr lang="en-GB" noProof="0" dirty="0"/>
              <a:t>Click to edit Master title style</a:t>
            </a:r>
          </a:p>
        </p:txBody>
      </p:sp>
      <p:sp>
        <p:nvSpPr>
          <p:cNvPr id="4099" name="Rectangle 3"/>
          <p:cNvSpPr>
            <a:spLocks noGrp="1" noChangeArrowheads="1"/>
          </p:cNvSpPr>
          <p:nvPr>
            <p:ph type="subTitle" idx="1"/>
          </p:nvPr>
        </p:nvSpPr>
        <p:spPr>
          <a:xfrm>
            <a:off x="395536" y="4268688"/>
            <a:ext cx="6400800" cy="1752600"/>
          </a:xfrm>
        </p:spPr>
        <p:txBody>
          <a:bodyPr/>
          <a:lstStyle>
            <a:lvl1pPr marL="0" indent="0" algn="l">
              <a:buFontTx/>
              <a:buNone/>
              <a:defRPr>
                <a:solidFill>
                  <a:schemeClr val="bg1"/>
                </a:solidFill>
                <a:latin typeface="Rockwell" pitchFamily="18" charset="0"/>
              </a:defRPr>
            </a:lvl1pPr>
          </a:lstStyle>
          <a:p>
            <a:pPr lvl="0"/>
            <a:r>
              <a:rPr lang="en-GB" noProof="0" dirty="0"/>
              <a:t>Click to edit Master subtitle style</a:t>
            </a:r>
          </a:p>
        </p:txBody>
      </p:sp>
    </p:spTree>
    <p:extLst>
      <p:ext uri="{BB962C8B-B14F-4D97-AF65-F5344CB8AC3E}">
        <p14:creationId xmlns:p14="http://schemas.microsoft.com/office/powerpoint/2010/main" val="231582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861542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178" indent="0">
              <a:buNone/>
              <a:defRPr sz="1800"/>
            </a:lvl2pPr>
            <a:lvl3pPr marL="914355" indent="0">
              <a:buNone/>
              <a:defRPr sz="1600"/>
            </a:lvl3pPr>
            <a:lvl4pPr marL="1371532" indent="0">
              <a:buNone/>
              <a:defRPr sz="1400"/>
            </a:lvl4pPr>
            <a:lvl5pPr marL="1828709" indent="0">
              <a:buNone/>
              <a:defRPr sz="1400"/>
            </a:lvl5pPr>
            <a:lvl6pPr marL="2285886" indent="0">
              <a:buNone/>
              <a:defRPr sz="1400"/>
            </a:lvl6pPr>
            <a:lvl7pPr marL="2743064" indent="0">
              <a:buNone/>
              <a:defRPr sz="1400"/>
            </a:lvl7pPr>
            <a:lvl8pPr marL="3200240" indent="0">
              <a:buNone/>
              <a:defRPr sz="1400"/>
            </a:lvl8pPr>
            <a:lvl9pPr marL="3657418" indent="0">
              <a:buNone/>
              <a:defRPr sz="1400"/>
            </a:lvl9pPr>
          </a:lstStyle>
          <a:p>
            <a:pPr lvl="0"/>
            <a:r>
              <a:rPr lang="en-US"/>
              <a:t>Click to edit Master text styles</a:t>
            </a:r>
          </a:p>
        </p:txBody>
      </p:sp>
    </p:spTree>
    <p:extLst>
      <p:ext uri="{BB962C8B-B14F-4D97-AF65-F5344CB8AC3E}">
        <p14:creationId xmlns:p14="http://schemas.microsoft.com/office/powerpoint/2010/main" val="2348730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23862" y="1940981"/>
            <a:ext cx="8424863" cy="1143000"/>
          </a:xfrm>
        </p:spPr>
        <p:txBody>
          <a:bodyPr/>
          <a:lstStyle/>
          <a:p>
            <a:r>
              <a:rPr lang="en-US"/>
              <a:t>Click to edit Master title style</a:t>
            </a:r>
            <a:endParaRPr lang="en-GB"/>
          </a:p>
        </p:txBody>
      </p:sp>
      <p:sp>
        <p:nvSpPr>
          <p:cNvPr id="3" name="Content Placeholder 2"/>
          <p:cNvSpPr>
            <a:spLocks noGrp="1"/>
          </p:cNvSpPr>
          <p:nvPr>
            <p:ph sz="half" idx="1"/>
          </p:nvPr>
        </p:nvSpPr>
        <p:spPr>
          <a:xfrm>
            <a:off x="323850" y="2852247"/>
            <a:ext cx="4135438"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1700" y="2852247"/>
            <a:ext cx="4137025"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9127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513913"/>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2774389"/>
            <a:ext cx="4040188"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341414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33" y="2774389"/>
            <a:ext cx="4041775"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341414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17584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1774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30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2" y="1594873"/>
            <a:ext cx="3008313" cy="116205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159488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12" y="2756931"/>
            <a:ext cx="3008313" cy="46910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44096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1604802"/>
            <a:ext cx="5486400" cy="3122777"/>
          </a:xfrm>
        </p:spPr>
        <p:txBody>
          <a:bodyPr/>
          <a:lstStyle>
            <a:lvl1pPr marL="0" indent="0">
              <a:buNone/>
              <a:defRPr sz="3200"/>
            </a:lvl1pPr>
            <a:lvl2pPr marL="457178" indent="0">
              <a:buNone/>
              <a:defRPr sz="2800"/>
            </a:lvl2pPr>
            <a:lvl3pPr marL="914355" indent="0">
              <a:buNone/>
              <a:defRPr sz="2400"/>
            </a:lvl3pPr>
            <a:lvl4pPr marL="1371532" indent="0">
              <a:buNone/>
              <a:defRPr sz="2000"/>
            </a:lvl4pPr>
            <a:lvl5pPr marL="1828709" indent="0">
              <a:buNone/>
              <a:defRPr sz="2000"/>
            </a:lvl5pPr>
            <a:lvl6pPr marL="2285886" indent="0">
              <a:buNone/>
              <a:defRPr sz="2000"/>
            </a:lvl6pPr>
            <a:lvl7pPr marL="2743064" indent="0">
              <a:buNone/>
              <a:defRPr sz="2000"/>
            </a:lvl7pPr>
            <a:lvl8pPr marL="3200240" indent="0">
              <a:buNone/>
              <a:defRPr sz="2000"/>
            </a:lvl8pPr>
            <a:lvl9pPr marL="3657418" indent="0">
              <a:buNone/>
              <a:defRPr sz="2000"/>
            </a:lvl9pPr>
          </a:lstStyle>
          <a:p>
            <a:pPr lvl="0"/>
            <a:endParaRPr lang="en-GB" noProof="0"/>
          </a:p>
        </p:txBody>
      </p:sp>
      <p:sp>
        <p:nvSpPr>
          <p:cNvPr id="4" name="Text Placeholder 3"/>
          <p:cNvSpPr>
            <a:spLocks noGrp="1"/>
          </p:cNvSpPr>
          <p:nvPr>
            <p:ph type="body" sz="half" idx="2"/>
          </p:nvPr>
        </p:nvSpPr>
        <p:spPr>
          <a:xfrm>
            <a:off x="1792288" y="5367345"/>
            <a:ext cx="5486400" cy="8048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16653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1138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700" y="990603"/>
            <a:ext cx="2105025" cy="54625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23850" y="990603"/>
            <a:ext cx="6167438" cy="5462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60258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3" y="1797051"/>
            <a:ext cx="8280057" cy="409859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455085"/>
            <a:ext cx="8345488"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3196753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6" name="Subtitle 2"/>
          <p:cNvSpPr>
            <a:spLocks noGrp="1"/>
          </p:cNvSpPr>
          <p:nvPr>
            <p:ph type="subTitle" idx="1"/>
          </p:nvPr>
        </p:nvSpPr>
        <p:spPr>
          <a:xfrm>
            <a:off x="469497" y="5079369"/>
            <a:ext cx="4319105" cy="384175"/>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7" y="5399365"/>
            <a:ext cx="4319105" cy="384175"/>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7" y="5719361"/>
            <a:ext cx="4319105" cy="384175"/>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3829649"/>
            <a:ext cx="5925246" cy="398668"/>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6" y="3067667"/>
            <a:ext cx="5955513" cy="85964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527051"/>
            <a:ext cx="796924" cy="565151"/>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89744841"/>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23862" y="1806837"/>
            <a:ext cx="84248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dirty="0"/>
              <a:t>Click to edit Master title style</a:t>
            </a:r>
          </a:p>
        </p:txBody>
      </p:sp>
      <p:sp>
        <p:nvSpPr>
          <p:cNvPr id="2051" name="Rectangle 3"/>
          <p:cNvSpPr>
            <a:spLocks noGrp="1" noChangeArrowheads="1"/>
          </p:cNvSpPr>
          <p:nvPr>
            <p:ph type="body" idx="1"/>
          </p:nvPr>
        </p:nvSpPr>
        <p:spPr bwMode="auto">
          <a:xfrm>
            <a:off x="323862" y="2948258"/>
            <a:ext cx="8424863"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cSld>
  <p:clrMap bg1="lt1" tx1="dk1" bg2="lt2" tx2="dk2" accent1="accent1" accent2="accent2" accent3="accent3" accent4="accent4" accent5="accent5" accent6="accent6" hlink="hlink" folHlink="folHlink"/>
  <p:sldLayoutIdLst>
    <p:sldLayoutId id="2147483983"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7" r:id="rId12"/>
    <p:sldLayoutId id="2147483988" r:id="rId13"/>
  </p:sldLayoutIdLst>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Rockwell" pitchFamily="18" charset="0"/>
        </a:defRPr>
      </a:lvl2pPr>
      <a:lvl3pPr algn="l" rtl="0" eaLnBrk="0" fontAlgn="base" hangingPunct="0">
        <a:spcBef>
          <a:spcPct val="0"/>
        </a:spcBef>
        <a:spcAft>
          <a:spcPct val="0"/>
        </a:spcAft>
        <a:defRPr sz="3600">
          <a:solidFill>
            <a:schemeClr val="tx2"/>
          </a:solidFill>
          <a:latin typeface="Rockwell" pitchFamily="18" charset="0"/>
        </a:defRPr>
      </a:lvl3pPr>
      <a:lvl4pPr algn="l" rtl="0" eaLnBrk="0" fontAlgn="base" hangingPunct="0">
        <a:spcBef>
          <a:spcPct val="0"/>
        </a:spcBef>
        <a:spcAft>
          <a:spcPct val="0"/>
        </a:spcAft>
        <a:defRPr sz="3600">
          <a:solidFill>
            <a:schemeClr val="tx2"/>
          </a:solidFill>
          <a:latin typeface="Rockwell" pitchFamily="18" charset="0"/>
        </a:defRPr>
      </a:lvl4pPr>
      <a:lvl5pPr algn="l" rtl="0" eaLnBrk="0" fontAlgn="base" hangingPunct="0">
        <a:spcBef>
          <a:spcPct val="0"/>
        </a:spcBef>
        <a:spcAft>
          <a:spcPct val="0"/>
        </a:spcAft>
        <a:defRPr sz="3600">
          <a:solidFill>
            <a:schemeClr val="tx2"/>
          </a:solidFill>
          <a:latin typeface="Rockwell" pitchFamily="18" charset="0"/>
        </a:defRPr>
      </a:lvl5pPr>
      <a:lvl6pPr marL="457178" algn="l" rtl="0" fontAlgn="base">
        <a:spcBef>
          <a:spcPct val="0"/>
        </a:spcBef>
        <a:spcAft>
          <a:spcPct val="0"/>
        </a:spcAft>
        <a:defRPr sz="3600">
          <a:solidFill>
            <a:schemeClr val="tx2"/>
          </a:solidFill>
          <a:latin typeface="Rockwell" pitchFamily="18" charset="0"/>
        </a:defRPr>
      </a:lvl6pPr>
      <a:lvl7pPr marL="914355" algn="l" rtl="0" fontAlgn="base">
        <a:spcBef>
          <a:spcPct val="0"/>
        </a:spcBef>
        <a:spcAft>
          <a:spcPct val="0"/>
        </a:spcAft>
        <a:defRPr sz="3600">
          <a:solidFill>
            <a:schemeClr val="tx2"/>
          </a:solidFill>
          <a:latin typeface="Rockwell" pitchFamily="18" charset="0"/>
        </a:defRPr>
      </a:lvl7pPr>
      <a:lvl8pPr marL="1371532" algn="l" rtl="0" fontAlgn="base">
        <a:spcBef>
          <a:spcPct val="0"/>
        </a:spcBef>
        <a:spcAft>
          <a:spcPct val="0"/>
        </a:spcAft>
        <a:defRPr sz="3600">
          <a:solidFill>
            <a:schemeClr val="tx2"/>
          </a:solidFill>
          <a:latin typeface="Rockwell" pitchFamily="18" charset="0"/>
        </a:defRPr>
      </a:lvl8pPr>
      <a:lvl9pPr marL="1828709" algn="l" rtl="0" fontAlgn="base">
        <a:spcBef>
          <a:spcPct val="0"/>
        </a:spcBef>
        <a:spcAft>
          <a:spcPct val="0"/>
        </a:spcAft>
        <a:defRPr sz="3600">
          <a:solidFill>
            <a:schemeClr val="tx2"/>
          </a:solidFill>
          <a:latin typeface="Rockwell" pitchFamily="18" charset="0"/>
        </a:defRPr>
      </a:lvl9pPr>
    </p:titleStyle>
    <p:bodyStyle>
      <a:lvl1pPr marL="342884" indent="-342884" algn="l" rtl="0" eaLnBrk="0" fontAlgn="base" hangingPunct="0">
        <a:spcBef>
          <a:spcPct val="20000"/>
        </a:spcBef>
        <a:spcAft>
          <a:spcPct val="0"/>
        </a:spcAft>
        <a:buChar char="•"/>
        <a:defRPr sz="3200">
          <a:solidFill>
            <a:schemeClr val="tx1"/>
          </a:solidFill>
          <a:latin typeface="+mn-lt"/>
          <a:ea typeface="+mn-ea"/>
          <a:cs typeface="+mn-cs"/>
        </a:defRPr>
      </a:lvl1pPr>
      <a:lvl2pPr marL="742913" indent="-285736" algn="l" rtl="0" eaLnBrk="0" fontAlgn="base" hangingPunct="0">
        <a:spcBef>
          <a:spcPct val="20000"/>
        </a:spcBef>
        <a:spcAft>
          <a:spcPct val="0"/>
        </a:spcAft>
        <a:buChar char="–"/>
        <a:defRPr sz="2800">
          <a:solidFill>
            <a:schemeClr val="tx1"/>
          </a:solidFill>
          <a:latin typeface="+mn-lt"/>
        </a:defRPr>
      </a:lvl2pPr>
      <a:lvl3pPr marL="1142944" indent="-228588" algn="l" rtl="0" eaLnBrk="0" fontAlgn="base" hangingPunct="0">
        <a:spcBef>
          <a:spcPct val="20000"/>
        </a:spcBef>
        <a:spcAft>
          <a:spcPct val="0"/>
        </a:spcAft>
        <a:buChar char="•"/>
        <a:defRPr sz="2400">
          <a:solidFill>
            <a:schemeClr val="tx1"/>
          </a:solidFill>
          <a:latin typeface="+mn-lt"/>
        </a:defRPr>
      </a:lvl3pPr>
      <a:lvl4pPr marL="1600120" indent="-228588" algn="l" rtl="0" eaLnBrk="0" fontAlgn="base" hangingPunct="0">
        <a:spcBef>
          <a:spcPct val="20000"/>
        </a:spcBef>
        <a:spcAft>
          <a:spcPct val="0"/>
        </a:spcAft>
        <a:buChar char="–"/>
        <a:defRPr sz="2000">
          <a:solidFill>
            <a:schemeClr val="tx1"/>
          </a:solidFill>
          <a:latin typeface="+mn-lt"/>
        </a:defRPr>
      </a:lvl4pPr>
      <a:lvl5pPr marL="2057297" indent="-228588" algn="l" rtl="0" eaLnBrk="0" fontAlgn="base" hangingPunct="0">
        <a:spcBef>
          <a:spcPct val="20000"/>
        </a:spcBef>
        <a:spcAft>
          <a:spcPct val="0"/>
        </a:spcAft>
        <a:buChar char="»"/>
        <a:defRPr sz="2000">
          <a:solidFill>
            <a:schemeClr val="tx1"/>
          </a:solidFill>
          <a:latin typeface="+mn-lt"/>
        </a:defRPr>
      </a:lvl5pPr>
      <a:lvl6pPr marL="2514474" indent="-228588" algn="l" rtl="0" fontAlgn="base">
        <a:spcBef>
          <a:spcPct val="20000"/>
        </a:spcBef>
        <a:spcAft>
          <a:spcPct val="0"/>
        </a:spcAft>
        <a:buChar char="»"/>
        <a:defRPr sz="2000">
          <a:solidFill>
            <a:schemeClr val="tx1"/>
          </a:solidFill>
          <a:latin typeface="+mn-lt"/>
        </a:defRPr>
      </a:lvl6pPr>
      <a:lvl7pPr marL="2971652" indent="-228588" algn="l" rtl="0" fontAlgn="base">
        <a:spcBef>
          <a:spcPct val="20000"/>
        </a:spcBef>
        <a:spcAft>
          <a:spcPct val="0"/>
        </a:spcAft>
        <a:buChar char="»"/>
        <a:defRPr sz="2000">
          <a:solidFill>
            <a:schemeClr val="tx1"/>
          </a:solidFill>
          <a:latin typeface="+mn-lt"/>
        </a:defRPr>
      </a:lvl7pPr>
      <a:lvl8pPr marL="3428829" indent="-228588" algn="l" rtl="0" fontAlgn="base">
        <a:spcBef>
          <a:spcPct val="20000"/>
        </a:spcBef>
        <a:spcAft>
          <a:spcPct val="0"/>
        </a:spcAft>
        <a:buChar char="»"/>
        <a:defRPr sz="2000">
          <a:solidFill>
            <a:schemeClr val="tx1"/>
          </a:solidFill>
          <a:latin typeface="+mn-lt"/>
        </a:defRPr>
      </a:lvl8pPr>
      <a:lvl9pPr marL="3886006" indent="-228588"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QX2LZ1O3WkA"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hyperlink" Target="https://documentation.meraki.com/MR/Wi-Fi_Basics_and_Best_Practices/802.11_Association_Process_Explained"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hyperlink" Target="https://www.youtube.com/watch?v=0lDiFNIKepM"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6zvWWNiS4IM"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40.jpe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42.jpeg"/></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46.jpeg"/><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Wireless Networks</a:t>
            </a:r>
          </a:p>
        </p:txBody>
      </p:sp>
      <p:sp>
        <p:nvSpPr>
          <p:cNvPr id="3" name="Subtitle 2"/>
          <p:cNvSpPr>
            <a:spLocks noGrp="1"/>
          </p:cNvSpPr>
          <p:nvPr>
            <p:ph type="subTitle" idx="1"/>
          </p:nvPr>
        </p:nvSpPr>
        <p:spPr/>
        <p:txBody>
          <a:bodyPr/>
          <a:lstStyle/>
          <a:p>
            <a:r>
              <a:rPr lang="en-GB" dirty="0"/>
              <a:t>6CS029 Advanced Networking</a:t>
            </a:r>
          </a:p>
        </p:txBody>
      </p:sp>
    </p:spTree>
    <p:extLst>
      <p:ext uri="{BB962C8B-B14F-4D97-AF65-F5344CB8AC3E}">
        <p14:creationId xmlns:p14="http://schemas.microsoft.com/office/powerpoint/2010/main" val="3685580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itle 105"/>
          <p:cNvSpPr>
            <a:spLocks noGrp="1"/>
          </p:cNvSpPr>
          <p:nvPr>
            <p:ph type="title"/>
          </p:nvPr>
        </p:nvSpPr>
        <p:spPr>
          <a:xfrm>
            <a:off x="251520" y="980728"/>
            <a:ext cx="8179704" cy="1143000"/>
          </a:xfrm>
        </p:spPr>
        <p:txBody>
          <a:bodyPr/>
          <a:lstStyle/>
          <a:p>
            <a:r>
              <a:rPr lang="en-GB" spc="-10" dirty="0"/>
              <a:t>Elements </a:t>
            </a:r>
            <a:r>
              <a:rPr lang="en-GB" dirty="0"/>
              <a:t>of a </a:t>
            </a:r>
            <a:r>
              <a:rPr lang="en-GB" spc="-10" dirty="0"/>
              <a:t>wireless</a:t>
            </a:r>
            <a:r>
              <a:rPr lang="en-GB" spc="-40" dirty="0"/>
              <a:t> </a:t>
            </a:r>
            <a:r>
              <a:rPr lang="en-GB" spc="-10" dirty="0"/>
              <a:t>network</a:t>
            </a:r>
            <a:endParaRPr lang="en-GB"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083561"/>
            <a:ext cx="7272808" cy="45349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9884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409" y="934616"/>
            <a:ext cx="8145462" cy="838200"/>
          </a:xfrm>
        </p:spPr>
        <p:txBody>
          <a:bodyPr/>
          <a:lstStyle/>
          <a:p>
            <a:r>
              <a:rPr lang="en-US" dirty="0">
                <a:ea typeface="ＭＳ Ｐゴシック" pitchFamily="34" charset="-128"/>
              </a:rPr>
              <a:t>Wireless Technologies</a:t>
            </a:r>
            <a:endParaRPr lang="en-US" dirty="0"/>
          </a:p>
        </p:txBody>
      </p:sp>
      <p:sp>
        <p:nvSpPr>
          <p:cNvPr id="3" name="Content Placeholder 2"/>
          <p:cNvSpPr>
            <a:spLocks noGrp="1"/>
          </p:cNvSpPr>
          <p:nvPr>
            <p:ph idx="1"/>
          </p:nvPr>
        </p:nvSpPr>
        <p:spPr>
          <a:xfrm>
            <a:off x="508001" y="1628800"/>
            <a:ext cx="8240463" cy="5112568"/>
          </a:xfrm>
        </p:spPr>
        <p:txBody>
          <a:bodyPr/>
          <a:lstStyle/>
          <a:p>
            <a:pPr marL="0" indent="0">
              <a:spcAft>
                <a:spcPts val="1200"/>
              </a:spcAft>
              <a:buNone/>
            </a:pPr>
            <a:r>
              <a:rPr lang="en-US" sz="2200" dirty="0"/>
              <a:t>Wireless networks can be classified broadly as:</a:t>
            </a:r>
          </a:p>
          <a:p>
            <a:pPr>
              <a:spcAft>
                <a:spcPts val="1200"/>
              </a:spcAft>
            </a:pPr>
            <a:r>
              <a:rPr lang="en-US" sz="2200" b="1" dirty="0"/>
              <a:t>Wireless personal-area network (WPAN) </a:t>
            </a:r>
            <a:r>
              <a:rPr lang="en-US" sz="2200" dirty="0"/>
              <a:t>– Operates in the range of a few feet </a:t>
            </a:r>
          </a:p>
          <a:p>
            <a:pPr lvl="1">
              <a:spcAft>
                <a:spcPts val="1200"/>
              </a:spcAft>
            </a:pPr>
            <a:r>
              <a:rPr lang="en-US" sz="2200" b="1" dirty="0"/>
              <a:t>Bluetooth </a:t>
            </a:r>
            <a:r>
              <a:rPr lang="en-US" sz="2200" dirty="0"/>
              <a:t>– An IEEE 802.15 WPAN standard; uses a device-pairing process to communicate over distances up to .05 mile (100m).</a:t>
            </a:r>
          </a:p>
          <a:p>
            <a:pPr>
              <a:spcAft>
                <a:spcPts val="1200"/>
              </a:spcAft>
            </a:pPr>
            <a:r>
              <a:rPr lang="en-US" sz="2200" b="1" dirty="0"/>
              <a:t>Wireless LAN (WLAN) </a:t>
            </a:r>
            <a:r>
              <a:rPr lang="en-US" sz="2200" dirty="0"/>
              <a:t>– Operates in the range of a few hundred feet.</a:t>
            </a:r>
          </a:p>
          <a:p>
            <a:pPr lvl="1">
              <a:spcAft>
                <a:spcPts val="1200"/>
              </a:spcAft>
            </a:pPr>
            <a:r>
              <a:rPr lang="en-US" sz="2200" b="1" dirty="0"/>
              <a:t>Wi-Fi (wireless fidelity) </a:t>
            </a:r>
            <a:r>
              <a:rPr lang="en-US" sz="2200" dirty="0"/>
              <a:t>– An IEEE 802.11 WLAN standard; provides network access to home and corporate users, to include data, voice and video traffic, to distances up to 0.18 mile (300m).</a:t>
            </a:r>
          </a:p>
          <a:p>
            <a:pPr marL="0" indent="0">
              <a:buNone/>
            </a:pPr>
            <a:endParaRPr lang="en-US" sz="2400" dirty="0"/>
          </a:p>
        </p:txBody>
      </p:sp>
    </p:spTree>
    <p:extLst>
      <p:ext uri="{BB962C8B-B14F-4D97-AF65-F5344CB8AC3E}">
        <p14:creationId xmlns:p14="http://schemas.microsoft.com/office/powerpoint/2010/main" val="524583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790600"/>
            <a:ext cx="8145462" cy="838200"/>
          </a:xfrm>
        </p:spPr>
        <p:txBody>
          <a:bodyPr/>
          <a:lstStyle/>
          <a:p>
            <a:r>
              <a:rPr lang="en-US" dirty="0">
                <a:ea typeface="ＭＳ Ｐゴシック" pitchFamily="34" charset="-128"/>
              </a:rPr>
              <a:t>Wireless Technologies (cont.)</a:t>
            </a:r>
            <a:endParaRPr lang="en-US" dirty="0"/>
          </a:p>
        </p:txBody>
      </p:sp>
      <p:sp>
        <p:nvSpPr>
          <p:cNvPr id="3" name="Content Placeholder 2"/>
          <p:cNvSpPr>
            <a:spLocks noGrp="1"/>
          </p:cNvSpPr>
          <p:nvPr>
            <p:ph idx="1"/>
          </p:nvPr>
        </p:nvSpPr>
        <p:spPr>
          <a:xfrm>
            <a:off x="478972" y="1618953"/>
            <a:ext cx="8186057" cy="4978399"/>
          </a:xfrm>
        </p:spPr>
        <p:txBody>
          <a:bodyPr/>
          <a:lstStyle/>
          <a:p>
            <a:pPr>
              <a:spcBef>
                <a:spcPts val="600"/>
              </a:spcBef>
              <a:spcAft>
                <a:spcPts val="1200"/>
              </a:spcAft>
            </a:pPr>
            <a:r>
              <a:rPr lang="en-US" sz="2800" b="1" dirty="0"/>
              <a:t>Wireless wide-area network (WWAN) </a:t>
            </a:r>
            <a:r>
              <a:rPr lang="en-US" sz="2800" dirty="0"/>
              <a:t>– Operates in the range of miles.</a:t>
            </a:r>
          </a:p>
          <a:p>
            <a:pPr lvl="1">
              <a:spcBef>
                <a:spcPts val="600"/>
              </a:spcBef>
              <a:spcAft>
                <a:spcPts val="1200"/>
              </a:spcAft>
            </a:pPr>
            <a:r>
              <a:rPr lang="en-US" sz="2400" b="1" dirty="0"/>
              <a:t>mobile broadband </a:t>
            </a:r>
            <a:r>
              <a:rPr lang="en-US" sz="2400" dirty="0"/>
              <a:t>– Consists of various corporate, national, and international organizations using service provider mobile access to provide mobile broadband network connectivity.</a:t>
            </a:r>
          </a:p>
          <a:p>
            <a:pPr lvl="1">
              <a:spcBef>
                <a:spcPts val="600"/>
              </a:spcBef>
              <a:spcAft>
                <a:spcPts val="1200"/>
              </a:spcAft>
            </a:pPr>
            <a:r>
              <a:rPr lang="en-US" sz="2400" b="1" dirty="0"/>
              <a:t>Satellite Broadband </a:t>
            </a:r>
            <a:r>
              <a:rPr lang="en-US" sz="2400" dirty="0"/>
              <a:t>– Provides network access to remote sites through the use of a directional satellite dish.</a:t>
            </a:r>
          </a:p>
        </p:txBody>
      </p:sp>
    </p:spTree>
    <p:extLst>
      <p:ext uri="{BB962C8B-B14F-4D97-AF65-F5344CB8AC3E}">
        <p14:creationId xmlns:p14="http://schemas.microsoft.com/office/powerpoint/2010/main" val="3583886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AD66C4-FF07-475F-809F-1AF6ADA8AC41}"/>
              </a:ext>
            </a:extLst>
          </p:cNvPr>
          <p:cNvPicPr>
            <a:picLocks noChangeAspect="1"/>
          </p:cNvPicPr>
          <p:nvPr/>
        </p:nvPicPr>
        <p:blipFill>
          <a:blip r:embed="rId3"/>
          <a:stretch>
            <a:fillRect/>
          </a:stretch>
        </p:blipFill>
        <p:spPr>
          <a:xfrm>
            <a:off x="1504971" y="164119"/>
            <a:ext cx="5947349" cy="6649257"/>
          </a:xfrm>
          <a:prstGeom prst="rect">
            <a:avLst/>
          </a:prstGeom>
        </p:spPr>
      </p:pic>
    </p:spTree>
    <p:extLst>
      <p:ext uri="{BB962C8B-B14F-4D97-AF65-F5344CB8AC3E}">
        <p14:creationId xmlns:p14="http://schemas.microsoft.com/office/powerpoint/2010/main" val="967213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172" y="940254"/>
            <a:ext cx="8145462" cy="838200"/>
          </a:xfrm>
        </p:spPr>
        <p:txBody>
          <a:bodyPr/>
          <a:lstStyle/>
          <a:p>
            <a:r>
              <a:rPr lang="en-US" dirty="0">
                <a:ea typeface="ＭＳ Ｐゴシック" pitchFamily="34" charset="-128"/>
              </a:rPr>
              <a:t>802.11 Standards</a:t>
            </a:r>
            <a:endParaRPr lang="en-US" dirty="0"/>
          </a:p>
        </p:txBody>
      </p:sp>
      <p:pic>
        <p:nvPicPr>
          <p:cNvPr id="5" name="Picture 4">
            <a:extLst>
              <a:ext uri="{FF2B5EF4-FFF2-40B4-BE49-F238E27FC236}">
                <a16:creationId xmlns:a16="http://schemas.microsoft.com/office/drawing/2014/main" id="{CF1D259D-1545-97A4-9246-3F028FEDA991}"/>
              </a:ext>
            </a:extLst>
          </p:cNvPr>
          <p:cNvPicPr>
            <a:picLocks noChangeAspect="1"/>
          </p:cNvPicPr>
          <p:nvPr/>
        </p:nvPicPr>
        <p:blipFill>
          <a:blip r:embed="rId3"/>
          <a:stretch>
            <a:fillRect/>
          </a:stretch>
        </p:blipFill>
        <p:spPr>
          <a:xfrm>
            <a:off x="1043608" y="1916832"/>
            <a:ext cx="5400600" cy="4924445"/>
          </a:xfrm>
          <a:prstGeom prst="rect">
            <a:avLst/>
          </a:prstGeom>
        </p:spPr>
      </p:pic>
      <p:sp>
        <p:nvSpPr>
          <p:cNvPr id="3" name="TextBox 2">
            <a:extLst>
              <a:ext uri="{FF2B5EF4-FFF2-40B4-BE49-F238E27FC236}">
                <a16:creationId xmlns:a16="http://schemas.microsoft.com/office/drawing/2014/main" id="{5FDF6840-27AA-F3FA-55BE-443002DA809F}"/>
              </a:ext>
            </a:extLst>
          </p:cNvPr>
          <p:cNvSpPr txBox="1"/>
          <p:nvPr/>
        </p:nvSpPr>
        <p:spPr>
          <a:xfrm>
            <a:off x="6444208" y="2132856"/>
            <a:ext cx="2762295" cy="369332"/>
          </a:xfrm>
          <a:prstGeom prst="rect">
            <a:avLst/>
          </a:prstGeom>
          <a:noFill/>
        </p:spPr>
        <p:txBody>
          <a:bodyPr wrap="none" rtlCol="0">
            <a:spAutoFit/>
          </a:bodyPr>
          <a:lstStyle/>
          <a:p>
            <a:r>
              <a:rPr lang="en-GB" dirty="0">
                <a:solidFill>
                  <a:srgbClr val="FF0000"/>
                </a:solidFill>
              </a:rPr>
              <a:t>Theoretical max  46 Gb/s</a:t>
            </a:r>
          </a:p>
        </p:txBody>
      </p:sp>
      <p:cxnSp>
        <p:nvCxnSpPr>
          <p:cNvPr id="6" name="Straight Arrow Connector 5">
            <a:extLst>
              <a:ext uri="{FF2B5EF4-FFF2-40B4-BE49-F238E27FC236}">
                <a16:creationId xmlns:a16="http://schemas.microsoft.com/office/drawing/2014/main" id="{8E5426B0-D872-1073-53DB-9AB7F5F7D5D2}"/>
              </a:ext>
            </a:extLst>
          </p:cNvPr>
          <p:cNvCxnSpPr/>
          <p:nvPr/>
        </p:nvCxnSpPr>
        <p:spPr>
          <a:xfrm flipH="1">
            <a:off x="5004048" y="2492896"/>
            <a:ext cx="2304256" cy="720080"/>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83943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67661" y="692696"/>
            <a:ext cx="8345488" cy="975783"/>
          </a:xfrm>
        </p:spPr>
        <p:txBody>
          <a:bodyPr/>
          <a:lstStyle/>
          <a:p>
            <a:r>
              <a:rPr lang="en-US" dirty="0">
                <a:solidFill>
                  <a:schemeClr val="tx1"/>
                </a:solidFill>
              </a:rPr>
              <a:t>Radio Frequencies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3647" y="1772816"/>
            <a:ext cx="7913516" cy="1652079"/>
          </a:xfrm>
        </p:spPr>
        <p:txBody>
          <a:bodyPr/>
          <a:lstStyle/>
          <a:p>
            <a:pPr marL="0" lvl="1" indent="0">
              <a:lnSpc>
                <a:spcPct val="100000"/>
              </a:lnSpc>
              <a:spcAft>
                <a:spcPts val="600"/>
              </a:spcAft>
              <a:buSzPct val="90000"/>
              <a:buNone/>
            </a:pPr>
            <a:r>
              <a:rPr lang="en-US" sz="1600" dirty="0">
                <a:solidFill>
                  <a:srgbClr val="000000"/>
                </a:solidFill>
              </a:rPr>
              <a:t>All wireless devices operate in the range of the electromagnetic spectrum. WLAN networks operate in the 2.4 and 5 GHz frequency bands.</a:t>
            </a:r>
          </a:p>
          <a:p>
            <a:pPr lvl="1">
              <a:lnSpc>
                <a:spcPct val="85000"/>
              </a:lnSpc>
              <a:spcBef>
                <a:spcPct val="30000"/>
              </a:spcBef>
              <a:spcAft>
                <a:spcPts val="300"/>
              </a:spcAft>
              <a:buSzPct val="90000"/>
            </a:pPr>
            <a:r>
              <a:rPr lang="en-US" sz="1600" dirty="0">
                <a:solidFill>
                  <a:srgbClr val="000000"/>
                </a:solidFill>
              </a:rPr>
              <a:t>2.4 GHz (UHF) – 802.11b/g/n/ax</a:t>
            </a:r>
          </a:p>
          <a:p>
            <a:pPr lvl="1">
              <a:lnSpc>
                <a:spcPct val="85000"/>
              </a:lnSpc>
              <a:spcBef>
                <a:spcPct val="30000"/>
              </a:spcBef>
              <a:spcAft>
                <a:spcPts val="300"/>
              </a:spcAft>
              <a:buSzPct val="90000"/>
            </a:pPr>
            <a:r>
              <a:rPr lang="en-US" sz="1600" dirty="0">
                <a:solidFill>
                  <a:srgbClr val="000000"/>
                </a:solidFill>
              </a:rPr>
              <a:t>5 GHz (SHF) – 802.11a/n/ac/ax</a:t>
            </a:r>
          </a:p>
          <a:p>
            <a:pPr lvl="1">
              <a:lnSpc>
                <a:spcPct val="85000"/>
              </a:lnSpc>
              <a:spcBef>
                <a:spcPct val="30000"/>
              </a:spcBef>
              <a:spcAft>
                <a:spcPts val="300"/>
              </a:spcAft>
              <a:buSzPct val="90000"/>
            </a:pPr>
            <a:r>
              <a:rPr lang="en-US" sz="1600" dirty="0">
                <a:solidFill>
                  <a:srgbClr val="000000"/>
                </a:solidFill>
              </a:rPr>
              <a:t>2.4, 5 and 6GHz  - 802.11 be</a:t>
            </a:r>
          </a:p>
          <a:p>
            <a:pPr lvl="1">
              <a:lnSpc>
                <a:spcPct val="85000"/>
              </a:lnSpc>
              <a:spcBef>
                <a:spcPct val="30000"/>
              </a:spcBef>
              <a:spcAft>
                <a:spcPts val="300"/>
              </a:spcAft>
              <a:buSzPct val="90000"/>
            </a:pPr>
            <a:r>
              <a:rPr lang="en-US" sz="1600" dirty="0">
                <a:solidFill>
                  <a:srgbClr val="000000"/>
                </a:solidFill>
              </a:rPr>
              <a:t>5G 3.3 to 3.8GHz</a:t>
            </a:r>
          </a:p>
        </p:txBody>
      </p:sp>
      <p:pic>
        <p:nvPicPr>
          <p:cNvPr id="2" name="Picture 1">
            <a:extLst>
              <a:ext uri="{FF2B5EF4-FFF2-40B4-BE49-F238E27FC236}">
                <a16:creationId xmlns:a16="http://schemas.microsoft.com/office/drawing/2014/main" id="{09CC3460-9779-49AD-8799-DC8EB8867E9D}"/>
              </a:ext>
            </a:extLst>
          </p:cNvPr>
          <p:cNvPicPr>
            <a:picLocks noChangeAspect="1"/>
          </p:cNvPicPr>
          <p:nvPr/>
        </p:nvPicPr>
        <p:blipFill>
          <a:blip r:embed="rId3"/>
          <a:stretch>
            <a:fillRect/>
          </a:stretch>
        </p:blipFill>
        <p:spPr>
          <a:xfrm>
            <a:off x="1316334" y="3593487"/>
            <a:ext cx="5848141" cy="3264513"/>
          </a:xfrm>
          <a:prstGeom prst="rect">
            <a:avLst/>
          </a:prstGeom>
        </p:spPr>
      </p:pic>
      <p:sp>
        <p:nvSpPr>
          <p:cNvPr id="5" name="TextBox 4">
            <a:extLst>
              <a:ext uri="{FF2B5EF4-FFF2-40B4-BE49-F238E27FC236}">
                <a16:creationId xmlns:a16="http://schemas.microsoft.com/office/drawing/2014/main" id="{C5F99DC6-71A3-33DD-A1AA-786A19283485}"/>
              </a:ext>
            </a:extLst>
          </p:cNvPr>
          <p:cNvSpPr txBox="1"/>
          <p:nvPr/>
        </p:nvSpPr>
        <p:spPr>
          <a:xfrm>
            <a:off x="5076056" y="2598855"/>
            <a:ext cx="2520280" cy="646331"/>
          </a:xfrm>
          <a:prstGeom prst="rect">
            <a:avLst/>
          </a:prstGeom>
          <a:noFill/>
        </p:spPr>
        <p:txBody>
          <a:bodyPr wrap="square" rtlCol="0">
            <a:spAutoFit/>
          </a:bodyPr>
          <a:lstStyle/>
          <a:p>
            <a:r>
              <a:rPr lang="en-GB" dirty="0"/>
              <a:t>Microwave oven 2.4GHz</a:t>
            </a:r>
          </a:p>
        </p:txBody>
      </p:sp>
    </p:spTree>
    <p:extLst>
      <p:ext uri="{BB962C8B-B14F-4D97-AF65-F5344CB8AC3E}">
        <p14:creationId xmlns:p14="http://schemas.microsoft.com/office/powerpoint/2010/main" val="3143889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941049"/>
            <a:ext cx="8165976" cy="975783"/>
          </a:xfrm>
        </p:spPr>
        <p:txBody>
          <a:bodyPr/>
          <a:lstStyle/>
          <a:p>
            <a:r>
              <a:rPr lang="en-US" dirty="0">
                <a:solidFill>
                  <a:schemeClr val="tx1"/>
                </a:solidFill>
              </a:rPr>
              <a:t>WLAN Components</a:t>
            </a:r>
            <a:br>
              <a:rPr lang="en-US" dirty="0">
                <a:solidFill>
                  <a:schemeClr val="tx1"/>
                </a:solidFill>
              </a:rPr>
            </a:br>
            <a:endParaRPr lang="en-US" dirty="0">
              <a:solidFill>
                <a:schemeClr val="tx1"/>
              </a:solidFill>
            </a:endParaRP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323528" y="2244162"/>
            <a:ext cx="6120680" cy="4497206"/>
          </a:xfrm>
        </p:spPr>
        <p:txBody>
          <a:bodyPr/>
          <a:lstStyle/>
          <a:p>
            <a:pPr marL="0" indent="0" algn="l" defTabSz="684213" fontAlgn="base">
              <a:spcBef>
                <a:spcPts val="600"/>
              </a:spcBef>
              <a:spcAft>
                <a:spcPts val="600"/>
              </a:spcAft>
              <a:buClr>
                <a:schemeClr val="tx2"/>
              </a:buClr>
              <a:buSzPct val="90000"/>
            </a:pPr>
            <a:r>
              <a:rPr lang="en-US" sz="2400" dirty="0">
                <a:solidFill>
                  <a:srgbClr val="000000"/>
                </a:solidFill>
              </a:rPr>
              <a:t>A home user typically interconnects wireless devices using a small, wireless router.</a:t>
            </a:r>
          </a:p>
          <a:p>
            <a:pPr marL="0" indent="0" algn="l" defTabSz="684213" fontAlgn="base">
              <a:spcBef>
                <a:spcPts val="600"/>
              </a:spcBef>
              <a:spcAft>
                <a:spcPts val="600"/>
              </a:spcAft>
              <a:buClr>
                <a:schemeClr val="tx2"/>
              </a:buClr>
              <a:buSzPct val="90000"/>
            </a:pPr>
            <a:r>
              <a:rPr lang="en-US" sz="2400" dirty="0">
                <a:solidFill>
                  <a:srgbClr val="000000"/>
                </a:solidFill>
              </a:rPr>
              <a:t>Wireless routers serve as the following:</a:t>
            </a:r>
          </a:p>
          <a:p>
            <a:pPr marL="73085" lvl="1" indent="0">
              <a:spcAft>
                <a:spcPts val="600"/>
              </a:spcAft>
              <a:buSzPct val="90000"/>
            </a:pPr>
            <a:r>
              <a:rPr lang="en-US" sz="2400" b="1" dirty="0">
                <a:solidFill>
                  <a:srgbClr val="000000"/>
                </a:solidFill>
              </a:rPr>
              <a:t>Access point </a:t>
            </a:r>
            <a:r>
              <a:rPr lang="en-US" sz="2400" dirty="0">
                <a:solidFill>
                  <a:srgbClr val="000000"/>
                </a:solidFill>
              </a:rPr>
              <a:t>– To provide wires access</a:t>
            </a:r>
          </a:p>
          <a:p>
            <a:pPr marL="73085" lvl="1" indent="0">
              <a:spcAft>
                <a:spcPts val="600"/>
              </a:spcAft>
              <a:buSzPct val="90000"/>
            </a:pPr>
            <a:r>
              <a:rPr lang="en-US" sz="2400" b="1" dirty="0">
                <a:solidFill>
                  <a:srgbClr val="000000"/>
                </a:solidFill>
              </a:rPr>
              <a:t>Switch </a:t>
            </a:r>
            <a:r>
              <a:rPr lang="en-US" sz="2400" dirty="0">
                <a:solidFill>
                  <a:srgbClr val="000000"/>
                </a:solidFill>
              </a:rPr>
              <a:t>– To interconnect wired devices</a:t>
            </a:r>
          </a:p>
          <a:p>
            <a:pPr marL="73085" lvl="1" indent="0">
              <a:spcAft>
                <a:spcPts val="600"/>
              </a:spcAft>
              <a:buSzPct val="90000"/>
            </a:pPr>
            <a:r>
              <a:rPr lang="en-US" sz="2400" b="1" dirty="0">
                <a:solidFill>
                  <a:srgbClr val="000000"/>
                </a:solidFill>
              </a:rPr>
              <a:t>Router  </a:t>
            </a:r>
            <a:r>
              <a:rPr lang="en-US" sz="2400" dirty="0">
                <a:solidFill>
                  <a:srgbClr val="000000"/>
                </a:solidFill>
              </a:rPr>
              <a:t>- To provide a default gateway to other networks and the Internet</a:t>
            </a:r>
          </a:p>
          <a:p>
            <a:pPr marL="0" indent="0" algn="l" defTabSz="684213" fontAlgn="base">
              <a:spcBef>
                <a:spcPts val="600"/>
              </a:spcBef>
              <a:spcAft>
                <a:spcPts val="600"/>
              </a:spcAft>
              <a:buClr>
                <a:schemeClr val="tx2"/>
              </a:buClr>
              <a:buSzPct val="90000"/>
            </a:pPr>
            <a:endParaRPr lang="en-US" sz="2400" dirty="0">
              <a:solidFill>
                <a:srgbClr val="000000"/>
              </a:solidFill>
            </a:endParaRPr>
          </a:p>
          <a:p>
            <a:pPr marL="489010" lvl="2" indent="-342900">
              <a:buFont typeface="Arial" panose="020B0604020202020204" pitchFamily="34" charset="0"/>
              <a:buChar char="•"/>
            </a:pPr>
            <a:endParaRPr lang="en-US" dirty="0">
              <a:solidFill>
                <a:srgbClr val="000000"/>
              </a:solidFill>
            </a:endParaRPr>
          </a:p>
          <a:p>
            <a:pPr marL="342900" indent="-342900" algn="l">
              <a:buFont typeface="Arial" panose="020B0604020202020204" pitchFamily="34" charset="0"/>
              <a:buChar char="•"/>
            </a:pPr>
            <a:endParaRPr lang="en-US" sz="2400" dirty="0">
              <a:solidFill>
                <a:srgbClr val="000000"/>
              </a:solidFill>
            </a:endParaRPr>
          </a:p>
          <a:p>
            <a:pPr marL="0" indent="0" algn="l"/>
            <a:endParaRPr lang="en-US" sz="2400" dirty="0">
              <a:solidFill>
                <a:srgbClr val="000000"/>
              </a:solidFill>
            </a:endParaRPr>
          </a:p>
          <a:p>
            <a:pPr marL="342900" indent="-342900" algn="l">
              <a:buFont typeface="Arial" panose="020B0604020202020204" pitchFamily="34" charset="0"/>
              <a:buChar char="•"/>
            </a:pPr>
            <a:endParaRPr lang="en-US" sz="2400" dirty="0">
              <a:solidFill>
                <a:srgbClr val="000000"/>
              </a:solidFill>
            </a:endParaRPr>
          </a:p>
        </p:txBody>
      </p:sp>
      <p:pic>
        <p:nvPicPr>
          <p:cNvPr id="5" name="Picture 4">
            <a:extLst>
              <a:ext uri="{FF2B5EF4-FFF2-40B4-BE49-F238E27FC236}">
                <a16:creationId xmlns:a16="http://schemas.microsoft.com/office/drawing/2014/main" id="{35A8C0D2-BFDB-4636-B2AA-80305C85BC0A}"/>
              </a:ext>
            </a:extLst>
          </p:cNvPr>
          <p:cNvPicPr>
            <a:picLocks noChangeAspect="1"/>
          </p:cNvPicPr>
          <p:nvPr/>
        </p:nvPicPr>
        <p:blipFill>
          <a:blip r:embed="rId3"/>
          <a:stretch>
            <a:fillRect/>
          </a:stretch>
        </p:blipFill>
        <p:spPr>
          <a:xfrm flipH="1">
            <a:off x="6084168" y="980728"/>
            <a:ext cx="2891403" cy="2527300"/>
          </a:xfrm>
          <a:prstGeom prst="rect">
            <a:avLst/>
          </a:prstGeom>
        </p:spPr>
      </p:pic>
      <p:sp>
        <p:nvSpPr>
          <p:cNvPr id="2" name="Rectangle 1"/>
          <p:cNvSpPr/>
          <p:nvPr/>
        </p:nvSpPr>
        <p:spPr>
          <a:xfrm>
            <a:off x="179512" y="1556177"/>
            <a:ext cx="4505201" cy="461665"/>
          </a:xfrm>
          <a:prstGeom prst="rect">
            <a:avLst/>
          </a:prstGeom>
        </p:spPr>
        <p:txBody>
          <a:bodyPr wrap="square">
            <a:spAutoFit/>
          </a:bodyPr>
          <a:lstStyle/>
          <a:p>
            <a:pPr lvl="0" eaLnBrk="0" hangingPunct="0"/>
            <a:r>
              <a:rPr lang="en-US" sz="2400" kern="0" dirty="0">
                <a:latin typeface="Rockwell"/>
                <a:ea typeface="+mj-ea"/>
                <a:cs typeface="+mj-cs"/>
              </a:rPr>
              <a:t>Wireless Home Router</a:t>
            </a:r>
          </a:p>
        </p:txBody>
      </p:sp>
    </p:spTree>
    <p:extLst>
      <p:ext uri="{BB962C8B-B14F-4D97-AF65-F5344CB8AC3E}">
        <p14:creationId xmlns:p14="http://schemas.microsoft.com/office/powerpoint/2010/main" val="32139447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46385" y="980728"/>
            <a:ext cx="8345488" cy="975783"/>
          </a:xfrm>
        </p:spPr>
        <p:txBody>
          <a:bodyPr/>
          <a:lstStyle/>
          <a:p>
            <a:r>
              <a:rPr lang="en-US" dirty="0">
                <a:solidFill>
                  <a:schemeClr val="tx1"/>
                </a:solidFill>
              </a:rPr>
              <a:t>Wireless Access Point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07504" y="1916832"/>
            <a:ext cx="4536504" cy="4097867"/>
          </a:xfrm>
        </p:spPr>
        <p:txBody>
          <a:bodyPr/>
          <a:lstStyle/>
          <a:p>
            <a:pPr marL="342900" indent="-342900" algn="l" defTabSz="684213" fontAlgn="base">
              <a:spcBef>
                <a:spcPts val="600"/>
              </a:spcBef>
              <a:spcAft>
                <a:spcPts val="600"/>
              </a:spcAft>
              <a:buClr>
                <a:schemeClr val="tx2"/>
              </a:buClr>
              <a:buSzPct val="90000"/>
              <a:buFont typeface="Arial" panose="020B0604020202020204" pitchFamily="34" charset="0"/>
              <a:buChar char="•"/>
            </a:pPr>
            <a:r>
              <a:rPr lang="en-US" sz="2400" dirty="0">
                <a:solidFill>
                  <a:srgbClr val="000000"/>
                </a:solidFill>
              </a:rPr>
              <a:t>Wireless clients use their wireless NIC to discover nearby access points (APs).</a:t>
            </a:r>
          </a:p>
          <a:p>
            <a:pPr marL="342900" indent="-342900" algn="l" defTabSz="684213" fontAlgn="base">
              <a:spcBef>
                <a:spcPts val="600"/>
              </a:spcBef>
              <a:spcAft>
                <a:spcPts val="600"/>
              </a:spcAft>
              <a:buClr>
                <a:schemeClr val="tx2"/>
              </a:buClr>
              <a:buSzPct val="90000"/>
              <a:buFont typeface="Arial" panose="020B0604020202020204" pitchFamily="34" charset="0"/>
              <a:buChar char="•"/>
            </a:pPr>
            <a:r>
              <a:rPr lang="en-US" sz="2400" dirty="0">
                <a:solidFill>
                  <a:srgbClr val="000000"/>
                </a:solidFill>
              </a:rPr>
              <a:t>Clients then attempt to associate and authenticate with an AP.</a:t>
            </a:r>
          </a:p>
          <a:p>
            <a:pPr marL="342900" indent="-342900" algn="l" defTabSz="684213" fontAlgn="base">
              <a:spcBef>
                <a:spcPts val="600"/>
              </a:spcBef>
              <a:spcAft>
                <a:spcPts val="600"/>
              </a:spcAft>
              <a:buClr>
                <a:schemeClr val="tx2"/>
              </a:buClr>
              <a:buSzPct val="90000"/>
              <a:buFont typeface="Arial" panose="020B0604020202020204" pitchFamily="34" charset="0"/>
              <a:buChar char="•"/>
            </a:pPr>
            <a:r>
              <a:rPr lang="en-US" sz="2400" dirty="0">
                <a:solidFill>
                  <a:srgbClr val="000000"/>
                </a:solidFill>
              </a:rPr>
              <a:t>After being authenticated, wireless users have access to network resources.</a:t>
            </a:r>
          </a:p>
          <a:p>
            <a:pPr marL="489010" lvl="2" indent="-342900">
              <a:buFont typeface="Arial" panose="020B0604020202020204" pitchFamily="34" charset="0"/>
              <a:buChar char="•"/>
            </a:pPr>
            <a:endParaRPr lang="en-US" dirty="0">
              <a:solidFill>
                <a:srgbClr val="000000"/>
              </a:solidFill>
            </a:endParaRPr>
          </a:p>
          <a:p>
            <a:pPr marL="342900" indent="-342900" algn="l">
              <a:buFont typeface="Arial" panose="020B0604020202020204" pitchFamily="34" charset="0"/>
              <a:buChar char="•"/>
            </a:pPr>
            <a:endParaRPr lang="en-US" sz="2400" dirty="0">
              <a:solidFill>
                <a:srgbClr val="000000"/>
              </a:solidFill>
            </a:endParaRPr>
          </a:p>
          <a:p>
            <a:pPr marL="342900" indent="-342900" algn="l">
              <a:buFont typeface="Arial" panose="020B0604020202020204" pitchFamily="34" charset="0"/>
              <a:buChar char="•"/>
            </a:pPr>
            <a:endParaRPr lang="en-US" sz="2400" dirty="0">
              <a:solidFill>
                <a:srgbClr val="000000"/>
              </a:solidFill>
            </a:endParaRPr>
          </a:p>
          <a:p>
            <a:pPr marL="342900" indent="-342900" algn="l">
              <a:buFont typeface="Arial" panose="020B0604020202020204" pitchFamily="34" charset="0"/>
              <a:buChar char="•"/>
            </a:pPr>
            <a:endParaRPr lang="en-US" sz="2400" dirty="0">
              <a:solidFill>
                <a:srgbClr val="000000"/>
              </a:solidFill>
            </a:endParaRPr>
          </a:p>
        </p:txBody>
      </p:sp>
      <p:pic>
        <p:nvPicPr>
          <p:cNvPr id="2" name="Picture 1">
            <a:extLst>
              <a:ext uri="{FF2B5EF4-FFF2-40B4-BE49-F238E27FC236}">
                <a16:creationId xmlns:a16="http://schemas.microsoft.com/office/drawing/2014/main" id="{729FB420-8A3E-4E9B-88B2-6BEE25FE1B95}"/>
              </a:ext>
            </a:extLst>
          </p:cNvPr>
          <p:cNvPicPr>
            <a:picLocks noChangeAspect="1"/>
          </p:cNvPicPr>
          <p:nvPr/>
        </p:nvPicPr>
        <p:blipFill>
          <a:blip r:embed="rId3"/>
          <a:stretch>
            <a:fillRect/>
          </a:stretch>
        </p:blipFill>
        <p:spPr>
          <a:xfrm>
            <a:off x="5331919" y="1052736"/>
            <a:ext cx="3259954" cy="3048000"/>
          </a:xfrm>
          <a:prstGeom prst="rect">
            <a:avLst/>
          </a:prstGeom>
        </p:spPr>
      </p:pic>
      <p:sp>
        <p:nvSpPr>
          <p:cNvPr id="7" name="Rectangle 6">
            <a:extLst>
              <a:ext uri="{FF2B5EF4-FFF2-40B4-BE49-F238E27FC236}">
                <a16:creationId xmlns:a16="http://schemas.microsoft.com/office/drawing/2014/main" id="{6894DCB4-3AD6-48A0-AF26-0058899C8C3E}"/>
              </a:ext>
            </a:extLst>
          </p:cNvPr>
          <p:cNvSpPr/>
          <p:nvPr/>
        </p:nvSpPr>
        <p:spPr>
          <a:xfrm>
            <a:off x="5748797" y="4166458"/>
            <a:ext cx="3143683" cy="307777"/>
          </a:xfrm>
          <a:prstGeom prst="rect">
            <a:avLst/>
          </a:prstGeom>
        </p:spPr>
        <p:txBody>
          <a:bodyPr wrap="square">
            <a:spAutoFit/>
          </a:bodyPr>
          <a:lstStyle/>
          <a:p>
            <a:r>
              <a:rPr lang="en-US" sz="1400" dirty="0">
                <a:solidFill>
                  <a:srgbClr val="000000"/>
                </a:solidFill>
                <a:latin typeface="CiscoSans"/>
              </a:rPr>
              <a:t>Cisco Meraki Go access points</a:t>
            </a:r>
            <a:endParaRPr lang="en-US" sz="1400" dirty="0">
              <a:solidFill>
                <a:srgbClr val="000000"/>
              </a:solidFill>
            </a:endParaRPr>
          </a:p>
        </p:txBody>
      </p:sp>
    </p:spTree>
    <p:extLst>
      <p:ext uri="{BB962C8B-B14F-4D97-AF65-F5344CB8AC3E}">
        <p14:creationId xmlns:p14="http://schemas.microsoft.com/office/powerpoint/2010/main" val="17870731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10F8EE-CACF-B412-68BB-B58B9F6DC031}"/>
              </a:ext>
            </a:extLst>
          </p:cNvPr>
          <p:cNvSpPr>
            <a:spLocks noGrp="1"/>
          </p:cNvSpPr>
          <p:nvPr>
            <p:ph type="title"/>
          </p:nvPr>
        </p:nvSpPr>
        <p:spPr>
          <a:xfrm>
            <a:off x="489816" y="821268"/>
            <a:ext cx="8345488" cy="975783"/>
          </a:xfrm>
        </p:spPr>
        <p:txBody>
          <a:bodyPr/>
          <a:lstStyle/>
          <a:p>
            <a:r>
              <a:rPr lang="en-GB" dirty="0"/>
              <a:t>Aerials for external use</a:t>
            </a:r>
          </a:p>
        </p:txBody>
      </p:sp>
      <p:pic>
        <p:nvPicPr>
          <p:cNvPr id="5" name="Picture 4">
            <a:extLst>
              <a:ext uri="{FF2B5EF4-FFF2-40B4-BE49-F238E27FC236}">
                <a16:creationId xmlns:a16="http://schemas.microsoft.com/office/drawing/2014/main" id="{A3499208-4403-F331-0182-A8889D61EFF2}"/>
              </a:ext>
            </a:extLst>
          </p:cNvPr>
          <p:cNvPicPr>
            <a:picLocks noChangeAspect="1"/>
          </p:cNvPicPr>
          <p:nvPr/>
        </p:nvPicPr>
        <p:blipFill>
          <a:blip r:embed="rId2"/>
          <a:stretch>
            <a:fillRect/>
          </a:stretch>
        </p:blipFill>
        <p:spPr>
          <a:xfrm>
            <a:off x="6325574" y="5206244"/>
            <a:ext cx="2016447" cy="1171883"/>
          </a:xfrm>
          <a:prstGeom prst="rect">
            <a:avLst/>
          </a:prstGeom>
        </p:spPr>
      </p:pic>
      <p:sp>
        <p:nvSpPr>
          <p:cNvPr id="6" name="TextBox 5">
            <a:extLst>
              <a:ext uri="{FF2B5EF4-FFF2-40B4-BE49-F238E27FC236}">
                <a16:creationId xmlns:a16="http://schemas.microsoft.com/office/drawing/2014/main" id="{AEDBB578-3D58-B40D-FC84-8442DDF861CA}"/>
              </a:ext>
            </a:extLst>
          </p:cNvPr>
          <p:cNvSpPr txBox="1"/>
          <p:nvPr/>
        </p:nvSpPr>
        <p:spPr>
          <a:xfrm>
            <a:off x="3157222" y="5262264"/>
            <a:ext cx="3168352" cy="1200329"/>
          </a:xfrm>
          <a:prstGeom prst="rect">
            <a:avLst/>
          </a:prstGeom>
          <a:noFill/>
        </p:spPr>
        <p:txBody>
          <a:bodyPr wrap="square" rtlCol="0">
            <a:spAutoFit/>
          </a:bodyPr>
          <a:lstStyle/>
          <a:p>
            <a:r>
              <a:rPr lang="en-US" sz="1800" b="1" dirty="0">
                <a:solidFill>
                  <a:srgbClr val="000000"/>
                </a:solidFill>
              </a:rPr>
              <a:t>Multiple Input Multiple Output (MIMO)</a:t>
            </a:r>
            <a:r>
              <a:rPr lang="en-US" sz="1800" dirty="0">
                <a:solidFill>
                  <a:srgbClr val="000000"/>
                </a:solidFill>
              </a:rPr>
              <a:t> – Uses multiple antennas (Up to eight) to increase bandwidth</a:t>
            </a:r>
            <a:endParaRPr lang="en-GB" dirty="0"/>
          </a:p>
        </p:txBody>
      </p:sp>
      <p:pic>
        <p:nvPicPr>
          <p:cNvPr id="8" name="Picture 7">
            <a:extLst>
              <a:ext uri="{FF2B5EF4-FFF2-40B4-BE49-F238E27FC236}">
                <a16:creationId xmlns:a16="http://schemas.microsoft.com/office/drawing/2014/main" id="{222C983C-AAB9-9FCB-00B4-45526B2C453F}"/>
              </a:ext>
            </a:extLst>
          </p:cNvPr>
          <p:cNvPicPr>
            <a:picLocks noChangeAspect="1"/>
          </p:cNvPicPr>
          <p:nvPr/>
        </p:nvPicPr>
        <p:blipFill>
          <a:blip r:embed="rId3"/>
          <a:stretch>
            <a:fillRect/>
          </a:stretch>
        </p:blipFill>
        <p:spPr>
          <a:xfrm>
            <a:off x="7149359" y="1949115"/>
            <a:ext cx="932986" cy="1564010"/>
          </a:xfrm>
          <a:prstGeom prst="rect">
            <a:avLst/>
          </a:prstGeom>
        </p:spPr>
      </p:pic>
      <p:sp>
        <p:nvSpPr>
          <p:cNvPr id="9" name="TextBox 8">
            <a:extLst>
              <a:ext uri="{FF2B5EF4-FFF2-40B4-BE49-F238E27FC236}">
                <a16:creationId xmlns:a16="http://schemas.microsoft.com/office/drawing/2014/main" id="{4827BC2E-15D4-36CD-6DB5-43DE699CDD36}"/>
              </a:ext>
            </a:extLst>
          </p:cNvPr>
          <p:cNvSpPr txBox="1"/>
          <p:nvPr/>
        </p:nvSpPr>
        <p:spPr>
          <a:xfrm>
            <a:off x="3573551" y="2057858"/>
            <a:ext cx="3791042" cy="923330"/>
          </a:xfrm>
          <a:prstGeom prst="rect">
            <a:avLst/>
          </a:prstGeom>
          <a:noFill/>
        </p:spPr>
        <p:txBody>
          <a:bodyPr wrap="square" rtlCol="0">
            <a:spAutoFit/>
          </a:bodyPr>
          <a:lstStyle/>
          <a:p>
            <a:r>
              <a:rPr lang="en-US" sz="1800" b="1" dirty="0">
                <a:solidFill>
                  <a:srgbClr val="000000"/>
                </a:solidFill>
              </a:rPr>
              <a:t>Omnidirectional </a:t>
            </a:r>
            <a:r>
              <a:rPr lang="en-US" sz="1800" dirty="0">
                <a:solidFill>
                  <a:srgbClr val="000000"/>
                </a:solidFill>
              </a:rPr>
              <a:t>– Provide 360-degree coverage. Ideal in houses and office areas</a:t>
            </a:r>
            <a:endParaRPr lang="en-GB" dirty="0"/>
          </a:p>
        </p:txBody>
      </p:sp>
      <p:pic>
        <p:nvPicPr>
          <p:cNvPr id="10" name="Picture 9">
            <a:extLst>
              <a:ext uri="{FF2B5EF4-FFF2-40B4-BE49-F238E27FC236}">
                <a16:creationId xmlns:a16="http://schemas.microsoft.com/office/drawing/2014/main" id="{3384F777-A559-B504-4ACB-7C70D709415B}"/>
              </a:ext>
            </a:extLst>
          </p:cNvPr>
          <p:cNvPicPr>
            <a:picLocks noChangeAspect="1"/>
          </p:cNvPicPr>
          <p:nvPr/>
        </p:nvPicPr>
        <p:blipFill>
          <a:blip r:embed="rId4"/>
          <a:stretch>
            <a:fillRect/>
          </a:stretch>
        </p:blipFill>
        <p:spPr>
          <a:xfrm>
            <a:off x="398606" y="3068960"/>
            <a:ext cx="2348880" cy="2348880"/>
          </a:xfrm>
          <a:prstGeom prst="rect">
            <a:avLst/>
          </a:prstGeom>
        </p:spPr>
      </p:pic>
      <p:sp>
        <p:nvSpPr>
          <p:cNvPr id="11" name="TextBox 10">
            <a:extLst>
              <a:ext uri="{FF2B5EF4-FFF2-40B4-BE49-F238E27FC236}">
                <a16:creationId xmlns:a16="http://schemas.microsoft.com/office/drawing/2014/main" id="{1D36E885-FB78-2AC5-A682-5A0D305FF9D8}"/>
              </a:ext>
            </a:extLst>
          </p:cNvPr>
          <p:cNvSpPr txBox="1"/>
          <p:nvPr/>
        </p:nvSpPr>
        <p:spPr>
          <a:xfrm>
            <a:off x="2293237" y="3860621"/>
            <a:ext cx="5040560" cy="1200329"/>
          </a:xfrm>
          <a:prstGeom prst="rect">
            <a:avLst/>
          </a:prstGeom>
          <a:noFill/>
        </p:spPr>
        <p:txBody>
          <a:bodyPr wrap="square" rtlCol="0">
            <a:spAutoFit/>
          </a:bodyPr>
          <a:lstStyle/>
          <a:p>
            <a:r>
              <a:rPr lang="en-US" sz="1800" b="1" dirty="0">
                <a:solidFill>
                  <a:srgbClr val="000000"/>
                </a:solidFill>
              </a:rPr>
              <a:t>Directional </a:t>
            </a:r>
            <a:r>
              <a:rPr lang="en-US" sz="1800" dirty="0">
                <a:solidFill>
                  <a:srgbClr val="000000"/>
                </a:solidFill>
              </a:rPr>
              <a:t>– Focus the radio signal in a specific direction. Examples are the Yagi and parabolic dish.</a:t>
            </a:r>
          </a:p>
          <a:p>
            <a:endParaRPr lang="en-GB" dirty="0"/>
          </a:p>
        </p:txBody>
      </p:sp>
    </p:spTree>
    <p:extLst>
      <p:ext uri="{BB962C8B-B14F-4D97-AF65-F5344CB8AC3E}">
        <p14:creationId xmlns:p14="http://schemas.microsoft.com/office/powerpoint/2010/main" val="1489228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31403" y="764704"/>
            <a:ext cx="8345488" cy="975783"/>
          </a:xfrm>
        </p:spPr>
        <p:txBody>
          <a:bodyPr/>
          <a:lstStyle/>
          <a:p>
            <a:r>
              <a:rPr lang="en-US" dirty="0">
                <a:solidFill>
                  <a:schemeClr val="tx1"/>
                </a:solidFill>
              </a:rPr>
              <a:t>AP Categories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79512" y="1772816"/>
            <a:ext cx="5260744" cy="4536504"/>
          </a:xfrm>
        </p:spPr>
        <p:txBody>
          <a:bodyPr/>
          <a:lstStyle/>
          <a:p>
            <a:pPr marL="415985" lvl="1" indent="-342900">
              <a:buFont typeface="Arial" panose="020B0604020202020204" pitchFamily="34" charset="0"/>
              <a:buChar char="•"/>
            </a:pPr>
            <a:r>
              <a:rPr lang="en-US" sz="2400" b="1" dirty="0">
                <a:solidFill>
                  <a:srgbClr val="000000"/>
                </a:solidFill>
              </a:rPr>
              <a:t>Autonomous APs </a:t>
            </a:r>
            <a:r>
              <a:rPr lang="en-US" sz="2400" dirty="0">
                <a:solidFill>
                  <a:srgbClr val="000000"/>
                </a:solidFill>
              </a:rPr>
              <a:t>– Standalone devices. Each autonomous AP acts independently of the others and is configured and managed manually by an administrator.</a:t>
            </a:r>
          </a:p>
          <a:p>
            <a:pPr marL="415985" lvl="1" indent="-342900">
              <a:buFont typeface="Arial" panose="020B0604020202020204" pitchFamily="34" charset="0"/>
              <a:buChar char="•"/>
            </a:pPr>
            <a:r>
              <a:rPr lang="en-US" sz="2400" b="1" dirty="0">
                <a:solidFill>
                  <a:srgbClr val="000000"/>
                </a:solidFill>
              </a:rPr>
              <a:t>Controller-based APs </a:t>
            </a:r>
            <a:r>
              <a:rPr lang="en-US" sz="2400" dirty="0">
                <a:solidFill>
                  <a:srgbClr val="000000"/>
                </a:solidFill>
              </a:rPr>
              <a:t>– Also known as lightweight APs (LAPs). Use Lightweight Access Point Protocol (LWAPP) to communicate with a LWAN controller (WLC). Each LAP is automatically configured and managed by the WLC.</a:t>
            </a:r>
          </a:p>
          <a:p>
            <a:pPr marL="0" indent="0" algn="l"/>
            <a:endParaRPr lang="en-US" sz="2400" dirty="0">
              <a:solidFill>
                <a:srgbClr val="000000"/>
              </a:solidFill>
            </a:endParaRPr>
          </a:p>
          <a:p>
            <a:pPr marL="489010" lvl="2" indent="-342900">
              <a:buFont typeface="Arial" panose="020B0604020202020204" pitchFamily="34" charset="0"/>
              <a:buChar char="•"/>
            </a:pPr>
            <a:endParaRPr lang="en-US" dirty="0">
              <a:solidFill>
                <a:srgbClr val="000000"/>
              </a:solidFill>
            </a:endParaRPr>
          </a:p>
          <a:p>
            <a:pPr marL="342900" indent="-342900" algn="l">
              <a:buFont typeface="Arial" panose="020B0604020202020204" pitchFamily="34" charset="0"/>
              <a:buChar char="•"/>
            </a:pPr>
            <a:endParaRPr lang="en-US" sz="2400" dirty="0">
              <a:solidFill>
                <a:srgbClr val="000000"/>
              </a:solidFill>
            </a:endParaRPr>
          </a:p>
          <a:p>
            <a:pPr marL="0" indent="0" algn="l"/>
            <a:endParaRPr lang="en-US" sz="2400" dirty="0">
              <a:solidFill>
                <a:srgbClr val="000000"/>
              </a:solidFill>
            </a:endParaRPr>
          </a:p>
          <a:p>
            <a:pPr marL="342900" indent="-342900" algn="l">
              <a:buFont typeface="Arial" panose="020B0604020202020204" pitchFamily="34" charset="0"/>
              <a:buChar char="•"/>
            </a:pPr>
            <a:endParaRPr lang="en-US" sz="2400" dirty="0">
              <a:solidFill>
                <a:srgbClr val="000000"/>
              </a:solidFill>
            </a:endParaRPr>
          </a:p>
        </p:txBody>
      </p:sp>
      <p:pic>
        <p:nvPicPr>
          <p:cNvPr id="4" name="Picture 3">
            <a:extLst>
              <a:ext uri="{FF2B5EF4-FFF2-40B4-BE49-F238E27FC236}">
                <a16:creationId xmlns:a16="http://schemas.microsoft.com/office/drawing/2014/main" id="{0E774174-7E9B-4BEF-ADFE-30B8BDEB171C}"/>
              </a:ext>
            </a:extLst>
          </p:cNvPr>
          <p:cNvPicPr>
            <a:picLocks noChangeAspect="1"/>
          </p:cNvPicPr>
          <p:nvPr/>
        </p:nvPicPr>
        <p:blipFill>
          <a:blip r:embed="rId3"/>
          <a:stretch>
            <a:fillRect/>
          </a:stretch>
        </p:blipFill>
        <p:spPr>
          <a:xfrm>
            <a:off x="5440256" y="476672"/>
            <a:ext cx="3092183" cy="3206133"/>
          </a:xfrm>
          <a:prstGeom prst="rect">
            <a:avLst/>
          </a:prstGeom>
          <a:ln>
            <a:solidFill>
              <a:srgbClr val="000000"/>
            </a:solidFill>
          </a:ln>
        </p:spPr>
      </p:pic>
      <p:pic>
        <p:nvPicPr>
          <p:cNvPr id="2" name="Picture 1">
            <a:extLst>
              <a:ext uri="{FF2B5EF4-FFF2-40B4-BE49-F238E27FC236}">
                <a16:creationId xmlns:a16="http://schemas.microsoft.com/office/drawing/2014/main" id="{49A5A1C4-9C15-459C-9605-9788B3C5712B}"/>
              </a:ext>
            </a:extLst>
          </p:cNvPr>
          <p:cNvPicPr>
            <a:picLocks noChangeAspect="1"/>
          </p:cNvPicPr>
          <p:nvPr/>
        </p:nvPicPr>
        <p:blipFill>
          <a:blip r:embed="rId4"/>
          <a:stretch>
            <a:fillRect/>
          </a:stretch>
        </p:blipFill>
        <p:spPr>
          <a:xfrm>
            <a:off x="5540499" y="3835753"/>
            <a:ext cx="3207965" cy="2825121"/>
          </a:xfrm>
          <a:prstGeom prst="rect">
            <a:avLst/>
          </a:prstGeom>
          <a:ln>
            <a:solidFill>
              <a:srgbClr val="000000"/>
            </a:solidFill>
          </a:ln>
        </p:spPr>
      </p:pic>
    </p:spTree>
    <p:extLst>
      <p:ext uri="{BB962C8B-B14F-4D97-AF65-F5344CB8AC3E}">
        <p14:creationId xmlns:p14="http://schemas.microsoft.com/office/powerpoint/2010/main" val="1861348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solidFill>
                  <a:schemeClr val="accent5">
                    <a:lumMod val="40000"/>
                    <a:lumOff val="60000"/>
                  </a:schemeClr>
                </a:solidFill>
              </a:rPr>
              <a:t>WLAN Operation</a:t>
            </a:r>
          </a:p>
          <a:p>
            <a:endParaRPr lang="en-GB" dirty="0"/>
          </a:p>
        </p:txBody>
      </p:sp>
    </p:spTree>
    <p:custDataLst>
      <p:tags r:id="rId1"/>
    </p:custDataLst>
    <p:extLst>
      <p:ext uri="{BB962C8B-B14F-4D97-AF65-F5344CB8AC3E}">
        <p14:creationId xmlns:p14="http://schemas.microsoft.com/office/powerpoint/2010/main" val="4221388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45056" y="857318"/>
            <a:ext cx="8243368" cy="975783"/>
          </a:xfrm>
        </p:spPr>
        <p:txBody>
          <a:bodyPr/>
          <a:lstStyle/>
          <a:p>
            <a:r>
              <a:rPr lang="en-US" dirty="0">
                <a:solidFill>
                  <a:schemeClr val="tx1"/>
                </a:solidFill>
              </a:rPr>
              <a:t>802.11 Wireless Topology Modes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2771800" y="3407997"/>
            <a:ext cx="4896544" cy="1656184"/>
          </a:xfrm>
        </p:spPr>
        <p:txBody>
          <a:bodyPr/>
          <a:lstStyle/>
          <a:p>
            <a:pPr marL="73085" lvl="1" indent="0">
              <a:buNone/>
            </a:pPr>
            <a:endParaRPr lang="en-US" sz="2000" dirty="0">
              <a:solidFill>
                <a:srgbClr val="000000"/>
              </a:solidFill>
            </a:endParaRPr>
          </a:p>
          <a:p>
            <a:pPr marL="73085" lvl="1" indent="0">
              <a:buNone/>
            </a:pPr>
            <a:r>
              <a:rPr lang="en-US" sz="2000" b="1" dirty="0">
                <a:solidFill>
                  <a:srgbClr val="000000"/>
                </a:solidFill>
              </a:rPr>
              <a:t>Infrastructure mode - </a:t>
            </a:r>
            <a:r>
              <a:rPr lang="en-US" sz="2000" dirty="0">
                <a:solidFill>
                  <a:srgbClr val="000000"/>
                </a:solidFill>
              </a:rPr>
              <a:t>Used to connect clients to the network using an AP.</a:t>
            </a:r>
          </a:p>
          <a:p>
            <a:pPr marL="73085" lvl="1" indent="0">
              <a:buNone/>
            </a:pPr>
            <a:endParaRPr lang="en-US" sz="2000" dirty="0">
              <a:solidFill>
                <a:srgbClr val="000000"/>
              </a:solidFill>
            </a:endParaRPr>
          </a:p>
          <a:p>
            <a:pPr marL="489010" lvl="2" indent="-342900">
              <a:buFont typeface="Arial" panose="020B0604020202020204" pitchFamily="34" charset="0"/>
              <a:buChar char="•"/>
            </a:pPr>
            <a:endParaRPr lang="en-US" sz="2000" dirty="0">
              <a:solidFill>
                <a:srgbClr val="000000"/>
              </a:solidFill>
            </a:endParaRPr>
          </a:p>
          <a:p>
            <a:pPr marL="342900" indent="-342900" algn="l">
              <a:buFont typeface="Arial" panose="020B0604020202020204" pitchFamily="34" charset="0"/>
              <a:buChar char="•"/>
            </a:pPr>
            <a:endParaRPr lang="en-US" dirty="0">
              <a:solidFill>
                <a:srgbClr val="000000"/>
              </a:solidFill>
            </a:endParaRPr>
          </a:p>
          <a:p>
            <a:pPr marL="0" indent="0" algn="l"/>
            <a:endParaRPr lang="en-US" dirty="0">
              <a:solidFill>
                <a:srgbClr val="000000"/>
              </a:solidFill>
            </a:endParaRPr>
          </a:p>
          <a:p>
            <a:pPr marL="342900" indent="-342900" algn="l">
              <a:buFont typeface="Arial" panose="020B0604020202020204" pitchFamily="34" charset="0"/>
              <a:buChar char="•"/>
            </a:pPr>
            <a:endParaRPr lang="en-US" dirty="0">
              <a:solidFill>
                <a:srgbClr val="000000"/>
              </a:solidFill>
            </a:endParaRPr>
          </a:p>
        </p:txBody>
      </p:sp>
      <p:pic>
        <p:nvPicPr>
          <p:cNvPr id="4" name="Picture 3">
            <a:extLst>
              <a:ext uri="{FF2B5EF4-FFF2-40B4-BE49-F238E27FC236}">
                <a16:creationId xmlns:a16="http://schemas.microsoft.com/office/drawing/2014/main" id="{E9A94BD8-E440-4B1C-81A0-9FC976B296BE}"/>
              </a:ext>
            </a:extLst>
          </p:cNvPr>
          <p:cNvPicPr>
            <a:picLocks noChangeAspect="1"/>
          </p:cNvPicPr>
          <p:nvPr/>
        </p:nvPicPr>
        <p:blipFill>
          <a:blip r:embed="rId3"/>
          <a:stretch>
            <a:fillRect/>
          </a:stretch>
        </p:blipFill>
        <p:spPr>
          <a:xfrm>
            <a:off x="6372200" y="1741367"/>
            <a:ext cx="1809751" cy="535505"/>
          </a:xfrm>
          <a:prstGeom prst="rect">
            <a:avLst/>
          </a:prstGeom>
        </p:spPr>
      </p:pic>
      <p:pic>
        <p:nvPicPr>
          <p:cNvPr id="5" name="Picture 4">
            <a:extLst>
              <a:ext uri="{FF2B5EF4-FFF2-40B4-BE49-F238E27FC236}">
                <a16:creationId xmlns:a16="http://schemas.microsoft.com/office/drawing/2014/main" id="{83CA18F1-28EA-4171-8BAF-7BC7ED4193E0}"/>
              </a:ext>
            </a:extLst>
          </p:cNvPr>
          <p:cNvPicPr>
            <a:picLocks noChangeAspect="1"/>
          </p:cNvPicPr>
          <p:nvPr/>
        </p:nvPicPr>
        <p:blipFill>
          <a:blip r:embed="rId4"/>
          <a:stretch>
            <a:fillRect/>
          </a:stretch>
        </p:blipFill>
        <p:spPr>
          <a:xfrm>
            <a:off x="323528" y="2708920"/>
            <a:ext cx="2573140" cy="2554291"/>
          </a:xfrm>
          <a:prstGeom prst="rect">
            <a:avLst/>
          </a:prstGeom>
        </p:spPr>
      </p:pic>
      <p:pic>
        <p:nvPicPr>
          <p:cNvPr id="7" name="Picture 6">
            <a:extLst>
              <a:ext uri="{FF2B5EF4-FFF2-40B4-BE49-F238E27FC236}">
                <a16:creationId xmlns:a16="http://schemas.microsoft.com/office/drawing/2014/main" id="{6E53D82F-07E3-4941-9CD1-FDF6E674759F}"/>
              </a:ext>
            </a:extLst>
          </p:cNvPr>
          <p:cNvPicPr>
            <a:picLocks noChangeAspect="1"/>
          </p:cNvPicPr>
          <p:nvPr/>
        </p:nvPicPr>
        <p:blipFill>
          <a:blip r:embed="rId5"/>
          <a:stretch>
            <a:fillRect/>
          </a:stretch>
        </p:blipFill>
        <p:spPr>
          <a:xfrm>
            <a:off x="1616146" y="5066394"/>
            <a:ext cx="2680518" cy="1791606"/>
          </a:xfrm>
          <a:prstGeom prst="rect">
            <a:avLst/>
          </a:prstGeom>
        </p:spPr>
      </p:pic>
      <p:sp>
        <p:nvSpPr>
          <p:cNvPr id="2" name="Rectangle 1"/>
          <p:cNvSpPr/>
          <p:nvPr/>
        </p:nvSpPr>
        <p:spPr>
          <a:xfrm>
            <a:off x="1487810" y="1833101"/>
            <a:ext cx="4812382" cy="707886"/>
          </a:xfrm>
          <a:prstGeom prst="rect">
            <a:avLst/>
          </a:prstGeom>
        </p:spPr>
        <p:txBody>
          <a:bodyPr wrap="square">
            <a:spAutoFit/>
          </a:bodyPr>
          <a:lstStyle/>
          <a:p>
            <a:pPr marL="73085" lvl="1" eaLnBrk="0" hangingPunct="0">
              <a:spcBef>
                <a:spcPct val="20000"/>
              </a:spcBef>
            </a:pPr>
            <a:r>
              <a:rPr lang="en-US" sz="2000" b="1" kern="0" dirty="0">
                <a:solidFill>
                  <a:srgbClr val="000000"/>
                </a:solidFill>
                <a:latin typeface="+mn-lt"/>
              </a:rPr>
              <a:t>Ad hoc mode - </a:t>
            </a:r>
            <a:r>
              <a:rPr lang="en-US" sz="2000" kern="0" dirty="0">
                <a:solidFill>
                  <a:srgbClr val="000000"/>
                </a:solidFill>
                <a:latin typeface="+mn-lt"/>
              </a:rPr>
              <a:t>Used to connect clients in peer-to-peer manner without an AP.</a:t>
            </a:r>
          </a:p>
        </p:txBody>
      </p:sp>
      <p:sp>
        <p:nvSpPr>
          <p:cNvPr id="8" name="Rectangle 7"/>
          <p:cNvSpPr/>
          <p:nvPr/>
        </p:nvSpPr>
        <p:spPr>
          <a:xfrm>
            <a:off x="4374186" y="5300477"/>
            <a:ext cx="4572000" cy="1323439"/>
          </a:xfrm>
          <a:prstGeom prst="rect">
            <a:avLst/>
          </a:prstGeom>
        </p:spPr>
        <p:txBody>
          <a:bodyPr>
            <a:spAutoFit/>
          </a:bodyPr>
          <a:lstStyle/>
          <a:p>
            <a:pPr marL="73085" lvl="1" indent="0">
              <a:buNone/>
            </a:pPr>
            <a:r>
              <a:rPr lang="en-US" sz="2000" b="1" dirty="0">
                <a:solidFill>
                  <a:srgbClr val="000000"/>
                </a:solidFill>
                <a:latin typeface="+mn-lt"/>
              </a:rPr>
              <a:t>Tethering - </a:t>
            </a:r>
            <a:r>
              <a:rPr lang="en-US" sz="2000" dirty="0">
                <a:solidFill>
                  <a:srgbClr val="000000"/>
                </a:solidFill>
                <a:latin typeface="+mn-lt"/>
              </a:rPr>
              <a:t>Variation of the ad hoc topology is when a smart phone or tablet with mobile data access is enabled to create a personal hotspot.</a:t>
            </a:r>
          </a:p>
        </p:txBody>
      </p:sp>
    </p:spTree>
    <p:extLst>
      <p:ext uri="{BB962C8B-B14F-4D97-AF65-F5344CB8AC3E}">
        <p14:creationId xmlns:p14="http://schemas.microsoft.com/office/powerpoint/2010/main" val="3789695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3308" y="764704"/>
            <a:ext cx="8345488" cy="975783"/>
          </a:xfrm>
        </p:spPr>
        <p:txBody>
          <a:bodyPr/>
          <a:lstStyle/>
          <a:p>
            <a:r>
              <a:rPr lang="en-US" dirty="0">
                <a:solidFill>
                  <a:schemeClr val="tx1"/>
                </a:solidFill>
              </a:rPr>
              <a:t>BSS and 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251520" y="2060222"/>
            <a:ext cx="4680520" cy="4321106"/>
          </a:xfrm>
        </p:spPr>
        <p:txBody>
          <a:bodyPr/>
          <a:lstStyle/>
          <a:p>
            <a:pPr marL="73085" lvl="1" indent="0">
              <a:buNone/>
            </a:pPr>
            <a:r>
              <a:rPr lang="en-US" sz="1800" dirty="0">
                <a:solidFill>
                  <a:srgbClr val="000000"/>
                </a:solidFill>
              </a:rPr>
              <a:t>Infrastructure mode defines two topology blocks:</a:t>
            </a:r>
          </a:p>
          <a:p>
            <a:pPr marL="73085" lvl="1" indent="0">
              <a:buNone/>
            </a:pPr>
            <a:r>
              <a:rPr lang="en-US" sz="1800" b="1" dirty="0">
                <a:solidFill>
                  <a:srgbClr val="000000"/>
                </a:solidFill>
              </a:rPr>
              <a:t>Basic Service Set (BSS)</a:t>
            </a:r>
          </a:p>
          <a:p>
            <a:pPr lvl="1">
              <a:spcBef>
                <a:spcPts val="300"/>
              </a:spcBef>
              <a:spcAft>
                <a:spcPts val="100"/>
              </a:spcAft>
            </a:pPr>
            <a:r>
              <a:rPr lang="en-US" sz="1800" dirty="0">
                <a:solidFill>
                  <a:srgbClr val="000000"/>
                </a:solidFill>
              </a:rPr>
              <a:t>Uses single AP to interconnect all associated wireless clients.</a:t>
            </a:r>
          </a:p>
          <a:p>
            <a:pPr lvl="1">
              <a:spcBef>
                <a:spcPts val="300"/>
              </a:spcBef>
              <a:spcAft>
                <a:spcPts val="100"/>
              </a:spcAft>
            </a:pPr>
            <a:r>
              <a:rPr lang="en-US" sz="1800" dirty="0">
                <a:solidFill>
                  <a:srgbClr val="000000"/>
                </a:solidFill>
              </a:rPr>
              <a:t>Clients in different BSSs cannot communicate.</a:t>
            </a:r>
          </a:p>
          <a:p>
            <a:pPr marL="73085" lvl="1" indent="0">
              <a:buNone/>
            </a:pPr>
            <a:r>
              <a:rPr lang="en-US" sz="1800" b="1" dirty="0">
                <a:solidFill>
                  <a:srgbClr val="000000"/>
                </a:solidFill>
              </a:rPr>
              <a:t>Extended Service Set (ESS)</a:t>
            </a:r>
          </a:p>
          <a:p>
            <a:pPr lvl="1">
              <a:spcBef>
                <a:spcPts val="300"/>
              </a:spcBef>
              <a:spcAft>
                <a:spcPts val="100"/>
              </a:spcAft>
            </a:pPr>
            <a:r>
              <a:rPr lang="en-US" sz="1800" dirty="0">
                <a:solidFill>
                  <a:srgbClr val="000000"/>
                </a:solidFill>
              </a:rPr>
              <a:t>A union of two or more BSSs interconnected by a wired distribution system.</a:t>
            </a:r>
          </a:p>
          <a:p>
            <a:pPr lvl="1">
              <a:spcBef>
                <a:spcPts val="300"/>
              </a:spcBef>
              <a:spcAft>
                <a:spcPts val="100"/>
              </a:spcAft>
            </a:pPr>
            <a:r>
              <a:rPr lang="en-US" sz="1800" dirty="0">
                <a:solidFill>
                  <a:srgbClr val="000000"/>
                </a:solidFill>
              </a:rPr>
              <a:t>Clients in each BSS can communication through the ESS.</a:t>
            </a:r>
          </a:p>
          <a:p>
            <a:pPr marL="489010" lvl="2" indent="-342900">
              <a:buFont typeface="Arial" panose="020B0604020202020204" pitchFamily="34" charset="0"/>
              <a:buChar char="•"/>
            </a:pPr>
            <a:endParaRPr lang="en-US" sz="1800" dirty="0">
              <a:solidFill>
                <a:srgbClr val="000000"/>
              </a:solidFill>
            </a:endParaRPr>
          </a:p>
          <a:p>
            <a:pPr marL="0" indent="0" algn="l"/>
            <a:r>
              <a:rPr lang="en-US" sz="1800" dirty="0">
                <a:solidFill>
                  <a:srgbClr val="000000"/>
                </a:solidFill>
                <a:hlinkClick r:id="rId3"/>
              </a:rPr>
              <a:t>BSS and ESS</a:t>
            </a:r>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p:txBody>
      </p:sp>
      <p:pic>
        <p:nvPicPr>
          <p:cNvPr id="8" name="Picture 7">
            <a:extLst>
              <a:ext uri="{FF2B5EF4-FFF2-40B4-BE49-F238E27FC236}">
                <a16:creationId xmlns:a16="http://schemas.microsoft.com/office/drawing/2014/main" id="{5DD726AF-EC63-4AA6-A72D-6E4FBAE584EF}"/>
              </a:ext>
            </a:extLst>
          </p:cNvPr>
          <p:cNvPicPr>
            <a:picLocks noChangeAspect="1"/>
          </p:cNvPicPr>
          <p:nvPr/>
        </p:nvPicPr>
        <p:blipFill>
          <a:blip r:embed="rId4"/>
          <a:stretch>
            <a:fillRect/>
          </a:stretch>
        </p:blipFill>
        <p:spPr>
          <a:xfrm>
            <a:off x="5076056" y="3933056"/>
            <a:ext cx="3676650" cy="2717800"/>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040" y="980728"/>
            <a:ext cx="3400425"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3351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3528" y="1484784"/>
            <a:ext cx="7978775" cy="696595"/>
          </a:xfrm>
          <a:prstGeom prst="rect">
            <a:avLst/>
          </a:prstGeom>
        </p:spPr>
        <p:txBody>
          <a:bodyPr vert="horz" wrap="square" lIns="0" tIns="13335" rIns="0" bIns="0" rtlCol="0">
            <a:spAutoFit/>
          </a:bodyPr>
          <a:lstStyle/>
          <a:p>
            <a:pPr marL="12700">
              <a:lnSpc>
                <a:spcPct val="100000"/>
              </a:lnSpc>
              <a:spcBef>
                <a:spcPts val="105"/>
              </a:spcBef>
            </a:pPr>
            <a:r>
              <a:rPr spc="-35" dirty="0"/>
              <a:t>Transition </a:t>
            </a:r>
            <a:r>
              <a:rPr spc="-40" dirty="0"/>
              <a:t>Types </a:t>
            </a:r>
            <a:r>
              <a:rPr dirty="0"/>
              <a:t>Based </a:t>
            </a:r>
            <a:r>
              <a:rPr spc="-5" dirty="0"/>
              <a:t>On</a:t>
            </a:r>
            <a:r>
              <a:rPr spc="20" dirty="0"/>
              <a:t> </a:t>
            </a:r>
            <a:r>
              <a:rPr spc="-5" dirty="0"/>
              <a:t>Mobility</a:t>
            </a:r>
          </a:p>
        </p:txBody>
      </p:sp>
      <p:sp>
        <p:nvSpPr>
          <p:cNvPr id="3" name="object 3"/>
          <p:cNvSpPr txBox="1"/>
          <p:nvPr/>
        </p:nvSpPr>
        <p:spPr>
          <a:xfrm>
            <a:off x="395536" y="2420888"/>
            <a:ext cx="7844155" cy="3817620"/>
          </a:xfrm>
          <a:prstGeom prst="rect">
            <a:avLst/>
          </a:prstGeom>
        </p:spPr>
        <p:txBody>
          <a:bodyPr vert="horz" wrap="square" lIns="0" tIns="64769" rIns="0" bIns="0" rtlCol="0">
            <a:spAutoFit/>
          </a:bodyPr>
          <a:lstStyle/>
          <a:p>
            <a:pPr marL="355600" indent="-342900">
              <a:lnSpc>
                <a:spcPct val="100000"/>
              </a:lnSpc>
              <a:spcBef>
                <a:spcPts val="509"/>
              </a:spcBef>
              <a:buFont typeface="Arial"/>
              <a:buChar char="•"/>
              <a:tabLst>
                <a:tab pos="354965" algn="l"/>
                <a:tab pos="355600" algn="l"/>
              </a:tabLst>
            </a:pPr>
            <a:r>
              <a:rPr sz="3200" dirty="0">
                <a:latin typeface="Carlito"/>
                <a:cs typeface="Carlito"/>
              </a:rPr>
              <a:t>No</a:t>
            </a:r>
            <a:r>
              <a:rPr sz="3200" spc="-5" dirty="0">
                <a:latin typeface="Carlito"/>
                <a:cs typeface="Carlito"/>
              </a:rPr>
              <a:t> transition</a:t>
            </a:r>
            <a:endParaRPr sz="3200" dirty="0">
              <a:latin typeface="Carlito"/>
              <a:cs typeface="Carlito"/>
            </a:endParaRPr>
          </a:p>
          <a:p>
            <a:pPr marL="756285" lvl="1" indent="-287020">
              <a:lnSpc>
                <a:spcPct val="100000"/>
              </a:lnSpc>
              <a:spcBef>
                <a:spcPts val="350"/>
              </a:spcBef>
              <a:buFont typeface="Arial"/>
              <a:buChar char="–"/>
              <a:tabLst>
                <a:tab pos="756920" algn="l"/>
              </a:tabLst>
            </a:pPr>
            <a:r>
              <a:rPr sz="2800" spc="-10" dirty="0">
                <a:latin typeface="Carlito"/>
                <a:cs typeface="Carlito"/>
              </a:rPr>
              <a:t>Stationary </a:t>
            </a:r>
            <a:r>
              <a:rPr sz="2800" spc="-5" dirty="0">
                <a:latin typeface="Carlito"/>
                <a:cs typeface="Carlito"/>
              </a:rPr>
              <a:t>or </a:t>
            </a:r>
            <a:r>
              <a:rPr sz="2800" spc="-15" dirty="0">
                <a:latin typeface="Carlito"/>
                <a:cs typeface="Carlito"/>
              </a:rPr>
              <a:t>moves </a:t>
            </a:r>
            <a:r>
              <a:rPr sz="2800" spc="-10" dirty="0">
                <a:latin typeface="Carlito"/>
                <a:cs typeface="Carlito"/>
              </a:rPr>
              <a:t>only </a:t>
            </a:r>
            <a:r>
              <a:rPr sz="2800" spc="-5" dirty="0">
                <a:latin typeface="Carlito"/>
                <a:cs typeface="Carlito"/>
              </a:rPr>
              <a:t>within</a:t>
            </a:r>
            <a:r>
              <a:rPr sz="2800" spc="60" dirty="0">
                <a:latin typeface="Carlito"/>
                <a:cs typeface="Carlito"/>
              </a:rPr>
              <a:t> </a:t>
            </a:r>
            <a:r>
              <a:rPr sz="2800" spc="-5" dirty="0">
                <a:latin typeface="Carlito"/>
                <a:cs typeface="Carlito"/>
              </a:rPr>
              <a:t>BSS</a:t>
            </a:r>
            <a:endParaRPr sz="2800" dirty="0">
              <a:latin typeface="Carlito"/>
              <a:cs typeface="Carlito"/>
            </a:endParaRPr>
          </a:p>
          <a:p>
            <a:pPr marL="355600" indent="-342900">
              <a:lnSpc>
                <a:spcPct val="100000"/>
              </a:lnSpc>
              <a:spcBef>
                <a:spcPts val="370"/>
              </a:spcBef>
              <a:buFont typeface="Arial"/>
              <a:buChar char="•"/>
              <a:tabLst>
                <a:tab pos="354965" algn="l"/>
                <a:tab pos="355600" algn="l"/>
              </a:tabLst>
            </a:pPr>
            <a:r>
              <a:rPr sz="3200" dirty="0">
                <a:latin typeface="Carlito"/>
                <a:cs typeface="Carlito"/>
              </a:rPr>
              <a:t>BSS</a:t>
            </a:r>
            <a:r>
              <a:rPr sz="3200" spc="5" dirty="0">
                <a:latin typeface="Carlito"/>
                <a:cs typeface="Carlito"/>
              </a:rPr>
              <a:t> </a:t>
            </a:r>
            <a:r>
              <a:rPr sz="3200" spc="-10" dirty="0">
                <a:latin typeface="Carlito"/>
                <a:cs typeface="Carlito"/>
              </a:rPr>
              <a:t>transition</a:t>
            </a:r>
            <a:endParaRPr sz="3200" dirty="0">
              <a:latin typeface="Carlito"/>
              <a:cs typeface="Carlito"/>
            </a:endParaRPr>
          </a:p>
          <a:p>
            <a:pPr marL="756285" marR="340360" lvl="1" indent="-287020">
              <a:lnSpc>
                <a:spcPts val="3020"/>
              </a:lnSpc>
              <a:spcBef>
                <a:spcPts val="740"/>
              </a:spcBef>
              <a:buFont typeface="Arial"/>
              <a:buChar char="–"/>
              <a:tabLst>
                <a:tab pos="756920" algn="l"/>
              </a:tabLst>
            </a:pPr>
            <a:r>
              <a:rPr sz="2800" spc="-15" dirty="0">
                <a:latin typeface="Carlito"/>
                <a:cs typeface="Carlito"/>
              </a:rPr>
              <a:t>Station </a:t>
            </a:r>
            <a:r>
              <a:rPr sz="2800" spc="-10" dirty="0">
                <a:latin typeface="Carlito"/>
                <a:cs typeface="Carlito"/>
              </a:rPr>
              <a:t>moving </a:t>
            </a:r>
            <a:r>
              <a:rPr sz="2800" spc="-20" dirty="0">
                <a:latin typeface="Carlito"/>
                <a:cs typeface="Carlito"/>
              </a:rPr>
              <a:t>from </a:t>
            </a:r>
            <a:r>
              <a:rPr sz="2800" spc="-10" dirty="0">
                <a:latin typeface="Carlito"/>
                <a:cs typeface="Carlito"/>
              </a:rPr>
              <a:t>one </a:t>
            </a:r>
            <a:r>
              <a:rPr sz="2800" spc="-5" dirty="0">
                <a:latin typeface="Carlito"/>
                <a:cs typeface="Carlito"/>
              </a:rPr>
              <a:t>BSS </a:t>
            </a:r>
            <a:r>
              <a:rPr sz="2800" spc="-15" dirty="0">
                <a:latin typeface="Carlito"/>
                <a:cs typeface="Carlito"/>
              </a:rPr>
              <a:t>to </a:t>
            </a:r>
            <a:r>
              <a:rPr sz="2800" spc="-5" dirty="0">
                <a:latin typeface="Carlito"/>
                <a:cs typeface="Carlito"/>
              </a:rPr>
              <a:t>another BSS in  </a:t>
            </a:r>
            <a:r>
              <a:rPr sz="2800" spc="-10" dirty="0">
                <a:latin typeface="Carlito"/>
                <a:cs typeface="Carlito"/>
              </a:rPr>
              <a:t>same </a:t>
            </a:r>
            <a:r>
              <a:rPr sz="2800" spc="-15" dirty="0">
                <a:latin typeface="Carlito"/>
                <a:cs typeface="Carlito"/>
              </a:rPr>
              <a:t>ESS</a:t>
            </a:r>
            <a:endParaRPr sz="2800" dirty="0">
              <a:latin typeface="Carlito"/>
              <a:cs typeface="Carlito"/>
            </a:endParaRPr>
          </a:p>
          <a:p>
            <a:pPr marL="355600" indent="-342900">
              <a:lnSpc>
                <a:spcPct val="100000"/>
              </a:lnSpc>
              <a:spcBef>
                <a:spcPts val="325"/>
              </a:spcBef>
              <a:buFont typeface="Arial"/>
              <a:buChar char="•"/>
              <a:tabLst>
                <a:tab pos="354965" algn="l"/>
                <a:tab pos="355600" algn="l"/>
              </a:tabLst>
            </a:pPr>
            <a:r>
              <a:rPr sz="3200" spc="-15" dirty="0">
                <a:latin typeface="Carlito"/>
                <a:cs typeface="Carlito"/>
              </a:rPr>
              <a:t>ESS</a:t>
            </a:r>
            <a:r>
              <a:rPr sz="3200" spc="10" dirty="0">
                <a:latin typeface="Carlito"/>
                <a:cs typeface="Carlito"/>
              </a:rPr>
              <a:t> </a:t>
            </a:r>
            <a:r>
              <a:rPr sz="3200" spc="-10" dirty="0">
                <a:latin typeface="Carlito"/>
                <a:cs typeface="Carlito"/>
              </a:rPr>
              <a:t>transition</a:t>
            </a:r>
            <a:endParaRPr sz="3200" dirty="0">
              <a:latin typeface="Carlito"/>
              <a:cs typeface="Carlito"/>
            </a:endParaRPr>
          </a:p>
          <a:p>
            <a:pPr marL="756285" marR="5080" lvl="1" indent="-287020">
              <a:lnSpc>
                <a:spcPts val="3020"/>
              </a:lnSpc>
              <a:spcBef>
                <a:spcPts val="740"/>
              </a:spcBef>
              <a:buFont typeface="Arial"/>
              <a:buChar char="–"/>
              <a:tabLst>
                <a:tab pos="756920" algn="l"/>
              </a:tabLst>
            </a:pPr>
            <a:r>
              <a:rPr sz="2800" spc="-15" dirty="0">
                <a:latin typeface="Carlito"/>
                <a:cs typeface="Carlito"/>
              </a:rPr>
              <a:t>Station </a:t>
            </a:r>
            <a:r>
              <a:rPr sz="2800" spc="-10" dirty="0">
                <a:latin typeface="Carlito"/>
                <a:cs typeface="Carlito"/>
              </a:rPr>
              <a:t>moving </a:t>
            </a:r>
            <a:r>
              <a:rPr sz="2800" spc="-20" dirty="0">
                <a:latin typeface="Carlito"/>
                <a:cs typeface="Carlito"/>
              </a:rPr>
              <a:t>from </a:t>
            </a:r>
            <a:r>
              <a:rPr sz="2800" spc="-5" dirty="0">
                <a:latin typeface="Carlito"/>
                <a:cs typeface="Carlito"/>
              </a:rPr>
              <a:t>BSS in </a:t>
            </a:r>
            <a:r>
              <a:rPr sz="2800" spc="-10" dirty="0">
                <a:latin typeface="Carlito"/>
                <a:cs typeface="Carlito"/>
              </a:rPr>
              <a:t>one </a:t>
            </a:r>
            <a:r>
              <a:rPr sz="2800" spc="-15" dirty="0">
                <a:latin typeface="Carlito"/>
                <a:cs typeface="Carlito"/>
              </a:rPr>
              <a:t>ESS to </a:t>
            </a:r>
            <a:r>
              <a:rPr sz="2800" spc="-5" dirty="0">
                <a:latin typeface="Carlito"/>
                <a:cs typeface="Carlito"/>
              </a:rPr>
              <a:t>BSS within  another</a:t>
            </a:r>
            <a:r>
              <a:rPr sz="2800" dirty="0">
                <a:latin typeface="Carlito"/>
                <a:cs typeface="Carlito"/>
              </a:rPr>
              <a:t> </a:t>
            </a:r>
            <a:r>
              <a:rPr sz="2800" spc="-15" dirty="0">
                <a:latin typeface="Carlito"/>
                <a:cs typeface="Carlito"/>
              </a:rPr>
              <a:t>ESS</a:t>
            </a:r>
            <a:endParaRPr sz="2800" dirty="0">
              <a:latin typeface="Carlito"/>
              <a:cs typeface="Carlito"/>
            </a:endParaRPr>
          </a:p>
        </p:txBody>
      </p:sp>
    </p:spTree>
    <p:extLst>
      <p:ext uri="{BB962C8B-B14F-4D97-AF65-F5344CB8AC3E}">
        <p14:creationId xmlns:p14="http://schemas.microsoft.com/office/powerpoint/2010/main" val="2170971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12" y="1052736"/>
            <a:ext cx="6243399" cy="566822"/>
          </a:xfrm>
          <a:prstGeom prst="rect">
            <a:avLst/>
          </a:prstGeom>
        </p:spPr>
        <p:txBody>
          <a:bodyPr vert="horz" wrap="square" lIns="0" tIns="12700" rIns="0" bIns="0" rtlCol="0">
            <a:spAutoFit/>
          </a:bodyPr>
          <a:lstStyle/>
          <a:p>
            <a:pPr marL="12700">
              <a:lnSpc>
                <a:spcPct val="100000"/>
              </a:lnSpc>
              <a:spcBef>
                <a:spcPts val="100"/>
              </a:spcBef>
            </a:pPr>
            <a:r>
              <a:rPr sz="3600" spc="-10" dirty="0"/>
              <a:t>Wireless </a:t>
            </a:r>
            <a:r>
              <a:rPr sz="3600" spc="-5" dirty="0"/>
              <a:t>Link</a:t>
            </a:r>
            <a:r>
              <a:rPr sz="3600" spc="-85" dirty="0"/>
              <a:t> </a:t>
            </a:r>
            <a:r>
              <a:rPr sz="3600" spc="-10" dirty="0"/>
              <a:t>Characteristics</a:t>
            </a:r>
            <a:endParaRPr sz="3600" dirty="0"/>
          </a:p>
        </p:txBody>
      </p:sp>
      <p:sp>
        <p:nvSpPr>
          <p:cNvPr id="3" name="object 3"/>
          <p:cNvSpPr txBox="1"/>
          <p:nvPr/>
        </p:nvSpPr>
        <p:spPr>
          <a:xfrm>
            <a:off x="323528" y="1988840"/>
            <a:ext cx="8448868" cy="3732432"/>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000000"/>
                </a:solidFill>
                <a:latin typeface="+mn-lt"/>
              </a:rPr>
              <a:t>Important differences from wired link ….</a:t>
            </a:r>
          </a:p>
          <a:p>
            <a:pPr>
              <a:lnSpc>
                <a:spcPct val="100000"/>
              </a:lnSpc>
              <a:spcBef>
                <a:spcPts val="20"/>
              </a:spcBef>
            </a:pPr>
            <a:endParaRPr sz="2000" dirty="0">
              <a:solidFill>
                <a:srgbClr val="000000"/>
              </a:solidFill>
              <a:latin typeface="+mn-lt"/>
            </a:endParaRPr>
          </a:p>
          <a:p>
            <a:pPr marL="812165" marR="220345" indent="-342900">
              <a:lnSpc>
                <a:spcPts val="2500"/>
              </a:lnSpc>
              <a:buFont typeface="Arial" panose="020B0604020202020204" pitchFamily="34" charset="0"/>
              <a:buChar char="•"/>
              <a:tabLst>
                <a:tab pos="756285" algn="l"/>
                <a:tab pos="756920" algn="l"/>
              </a:tabLst>
            </a:pPr>
            <a:r>
              <a:rPr sz="2000" dirty="0">
                <a:solidFill>
                  <a:srgbClr val="000000"/>
                </a:solidFill>
                <a:latin typeface="+mn-lt"/>
              </a:rPr>
              <a:t>Decreased signal strength: radio signal attenuates as  it propagates through matter (path loss)</a:t>
            </a:r>
          </a:p>
          <a:p>
            <a:pPr marL="812165" marR="5080" indent="-342900">
              <a:lnSpc>
                <a:spcPct val="80000"/>
              </a:lnSpc>
              <a:spcBef>
                <a:spcPts val="645"/>
              </a:spcBef>
              <a:buFont typeface="Arial" panose="020B0604020202020204" pitchFamily="34" charset="0"/>
              <a:buChar char="•"/>
              <a:tabLst>
                <a:tab pos="756285" algn="l"/>
                <a:tab pos="756920" algn="l"/>
              </a:tabLst>
            </a:pPr>
            <a:r>
              <a:rPr sz="2000" dirty="0">
                <a:solidFill>
                  <a:srgbClr val="000000"/>
                </a:solidFill>
                <a:latin typeface="+mn-lt"/>
              </a:rPr>
              <a:t>Interference from other sources: standardized wireless  network frequencies (e.g., 2.4 ghz) shared by other  devices (e.g., Phone); devices (motors) interfere as  well</a:t>
            </a:r>
          </a:p>
          <a:p>
            <a:pPr marL="812165" marR="779145" indent="-342900">
              <a:lnSpc>
                <a:spcPct val="80000"/>
              </a:lnSpc>
              <a:spcBef>
                <a:spcPts val="625"/>
              </a:spcBef>
              <a:buFont typeface="Arial" panose="020B0604020202020204" pitchFamily="34" charset="0"/>
              <a:buChar char="•"/>
              <a:tabLst>
                <a:tab pos="756285" algn="l"/>
                <a:tab pos="756920" algn="l"/>
              </a:tabLst>
            </a:pPr>
            <a:r>
              <a:rPr sz="2000" dirty="0">
                <a:solidFill>
                  <a:srgbClr val="000000"/>
                </a:solidFill>
                <a:latin typeface="+mn-lt"/>
              </a:rPr>
              <a:t>Multipath propagation: radio signal reflects off  objects ground, arriving at destination at slightly  different times</a:t>
            </a:r>
          </a:p>
          <a:p>
            <a:pPr marL="12700">
              <a:lnSpc>
                <a:spcPts val="2810"/>
              </a:lnSpc>
            </a:pPr>
            <a:endParaRPr lang="en-GB" sz="2000" dirty="0">
              <a:solidFill>
                <a:srgbClr val="000000"/>
              </a:solidFill>
              <a:latin typeface="+mn-lt"/>
            </a:endParaRPr>
          </a:p>
          <a:p>
            <a:pPr marL="12700">
              <a:lnSpc>
                <a:spcPts val="2810"/>
              </a:lnSpc>
            </a:pPr>
            <a:r>
              <a:rPr sz="2000" dirty="0">
                <a:solidFill>
                  <a:srgbClr val="000000"/>
                </a:solidFill>
                <a:latin typeface="+mn-lt"/>
              </a:rPr>
              <a:t>Make communication across (even a point to point)</a:t>
            </a:r>
            <a:r>
              <a:rPr lang="en-GB" sz="2000" dirty="0">
                <a:solidFill>
                  <a:srgbClr val="000000"/>
                </a:solidFill>
                <a:latin typeface="+mn-lt"/>
              </a:rPr>
              <a:t> </a:t>
            </a:r>
            <a:r>
              <a:rPr sz="2000" dirty="0">
                <a:solidFill>
                  <a:srgbClr val="000000"/>
                </a:solidFill>
                <a:latin typeface="+mn-lt"/>
              </a:rPr>
              <a:t>wireless link much more “</a:t>
            </a:r>
            <a:r>
              <a:rPr sz="2000" dirty="0" err="1">
                <a:solidFill>
                  <a:srgbClr val="000000"/>
                </a:solidFill>
                <a:latin typeface="+mn-lt"/>
              </a:rPr>
              <a:t>difficu</a:t>
            </a:r>
            <a:r>
              <a:rPr lang="en-GB" sz="2000" dirty="0" err="1">
                <a:solidFill>
                  <a:srgbClr val="000000"/>
                </a:solidFill>
                <a:latin typeface="+mn-lt"/>
              </a:rPr>
              <a:t>lt</a:t>
            </a:r>
            <a:r>
              <a:rPr sz="2000" dirty="0">
                <a:solidFill>
                  <a:srgbClr val="000000"/>
                </a:solidFill>
                <a:latin typeface="+mn-lt"/>
              </a:rPr>
              <a:t>”</a:t>
            </a:r>
          </a:p>
        </p:txBody>
      </p:sp>
    </p:spTree>
    <p:extLst>
      <p:ext uri="{BB962C8B-B14F-4D97-AF65-F5344CB8AC3E}">
        <p14:creationId xmlns:p14="http://schemas.microsoft.com/office/powerpoint/2010/main" val="4273441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341" y="1185718"/>
            <a:ext cx="7409180" cy="566181"/>
          </a:xfrm>
          <a:prstGeom prst="rect">
            <a:avLst/>
          </a:prstGeom>
        </p:spPr>
        <p:txBody>
          <a:bodyPr vert="horz" wrap="square" lIns="0" tIns="12065" rIns="0" bIns="0" rtlCol="0">
            <a:spAutoFit/>
          </a:bodyPr>
          <a:lstStyle/>
          <a:p>
            <a:pPr marL="12700">
              <a:lnSpc>
                <a:spcPct val="100000"/>
              </a:lnSpc>
              <a:spcBef>
                <a:spcPts val="95"/>
              </a:spcBef>
            </a:pPr>
            <a:r>
              <a:rPr spc="-5" dirty="0"/>
              <a:t>Medium Access</a:t>
            </a:r>
            <a:r>
              <a:rPr spc="-30" dirty="0"/>
              <a:t> </a:t>
            </a:r>
            <a:r>
              <a:rPr spc="-20" dirty="0"/>
              <a:t>Control</a:t>
            </a:r>
            <a:endParaRPr dirty="0"/>
          </a:p>
        </p:txBody>
      </p:sp>
      <p:sp>
        <p:nvSpPr>
          <p:cNvPr id="3" name="object 3"/>
          <p:cNvSpPr txBox="1"/>
          <p:nvPr/>
        </p:nvSpPr>
        <p:spPr>
          <a:xfrm>
            <a:off x="510989" y="1705724"/>
            <a:ext cx="7877175" cy="4081374"/>
          </a:xfrm>
          <a:prstGeom prst="rect">
            <a:avLst/>
          </a:prstGeom>
        </p:spPr>
        <p:txBody>
          <a:bodyPr vert="horz" wrap="square" lIns="0" tIns="121920" rIns="0" bIns="0" rtlCol="0">
            <a:spAutoFit/>
          </a:bodyPr>
          <a:lstStyle/>
          <a:p>
            <a:pPr marL="12700">
              <a:lnSpc>
                <a:spcPct val="120000"/>
              </a:lnSpc>
              <a:spcBef>
                <a:spcPts val="0"/>
              </a:spcBef>
              <a:tabLst>
                <a:tab pos="355600" algn="l"/>
              </a:tabLst>
            </a:pPr>
            <a:r>
              <a:rPr dirty="0">
                <a:latin typeface="+mn-lt"/>
                <a:cs typeface="Carlito"/>
              </a:rPr>
              <a:t>MAC </a:t>
            </a:r>
            <a:r>
              <a:rPr spc="-25" dirty="0">
                <a:latin typeface="+mn-lt"/>
                <a:cs typeface="Carlito"/>
              </a:rPr>
              <a:t>layer covers </a:t>
            </a:r>
            <a:r>
              <a:rPr spc="-10" dirty="0">
                <a:latin typeface="+mn-lt"/>
                <a:cs typeface="Carlito"/>
              </a:rPr>
              <a:t>three </a:t>
            </a:r>
            <a:r>
              <a:rPr dirty="0">
                <a:latin typeface="+mn-lt"/>
                <a:cs typeface="Carlito"/>
              </a:rPr>
              <a:t>functional</a:t>
            </a:r>
            <a:r>
              <a:rPr spc="-55" dirty="0">
                <a:latin typeface="+mn-lt"/>
                <a:cs typeface="Carlito"/>
              </a:rPr>
              <a:t> </a:t>
            </a:r>
            <a:r>
              <a:rPr spc="-10" dirty="0">
                <a:latin typeface="+mn-lt"/>
                <a:cs typeface="Carlito"/>
              </a:rPr>
              <a:t>areas:</a:t>
            </a:r>
            <a:endParaRPr lang="en-GB" spc="-10" dirty="0">
              <a:latin typeface="+mn-lt"/>
              <a:cs typeface="Carlito"/>
            </a:endParaRPr>
          </a:p>
          <a:p>
            <a:pPr marL="355600" indent="-342900">
              <a:lnSpc>
                <a:spcPct val="120000"/>
              </a:lnSpc>
              <a:spcBef>
                <a:spcPts val="0"/>
              </a:spcBef>
              <a:buFont typeface="Arial"/>
              <a:buChar char="•"/>
              <a:tabLst>
                <a:tab pos="355600" algn="l"/>
              </a:tabLst>
            </a:pPr>
            <a:r>
              <a:rPr spc="20" dirty="0">
                <a:latin typeface="+mn-lt"/>
                <a:cs typeface="Carlito"/>
              </a:rPr>
              <a:t>Reliable </a:t>
            </a:r>
            <a:r>
              <a:rPr spc="-25" dirty="0">
                <a:latin typeface="+mn-lt"/>
                <a:cs typeface="Carlito"/>
              </a:rPr>
              <a:t>data</a:t>
            </a:r>
            <a:r>
              <a:rPr spc="-65" dirty="0">
                <a:latin typeface="+mn-lt"/>
                <a:cs typeface="Carlito"/>
              </a:rPr>
              <a:t> </a:t>
            </a:r>
            <a:r>
              <a:rPr spc="-10" dirty="0">
                <a:latin typeface="+mn-lt"/>
                <a:cs typeface="Carlito"/>
              </a:rPr>
              <a:t>delivery</a:t>
            </a:r>
            <a:endParaRPr lang="en-GB" spc="-10" dirty="0">
              <a:latin typeface="+mn-lt"/>
              <a:cs typeface="Carlito"/>
            </a:endParaRPr>
          </a:p>
          <a:p>
            <a:pPr marL="812800" lvl="1" indent="-342900">
              <a:lnSpc>
                <a:spcPct val="120000"/>
              </a:lnSpc>
              <a:spcBef>
                <a:spcPts val="0"/>
              </a:spcBef>
              <a:buFont typeface="Arial"/>
              <a:buChar char="•"/>
              <a:tabLst>
                <a:tab pos="355600" algn="l"/>
              </a:tabLst>
            </a:pPr>
            <a:r>
              <a:rPr lang="en-GB" spc="-15" dirty="0">
                <a:latin typeface="+mn-lt"/>
                <a:cs typeface="Carlito"/>
              </a:rPr>
              <a:t>More efficient </a:t>
            </a:r>
            <a:r>
              <a:rPr lang="en-GB" spc="-10" dirty="0">
                <a:latin typeface="+mn-lt"/>
                <a:cs typeface="Carlito"/>
              </a:rPr>
              <a:t>to deal </a:t>
            </a:r>
            <a:r>
              <a:rPr lang="en-GB" spc="-5" dirty="0">
                <a:latin typeface="+mn-lt"/>
                <a:cs typeface="Carlito"/>
              </a:rPr>
              <a:t>with </a:t>
            </a:r>
            <a:r>
              <a:rPr lang="en-GB" spc="-20" dirty="0">
                <a:latin typeface="+mn-lt"/>
                <a:cs typeface="Carlito"/>
              </a:rPr>
              <a:t>errors </a:t>
            </a:r>
            <a:r>
              <a:rPr lang="en-GB" spc="-15" dirty="0">
                <a:latin typeface="+mn-lt"/>
                <a:cs typeface="Carlito"/>
              </a:rPr>
              <a:t>at </a:t>
            </a:r>
            <a:r>
              <a:rPr lang="en-GB" spc="-5" dirty="0">
                <a:latin typeface="+mn-lt"/>
                <a:cs typeface="Carlito"/>
              </a:rPr>
              <a:t>the </a:t>
            </a:r>
            <a:r>
              <a:rPr lang="en-GB" spc="-10" dirty="0">
                <a:latin typeface="+mn-lt"/>
                <a:cs typeface="Carlito"/>
              </a:rPr>
              <a:t>MAC level  </a:t>
            </a:r>
            <a:r>
              <a:rPr lang="en-GB" spc="-5" dirty="0">
                <a:latin typeface="+mn-lt"/>
                <a:cs typeface="Carlito"/>
              </a:rPr>
              <a:t>than </a:t>
            </a:r>
            <a:r>
              <a:rPr lang="en-GB" spc="-10" dirty="0">
                <a:latin typeface="+mn-lt"/>
                <a:cs typeface="Carlito"/>
              </a:rPr>
              <a:t>higher </a:t>
            </a:r>
            <a:r>
              <a:rPr lang="en-GB" spc="-20" dirty="0">
                <a:latin typeface="+mn-lt"/>
                <a:cs typeface="Carlito"/>
              </a:rPr>
              <a:t>layer </a:t>
            </a:r>
            <a:r>
              <a:rPr lang="en-GB" spc="-5" dirty="0">
                <a:latin typeface="+mn-lt"/>
                <a:cs typeface="Carlito"/>
              </a:rPr>
              <a:t>(such as</a:t>
            </a:r>
            <a:r>
              <a:rPr lang="en-GB" spc="114" dirty="0">
                <a:latin typeface="+mn-lt"/>
                <a:cs typeface="Carlito"/>
              </a:rPr>
              <a:t> </a:t>
            </a:r>
            <a:r>
              <a:rPr lang="en-GB" spc="-20" dirty="0">
                <a:latin typeface="+mn-lt"/>
                <a:cs typeface="Carlito"/>
              </a:rPr>
              <a:t>TCP)</a:t>
            </a:r>
          </a:p>
          <a:p>
            <a:pPr marL="812800" lvl="1" indent="-342900">
              <a:lnSpc>
                <a:spcPct val="120000"/>
              </a:lnSpc>
              <a:spcBef>
                <a:spcPts val="0"/>
              </a:spcBef>
              <a:buFont typeface="Arial"/>
              <a:buChar char="•"/>
              <a:tabLst>
                <a:tab pos="355600" algn="l"/>
              </a:tabLst>
            </a:pPr>
            <a:r>
              <a:rPr lang="en-GB" spc="-20" dirty="0">
                <a:latin typeface="+mn-lt"/>
                <a:cs typeface="Carlito"/>
              </a:rPr>
              <a:t>Frame exchange</a:t>
            </a:r>
            <a:r>
              <a:rPr lang="en-GB" spc="30" dirty="0">
                <a:latin typeface="+mn-lt"/>
                <a:cs typeface="Carlito"/>
              </a:rPr>
              <a:t> </a:t>
            </a:r>
            <a:r>
              <a:rPr lang="en-GB" spc="-20" dirty="0">
                <a:latin typeface="+mn-lt"/>
                <a:cs typeface="Carlito"/>
              </a:rPr>
              <a:t>protocol</a:t>
            </a:r>
          </a:p>
          <a:p>
            <a:pPr marL="1270000" lvl="2" indent="-342900">
              <a:lnSpc>
                <a:spcPct val="120000"/>
              </a:lnSpc>
              <a:spcBef>
                <a:spcPts val="0"/>
              </a:spcBef>
              <a:buFont typeface="Arial"/>
              <a:buChar char="•"/>
              <a:tabLst>
                <a:tab pos="355600" algn="l"/>
              </a:tabLst>
            </a:pPr>
            <a:r>
              <a:rPr lang="en-GB" spc="-10" dirty="0">
                <a:latin typeface="+mn-lt"/>
                <a:cs typeface="Carlito"/>
              </a:rPr>
              <a:t>Source </a:t>
            </a:r>
            <a:r>
              <a:rPr lang="en-GB" spc="-15" dirty="0">
                <a:latin typeface="+mn-lt"/>
                <a:cs typeface="Carlito"/>
              </a:rPr>
              <a:t>station </a:t>
            </a:r>
            <a:r>
              <a:rPr lang="en-GB" spc="-5" dirty="0">
                <a:latin typeface="+mn-lt"/>
                <a:cs typeface="Carlito"/>
              </a:rPr>
              <a:t>transmits</a:t>
            </a:r>
            <a:r>
              <a:rPr lang="en-GB" spc="-45" dirty="0">
                <a:latin typeface="+mn-lt"/>
                <a:cs typeface="Carlito"/>
              </a:rPr>
              <a:t> </a:t>
            </a:r>
            <a:r>
              <a:rPr lang="en-GB" spc="-15" dirty="0">
                <a:latin typeface="+mn-lt"/>
                <a:cs typeface="Carlito"/>
              </a:rPr>
              <a:t>data</a:t>
            </a:r>
          </a:p>
          <a:p>
            <a:pPr marL="1270000" lvl="2" indent="-342900">
              <a:lnSpc>
                <a:spcPct val="120000"/>
              </a:lnSpc>
              <a:spcBef>
                <a:spcPts val="0"/>
              </a:spcBef>
              <a:buFont typeface="Arial"/>
              <a:buChar char="•"/>
              <a:tabLst>
                <a:tab pos="355600" algn="l"/>
              </a:tabLst>
            </a:pPr>
            <a:r>
              <a:rPr lang="en-GB" spc="-10" dirty="0">
                <a:latin typeface="+mn-lt"/>
                <a:cs typeface="Carlito"/>
              </a:rPr>
              <a:t>Destination </a:t>
            </a:r>
            <a:r>
              <a:rPr lang="en-GB" spc="-5" dirty="0">
                <a:latin typeface="+mn-lt"/>
                <a:cs typeface="Carlito"/>
              </a:rPr>
              <a:t>responds </a:t>
            </a:r>
            <a:r>
              <a:rPr lang="en-GB" dirty="0">
                <a:latin typeface="+mn-lt"/>
                <a:cs typeface="Carlito"/>
              </a:rPr>
              <a:t>with </a:t>
            </a:r>
            <a:r>
              <a:rPr lang="en-GB" spc="-5" dirty="0">
                <a:latin typeface="+mn-lt"/>
                <a:cs typeface="Carlito"/>
              </a:rPr>
              <a:t>acknowledgment</a:t>
            </a:r>
            <a:r>
              <a:rPr lang="en-GB" spc="-40" dirty="0">
                <a:latin typeface="+mn-lt"/>
                <a:cs typeface="Carlito"/>
              </a:rPr>
              <a:t> </a:t>
            </a:r>
            <a:r>
              <a:rPr lang="en-GB" spc="-5" dirty="0">
                <a:latin typeface="+mn-lt"/>
                <a:cs typeface="Carlito"/>
              </a:rPr>
              <a:t>(ACK)</a:t>
            </a:r>
          </a:p>
          <a:p>
            <a:pPr marL="1270000" lvl="2" indent="-342900">
              <a:lnSpc>
                <a:spcPct val="120000"/>
              </a:lnSpc>
              <a:spcBef>
                <a:spcPts val="0"/>
              </a:spcBef>
              <a:buFont typeface="Arial"/>
              <a:buChar char="•"/>
              <a:tabLst>
                <a:tab pos="355600" algn="l"/>
              </a:tabLst>
            </a:pPr>
            <a:r>
              <a:rPr lang="en-GB" dirty="0">
                <a:latin typeface="+mn-lt"/>
                <a:cs typeface="Carlito"/>
              </a:rPr>
              <a:t>If </a:t>
            </a:r>
            <a:r>
              <a:rPr lang="en-GB" spc="-10" dirty="0">
                <a:latin typeface="+mn-lt"/>
                <a:cs typeface="Carlito"/>
              </a:rPr>
              <a:t>source doesn‘t receive </a:t>
            </a:r>
            <a:r>
              <a:rPr lang="en-GB" spc="-5" dirty="0">
                <a:latin typeface="+mn-lt"/>
                <a:cs typeface="Carlito"/>
              </a:rPr>
              <a:t>ACK, </a:t>
            </a:r>
            <a:r>
              <a:rPr lang="en-GB" dirty="0">
                <a:latin typeface="+mn-lt"/>
                <a:cs typeface="Carlito"/>
              </a:rPr>
              <a:t>it </a:t>
            </a:r>
            <a:r>
              <a:rPr lang="en-GB" spc="-10" dirty="0">
                <a:latin typeface="+mn-lt"/>
                <a:cs typeface="Carlito"/>
              </a:rPr>
              <a:t>retransmits</a:t>
            </a:r>
            <a:r>
              <a:rPr lang="en-GB" spc="-45" dirty="0">
                <a:latin typeface="+mn-lt"/>
                <a:cs typeface="Carlito"/>
              </a:rPr>
              <a:t> </a:t>
            </a:r>
            <a:r>
              <a:rPr lang="en-GB" spc="-15" dirty="0">
                <a:latin typeface="+mn-lt"/>
                <a:cs typeface="Carlito"/>
              </a:rPr>
              <a:t>frame</a:t>
            </a:r>
          </a:p>
          <a:p>
            <a:pPr marL="355600" indent="-342900">
              <a:lnSpc>
                <a:spcPct val="120000"/>
              </a:lnSpc>
              <a:spcBef>
                <a:spcPts val="0"/>
              </a:spcBef>
              <a:buFont typeface="Arial"/>
              <a:buChar char="•"/>
              <a:tabLst>
                <a:tab pos="355600" algn="l"/>
              </a:tabLst>
            </a:pPr>
            <a:r>
              <a:rPr spc="35" dirty="0">
                <a:latin typeface="+mn-lt"/>
                <a:cs typeface="Carlito"/>
              </a:rPr>
              <a:t>Access</a:t>
            </a:r>
            <a:r>
              <a:rPr spc="-5" dirty="0">
                <a:latin typeface="+mn-lt"/>
                <a:cs typeface="Carlito"/>
              </a:rPr>
              <a:t> </a:t>
            </a:r>
            <a:r>
              <a:rPr spc="-20" dirty="0">
                <a:latin typeface="+mn-lt"/>
                <a:cs typeface="Carlito"/>
              </a:rPr>
              <a:t>control</a:t>
            </a:r>
            <a:endParaRPr lang="en-GB" spc="-20" dirty="0">
              <a:latin typeface="+mn-lt"/>
              <a:cs typeface="Carlito"/>
            </a:endParaRPr>
          </a:p>
          <a:p>
            <a:pPr marL="812800" lvl="1" indent="-342900">
              <a:lnSpc>
                <a:spcPct val="120000"/>
              </a:lnSpc>
              <a:spcBef>
                <a:spcPts val="0"/>
              </a:spcBef>
              <a:buFont typeface="Arial"/>
              <a:buChar char="•"/>
              <a:tabLst>
                <a:tab pos="355600" algn="l"/>
              </a:tabLst>
            </a:pPr>
            <a:r>
              <a:rPr lang="en-GB" spc="-20" dirty="0">
                <a:latin typeface="+mn-lt"/>
                <a:cs typeface="Carlito"/>
              </a:rPr>
              <a:t>Avoiding collisions</a:t>
            </a:r>
          </a:p>
          <a:p>
            <a:pPr marL="812800" lvl="1" indent="-342900">
              <a:lnSpc>
                <a:spcPct val="120000"/>
              </a:lnSpc>
              <a:spcBef>
                <a:spcPts val="0"/>
              </a:spcBef>
              <a:buFont typeface="Arial"/>
              <a:buChar char="•"/>
              <a:tabLst>
                <a:tab pos="355600" algn="l"/>
              </a:tabLst>
            </a:pPr>
            <a:r>
              <a:rPr lang="en-GB" spc="-20" dirty="0">
                <a:latin typeface="+mn-lt"/>
                <a:cs typeface="Carlito"/>
              </a:rPr>
              <a:t>Carrier Sense Multiple Access/ Collision Avoidance (CSMA/CA)</a:t>
            </a:r>
          </a:p>
          <a:p>
            <a:pPr marL="355600" indent="-342900">
              <a:lnSpc>
                <a:spcPct val="120000"/>
              </a:lnSpc>
              <a:spcBef>
                <a:spcPts val="0"/>
              </a:spcBef>
              <a:buFont typeface="Arial"/>
              <a:buChar char="•"/>
              <a:tabLst>
                <a:tab pos="355600" algn="l"/>
              </a:tabLst>
            </a:pPr>
            <a:r>
              <a:rPr spc="20" dirty="0">
                <a:latin typeface="+mn-lt"/>
                <a:cs typeface="Carlito"/>
              </a:rPr>
              <a:t>Security</a:t>
            </a:r>
            <a:endParaRPr dirty="0">
              <a:latin typeface="+mn-lt"/>
              <a:cs typeface="Carlito"/>
            </a:endParaRPr>
          </a:p>
        </p:txBody>
      </p:sp>
    </p:spTree>
    <p:extLst>
      <p:ext uri="{BB962C8B-B14F-4D97-AF65-F5344CB8AC3E}">
        <p14:creationId xmlns:p14="http://schemas.microsoft.com/office/powerpoint/2010/main" val="3377476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836712"/>
            <a:ext cx="8345488" cy="975783"/>
          </a:xfrm>
        </p:spPr>
        <p:txBody>
          <a:bodyPr/>
          <a:lstStyle/>
          <a:p>
            <a:r>
              <a:rPr lang="en-US" dirty="0">
                <a:solidFill>
                  <a:schemeClr val="tx1"/>
                </a:solidFill>
              </a:rPr>
              <a:t>CSMA/CA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988839"/>
            <a:ext cx="8604696" cy="4119859"/>
          </a:xfrm>
        </p:spPr>
        <p:txBody>
          <a:bodyPr/>
          <a:lstStyle/>
          <a:p>
            <a:pPr marL="73085" lvl="1" indent="0">
              <a:buNone/>
            </a:pPr>
            <a:r>
              <a:rPr lang="en-US" sz="1800" dirty="0">
                <a:solidFill>
                  <a:srgbClr val="000000"/>
                </a:solidFill>
              </a:rPr>
              <a:t>WLANs are half-duplex and a client cannot “hear” while it is sending, making it impossible to detect a collision. </a:t>
            </a:r>
          </a:p>
          <a:p>
            <a:pPr marL="73085" lvl="1" indent="0">
              <a:buNone/>
            </a:pPr>
            <a:r>
              <a:rPr lang="en-US" sz="1800" dirty="0">
                <a:solidFill>
                  <a:srgbClr val="000000"/>
                </a:solidFill>
              </a:rPr>
              <a:t>WLANs use carrier sense multiple access with collision avoidance (CSMA/CA) to determine how and when to send data. A wireless client does the following:</a:t>
            </a:r>
          </a:p>
          <a:p>
            <a:pPr marL="415985" lvl="1" indent="-342900">
              <a:buFont typeface="+mj-lt"/>
              <a:buAutoNum type="arabicPeriod"/>
            </a:pPr>
            <a:r>
              <a:rPr lang="en-US" sz="1800" dirty="0">
                <a:solidFill>
                  <a:srgbClr val="000000"/>
                </a:solidFill>
              </a:rPr>
              <a:t>Listens to the channel to see if it is idle, i.e. no other traffic currently on the channel.</a:t>
            </a:r>
          </a:p>
          <a:p>
            <a:pPr marL="415985" lvl="1" indent="-342900">
              <a:buFont typeface="+mj-lt"/>
              <a:buAutoNum type="arabicPeriod"/>
            </a:pPr>
            <a:r>
              <a:rPr lang="en-US" sz="1800" dirty="0">
                <a:solidFill>
                  <a:srgbClr val="000000"/>
                </a:solidFill>
              </a:rPr>
              <a:t>Sends a ready to send (RTS) message the AP to request dedicated access to the network.</a:t>
            </a:r>
          </a:p>
          <a:p>
            <a:pPr marL="415985" lvl="1" indent="-342900">
              <a:buFont typeface="+mj-lt"/>
              <a:buAutoNum type="arabicPeriod"/>
            </a:pPr>
            <a:r>
              <a:rPr lang="en-US" sz="1800" dirty="0">
                <a:solidFill>
                  <a:srgbClr val="000000"/>
                </a:solidFill>
              </a:rPr>
              <a:t>Receives a clear to send (CTS) message from the AP granting access to send.</a:t>
            </a:r>
          </a:p>
          <a:p>
            <a:pPr marL="415985" lvl="1" indent="-342900">
              <a:buFont typeface="+mj-lt"/>
              <a:buAutoNum type="arabicPeriod"/>
            </a:pPr>
            <a:r>
              <a:rPr lang="en-US" sz="1800" dirty="0">
                <a:solidFill>
                  <a:srgbClr val="000000"/>
                </a:solidFill>
              </a:rPr>
              <a:t>Waits a random amount of time before restarting the process if no CTS message received.</a:t>
            </a:r>
          </a:p>
          <a:p>
            <a:pPr marL="415985" lvl="1" indent="-342900">
              <a:buFont typeface="+mj-lt"/>
              <a:buAutoNum type="arabicPeriod"/>
            </a:pPr>
            <a:r>
              <a:rPr lang="en-US" sz="1800" dirty="0">
                <a:solidFill>
                  <a:srgbClr val="000000"/>
                </a:solidFill>
              </a:rPr>
              <a:t>Transmits the data.</a:t>
            </a:r>
          </a:p>
          <a:p>
            <a:pPr marL="415985" lvl="1" indent="-342900">
              <a:buFont typeface="+mj-lt"/>
              <a:buAutoNum type="arabicPeriod"/>
            </a:pPr>
            <a:r>
              <a:rPr lang="en-US" sz="1800" dirty="0">
                <a:solidFill>
                  <a:srgbClr val="000000"/>
                </a:solidFill>
              </a:rPr>
              <a:t>Acknowledges all transmissions. If a wireless client does not receive an acknowledgment, it assumes a collision occurred and restarts the process</a:t>
            </a:r>
          </a:p>
          <a:p>
            <a:pPr marL="73085" lvl="1" indent="0">
              <a:buNone/>
            </a:pPr>
            <a:endParaRPr lang="en-US" sz="1800" dirty="0">
              <a:solidFill>
                <a:srgbClr val="000000"/>
              </a:solidFill>
            </a:endParaRPr>
          </a:p>
          <a:p>
            <a:pPr marL="73085" lvl="1" indent="0">
              <a:buNone/>
            </a:pPr>
            <a:endParaRPr lang="en-US" sz="1800" dirty="0">
              <a:solidFill>
                <a:srgbClr val="000000"/>
              </a:solidFill>
            </a:endParaRPr>
          </a:p>
          <a:p>
            <a:pPr marL="73085" lvl="1" indent="0">
              <a:buNone/>
            </a:pPr>
            <a:endParaRPr lang="en-US" sz="1800" dirty="0">
              <a:solidFill>
                <a:srgbClr val="000000"/>
              </a:solidFill>
            </a:endParaRPr>
          </a:p>
          <a:p>
            <a:pPr marL="0" indent="0" algn="l"/>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p:txBody>
      </p:sp>
    </p:spTree>
    <p:extLst>
      <p:ext uri="{BB962C8B-B14F-4D97-AF65-F5344CB8AC3E}">
        <p14:creationId xmlns:p14="http://schemas.microsoft.com/office/powerpoint/2010/main" val="38412549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701" y="944516"/>
            <a:ext cx="7978934" cy="566822"/>
          </a:xfrm>
          <a:prstGeom prst="rect">
            <a:avLst/>
          </a:prstGeom>
        </p:spPr>
        <p:txBody>
          <a:bodyPr vert="horz" wrap="square" lIns="0" tIns="12700" rIns="0" bIns="0" rtlCol="0">
            <a:spAutoFit/>
          </a:bodyPr>
          <a:lstStyle/>
          <a:p>
            <a:pPr marL="12700">
              <a:lnSpc>
                <a:spcPct val="100000"/>
              </a:lnSpc>
              <a:spcBef>
                <a:spcPts val="100"/>
              </a:spcBef>
            </a:pPr>
            <a:r>
              <a:rPr spc="-75" dirty="0">
                <a:cs typeface="Trebuchet MS"/>
              </a:rPr>
              <a:t>Collision </a:t>
            </a:r>
            <a:r>
              <a:rPr spc="-175" dirty="0">
                <a:cs typeface="Trebuchet MS"/>
              </a:rPr>
              <a:t>Avoidance: </a:t>
            </a:r>
            <a:r>
              <a:rPr spc="-5" dirty="0">
                <a:cs typeface="Trebuchet MS"/>
              </a:rPr>
              <a:t>RTS-CTS</a:t>
            </a:r>
            <a:r>
              <a:rPr spc="-685" dirty="0">
                <a:cs typeface="Trebuchet MS"/>
              </a:rPr>
              <a:t> </a:t>
            </a:r>
            <a:r>
              <a:rPr lang="en-GB" spc="-685" dirty="0">
                <a:cs typeface="Trebuchet MS"/>
              </a:rPr>
              <a:t> </a:t>
            </a:r>
            <a:r>
              <a:rPr spc="-180" dirty="0">
                <a:cs typeface="Trebuchet MS"/>
              </a:rPr>
              <a:t>exchange</a:t>
            </a:r>
            <a:endParaRPr dirty="0">
              <a:cs typeface="Trebuchet MS"/>
            </a:endParaRPr>
          </a:p>
        </p:txBody>
      </p:sp>
      <p:grpSp>
        <p:nvGrpSpPr>
          <p:cNvPr id="35" name="Group 34"/>
          <p:cNvGrpSpPr/>
          <p:nvPr/>
        </p:nvGrpSpPr>
        <p:grpSpPr>
          <a:xfrm>
            <a:off x="533216" y="1970868"/>
            <a:ext cx="8431272" cy="4698492"/>
            <a:chOff x="267715" y="1667654"/>
            <a:chExt cx="8758031" cy="5073714"/>
          </a:xfrm>
        </p:grpSpPr>
        <p:sp>
          <p:nvSpPr>
            <p:cNvPr id="3" name="object 3"/>
            <p:cNvSpPr txBox="1"/>
            <p:nvPr/>
          </p:nvSpPr>
          <p:spPr>
            <a:xfrm>
              <a:off x="4846701" y="2031128"/>
              <a:ext cx="3302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AP</a:t>
              </a:r>
              <a:endParaRPr sz="1800">
                <a:latin typeface="Arial"/>
                <a:cs typeface="Arial"/>
              </a:endParaRPr>
            </a:p>
          </p:txBody>
        </p:sp>
        <p:sp>
          <p:nvSpPr>
            <p:cNvPr id="4" name="object 4"/>
            <p:cNvSpPr txBox="1"/>
            <p:nvPr/>
          </p:nvSpPr>
          <p:spPr>
            <a:xfrm>
              <a:off x="2152269" y="1879948"/>
              <a:ext cx="17843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A</a:t>
              </a:r>
              <a:endParaRPr sz="1800">
                <a:latin typeface="Arial"/>
                <a:cs typeface="Arial"/>
              </a:endParaRPr>
            </a:p>
          </p:txBody>
        </p:sp>
        <p:sp>
          <p:nvSpPr>
            <p:cNvPr id="5" name="object 5"/>
            <p:cNvSpPr txBox="1"/>
            <p:nvPr/>
          </p:nvSpPr>
          <p:spPr>
            <a:xfrm>
              <a:off x="7750809" y="1878728"/>
              <a:ext cx="1784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B</a:t>
              </a:r>
              <a:endParaRPr sz="1800">
                <a:latin typeface="Arial"/>
                <a:cs typeface="Arial"/>
              </a:endParaRPr>
            </a:p>
          </p:txBody>
        </p:sp>
        <p:grpSp>
          <p:nvGrpSpPr>
            <p:cNvPr id="6" name="object 6"/>
            <p:cNvGrpSpPr/>
            <p:nvPr/>
          </p:nvGrpSpPr>
          <p:grpSpPr>
            <a:xfrm>
              <a:off x="740473" y="2333452"/>
              <a:ext cx="7844790" cy="4032885"/>
              <a:chOff x="740473" y="1723453"/>
              <a:chExt cx="7844790" cy="4032885"/>
            </a:xfrm>
          </p:grpSpPr>
          <p:sp>
            <p:nvSpPr>
              <p:cNvPr id="7" name="object 7"/>
              <p:cNvSpPr/>
              <p:nvPr/>
            </p:nvSpPr>
            <p:spPr>
              <a:xfrm>
                <a:off x="752602" y="1743329"/>
                <a:ext cx="85090" cy="3938270"/>
              </a:xfrm>
              <a:custGeom>
                <a:avLst/>
                <a:gdLst/>
                <a:ahLst/>
                <a:cxnLst/>
                <a:rect l="l" t="t" r="r" b="b"/>
                <a:pathLst>
                  <a:path w="85090" h="3938270">
                    <a:moveTo>
                      <a:pt x="40354" y="3862008"/>
                    </a:moveTo>
                    <a:lnTo>
                      <a:pt x="8597" y="3862336"/>
                    </a:lnTo>
                    <a:lnTo>
                      <a:pt x="47498" y="3938143"/>
                    </a:lnTo>
                    <a:lnTo>
                      <a:pt x="78384" y="3874719"/>
                    </a:lnTo>
                    <a:lnTo>
                      <a:pt x="40487" y="3874719"/>
                    </a:lnTo>
                    <a:lnTo>
                      <a:pt x="40354" y="3862008"/>
                    </a:lnTo>
                    <a:close/>
                  </a:path>
                  <a:path w="85090" h="3938270">
                    <a:moveTo>
                      <a:pt x="84797" y="3861549"/>
                    </a:moveTo>
                    <a:lnTo>
                      <a:pt x="40354" y="3862008"/>
                    </a:lnTo>
                    <a:lnTo>
                      <a:pt x="40487" y="3874719"/>
                    </a:lnTo>
                    <a:lnTo>
                      <a:pt x="53187" y="3874592"/>
                    </a:lnTo>
                    <a:lnTo>
                      <a:pt x="53054" y="3861877"/>
                    </a:lnTo>
                    <a:lnTo>
                      <a:pt x="84638" y="3861877"/>
                    </a:lnTo>
                    <a:lnTo>
                      <a:pt x="84797" y="3861549"/>
                    </a:lnTo>
                    <a:close/>
                  </a:path>
                  <a:path w="85090" h="3938270">
                    <a:moveTo>
                      <a:pt x="84638" y="3861877"/>
                    </a:moveTo>
                    <a:lnTo>
                      <a:pt x="53054" y="3861877"/>
                    </a:lnTo>
                    <a:lnTo>
                      <a:pt x="53187" y="3874592"/>
                    </a:lnTo>
                    <a:lnTo>
                      <a:pt x="40487" y="3874719"/>
                    </a:lnTo>
                    <a:lnTo>
                      <a:pt x="78384" y="3874719"/>
                    </a:lnTo>
                    <a:lnTo>
                      <a:pt x="84638" y="3861877"/>
                    </a:lnTo>
                    <a:close/>
                  </a:path>
                  <a:path w="85090" h="3938270">
                    <a:moveTo>
                      <a:pt x="12700" y="0"/>
                    </a:moveTo>
                    <a:lnTo>
                      <a:pt x="0" y="254"/>
                    </a:lnTo>
                    <a:lnTo>
                      <a:pt x="40354" y="3862008"/>
                    </a:lnTo>
                    <a:lnTo>
                      <a:pt x="53054" y="3861877"/>
                    </a:lnTo>
                    <a:lnTo>
                      <a:pt x="12700" y="0"/>
                    </a:lnTo>
                    <a:close/>
                  </a:path>
                </a:pathLst>
              </a:custGeom>
              <a:solidFill>
                <a:srgbClr val="000000"/>
              </a:solidFill>
            </p:spPr>
            <p:txBody>
              <a:bodyPr wrap="square" lIns="0" tIns="0" rIns="0" bIns="0" rtlCol="0"/>
              <a:lstStyle/>
              <a:p>
                <a:endParaRPr/>
              </a:p>
            </p:txBody>
          </p:sp>
          <p:sp>
            <p:nvSpPr>
              <p:cNvPr id="8" name="object 8"/>
              <p:cNvSpPr/>
              <p:nvPr/>
            </p:nvSpPr>
            <p:spPr>
              <a:xfrm>
                <a:off x="745236" y="1728216"/>
                <a:ext cx="7835265" cy="0"/>
              </a:xfrm>
              <a:custGeom>
                <a:avLst/>
                <a:gdLst/>
                <a:ahLst/>
                <a:cxnLst/>
                <a:rect l="l" t="t" r="r" b="b"/>
                <a:pathLst>
                  <a:path w="7835265">
                    <a:moveTo>
                      <a:pt x="0" y="0"/>
                    </a:moveTo>
                    <a:lnTo>
                      <a:pt x="7834884" y="0"/>
                    </a:lnTo>
                  </a:path>
                </a:pathLst>
              </a:custGeom>
              <a:ln w="9144">
                <a:solidFill>
                  <a:srgbClr val="000000"/>
                </a:solidFill>
              </a:ln>
            </p:spPr>
            <p:txBody>
              <a:bodyPr wrap="square" lIns="0" tIns="0" rIns="0" bIns="0" rtlCol="0"/>
              <a:lstStyle/>
              <a:p>
                <a:endParaRPr/>
              </a:p>
            </p:txBody>
          </p:sp>
          <p:sp>
            <p:nvSpPr>
              <p:cNvPr id="9" name="object 9"/>
              <p:cNvSpPr/>
              <p:nvPr/>
            </p:nvSpPr>
            <p:spPr>
              <a:xfrm>
                <a:off x="1801368" y="1895856"/>
                <a:ext cx="6609587" cy="816864"/>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2553716" y="1926081"/>
                <a:ext cx="5749925" cy="452755"/>
              </a:xfrm>
              <a:custGeom>
                <a:avLst/>
                <a:gdLst/>
                <a:ahLst/>
                <a:cxnLst/>
                <a:rect l="l" t="t" r="r" b="b"/>
                <a:pathLst>
                  <a:path w="5749925" h="452755">
                    <a:moveTo>
                      <a:pt x="143510" y="347853"/>
                    </a:moveTo>
                    <a:lnTo>
                      <a:pt x="119761" y="300609"/>
                    </a:lnTo>
                    <a:lnTo>
                      <a:pt x="92075" y="267589"/>
                    </a:lnTo>
                    <a:lnTo>
                      <a:pt x="103187" y="266598"/>
                    </a:lnTo>
                    <a:lnTo>
                      <a:pt x="112928" y="264350"/>
                    </a:lnTo>
                    <a:lnTo>
                      <a:pt x="116433" y="262890"/>
                    </a:lnTo>
                    <a:lnTo>
                      <a:pt x="121285" y="260883"/>
                    </a:lnTo>
                    <a:lnTo>
                      <a:pt x="128270" y="256159"/>
                    </a:lnTo>
                    <a:lnTo>
                      <a:pt x="133794" y="250355"/>
                    </a:lnTo>
                    <a:lnTo>
                      <a:pt x="133972" y="250063"/>
                    </a:lnTo>
                    <a:lnTo>
                      <a:pt x="137998" y="243751"/>
                    </a:lnTo>
                    <a:lnTo>
                      <a:pt x="140893" y="236347"/>
                    </a:lnTo>
                    <a:lnTo>
                      <a:pt x="142494" y="228092"/>
                    </a:lnTo>
                    <a:lnTo>
                      <a:pt x="142722" y="221449"/>
                    </a:lnTo>
                    <a:lnTo>
                      <a:pt x="142113" y="215036"/>
                    </a:lnTo>
                    <a:lnTo>
                      <a:pt x="140627" y="208826"/>
                    </a:lnTo>
                    <a:lnTo>
                      <a:pt x="138303" y="202819"/>
                    </a:lnTo>
                    <a:lnTo>
                      <a:pt x="134493" y="194945"/>
                    </a:lnTo>
                    <a:lnTo>
                      <a:pt x="130124" y="190373"/>
                    </a:lnTo>
                    <a:lnTo>
                      <a:pt x="129032" y="189230"/>
                    </a:lnTo>
                    <a:lnTo>
                      <a:pt x="121793" y="185420"/>
                    </a:lnTo>
                    <a:lnTo>
                      <a:pt x="121031" y="185115"/>
                    </a:lnTo>
                    <a:lnTo>
                      <a:pt x="121031" y="218059"/>
                    </a:lnTo>
                    <a:lnTo>
                      <a:pt x="119761" y="231013"/>
                    </a:lnTo>
                    <a:lnTo>
                      <a:pt x="87122" y="250063"/>
                    </a:lnTo>
                    <a:lnTo>
                      <a:pt x="30988" y="244221"/>
                    </a:lnTo>
                    <a:lnTo>
                      <a:pt x="36703" y="190373"/>
                    </a:lnTo>
                    <a:lnTo>
                      <a:pt x="88138" y="195707"/>
                    </a:lnTo>
                    <a:lnTo>
                      <a:pt x="121031" y="218059"/>
                    </a:lnTo>
                    <a:lnTo>
                      <a:pt x="121031" y="185115"/>
                    </a:lnTo>
                    <a:lnTo>
                      <a:pt x="17018" y="170180"/>
                    </a:lnTo>
                    <a:lnTo>
                      <a:pt x="0" y="332867"/>
                    </a:lnTo>
                    <a:lnTo>
                      <a:pt x="21590" y="335153"/>
                    </a:lnTo>
                    <a:lnTo>
                      <a:pt x="29083" y="262890"/>
                    </a:lnTo>
                    <a:lnTo>
                      <a:pt x="54102" y="265430"/>
                    </a:lnTo>
                    <a:lnTo>
                      <a:pt x="75311" y="272796"/>
                    </a:lnTo>
                    <a:lnTo>
                      <a:pt x="78359" y="275209"/>
                    </a:lnTo>
                    <a:lnTo>
                      <a:pt x="98425" y="308864"/>
                    </a:lnTo>
                    <a:lnTo>
                      <a:pt x="116459" y="345059"/>
                    </a:lnTo>
                    <a:lnTo>
                      <a:pt x="143510" y="347853"/>
                    </a:lnTo>
                    <a:close/>
                  </a:path>
                  <a:path w="5749925" h="452755">
                    <a:moveTo>
                      <a:pt x="292608" y="198882"/>
                    </a:moveTo>
                    <a:lnTo>
                      <a:pt x="163576" y="185420"/>
                    </a:lnTo>
                    <a:lnTo>
                      <a:pt x="161544" y="204597"/>
                    </a:lnTo>
                    <a:lnTo>
                      <a:pt x="215265" y="210185"/>
                    </a:lnTo>
                    <a:lnTo>
                      <a:pt x="200279" y="353695"/>
                    </a:lnTo>
                    <a:lnTo>
                      <a:pt x="221869" y="355981"/>
                    </a:lnTo>
                    <a:lnTo>
                      <a:pt x="236728" y="212471"/>
                    </a:lnTo>
                    <a:lnTo>
                      <a:pt x="290576" y="218059"/>
                    </a:lnTo>
                    <a:lnTo>
                      <a:pt x="291160" y="212471"/>
                    </a:lnTo>
                    <a:lnTo>
                      <a:pt x="292608" y="198882"/>
                    </a:lnTo>
                    <a:close/>
                  </a:path>
                  <a:path w="5749925" h="452755">
                    <a:moveTo>
                      <a:pt x="429387" y="259461"/>
                    </a:moveTo>
                    <a:lnTo>
                      <a:pt x="416826" y="222999"/>
                    </a:lnTo>
                    <a:lnTo>
                      <a:pt x="381990" y="205689"/>
                    </a:lnTo>
                    <a:lnTo>
                      <a:pt x="365201" y="203974"/>
                    </a:lnTo>
                    <a:lnTo>
                      <a:pt x="357441" y="204203"/>
                    </a:lnTo>
                    <a:lnTo>
                      <a:pt x="320675" y="220980"/>
                    </a:lnTo>
                    <a:lnTo>
                      <a:pt x="310616" y="249809"/>
                    </a:lnTo>
                    <a:lnTo>
                      <a:pt x="310616" y="251447"/>
                    </a:lnTo>
                    <a:lnTo>
                      <a:pt x="311658" y="257683"/>
                    </a:lnTo>
                    <a:lnTo>
                      <a:pt x="314960" y="264160"/>
                    </a:lnTo>
                    <a:lnTo>
                      <a:pt x="318135" y="270637"/>
                    </a:lnTo>
                    <a:lnTo>
                      <a:pt x="350951" y="290830"/>
                    </a:lnTo>
                    <a:lnTo>
                      <a:pt x="371030" y="298132"/>
                    </a:lnTo>
                    <a:lnTo>
                      <a:pt x="379056" y="301180"/>
                    </a:lnTo>
                    <a:lnTo>
                      <a:pt x="406400" y="325374"/>
                    </a:lnTo>
                    <a:lnTo>
                      <a:pt x="405384" y="335534"/>
                    </a:lnTo>
                    <a:lnTo>
                      <a:pt x="403352" y="339979"/>
                    </a:lnTo>
                    <a:lnTo>
                      <a:pt x="399796" y="343916"/>
                    </a:lnTo>
                    <a:lnTo>
                      <a:pt x="396367" y="347853"/>
                    </a:lnTo>
                    <a:lnTo>
                      <a:pt x="391287" y="350774"/>
                    </a:lnTo>
                    <a:lnTo>
                      <a:pt x="378206" y="354330"/>
                    </a:lnTo>
                    <a:lnTo>
                      <a:pt x="370840" y="354711"/>
                    </a:lnTo>
                    <a:lnTo>
                      <a:pt x="362585" y="353949"/>
                    </a:lnTo>
                    <a:lnTo>
                      <a:pt x="326009" y="337693"/>
                    </a:lnTo>
                    <a:lnTo>
                      <a:pt x="318516" y="319659"/>
                    </a:lnTo>
                    <a:lnTo>
                      <a:pt x="318516" y="311404"/>
                    </a:lnTo>
                    <a:lnTo>
                      <a:pt x="297942" y="311023"/>
                    </a:lnTo>
                    <a:lnTo>
                      <a:pt x="297942" y="319659"/>
                    </a:lnTo>
                    <a:lnTo>
                      <a:pt x="298818" y="326758"/>
                    </a:lnTo>
                    <a:lnTo>
                      <a:pt x="325247" y="363093"/>
                    </a:lnTo>
                    <a:lnTo>
                      <a:pt x="370141" y="373837"/>
                    </a:lnTo>
                    <a:lnTo>
                      <a:pt x="378345" y="373468"/>
                    </a:lnTo>
                    <a:lnTo>
                      <a:pt x="416687" y="354711"/>
                    </a:lnTo>
                    <a:lnTo>
                      <a:pt x="416814" y="354584"/>
                    </a:lnTo>
                    <a:lnTo>
                      <a:pt x="427736" y="322072"/>
                    </a:lnTo>
                    <a:lnTo>
                      <a:pt x="426339" y="314198"/>
                    </a:lnTo>
                    <a:lnTo>
                      <a:pt x="397548" y="285292"/>
                    </a:lnTo>
                    <a:lnTo>
                      <a:pt x="356692" y="269913"/>
                    </a:lnTo>
                    <a:lnTo>
                      <a:pt x="347624" y="266001"/>
                    </a:lnTo>
                    <a:lnTo>
                      <a:pt x="341071" y="262394"/>
                    </a:lnTo>
                    <a:lnTo>
                      <a:pt x="337058" y="259080"/>
                    </a:lnTo>
                    <a:lnTo>
                      <a:pt x="333248" y="254889"/>
                    </a:lnTo>
                    <a:lnTo>
                      <a:pt x="331597" y="249809"/>
                    </a:lnTo>
                    <a:lnTo>
                      <a:pt x="332282" y="243332"/>
                    </a:lnTo>
                    <a:lnTo>
                      <a:pt x="332867" y="237236"/>
                    </a:lnTo>
                    <a:lnTo>
                      <a:pt x="362991" y="222999"/>
                    </a:lnTo>
                    <a:lnTo>
                      <a:pt x="372110" y="223520"/>
                    </a:lnTo>
                    <a:lnTo>
                      <a:pt x="406298" y="244906"/>
                    </a:lnTo>
                    <a:lnTo>
                      <a:pt x="408559" y="258826"/>
                    </a:lnTo>
                    <a:lnTo>
                      <a:pt x="429387" y="259461"/>
                    </a:lnTo>
                    <a:close/>
                  </a:path>
                  <a:path w="5749925" h="452755">
                    <a:moveTo>
                      <a:pt x="518668" y="219583"/>
                    </a:moveTo>
                    <a:lnTo>
                      <a:pt x="483247" y="244081"/>
                    </a:lnTo>
                    <a:lnTo>
                      <a:pt x="462610" y="282651"/>
                    </a:lnTo>
                    <a:lnTo>
                      <a:pt x="453771" y="320548"/>
                    </a:lnTo>
                    <a:lnTo>
                      <a:pt x="452958" y="335457"/>
                    </a:lnTo>
                    <a:lnTo>
                      <a:pt x="453593" y="350266"/>
                    </a:lnTo>
                    <a:lnTo>
                      <a:pt x="463816" y="393827"/>
                    </a:lnTo>
                    <a:lnTo>
                      <a:pt x="482092" y="431419"/>
                    </a:lnTo>
                    <a:lnTo>
                      <a:pt x="496443" y="432943"/>
                    </a:lnTo>
                    <a:lnTo>
                      <a:pt x="484695" y="404774"/>
                    </a:lnTo>
                    <a:lnTo>
                      <a:pt x="477100" y="377037"/>
                    </a:lnTo>
                    <a:lnTo>
                      <a:pt x="473722" y="350266"/>
                    </a:lnTo>
                    <a:lnTo>
                      <a:pt x="473697" y="347980"/>
                    </a:lnTo>
                    <a:lnTo>
                      <a:pt x="474345" y="322834"/>
                    </a:lnTo>
                    <a:lnTo>
                      <a:pt x="483489" y="281559"/>
                    </a:lnTo>
                    <a:lnTo>
                      <a:pt x="500761" y="245186"/>
                    </a:lnTo>
                    <a:lnTo>
                      <a:pt x="511352" y="229616"/>
                    </a:lnTo>
                    <a:lnTo>
                      <a:pt x="518668" y="219583"/>
                    </a:lnTo>
                    <a:close/>
                  </a:path>
                  <a:path w="5749925" h="452755">
                    <a:moveTo>
                      <a:pt x="661670" y="401701"/>
                    </a:moveTo>
                    <a:lnTo>
                      <a:pt x="643864" y="340868"/>
                    </a:lnTo>
                    <a:lnTo>
                      <a:pt x="640588" y="329692"/>
                    </a:lnTo>
                    <a:lnTo>
                      <a:pt x="618490" y="254203"/>
                    </a:lnTo>
                    <a:lnTo>
                      <a:pt x="618490" y="329692"/>
                    </a:lnTo>
                    <a:lnTo>
                      <a:pt x="563245" y="323977"/>
                    </a:lnTo>
                    <a:lnTo>
                      <a:pt x="586105" y="278003"/>
                    </a:lnTo>
                    <a:lnTo>
                      <a:pt x="589572" y="270611"/>
                    </a:lnTo>
                    <a:lnTo>
                      <a:pt x="592734" y="263105"/>
                    </a:lnTo>
                    <a:lnTo>
                      <a:pt x="595566" y="255524"/>
                    </a:lnTo>
                    <a:lnTo>
                      <a:pt x="598043" y="247904"/>
                    </a:lnTo>
                    <a:lnTo>
                      <a:pt x="599541" y="255524"/>
                    </a:lnTo>
                    <a:lnTo>
                      <a:pt x="601294" y="263423"/>
                    </a:lnTo>
                    <a:lnTo>
                      <a:pt x="603516" y="272643"/>
                    </a:lnTo>
                    <a:lnTo>
                      <a:pt x="606171" y="282829"/>
                    </a:lnTo>
                    <a:lnTo>
                      <a:pt x="618490" y="329692"/>
                    </a:lnTo>
                    <a:lnTo>
                      <a:pt x="618490" y="254203"/>
                    </a:lnTo>
                    <a:lnTo>
                      <a:pt x="616648" y="247904"/>
                    </a:lnTo>
                    <a:lnTo>
                      <a:pt x="612013" y="232029"/>
                    </a:lnTo>
                    <a:lnTo>
                      <a:pt x="588772" y="229616"/>
                    </a:lnTo>
                    <a:lnTo>
                      <a:pt x="509397" y="385953"/>
                    </a:lnTo>
                    <a:lnTo>
                      <a:pt x="532257" y="388239"/>
                    </a:lnTo>
                    <a:lnTo>
                      <a:pt x="555244" y="340868"/>
                    </a:lnTo>
                    <a:lnTo>
                      <a:pt x="623316" y="347980"/>
                    </a:lnTo>
                    <a:lnTo>
                      <a:pt x="637159" y="399161"/>
                    </a:lnTo>
                    <a:lnTo>
                      <a:pt x="661670" y="401701"/>
                    </a:lnTo>
                    <a:close/>
                  </a:path>
                  <a:path w="5749925" h="452755">
                    <a:moveTo>
                      <a:pt x="735736" y="336613"/>
                    </a:moveTo>
                    <a:lnTo>
                      <a:pt x="731647" y="298196"/>
                    </a:lnTo>
                    <a:lnTo>
                      <a:pt x="714908" y="254076"/>
                    </a:lnTo>
                    <a:lnTo>
                      <a:pt x="692277" y="237617"/>
                    </a:lnTo>
                    <a:lnTo>
                      <a:pt x="697318" y="249097"/>
                    </a:lnTo>
                    <a:lnTo>
                      <a:pt x="701395" y="258787"/>
                    </a:lnTo>
                    <a:lnTo>
                      <a:pt x="712622" y="297395"/>
                    </a:lnTo>
                    <a:lnTo>
                      <a:pt x="715302" y="326872"/>
                    </a:lnTo>
                    <a:lnTo>
                      <a:pt x="715124" y="337324"/>
                    </a:lnTo>
                    <a:lnTo>
                      <a:pt x="700493" y="400215"/>
                    </a:lnTo>
                    <a:lnTo>
                      <a:pt x="670052" y="450977"/>
                    </a:lnTo>
                    <a:lnTo>
                      <a:pt x="684403" y="452501"/>
                    </a:lnTo>
                    <a:lnTo>
                      <a:pt x="709917" y="419468"/>
                    </a:lnTo>
                    <a:lnTo>
                      <a:pt x="728941" y="378904"/>
                    </a:lnTo>
                    <a:lnTo>
                      <a:pt x="734949" y="349758"/>
                    </a:lnTo>
                    <a:lnTo>
                      <a:pt x="735736" y="336613"/>
                    </a:lnTo>
                    <a:close/>
                  </a:path>
                  <a:path w="5749925" h="452755">
                    <a:moveTo>
                      <a:pt x="5169535" y="221996"/>
                    </a:moveTo>
                    <a:lnTo>
                      <a:pt x="5136642" y="180721"/>
                    </a:lnTo>
                    <a:lnTo>
                      <a:pt x="5113934" y="159004"/>
                    </a:lnTo>
                    <a:lnTo>
                      <a:pt x="5113274" y="158496"/>
                    </a:lnTo>
                    <a:lnTo>
                      <a:pt x="5108575" y="156210"/>
                    </a:lnTo>
                    <a:lnTo>
                      <a:pt x="5102606" y="154051"/>
                    </a:lnTo>
                    <a:lnTo>
                      <a:pt x="5113363" y="150812"/>
                    </a:lnTo>
                    <a:lnTo>
                      <a:pt x="5122456" y="146634"/>
                    </a:lnTo>
                    <a:lnTo>
                      <a:pt x="5126596" y="143764"/>
                    </a:lnTo>
                    <a:lnTo>
                      <a:pt x="5129911" y="141478"/>
                    </a:lnTo>
                    <a:lnTo>
                      <a:pt x="5135753" y="135382"/>
                    </a:lnTo>
                    <a:lnTo>
                      <a:pt x="5139982" y="128625"/>
                    </a:lnTo>
                    <a:lnTo>
                      <a:pt x="5142763" y="121310"/>
                    </a:lnTo>
                    <a:lnTo>
                      <a:pt x="5144071" y="113436"/>
                    </a:lnTo>
                    <a:lnTo>
                      <a:pt x="5143881" y="105029"/>
                    </a:lnTo>
                    <a:lnTo>
                      <a:pt x="5142801" y="98539"/>
                    </a:lnTo>
                    <a:lnTo>
                      <a:pt x="5140909" y="92392"/>
                    </a:lnTo>
                    <a:lnTo>
                      <a:pt x="5138178" y="86639"/>
                    </a:lnTo>
                    <a:lnTo>
                      <a:pt x="5136527" y="84162"/>
                    </a:lnTo>
                    <a:lnTo>
                      <a:pt x="5134610" y="81280"/>
                    </a:lnTo>
                    <a:lnTo>
                      <a:pt x="5129276" y="74295"/>
                    </a:lnTo>
                    <a:lnTo>
                      <a:pt x="5122799" y="69723"/>
                    </a:lnTo>
                    <a:lnTo>
                      <a:pt x="5122291" y="69596"/>
                    </a:lnTo>
                    <a:lnTo>
                      <a:pt x="5122291" y="112649"/>
                    </a:lnTo>
                    <a:lnTo>
                      <a:pt x="5121275" y="117602"/>
                    </a:lnTo>
                    <a:lnTo>
                      <a:pt x="5118862" y="122428"/>
                    </a:lnTo>
                    <a:lnTo>
                      <a:pt x="5116449" y="127127"/>
                    </a:lnTo>
                    <a:lnTo>
                      <a:pt x="5112639" y="130937"/>
                    </a:lnTo>
                    <a:lnTo>
                      <a:pt x="5107305" y="133477"/>
                    </a:lnTo>
                    <a:lnTo>
                      <a:pt x="5101971" y="136144"/>
                    </a:lnTo>
                    <a:lnTo>
                      <a:pt x="5094351" y="137922"/>
                    </a:lnTo>
                    <a:lnTo>
                      <a:pt x="5038217" y="143764"/>
                    </a:lnTo>
                    <a:lnTo>
                      <a:pt x="5032629" y="89916"/>
                    </a:lnTo>
                    <a:lnTo>
                      <a:pt x="5084064" y="84582"/>
                    </a:lnTo>
                    <a:lnTo>
                      <a:pt x="5092560" y="84162"/>
                    </a:lnTo>
                    <a:lnTo>
                      <a:pt x="5099951" y="84797"/>
                    </a:lnTo>
                    <a:lnTo>
                      <a:pt x="5121656" y="107315"/>
                    </a:lnTo>
                    <a:lnTo>
                      <a:pt x="5122291" y="112649"/>
                    </a:lnTo>
                    <a:lnTo>
                      <a:pt x="5122291" y="69596"/>
                    </a:lnTo>
                    <a:lnTo>
                      <a:pt x="5114925" y="67564"/>
                    </a:lnTo>
                    <a:lnTo>
                      <a:pt x="5108397" y="66306"/>
                    </a:lnTo>
                    <a:lnTo>
                      <a:pt x="5100637" y="65747"/>
                    </a:lnTo>
                    <a:lnTo>
                      <a:pt x="5091633" y="65874"/>
                    </a:lnTo>
                    <a:lnTo>
                      <a:pt x="5081397" y="66675"/>
                    </a:lnTo>
                    <a:lnTo>
                      <a:pt x="5009261" y="74168"/>
                    </a:lnTo>
                    <a:lnTo>
                      <a:pt x="5026025" y="236855"/>
                    </a:lnTo>
                    <a:lnTo>
                      <a:pt x="5047615" y="234696"/>
                    </a:lnTo>
                    <a:lnTo>
                      <a:pt x="5040122" y="162306"/>
                    </a:lnTo>
                    <a:lnTo>
                      <a:pt x="5070602" y="159258"/>
                    </a:lnTo>
                    <a:lnTo>
                      <a:pt x="5074666" y="159004"/>
                    </a:lnTo>
                    <a:lnTo>
                      <a:pt x="5077206" y="159385"/>
                    </a:lnTo>
                    <a:lnTo>
                      <a:pt x="5080508" y="159766"/>
                    </a:lnTo>
                    <a:lnTo>
                      <a:pt x="5083937" y="160909"/>
                    </a:lnTo>
                    <a:lnTo>
                      <a:pt x="5087366" y="162687"/>
                    </a:lnTo>
                    <a:lnTo>
                      <a:pt x="5090922" y="164338"/>
                    </a:lnTo>
                    <a:lnTo>
                      <a:pt x="5117338" y="193167"/>
                    </a:lnTo>
                    <a:lnTo>
                      <a:pt x="5142357" y="224790"/>
                    </a:lnTo>
                    <a:lnTo>
                      <a:pt x="5169535" y="221996"/>
                    </a:lnTo>
                    <a:close/>
                  </a:path>
                  <a:path w="5749925" h="452755">
                    <a:moveTo>
                      <a:pt x="5286883" y="64770"/>
                    </a:moveTo>
                    <a:lnTo>
                      <a:pt x="5284851" y="45593"/>
                    </a:lnTo>
                    <a:lnTo>
                      <a:pt x="5155819" y="58928"/>
                    </a:lnTo>
                    <a:lnTo>
                      <a:pt x="5157851" y="78105"/>
                    </a:lnTo>
                    <a:lnTo>
                      <a:pt x="5211445" y="72644"/>
                    </a:lnTo>
                    <a:lnTo>
                      <a:pt x="5226304" y="216154"/>
                    </a:lnTo>
                    <a:lnTo>
                      <a:pt x="5247767" y="213995"/>
                    </a:lnTo>
                    <a:lnTo>
                      <a:pt x="5233263" y="72644"/>
                    </a:lnTo>
                    <a:lnTo>
                      <a:pt x="5233035" y="70358"/>
                    </a:lnTo>
                    <a:lnTo>
                      <a:pt x="5286883" y="64770"/>
                    </a:lnTo>
                    <a:close/>
                  </a:path>
                  <a:path w="5749925" h="452755">
                    <a:moveTo>
                      <a:pt x="5443461" y="154305"/>
                    </a:moveTo>
                    <a:lnTo>
                      <a:pt x="5424589" y="116560"/>
                    </a:lnTo>
                    <a:lnTo>
                      <a:pt x="5386768" y="105384"/>
                    </a:lnTo>
                    <a:lnTo>
                      <a:pt x="5374386" y="103759"/>
                    </a:lnTo>
                    <a:lnTo>
                      <a:pt x="5362194" y="102031"/>
                    </a:lnTo>
                    <a:lnTo>
                      <a:pt x="5332222" y="74930"/>
                    </a:lnTo>
                    <a:lnTo>
                      <a:pt x="5334508" y="68961"/>
                    </a:lnTo>
                    <a:lnTo>
                      <a:pt x="5376608" y="52997"/>
                    </a:lnTo>
                    <a:lnTo>
                      <a:pt x="5384431" y="53657"/>
                    </a:lnTo>
                    <a:lnTo>
                      <a:pt x="5410581" y="80518"/>
                    </a:lnTo>
                    <a:lnTo>
                      <a:pt x="5431155" y="76835"/>
                    </a:lnTo>
                    <a:lnTo>
                      <a:pt x="5429694" y="69938"/>
                    </a:lnTo>
                    <a:lnTo>
                      <a:pt x="5427434" y="63500"/>
                    </a:lnTo>
                    <a:lnTo>
                      <a:pt x="5424360" y="57556"/>
                    </a:lnTo>
                    <a:lnTo>
                      <a:pt x="5421134" y="52997"/>
                    </a:lnTo>
                    <a:lnTo>
                      <a:pt x="5420487" y="52070"/>
                    </a:lnTo>
                    <a:lnTo>
                      <a:pt x="5382082" y="34251"/>
                    </a:lnTo>
                    <a:lnTo>
                      <a:pt x="5373687" y="33997"/>
                    </a:lnTo>
                    <a:lnTo>
                      <a:pt x="5364861" y="34544"/>
                    </a:lnTo>
                    <a:lnTo>
                      <a:pt x="5324487" y="51244"/>
                    </a:lnTo>
                    <a:lnTo>
                      <a:pt x="5311394" y="77089"/>
                    </a:lnTo>
                    <a:lnTo>
                      <a:pt x="5312283" y="85344"/>
                    </a:lnTo>
                    <a:lnTo>
                      <a:pt x="5313045" y="92837"/>
                    </a:lnTo>
                    <a:lnTo>
                      <a:pt x="5344617" y="120230"/>
                    </a:lnTo>
                    <a:lnTo>
                      <a:pt x="5381968" y="126682"/>
                    </a:lnTo>
                    <a:lnTo>
                      <a:pt x="5390426" y="127990"/>
                    </a:lnTo>
                    <a:lnTo>
                      <a:pt x="5416931" y="138303"/>
                    </a:lnTo>
                    <a:lnTo>
                      <a:pt x="5420360" y="141732"/>
                    </a:lnTo>
                    <a:lnTo>
                      <a:pt x="5422265" y="146050"/>
                    </a:lnTo>
                    <a:lnTo>
                      <a:pt x="5423281" y="156210"/>
                    </a:lnTo>
                    <a:lnTo>
                      <a:pt x="5422265" y="161036"/>
                    </a:lnTo>
                    <a:lnTo>
                      <a:pt x="5385181" y="183007"/>
                    </a:lnTo>
                    <a:lnTo>
                      <a:pt x="5378361" y="183438"/>
                    </a:lnTo>
                    <a:lnTo>
                      <a:pt x="5371858" y="183197"/>
                    </a:lnTo>
                    <a:lnTo>
                      <a:pt x="5337937" y="164973"/>
                    </a:lnTo>
                    <a:lnTo>
                      <a:pt x="5333238" y="150495"/>
                    </a:lnTo>
                    <a:lnTo>
                      <a:pt x="5313172" y="154305"/>
                    </a:lnTo>
                    <a:lnTo>
                      <a:pt x="5336324" y="192951"/>
                    </a:lnTo>
                    <a:lnTo>
                      <a:pt x="5377573" y="202895"/>
                    </a:lnTo>
                    <a:lnTo>
                      <a:pt x="5388229" y="202184"/>
                    </a:lnTo>
                    <a:lnTo>
                      <a:pt x="5425122" y="188468"/>
                    </a:lnTo>
                    <a:lnTo>
                      <a:pt x="5442775" y="160096"/>
                    </a:lnTo>
                    <a:lnTo>
                      <a:pt x="5443461" y="154305"/>
                    </a:lnTo>
                    <a:close/>
                  </a:path>
                  <a:path w="5749925" h="452755">
                    <a:moveTo>
                      <a:pt x="5532374" y="232918"/>
                    </a:moveTo>
                    <a:lnTo>
                      <a:pt x="5501983" y="182156"/>
                    </a:lnTo>
                    <a:lnTo>
                      <a:pt x="5488178" y="129667"/>
                    </a:lnTo>
                    <a:lnTo>
                      <a:pt x="5487238" y="105587"/>
                    </a:lnTo>
                    <a:lnTo>
                      <a:pt x="5487530" y="98031"/>
                    </a:lnTo>
                    <a:lnTo>
                      <a:pt x="5495925" y="54356"/>
                    </a:lnTo>
                    <a:lnTo>
                      <a:pt x="5510276" y="19431"/>
                    </a:lnTo>
                    <a:lnTo>
                      <a:pt x="5495925" y="20955"/>
                    </a:lnTo>
                    <a:lnTo>
                      <a:pt x="5475109" y="65519"/>
                    </a:lnTo>
                    <a:lnTo>
                      <a:pt x="5467007" y="105587"/>
                    </a:lnTo>
                    <a:lnTo>
                      <a:pt x="5466740" y="118554"/>
                    </a:lnTo>
                    <a:lnTo>
                      <a:pt x="5467604" y="131699"/>
                    </a:lnTo>
                    <a:lnTo>
                      <a:pt x="5478551" y="174853"/>
                    </a:lnTo>
                    <a:lnTo>
                      <a:pt x="5500408" y="213296"/>
                    </a:lnTo>
                    <a:lnTo>
                      <a:pt x="5518023" y="234315"/>
                    </a:lnTo>
                    <a:lnTo>
                      <a:pt x="5532374" y="232918"/>
                    </a:lnTo>
                    <a:close/>
                  </a:path>
                  <a:path w="5749925" h="452755">
                    <a:moveTo>
                      <a:pt x="5671185" y="130175"/>
                    </a:moveTo>
                    <a:lnTo>
                      <a:pt x="5660974" y="100076"/>
                    </a:lnTo>
                    <a:lnTo>
                      <a:pt x="5659882" y="98679"/>
                    </a:lnTo>
                    <a:lnTo>
                      <a:pt x="5654992" y="94335"/>
                    </a:lnTo>
                    <a:lnTo>
                      <a:pt x="5649315" y="90817"/>
                    </a:lnTo>
                    <a:lnTo>
                      <a:pt x="5648579" y="90525"/>
                    </a:lnTo>
                    <a:lnTo>
                      <a:pt x="5648579" y="130048"/>
                    </a:lnTo>
                    <a:lnTo>
                      <a:pt x="5647944" y="134747"/>
                    </a:lnTo>
                    <a:lnTo>
                      <a:pt x="5646293" y="138938"/>
                    </a:lnTo>
                    <a:lnTo>
                      <a:pt x="5644515" y="143129"/>
                    </a:lnTo>
                    <a:lnTo>
                      <a:pt x="5642102" y="146431"/>
                    </a:lnTo>
                    <a:lnTo>
                      <a:pt x="5638927" y="148844"/>
                    </a:lnTo>
                    <a:lnTo>
                      <a:pt x="5635879" y="151257"/>
                    </a:lnTo>
                    <a:lnTo>
                      <a:pt x="5571871" y="161036"/>
                    </a:lnTo>
                    <a:lnTo>
                      <a:pt x="5566156" y="105029"/>
                    </a:lnTo>
                    <a:lnTo>
                      <a:pt x="5614162" y="100076"/>
                    </a:lnTo>
                    <a:lnTo>
                      <a:pt x="5622163" y="100203"/>
                    </a:lnTo>
                    <a:lnTo>
                      <a:pt x="5627878" y="101473"/>
                    </a:lnTo>
                    <a:lnTo>
                      <a:pt x="5633593" y="102616"/>
                    </a:lnTo>
                    <a:lnTo>
                      <a:pt x="5648579" y="130048"/>
                    </a:lnTo>
                    <a:lnTo>
                      <a:pt x="5648579" y="90525"/>
                    </a:lnTo>
                    <a:lnTo>
                      <a:pt x="5642851" y="88150"/>
                    </a:lnTo>
                    <a:lnTo>
                      <a:pt x="5635625" y="86360"/>
                    </a:lnTo>
                    <a:lnTo>
                      <a:pt x="5636425" y="85852"/>
                    </a:lnTo>
                    <a:lnTo>
                      <a:pt x="5655564" y="56388"/>
                    </a:lnTo>
                    <a:lnTo>
                      <a:pt x="5654726" y="48768"/>
                    </a:lnTo>
                    <a:lnTo>
                      <a:pt x="5654040" y="41910"/>
                    </a:lnTo>
                    <a:lnTo>
                      <a:pt x="5651246" y="35052"/>
                    </a:lnTo>
                    <a:lnTo>
                      <a:pt x="5648909" y="32004"/>
                    </a:lnTo>
                    <a:lnTo>
                      <a:pt x="5646293" y="28575"/>
                    </a:lnTo>
                    <a:lnTo>
                      <a:pt x="5641340" y="22225"/>
                    </a:lnTo>
                    <a:lnTo>
                      <a:pt x="5634863" y="17780"/>
                    </a:lnTo>
                    <a:lnTo>
                      <a:pt x="5634482" y="17665"/>
                    </a:lnTo>
                    <a:lnTo>
                      <a:pt x="5634482" y="59817"/>
                    </a:lnTo>
                    <a:lnTo>
                      <a:pt x="5633593" y="64770"/>
                    </a:lnTo>
                    <a:lnTo>
                      <a:pt x="5631180" y="68834"/>
                    </a:lnTo>
                    <a:lnTo>
                      <a:pt x="5628894" y="72898"/>
                    </a:lnTo>
                    <a:lnTo>
                      <a:pt x="5624957" y="76073"/>
                    </a:lnTo>
                    <a:lnTo>
                      <a:pt x="5619623" y="78232"/>
                    </a:lnTo>
                    <a:lnTo>
                      <a:pt x="5615686" y="79883"/>
                    </a:lnTo>
                    <a:lnTo>
                      <a:pt x="5608828" y="81280"/>
                    </a:lnTo>
                    <a:lnTo>
                      <a:pt x="5599303" y="82169"/>
                    </a:lnTo>
                    <a:lnTo>
                      <a:pt x="5564124" y="85852"/>
                    </a:lnTo>
                    <a:lnTo>
                      <a:pt x="5559044" y="36703"/>
                    </a:lnTo>
                    <a:lnTo>
                      <a:pt x="5603240" y="32131"/>
                    </a:lnTo>
                    <a:lnTo>
                      <a:pt x="5611622" y="32004"/>
                    </a:lnTo>
                    <a:lnTo>
                      <a:pt x="5621528" y="34036"/>
                    </a:lnTo>
                    <a:lnTo>
                      <a:pt x="5634482" y="59817"/>
                    </a:lnTo>
                    <a:lnTo>
                      <a:pt x="5634482" y="17665"/>
                    </a:lnTo>
                    <a:lnTo>
                      <a:pt x="5626989" y="15240"/>
                    </a:lnTo>
                    <a:lnTo>
                      <a:pt x="5620664" y="13703"/>
                    </a:lnTo>
                    <a:lnTo>
                      <a:pt x="5613514" y="12865"/>
                    </a:lnTo>
                    <a:lnTo>
                      <a:pt x="5605513" y="12750"/>
                    </a:lnTo>
                    <a:lnTo>
                      <a:pt x="5596636" y="13335"/>
                    </a:lnTo>
                    <a:lnTo>
                      <a:pt x="5535549" y="19685"/>
                    </a:lnTo>
                    <a:lnTo>
                      <a:pt x="5552313" y="182499"/>
                    </a:lnTo>
                    <a:lnTo>
                      <a:pt x="5614416" y="176022"/>
                    </a:lnTo>
                    <a:lnTo>
                      <a:pt x="5653024" y="164719"/>
                    </a:lnTo>
                    <a:lnTo>
                      <a:pt x="5656935" y="161036"/>
                    </a:lnTo>
                    <a:lnTo>
                      <a:pt x="5657342" y="160655"/>
                    </a:lnTo>
                    <a:lnTo>
                      <a:pt x="5661787" y="156718"/>
                    </a:lnTo>
                    <a:lnTo>
                      <a:pt x="5665216" y="151257"/>
                    </a:lnTo>
                    <a:lnTo>
                      <a:pt x="5667756" y="144272"/>
                    </a:lnTo>
                    <a:lnTo>
                      <a:pt x="5670296" y="137414"/>
                    </a:lnTo>
                    <a:lnTo>
                      <a:pt x="5671185" y="130175"/>
                    </a:lnTo>
                    <a:close/>
                  </a:path>
                  <a:path w="5749925" h="452755">
                    <a:moveTo>
                      <a:pt x="5749506" y="117525"/>
                    </a:moveTo>
                    <a:lnTo>
                      <a:pt x="5743892" y="76923"/>
                    </a:lnTo>
                    <a:lnTo>
                      <a:pt x="5727789" y="39382"/>
                    </a:lnTo>
                    <a:lnTo>
                      <a:pt x="5698236" y="0"/>
                    </a:lnTo>
                    <a:lnTo>
                      <a:pt x="5683885" y="1524"/>
                    </a:lnTo>
                    <a:lnTo>
                      <a:pt x="5691213" y="11722"/>
                    </a:lnTo>
                    <a:lnTo>
                      <a:pt x="5697220" y="20370"/>
                    </a:lnTo>
                    <a:lnTo>
                      <a:pt x="5716181" y="55880"/>
                    </a:lnTo>
                    <a:lnTo>
                      <a:pt x="5726785" y="94424"/>
                    </a:lnTo>
                    <a:lnTo>
                      <a:pt x="5728894" y="131737"/>
                    </a:lnTo>
                    <a:lnTo>
                      <a:pt x="5725426" y="159067"/>
                    </a:lnTo>
                    <a:lnTo>
                      <a:pt x="5717794" y="186791"/>
                    </a:lnTo>
                    <a:lnTo>
                      <a:pt x="5705983" y="214884"/>
                    </a:lnTo>
                    <a:lnTo>
                      <a:pt x="5720334" y="213487"/>
                    </a:lnTo>
                    <a:lnTo>
                      <a:pt x="5738546" y="175844"/>
                    </a:lnTo>
                    <a:lnTo>
                      <a:pt x="5748871" y="132334"/>
                    </a:lnTo>
                    <a:lnTo>
                      <a:pt x="5749506" y="117525"/>
                    </a:lnTo>
                    <a:close/>
                  </a:path>
                </a:pathLst>
              </a:custGeom>
              <a:solidFill>
                <a:srgbClr val="000000"/>
              </a:solidFill>
            </p:spPr>
            <p:txBody>
              <a:bodyPr wrap="square" lIns="0" tIns="0" rIns="0" bIns="0" rtlCol="0"/>
              <a:lstStyle/>
              <a:p>
                <a:endParaRPr/>
              </a:p>
            </p:txBody>
          </p:sp>
          <p:sp>
            <p:nvSpPr>
              <p:cNvPr id="11" name="object 11"/>
              <p:cNvSpPr/>
              <p:nvPr/>
            </p:nvSpPr>
            <p:spPr>
              <a:xfrm>
                <a:off x="1799844" y="2694432"/>
                <a:ext cx="5782056" cy="731519"/>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2564891" y="2824861"/>
                <a:ext cx="735965" cy="282575"/>
              </a:xfrm>
              <a:custGeom>
                <a:avLst/>
                <a:gdLst/>
                <a:ahLst/>
                <a:cxnLst/>
                <a:rect l="l" t="t" r="r" b="b"/>
                <a:pathLst>
                  <a:path w="735964" h="282575">
                    <a:moveTo>
                      <a:pt x="116511" y="92710"/>
                    </a:moveTo>
                    <a:lnTo>
                      <a:pt x="29082" y="92710"/>
                    </a:lnTo>
                    <a:lnTo>
                      <a:pt x="53975" y="95376"/>
                    </a:lnTo>
                    <a:lnTo>
                      <a:pt x="59562" y="95885"/>
                    </a:lnTo>
                    <a:lnTo>
                      <a:pt x="63500" y="96647"/>
                    </a:lnTo>
                    <a:lnTo>
                      <a:pt x="91074" y="124999"/>
                    </a:lnTo>
                    <a:lnTo>
                      <a:pt x="116331" y="174878"/>
                    </a:lnTo>
                    <a:lnTo>
                      <a:pt x="143382" y="177673"/>
                    </a:lnTo>
                    <a:lnTo>
                      <a:pt x="119760" y="130428"/>
                    </a:lnTo>
                    <a:lnTo>
                      <a:pt x="91947" y="97536"/>
                    </a:lnTo>
                    <a:lnTo>
                      <a:pt x="103139" y="96516"/>
                    </a:lnTo>
                    <a:lnTo>
                      <a:pt x="112902" y="94234"/>
                    </a:lnTo>
                    <a:lnTo>
                      <a:pt x="116511" y="92710"/>
                    </a:lnTo>
                    <a:close/>
                  </a:path>
                  <a:path w="735964" h="282575">
                    <a:moveTo>
                      <a:pt x="16890" y="0"/>
                    </a:moveTo>
                    <a:lnTo>
                      <a:pt x="0" y="162813"/>
                    </a:lnTo>
                    <a:lnTo>
                      <a:pt x="21462" y="164973"/>
                    </a:lnTo>
                    <a:lnTo>
                      <a:pt x="29082" y="92710"/>
                    </a:lnTo>
                    <a:lnTo>
                      <a:pt x="116511" y="92710"/>
                    </a:lnTo>
                    <a:lnTo>
                      <a:pt x="121237" y="90713"/>
                    </a:lnTo>
                    <a:lnTo>
                      <a:pt x="128143" y="85978"/>
                    </a:lnTo>
                    <a:lnTo>
                      <a:pt x="133740" y="80220"/>
                    </a:lnTo>
                    <a:lnTo>
                      <a:pt x="133957" y="79883"/>
                    </a:lnTo>
                    <a:lnTo>
                      <a:pt x="87121" y="79883"/>
                    </a:lnTo>
                    <a:lnTo>
                      <a:pt x="30987" y="74040"/>
                    </a:lnTo>
                    <a:lnTo>
                      <a:pt x="36575" y="20192"/>
                    </a:lnTo>
                    <a:lnTo>
                      <a:pt x="129998" y="20192"/>
                    </a:lnTo>
                    <a:lnTo>
                      <a:pt x="128905" y="19050"/>
                    </a:lnTo>
                    <a:lnTo>
                      <a:pt x="89026" y="7492"/>
                    </a:lnTo>
                    <a:lnTo>
                      <a:pt x="16890" y="0"/>
                    </a:lnTo>
                    <a:close/>
                  </a:path>
                  <a:path w="735964" h="282575">
                    <a:moveTo>
                      <a:pt x="129998" y="20192"/>
                    </a:moveTo>
                    <a:lnTo>
                      <a:pt x="36575" y="20192"/>
                    </a:lnTo>
                    <a:lnTo>
                      <a:pt x="88137" y="25653"/>
                    </a:lnTo>
                    <a:lnTo>
                      <a:pt x="96521" y="26991"/>
                    </a:lnTo>
                    <a:lnTo>
                      <a:pt x="121031" y="48005"/>
                    </a:lnTo>
                    <a:lnTo>
                      <a:pt x="120268" y="55625"/>
                    </a:lnTo>
                    <a:lnTo>
                      <a:pt x="119633" y="60960"/>
                    </a:lnTo>
                    <a:lnTo>
                      <a:pt x="117728" y="65659"/>
                    </a:lnTo>
                    <a:lnTo>
                      <a:pt x="114300" y="69850"/>
                    </a:lnTo>
                    <a:lnTo>
                      <a:pt x="110997" y="74040"/>
                    </a:lnTo>
                    <a:lnTo>
                      <a:pt x="106425" y="76835"/>
                    </a:lnTo>
                    <a:lnTo>
                      <a:pt x="100710" y="78231"/>
                    </a:lnTo>
                    <a:lnTo>
                      <a:pt x="94868" y="79755"/>
                    </a:lnTo>
                    <a:lnTo>
                      <a:pt x="87121" y="79883"/>
                    </a:lnTo>
                    <a:lnTo>
                      <a:pt x="133957" y="79883"/>
                    </a:lnTo>
                    <a:lnTo>
                      <a:pt x="137969" y="73628"/>
                    </a:lnTo>
                    <a:lnTo>
                      <a:pt x="140841" y="66226"/>
                    </a:lnTo>
                    <a:lnTo>
                      <a:pt x="142366" y="58038"/>
                    </a:lnTo>
                    <a:lnTo>
                      <a:pt x="142676" y="51393"/>
                    </a:lnTo>
                    <a:lnTo>
                      <a:pt x="142081" y="44973"/>
                    </a:lnTo>
                    <a:lnTo>
                      <a:pt x="140581" y="38768"/>
                    </a:lnTo>
                    <a:lnTo>
                      <a:pt x="138175" y="32765"/>
                    </a:lnTo>
                    <a:lnTo>
                      <a:pt x="134493" y="24891"/>
                    </a:lnTo>
                    <a:lnTo>
                      <a:pt x="129998" y="20192"/>
                    </a:lnTo>
                    <a:close/>
                  </a:path>
                  <a:path w="735964" h="282575">
                    <a:moveTo>
                      <a:pt x="163575" y="15239"/>
                    </a:moveTo>
                    <a:lnTo>
                      <a:pt x="161544" y="34543"/>
                    </a:lnTo>
                    <a:lnTo>
                      <a:pt x="215137" y="40131"/>
                    </a:lnTo>
                    <a:lnTo>
                      <a:pt x="200278" y="183641"/>
                    </a:lnTo>
                    <a:lnTo>
                      <a:pt x="221741" y="185800"/>
                    </a:lnTo>
                    <a:lnTo>
                      <a:pt x="236727" y="42290"/>
                    </a:lnTo>
                    <a:lnTo>
                      <a:pt x="291131" y="42290"/>
                    </a:lnTo>
                    <a:lnTo>
                      <a:pt x="292481" y="28701"/>
                    </a:lnTo>
                    <a:lnTo>
                      <a:pt x="163575" y="15239"/>
                    </a:lnTo>
                    <a:close/>
                  </a:path>
                  <a:path w="735964" h="282575">
                    <a:moveTo>
                      <a:pt x="291131" y="42290"/>
                    </a:moveTo>
                    <a:lnTo>
                      <a:pt x="236727" y="42290"/>
                    </a:lnTo>
                    <a:lnTo>
                      <a:pt x="290575" y="47878"/>
                    </a:lnTo>
                    <a:lnTo>
                      <a:pt x="291131" y="42290"/>
                    </a:lnTo>
                    <a:close/>
                  </a:path>
                  <a:path w="735964" h="282575">
                    <a:moveTo>
                      <a:pt x="297941" y="140969"/>
                    </a:moveTo>
                    <a:lnTo>
                      <a:pt x="312753" y="183467"/>
                    </a:lnTo>
                    <a:lnTo>
                      <a:pt x="351000" y="201699"/>
                    </a:lnTo>
                    <a:lnTo>
                      <a:pt x="370070" y="203706"/>
                    </a:lnTo>
                    <a:lnTo>
                      <a:pt x="378237" y="203342"/>
                    </a:lnTo>
                    <a:lnTo>
                      <a:pt x="416579" y="184658"/>
                    </a:lnTo>
                    <a:lnTo>
                      <a:pt x="370839" y="184658"/>
                    </a:lnTo>
                    <a:lnTo>
                      <a:pt x="362584" y="183768"/>
                    </a:lnTo>
                    <a:lnTo>
                      <a:pt x="326008" y="167639"/>
                    </a:lnTo>
                    <a:lnTo>
                      <a:pt x="323088" y="162051"/>
                    </a:lnTo>
                    <a:lnTo>
                      <a:pt x="320039" y="156463"/>
                    </a:lnTo>
                    <a:lnTo>
                      <a:pt x="318515" y="149478"/>
                    </a:lnTo>
                    <a:lnTo>
                      <a:pt x="318388" y="141224"/>
                    </a:lnTo>
                    <a:lnTo>
                      <a:pt x="297941" y="140969"/>
                    </a:lnTo>
                    <a:close/>
                  </a:path>
                  <a:path w="735964" h="282575">
                    <a:moveTo>
                      <a:pt x="365079" y="33791"/>
                    </a:moveTo>
                    <a:lnTo>
                      <a:pt x="325056" y="46257"/>
                    </a:lnTo>
                    <a:lnTo>
                      <a:pt x="311276" y="73151"/>
                    </a:lnTo>
                    <a:lnTo>
                      <a:pt x="310493" y="79755"/>
                    </a:lnTo>
                    <a:lnTo>
                      <a:pt x="310500" y="81264"/>
                    </a:lnTo>
                    <a:lnTo>
                      <a:pt x="311657" y="87629"/>
                    </a:lnTo>
                    <a:lnTo>
                      <a:pt x="314832" y="93979"/>
                    </a:lnTo>
                    <a:lnTo>
                      <a:pt x="318007" y="100456"/>
                    </a:lnTo>
                    <a:lnTo>
                      <a:pt x="350887" y="120695"/>
                    </a:lnTo>
                    <a:lnTo>
                      <a:pt x="370911" y="128006"/>
                    </a:lnTo>
                    <a:lnTo>
                      <a:pt x="378936" y="131016"/>
                    </a:lnTo>
                    <a:lnTo>
                      <a:pt x="406400" y="155193"/>
                    </a:lnTo>
                    <a:lnTo>
                      <a:pt x="405383" y="165353"/>
                    </a:lnTo>
                    <a:lnTo>
                      <a:pt x="370839" y="184658"/>
                    </a:lnTo>
                    <a:lnTo>
                      <a:pt x="416579" y="184658"/>
                    </a:lnTo>
                    <a:lnTo>
                      <a:pt x="427735" y="152018"/>
                    </a:lnTo>
                    <a:lnTo>
                      <a:pt x="426212" y="144017"/>
                    </a:lnTo>
                    <a:lnTo>
                      <a:pt x="397533" y="115157"/>
                    </a:lnTo>
                    <a:lnTo>
                      <a:pt x="368172" y="104012"/>
                    </a:lnTo>
                    <a:lnTo>
                      <a:pt x="356647" y="99796"/>
                    </a:lnTo>
                    <a:lnTo>
                      <a:pt x="331469" y="79755"/>
                    </a:lnTo>
                    <a:lnTo>
                      <a:pt x="332866" y="67183"/>
                    </a:lnTo>
                    <a:lnTo>
                      <a:pt x="362938" y="52887"/>
                    </a:lnTo>
                    <a:lnTo>
                      <a:pt x="416761" y="52887"/>
                    </a:lnTo>
                    <a:lnTo>
                      <a:pt x="415924" y="51911"/>
                    </a:lnTo>
                    <a:lnTo>
                      <a:pt x="373125" y="34289"/>
                    </a:lnTo>
                    <a:lnTo>
                      <a:pt x="365079" y="33791"/>
                    </a:lnTo>
                    <a:close/>
                  </a:path>
                  <a:path w="735964" h="282575">
                    <a:moveTo>
                      <a:pt x="416761" y="52887"/>
                    </a:moveTo>
                    <a:lnTo>
                      <a:pt x="362938" y="52887"/>
                    </a:lnTo>
                    <a:lnTo>
                      <a:pt x="372109" y="53339"/>
                    </a:lnTo>
                    <a:lnTo>
                      <a:pt x="380845" y="54742"/>
                    </a:lnTo>
                    <a:lnTo>
                      <a:pt x="408431" y="88646"/>
                    </a:lnTo>
                    <a:lnTo>
                      <a:pt x="429259" y="89280"/>
                    </a:lnTo>
                    <a:lnTo>
                      <a:pt x="420320" y="57038"/>
                    </a:lnTo>
                    <a:lnTo>
                      <a:pt x="416761" y="52887"/>
                    </a:lnTo>
                    <a:close/>
                  </a:path>
                  <a:path w="735964" h="282575">
                    <a:moveTo>
                      <a:pt x="504189" y="47878"/>
                    </a:moveTo>
                    <a:lnTo>
                      <a:pt x="474632" y="87258"/>
                    </a:lnTo>
                    <a:lnTo>
                      <a:pt x="458533" y="124777"/>
                    </a:lnTo>
                    <a:lnTo>
                      <a:pt x="452889" y="165348"/>
                    </a:lnTo>
                    <a:lnTo>
                      <a:pt x="453485" y="180197"/>
                    </a:lnTo>
                    <a:lnTo>
                      <a:pt x="463748" y="223718"/>
                    </a:lnTo>
                    <a:lnTo>
                      <a:pt x="481964" y="261365"/>
                    </a:lnTo>
                    <a:lnTo>
                      <a:pt x="496315" y="262763"/>
                    </a:lnTo>
                    <a:lnTo>
                      <a:pt x="484576" y="234592"/>
                    </a:lnTo>
                    <a:lnTo>
                      <a:pt x="476980" y="206851"/>
                    </a:lnTo>
                    <a:lnTo>
                      <a:pt x="473610" y="180197"/>
                    </a:lnTo>
                    <a:lnTo>
                      <a:pt x="473572" y="177800"/>
                    </a:lnTo>
                    <a:lnTo>
                      <a:pt x="474218" y="152653"/>
                    </a:lnTo>
                    <a:lnTo>
                      <a:pt x="483362" y="111378"/>
                    </a:lnTo>
                    <a:lnTo>
                      <a:pt x="500663" y="75066"/>
                    </a:lnTo>
                    <a:lnTo>
                      <a:pt x="518540" y="49402"/>
                    </a:lnTo>
                    <a:lnTo>
                      <a:pt x="504189" y="47878"/>
                    </a:lnTo>
                    <a:close/>
                  </a:path>
                  <a:path w="735964" h="282575">
                    <a:moveTo>
                      <a:pt x="643702" y="170687"/>
                    </a:moveTo>
                    <a:lnTo>
                      <a:pt x="555116" y="170687"/>
                    </a:lnTo>
                    <a:lnTo>
                      <a:pt x="623188" y="177800"/>
                    </a:lnTo>
                    <a:lnTo>
                      <a:pt x="637032" y="229108"/>
                    </a:lnTo>
                    <a:lnTo>
                      <a:pt x="661543" y="231648"/>
                    </a:lnTo>
                    <a:lnTo>
                      <a:pt x="643702" y="170687"/>
                    </a:lnTo>
                    <a:close/>
                  </a:path>
                  <a:path w="735964" h="282575">
                    <a:moveTo>
                      <a:pt x="588771" y="59562"/>
                    </a:moveTo>
                    <a:lnTo>
                      <a:pt x="509269" y="215773"/>
                    </a:lnTo>
                    <a:lnTo>
                      <a:pt x="532130" y="218186"/>
                    </a:lnTo>
                    <a:lnTo>
                      <a:pt x="555116" y="170687"/>
                    </a:lnTo>
                    <a:lnTo>
                      <a:pt x="643702" y="170687"/>
                    </a:lnTo>
                    <a:lnTo>
                      <a:pt x="640431" y="159512"/>
                    </a:lnTo>
                    <a:lnTo>
                      <a:pt x="618363" y="159512"/>
                    </a:lnTo>
                    <a:lnTo>
                      <a:pt x="563244" y="153797"/>
                    </a:lnTo>
                    <a:lnTo>
                      <a:pt x="585977" y="107950"/>
                    </a:lnTo>
                    <a:lnTo>
                      <a:pt x="598043" y="77724"/>
                    </a:lnTo>
                    <a:lnTo>
                      <a:pt x="616494" y="77724"/>
                    </a:lnTo>
                    <a:lnTo>
                      <a:pt x="611885" y="61975"/>
                    </a:lnTo>
                    <a:lnTo>
                      <a:pt x="588771" y="59562"/>
                    </a:lnTo>
                    <a:close/>
                  </a:path>
                  <a:path w="735964" h="282575">
                    <a:moveTo>
                      <a:pt x="616494" y="77724"/>
                    </a:moveTo>
                    <a:lnTo>
                      <a:pt x="598043" y="77724"/>
                    </a:lnTo>
                    <a:lnTo>
                      <a:pt x="599544" y="85393"/>
                    </a:lnTo>
                    <a:lnTo>
                      <a:pt x="601281" y="93344"/>
                    </a:lnTo>
                    <a:lnTo>
                      <a:pt x="603472" y="102584"/>
                    </a:lnTo>
                    <a:lnTo>
                      <a:pt x="606044" y="112775"/>
                    </a:lnTo>
                    <a:lnTo>
                      <a:pt x="618363" y="159512"/>
                    </a:lnTo>
                    <a:lnTo>
                      <a:pt x="640431" y="159512"/>
                    </a:lnTo>
                    <a:lnTo>
                      <a:pt x="616494" y="77724"/>
                    </a:lnTo>
                    <a:close/>
                  </a:path>
                  <a:path w="735964" h="282575">
                    <a:moveTo>
                      <a:pt x="692149" y="67437"/>
                    </a:moveTo>
                    <a:lnTo>
                      <a:pt x="709009" y="110688"/>
                    </a:lnTo>
                    <a:lnTo>
                      <a:pt x="715248" y="156718"/>
                    </a:lnTo>
                    <a:lnTo>
                      <a:pt x="715063" y="167195"/>
                    </a:lnTo>
                    <a:lnTo>
                      <a:pt x="700420" y="230155"/>
                    </a:lnTo>
                    <a:lnTo>
                      <a:pt x="669925" y="280924"/>
                    </a:lnTo>
                    <a:lnTo>
                      <a:pt x="684276" y="282321"/>
                    </a:lnTo>
                    <a:lnTo>
                      <a:pt x="709868" y="249352"/>
                    </a:lnTo>
                    <a:lnTo>
                      <a:pt x="728916" y="208851"/>
                    </a:lnTo>
                    <a:lnTo>
                      <a:pt x="735627" y="166558"/>
                    </a:lnTo>
                    <a:lnTo>
                      <a:pt x="735361" y="153590"/>
                    </a:lnTo>
                    <a:lnTo>
                      <a:pt x="727307" y="113520"/>
                    </a:lnTo>
                    <a:lnTo>
                      <a:pt x="706500" y="68961"/>
                    </a:lnTo>
                    <a:lnTo>
                      <a:pt x="692149" y="67437"/>
                    </a:lnTo>
                    <a:close/>
                  </a:path>
                </a:pathLst>
              </a:custGeom>
              <a:solidFill>
                <a:srgbClr val="000000"/>
              </a:solidFill>
            </p:spPr>
            <p:txBody>
              <a:bodyPr wrap="square" lIns="0" tIns="0" rIns="0" bIns="0" rtlCol="0"/>
              <a:lstStyle/>
              <a:p>
                <a:endParaRPr/>
              </a:p>
            </p:txBody>
          </p:sp>
          <p:sp>
            <p:nvSpPr>
              <p:cNvPr id="13" name="object 13"/>
              <p:cNvSpPr/>
              <p:nvPr/>
            </p:nvSpPr>
            <p:spPr>
              <a:xfrm>
                <a:off x="1799844" y="3304031"/>
                <a:ext cx="6472555" cy="565785"/>
              </a:xfrm>
              <a:custGeom>
                <a:avLst/>
                <a:gdLst/>
                <a:ahLst/>
                <a:cxnLst/>
                <a:rect l="l" t="t" r="r" b="b"/>
                <a:pathLst>
                  <a:path w="6472555" h="565785">
                    <a:moveTo>
                      <a:pt x="6472428" y="296938"/>
                    </a:moveTo>
                    <a:lnTo>
                      <a:pt x="2953512" y="7175"/>
                    </a:lnTo>
                    <a:lnTo>
                      <a:pt x="2953512" y="0"/>
                    </a:lnTo>
                    <a:lnTo>
                      <a:pt x="2913316" y="3873"/>
                    </a:lnTo>
                    <a:lnTo>
                      <a:pt x="2884932" y="1524"/>
                    </a:lnTo>
                    <a:lnTo>
                      <a:pt x="2884932" y="6591"/>
                    </a:lnTo>
                    <a:lnTo>
                      <a:pt x="0" y="283845"/>
                    </a:lnTo>
                    <a:lnTo>
                      <a:pt x="0" y="550164"/>
                    </a:lnTo>
                    <a:lnTo>
                      <a:pt x="2911373" y="243840"/>
                    </a:lnTo>
                    <a:lnTo>
                      <a:pt x="6472428" y="565404"/>
                    </a:lnTo>
                    <a:lnTo>
                      <a:pt x="6472428" y="296938"/>
                    </a:lnTo>
                    <a:close/>
                  </a:path>
                </a:pathLst>
              </a:custGeom>
              <a:solidFill>
                <a:srgbClr val="FF99CC"/>
              </a:solidFill>
            </p:spPr>
            <p:txBody>
              <a:bodyPr wrap="square" lIns="0" tIns="0" rIns="0" bIns="0" rtlCol="0"/>
              <a:lstStyle/>
              <a:p>
                <a:endParaRPr/>
              </a:p>
            </p:txBody>
          </p:sp>
          <p:sp>
            <p:nvSpPr>
              <p:cNvPr id="14" name="object 14"/>
              <p:cNvSpPr/>
              <p:nvPr/>
            </p:nvSpPr>
            <p:spPr>
              <a:xfrm>
                <a:off x="2619222" y="3485667"/>
                <a:ext cx="4283075" cy="264795"/>
              </a:xfrm>
              <a:custGeom>
                <a:avLst/>
                <a:gdLst/>
                <a:ahLst/>
                <a:cxnLst/>
                <a:rect l="l" t="t" r="r" b="b"/>
                <a:pathLst>
                  <a:path w="4283075" h="264795">
                    <a:moveTo>
                      <a:pt x="147980" y="180949"/>
                    </a:moveTo>
                    <a:lnTo>
                      <a:pt x="125755" y="177901"/>
                    </a:lnTo>
                    <a:lnTo>
                      <a:pt x="124129" y="187820"/>
                    </a:lnTo>
                    <a:lnTo>
                      <a:pt x="121348" y="196583"/>
                    </a:lnTo>
                    <a:lnTo>
                      <a:pt x="91440" y="222923"/>
                    </a:lnTo>
                    <a:lnTo>
                      <a:pt x="75463" y="224878"/>
                    </a:lnTo>
                    <a:lnTo>
                      <a:pt x="68262" y="224231"/>
                    </a:lnTo>
                    <a:lnTo>
                      <a:pt x="32918" y="198856"/>
                    </a:lnTo>
                    <a:lnTo>
                      <a:pt x="22339" y="155308"/>
                    </a:lnTo>
                    <a:lnTo>
                      <a:pt x="22415" y="147332"/>
                    </a:lnTo>
                    <a:lnTo>
                      <a:pt x="34277" y="110947"/>
                    </a:lnTo>
                    <a:lnTo>
                      <a:pt x="69875" y="92938"/>
                    </a:lnTo>
                    <a:lnTo>
                      <a:pt x="77749" y="92621"/>
                    </a:lnTo>
                    <a:lnTo>
                      <a:pt x="85051" y="93357"/>
                    </a:lnTo>
                    <a:lnTo>
                      <a:pt x="117119" y="122148"/>
                    </a:lnTo>
                    <a:lnTo>
                      <a:pt x="137820" y="114782"/>
                    </a:lnTo>
                    <a:lnTo>
                      <a:pt x="132689" y="104622"/>
                    </a:lnTo>
                    <a:lnTo>
                      <a:pt x="126479" y="95834"/>
                    </a:lnTo>
                    <a:lnTo>
                      <a:pt x="123304" y="92621"/>
                    </a:lnTo>
                    <a:lnTo>
                      <a:pt x="119164" y="88430"/>
                    </a:lnTo>
                    <a:lnTo>
                      <a:pt x="110769" y="82397"/>
                    </a:lnTo>
                    <a:lnTo>
                      <a:pt x="101333" y="77927"/>
                    </a:lnTo>
                    <a:lnTo>
                      <a:pt x="91122" y="75133"/>
                    </a:lnTo>
                    <a:lnTo>
                      <a:pt x="80137" y="74015"/>
                    </a:lnTo>
                    <a:lnTo>
                      <a:pt x="68351" y="74523"/>
                    </a:lnTo>
                    <a:lnTo>
                      <a:pt x="29997" y="88747"/>
                    </a:lnTo>
                    <a:lnTo>
                      <a:pt x="5486" y="120497"/>
                    </a:lnTo>
                    <a:lnTo>
                      <a:pt x="0" y="153504"/>
                    </a:lnTo>
                    <a:lnTo>
                      <a:pt x="787" y="165836"/>
                    </a:lnTo>
                    <a:lnTo>
                      <a:pt x="14122" y="208508"/>
                    </a:lnTo>
                    <a:lnTo>
                      <a:pt x="42697" y="236829"/>
                    </a:lnTo>
                    <a:lnTo>
                      <a:pt x="74015" y="243497"/>
                    </a:lnTo>
                    <a:lnTo>
                      <a:pt x="86639" y="242798"/>
                    </a:lnTo>
                    <a:lnTo>
                      <a:pt x="127000" y="224878"/>
                    </a:lnTo>
                    <a:lnTo>
                      <a:pt x="145288" y="193865"/>
                    </a:lnTo>
                    <a:lnTo>
                      <a:pt x="147980" y="180949"/>
                    </a:lnTo>
                    <a:close/>
                  </a:path>
                  <a:path w="4283075" h="264795">
                    <a:moveTo>
                      <a:pt x="280441" y="73266"/>
                    </a:moveTo>
                    <a:lnTo>
                      <a:pt x="278409" y="54089"/>
                    </a:lnTo>
                    <a:lnTo>
                      <a:pt x="149504" y="68300"/>
                    </a:lnTo>
                    <a:lnTo>
                      <a:pt x="151536" y="87490"/>
                    </a:lnTo>
                    <a:lnTo>
                      <a:pt x="205130" y="81635"/>
                    </a:lnTo>
                    <a:lnTo>
                      <a:pt x="221005" y="225018"/>
                    </a:lnTo>
                    <a:lnTo>
                      <a:pt x="242595" y="222605"/>
                    </a:lnTo>
                    <a:lnTo>
                      <a:pt x="226987" y="81635"/>
                    </a:lnTo>
                    <a:lnTo>
                      <a:pt x="226720" y="79222"/>
                    </a:lnTo>
                    <a:lnTo>
                      <a:pt x="280441" y="73266"/>
                    </a:lnTo>
                    <a:close/>
                  </a:path>
                  <a:path w="4283075" h="264795">
                    <a:moveTo>
                      <a:pt x="437870" y="160985"/>
                    </a:moveTo>
                    <a:lnTo>
                      <a:pt x="418655" y="123977"/>
                    </a:lnTo>
                    <a:lnTo>
                      <a:pt x="380720" y="113030"/>
                    </a:lnTo>
                    <a:lnTo>
                      <a:pt x="356133" y="109918"/>
                    </a:lnTo>
                    <a:lnTo>
                      <a:pt x="346430" y="108051"/>
                    </a:lnTo>
                    <a:lnTo>
                      <a:pt x="326669" y="89763"/>
                    </a:lnTo>
                    <a:lnTo>
                      <a:pt x="325907" y="83032"/>
                    </a:lnTo>
                    <a:lnTo>
                      <a:pt x="361340" y="61328"/>
                    </a:lnTo>
                    <a:lnTo>
                      <a:pt x="370217" y="60820"/>
                    </a:lnTo>
                    <a:lnTo>
                      <a:pt x="378040" y="61429"/>
                    </a:lnTo>
                    <a:lnTo>
                      <a:pt x="404393" y="88112"/>
                    </a:lnTo>
                    <a:lnTo>
                      <a:pt x="424840" y="84175"/>
                    </a:lnTo>
                    <a:lnTo>
                      <a:pt x="415036" y="60820"/>
                    </a:lnTo>
                    <a:lnTo>
                      <a:pt x="414020" y="59397"/>
                    </a:lnTo>
                    <a:lnTo>
                      <a:pt x="375526" y="41922"/>
                    </a:lnTo>
                    <a:lnTo>
                      <a:pt x="367169" y="41757"/>
                    </a:lnTo>
                    <a:lnTo>
                      <a:pt x="358419" y="42392"/>
                    </a:lnTo>
                    <a:lnTo>
                      <a:pt x="318033" y="59410"/>
                    </a:lnTo>
                    <a:lnTo>
                      <a:pt x="305206" y="85318"/>
                    </a:lnTo>
                    <a:lnTo>
                      <a:pt x="306095" y="93573"/>
                    </a:lnTo>
                    <a:lnTo>
                      <a:pt x="306857" y="101079"/>
                    </a:lnTo>
                    <a:lnTo>
                      <a:pt x="309524" y="107543"/>
                    </a:lnTo>
                    <a:lnTo>
                      <a:pt x="314096" y="113131"/>
                    </a:lnTo>
                    <a:lnTo>
                      <a:pt x="318541" y="118719"/>
                    </a:lnTo>
                    <a:lnTo>
                      <a:pt x="354965" y="131584"/>
                    </a:lnTo>
                    <a:lnTo>
                      <a:pt x="376097" y="134454"/>
                    </a:lnTo>
                    <a:lnTo>
                      <a:pt x="384556" y="135712"/>
                    </a:lnTo>
                    <a:lnTo>
                      <a:pt x="411251" y="145897"/>
                    </a:lnTo>
                    <a:lnTo>
                      <a:pt x="414553" y="149199"/>
                    </a:lnTo>
                    <a:lnTo>
                      <a:pt x="416458" y="153517"/>
                    </a:lnTo>
                    <a:lnTo>
                      <a:pt x="417093" y="158597"/>
                    </a:lnTo>
                    <a:lnTo>
                      <a:pt x="417601" y="163677"/>
                    </a:lnTo>
                    <a:lnTo>
                      <a:pt x="416585" y="168503"/>
                    </a:lnTo>
                    <a:lnTo>
                      <a:pt x="414045" y="173075"/>
                    </a:lnTo>
                    <a:lnTo>
                      <a:pt x="411378" y="177647"/>
                    </a:lnTo>
                    <a:lnTo>
                      <a:pt x="407060" y="181584"/>
                    </a:lnTo>
                    <a:lnTo>
                      <a:pt x="401091" y="184632"/>
                    </a:lnTo>
                    <a:lnTo>
                      <a:pt x="394995" y="187807"/>
                    </a:lnTo>
                    <a:lnTo>
                      <a:pt x="387883" y="189839"/>
                    </a:lnTo>
                    <a:lnTo>
                      <a:pt x="379755" y="190728"/>
                    </a:lnTo>
                    <a:lnTo>
                      <a:pt x="372935" y="191185"/>
                    </a:lnTo>
                    <a:lnTo>
                      <a:pt x="366420" y="191008"/>
                    </a:lnTo>
                    <a:lnTo>
                      <a:pt x="332384" y="173075"/>
                    </a:lnTo>
                    <a:lnTo>
                      <a:pt x="327558" y="158597"/>
                    </a:lnTo>
                    <a:lnTo>
                      <a:pt x="307492" y="162534"/>
                    </a:lnTo>
                    <a:lnTo>
                      <a:pt x="330949" y="201053"/>
                    </a:lnTo>
                    <a:lnTo>
                      <a:pt x="372275" y="210693"/>
                    </a:lnTo>
                    <a:lnTo>
                      <a:pt x="382930" y="209905"/>
                    </a:lnTo>
                    <a:lnTo>
                      <a:pt x="419671" y="195872"/>
                    </a:lnTo>
                    <a:lnTo>
                      <a:pt x="437159" y="167360"/>
                    </a:lnTo>
                    <a:lnTo>
                      <a:pt x="437870" y="160985"/>
                    </a:lnTo>
                    <a:close/>
                  </a:path>
                  <a:path w="4283075" h="264795">
                    <a:moveTo>
                      <a:pt x="527202" y="239496"/>
                    </a:moveTo>
                    <a:lnTo>
                      <a:pt x="496430" y="189014"/>
                    </a:lnTo>
                    <a:lnTo>
                      <a:pt x="482244" y="136626"/>
                    </a:lnTo>
                    <a:lnTo>
                      <a:pt x="481114" y="115582"/>
                    </a:lnTo>
                    <a:lnTo>
                      <a:pt x="481431" y="104990"/>
                    </a:lnTo>
                    <a:lnTo>
                      <a:pt x="489483" y="61188"/>
                    </a:lnTo>
                    <a:lnTo>
                      <a:pt x="503580" y="26263"/>
                    </a:lnTo>
                    <a:lnTo>
                      <a:pt x="489356" y="27914"/>
                    </a:lnTo>
                    <a:lnTo>
                      <a:pt x="468807" y="72593"/>
                    </a:lnTo>
                    <a:lnTo>
                      <a:pt x="460997" y="112674"/>
                    </a:lnTo>
                    <a:lnTo>
                      <a:pt x="460781" y="125641"/>
                    </a:lnTo>
                    <a:lnTo>
                      <a:pt x="461670" y="138785"/>
                    </a:lnTo>
                    <a:lnTo>
                      <a:pt x="473024" y="181889"/>
                    </a:lnTo>
                    <a:lnTo>
                      <a:pt x="495173" y="220192"/>
                    </a:lnTo>
                    <a:lnTo>
                      <a:pt x="512978" y="241147"/>
                    </a:lnTo>
                    <a:lnTo>
                      <a:pt x="527202" y="239496"/>
                    </a:lnTo>
                    <a:close/>
                  </a:path>
                  <a:path w="4283075" h="264795">
                    <a:moveTo>
                      <a:pt x="682142" y="173964"/>
                    </a:moveTo>
                    <a:lnTo>
                      <a:pt x="657910" y="129514"/>
                    </a:lnTo>
                    <a:lnTo>
                      <a:pt x="652094" y="118846"/>
                    </a:lnTo>
                    <a:lnTo>
                      <a:pt x="624611" y="68414"/>
                    </a:lnTo>
                    <a:lnTo>
                      <a:pt x="624611" y="112750"/>
                    </a:lnTo>
                    <a:lnTo>
                      <a:pt x="569366" y="118846"/>
                    </a:lnTo>
                    <a:lnTo>
                      <a:pt x="582066" y="69202"/>
                    </a:lnTo>
                    <a:lnTo>
                      <a:pt x="583819" y="61201"/>
                    </a:lnTo>
                    <a:lnTo>
                      <a:pt x="585279" y="53187"/>
                    </a:lnTo>
                    <a:lnTo>
                      <a:pt x="586435" y="45186"/>
                    </a:lnTo>
                    <a:lnTo>
                      <a:pt x="587273" y="37185"/>
                    </a:lnTo>
                    <a:lnTo>
                      <a:pt x="590219" y="44005"/>
                    </a:lnTo>
                    <a:lnTo>
                      <a:pt x="593763" y="51676"/>
                    </a:lnTo>
                    <a:lnTo>
                      <a:pt x="597890" y="60198"/>
                    </a:lnTo>
                    <a:lnTo>
                      <a:pt x="602640" y="69570"/>
                    </a:lnTo>
                    <a:lnTo>
                      <a:pt x="624611" y="112750"/>
                    </a:lnTo>
                    <a:lnTo>
                      <a:pt x="624611" y="68414"/>
                    </a:lnTo>
                    <a:lnTo>
                      <a:pt x="607593" y="37185"/>
                    </a:lnTo>
                    <a:lnTo>
                      <a:pt x="597560" y="18770"/>
                    </a:lnTo>
                    <a:lnTo>
                      <a:pt x="574319" y="21310"/>
                    </a:lnTo>
                    <a:lnTo>
                      <a:pt x="529869" y="190855"/>
                    </a:lnTo>
                    <a:lnTo>
                      <a:pt x="552729" y="188315"/>
                    </a:lnTo>
                    <a:lnTo>
                      <a:pt x="565175" y="137007"/>
                    </a:lnTo>
                    <a:lnTo>
                      <a:pt x="633107" y="129514"/>
                    </a:lnTo>
                    <a:lnTo>
                      <a:pt x="657618" y="176758"/>
                    </a:lnTo>
                    <a:lnTo>
                      <a:pt x="682142" y="173964"/>
                    </a:lnTo>
                    <a:close/>
                  </a:path>
                  <a:path w="4283075" h="264795">
                    <a:moveTo>
                      <a:pt x="743546" y="122580"/>
                    </a:moveTo>
                    <a:lnTo>
                      <a:pt x="737641" y="82042"/>
                    </a:lnTo>
                    <a:lnTo>
                      <a:pt x="721245" y="44615"/>
                    </a:lnTo>
                    <a:lnTo>
                      <a:pt x="691413" y="5562"/>
                    </a:lnTo>
                    <a:lnTo>
                      <a:pt x="677189" y="7086"/>
                    </a:lnTo>
                    <a:lnTo>
                      <a:pt x="684542" y="17208"/>
                    </a:lnTo>
                    <a:lnTo>
                      <a:pt x="690587" y="25806"/>
                    </a:lnTo>
                    <a:lnTo>
                      <a:pt x="709790" y="61201"/>
                    </a:lnTo>
                    <a:lnTo>
                      <a:pt x="720686" y="99682"/>
                    </a:lnTo>
                    <a:lnTo>
                      <a:pt x="723023" y="136982"/>
                    </a:lnTo>
                    <a:lnTo>
                      <a:pt x="719759" y="164299"/>
                    </a:lnTo>
                    <a:lnTo>
                      <a:pt x="712355" y="192087"/>
                    </a:lnTo>
                    <a:lnTo>
                      <a:pt x="700811" y="220319"/>
                    </a:lnTo>
                    <a:lnTo>
                      <a:pt x="715035" y="218795"/>
                    </a:lnTo>
                    <a:lnTo>
                      <a:pt x="732955" y="181025"/>
                    </a:lnTo>
                    <a:lnTo>
                      <a:pt x="743000" y="137414"/>
                    </a:lnTo>
                    <a:lnTo>
                      <a:pt x="743546" y="122580"/>
                    </a:lnTo>
                    <a:close/>
                  </a:path>
                  <a:path w="4283075" h="264795">
                    <a:moveTo>
                      <a:pt x="3686835" y="52933"/>
                    </a:moveTo>
                    <a:lnTo>
                      <a:pt x="3683774" y="41986"/>
                    </a:lnTo>
                    <a:lnTo>
                      <a:pt x="3679367" y="32169"/>
                    </a:lnTo>
                    <a:lnTo>
                      <a:pt x="3673576" y="23507"/>
                    </a:lnTo>
                    <a:lnTo>
                      <a:pt x="3668776" y="18478"/>
                    </a:lnTo>
                    <a:lnTo>
                      <a:pt x="3666388" y="15976"/>
                    </a:lnTo>
                    <a:lnTo>
                      <a:pt x="3626256" y="228"/>
                    </a:lnTo>
                    <a:lnTo>
                      <a:pt x="3615652" y="0"/>
                    </a:lnTo>
                    <a:lnTo>
                      <a:pt x="3605390" y="1016"/>
                    </a:lnTo>
                    <a:lnTo>
                      <a:pt x="3569017" y="17741"/>
                    </a:lnTo>
                    <a:lnTo>
                      <a:pt x="3546945" y="53492"/>
                    </a:lnTo>
                    <a:lnTo>
                      <a:pt x="3542169" y="88696"/>
                    </a:lnTo>
                    <a:lnTo>
                      <a:pt x="3542906" y="99923"/>
                    </a:lnTo>
                    <a:lnTo>
                      <a:pt x="3556812" y="140385"/>
                    </a:lnTo>
                    <a:lnTo>
                      <a:pt x="3588677" y="164249"/>
                    </a:lnTo>
                    <a:lnTo>
                      <a:pt x="3624669" y="169011"/>
                    </a:lnTo>
                    <a:lnTo>
                      <a:pt x="3636124" y="167284"/>
                    </a:lnTo>
                    <a:lnTo>
                      <a:pt x="3646767" y="163728"/>
                    </a:lnTo>
                    <a:lnTo>
                      <a:pt x="3656609" y="158343"/>
                    </a:lnTo>
                    <a:lnTo>
                      <a:pt x="3665334" y="151231"/>
                    </a:lnTo>
                    <a:lnTo>
                      <a:pt x="3666134" y="150291"/>
                    </a:lnTo>
                    <a:lnTo>
                      <a:pt x="3672878" y="142430"/>
                    </a:lnTo>
                    <a:lnTo>
                      <a:pt x="3679190" y="131940"/>
                    </a:lnTo>
                    <a:lnTo>
                      <a:pt x="3684295" y="119735"/>
                    </a:lnTo>
                    <a:lnTo>
                      <a:pt x="3663086" y="112623"/>
                    </a:lnTo>
                    <a:lnTo>
                      <a:pt x="3659581" y="122059"/>
                    </a:lnTo>
                    <a:lnTo>
                      <a:pt x="3655174" y="130136"/>
                    </a:lnTo>
                    <a:lnTo>
                      <a:pt x="3620795" y="150291"/>
                    </a:lnTo>
                    <a:lnTo>
                      <a:pt x="3612032" y="150215"/>
                    </a:lnTo>
                    <a:lnTo>
                      <a:pt x="3574605" y="129857"/>
                    </a:lnTo>
                    <a:lnTo>
                      <a:pt x="3564458" y="88938"/>
                    </a:lnTo>
                    <a:lnTo>
                      <a:pt x="3564915" y="78854"/>
                    </a:lnTo>
                    <a:lnTo>
                      <a:pt x="3576116" y="40932"/>
                    </a:lnTo>
                    <a:lnTo>
                      <a:pt x="3615271" y="18478"/>
                    </a:lnTo>
                    <a:lnTo>
                      <a:pt x="3624351" y="18643"/>
                    </a:lnTo>
                    <a:lnTo>
                      <a:pt x="3659543" y="40259"/>
                    </a:lnTo>
                    <a:lnTo>
                      <a:pt x="3665245" y="56235"/>
                    </a:lnTo>
                    <a:lnTo>
                      <a:pt x="3686835" y="52933"/>
                    </a:lnTo>
                    <a:close/>
                  </a:path>
                  <a:path w="4283075" h="264795">
                    <a:moveTo>
                      <a:pt x="3836441" y="19913"/>
                    </a:moveTo>
                    <a:lnTo>
                      <a:pt x="3707155" y="9499"/>
                    </a:lnTo>
                    <a:lnTo>
                      <a:pt x="3705504" y="28803"/>
                    </a:lnTo>
                    <a:lnTo>
                      <a:pt x="3759352" y="33121"/>
                    </a:lnTo>
                    <a:lnTo>
                      <a:pt x="3747668" y="177012"/>
                    </a:lnTo>
                    <a:lnTo>
                      <a:pt x="3769258" y="178663"/>
                    </a:lnTo>
                    <a:lnTo>
                      <a:pt x="3780942" y="34899"/>
                    </a:lnTo>
                    <a:lnTo>
                      <a:pt x="3834790" y="39217"/>
                    </a:lnTo>
                    <a:lnTo>
                      <a:pt x="3835158" y="34899"/>
                    </a:lnTo>
                    <a:lnTo>
                      <a:pt x="3836441" y="19913"/>
                    </a:lnTo>
                    <a:close/>
                  </a:path>
                  <a:path w="4283075" h="264795">
                    <a:moveTo>
                      <a:pt x="3974490" y="77317"/>
                    </a:moveTo>
                    <a:lnTo>
                      <a:pt x="3962311" y="42443"/>
                    </a:lnTo>
                    <a:lnTo>
                      <a:pt x="3960342" y="40271"/>
                    </a:lnTo>
                    <a:lnTo>
                      <a:pt x="3917073" y="23596"/>
                    </a:lnTo>
                    <a:lnTo>
                      <a:pt x="3909034" y="23317"/>
                    </a:lnTo>
                    <a:lnTo>
                      <a:pt x="3901287" y="23761"/>
                    </a:lnTo>
                    <a:lnTo>
                      <a:pt x="3865016" y="41503"/>
                    </a:lnTo>
                    <a:lnTo>
                      <a:pt x="3856101" y="64236"/>
                    </a:lnTo>
                    <a:lnTo>
                      <a:pt x="3855491" y="71475"/>
                    </a:lnTo>
                    <a:lnTo>
                      <a:pt x="3881564" y="104190"/>
                    </a:lnTo>
                    <a:lnTo>
                      <a:pt x="3917099" y="117386"/>
                    </a:lnTo>
                    <a:lnTo>
                      <a:pt x="3925176" y="120218"/>
                    </a:lnTo>
                    <a:lnTo>
                      <a:pt x="3953154" y="143738"/>
                    </a:lnTo>
                    <a:lnTo>
                      <a:pt x="3952392" y="153898"/>
                    </a:lnTo>
                    <a:lnTo>
                      <a:pt x="3918229" y="173964"/>
                    </a:lnTo>
                    <a:lnTo>
                      <a:pt x="3909974" y="173329"/>
                    </a:lnTo>
                    <a:lnTo>
                      <a:pt x="3873144" y="157962"/>
                    </a:lnTo>
                    <a:lnTo>
                      <a:pt x="3864889" y="131800"/>
                    </a:lnTo>
                    <a:lnTo>
                      <a:pt x="3844315" y="132054"/>
                    </a:lnTo>
                    <a:lnTo>
                      <a:pt x="3860190" y="174218"/>
                    </a:lnTo>
                    <a:lnTo>
                      <a:pt x="3898887" y="191528"/>
                    </a:lnTo>
                    <a:lnTo>
                      <a:pt x="3918039" y="193078"/>
                    </a:lnTo>
                    <a:lnTo>
                      <a:pt x="3926230" y="192532"/>
                    </a:lnTo>
                    <a:lnTo>
                      <a:pt x="3963200" y="173964"/>
                    </a:lnTo>
                    <a:lnTo>
                      <a:pt x="3964330" y="172694"/>
                    </a:lnTo>
                    <a:lnTo>
                      <a:pt x="3974350" y="140055"/>
                    </a:lnTo>
                    <a:lnTo>
                      <a:pt x="3972699" y="132181"/>
                    </a:lnTo>
                    <a:lnTo>
                      <a:pt x="3943312" y="103949"/>
                    </a:lnTo>
                    <a:lnTo>
                      <a:pt x="3913771" y="93446"/>
                    </a:lnTo>
                    <a:lnTo>
                      <a:pt x="3902164" y="89496"/>
                    </a:lnTo>
                    <a:lnTo>
                      <a:pt x="3876586" y="69811"/>
                    </a:lnTo>
                    <a:lnTo>
                      <a:pt x="3877145" y="63309"/>
                    </a:lnTo>
                    <a:lnTo>
                      <a:pt x="3877589" y="57505"/>
                    </a:lnTo>
                    <a:lnTo>
                      <a:pt x="3907332" y="42443"/>
                    </a:lnTo>
                    <a:lnTo>
                      <a:pt x="3916451" y="42773"/>
                    </a:lnTo>
                    <a:lnTo>
                      <a:pt x="3951097" y="63309"/>
                    </a:lnTo>
                    <a:lnTo>
                      <a:pt x="3953649" y="77203"/>
                    </a:lnTo>
                    <a:lnTo>
                      <a:pt x="3974490" y="77317"/>
                    </a:lnTo>
                    <a:close/>
                  </a:path>
                  <a:path w="4283075" h="264795">
                    <a:moveTo>
                      <a:pt x="4062882" y="35407"/>
                    </a:moveTo>
                    <a:lnTo>
                      <a:pt x="4028033" y="60731"/>
                    </a:lnTo>
                    <a:lnTo>
                      <a:pt x="4008247" y="99796"/>
                    </a:lnTo>
                    <a:lnTo>
                      <a:pt x="4000398" y="137896"/>
                    </a:lnTo>
                    <a:lnTo>
                      <a:pt x="3999890" y="152806"/>
                    </a:lnTo>
                    <a:lnTo>
                      <a:pt x="4000855" y="167601"/>
                    </a:lnTo>
                    <a:lnTo>
                      <a:pt x="4012120" y="210896"/>
                    </a:lnTo>
                    <a:lnTo>
                      <a:pt x="4031246" y="248005"/>
                    </a:lnTo>
                    <a:lnTo>
                      <a:pt x="4045610" y="249148"/>
                    </a:lnTo>
                    <a:lnTo>
                      <a:pt x="4033202" y="221297"/>
                    </a:lnTo>
                    <a:lnTo>
                      <a:pt x="4024947" y="193751"/>
                    </a:lnTo>
                    <a:lnTo>
                      <a:pt x="4020870" y="166535"/>
                    </a:lnTo>
                    <a:lnTo>
                      <a:pt x="4020972" y="139674"/>
                    </a:lnTo>
                    <a:lnTo>
                      <a:pt x="4022115" y="129159"/>
                    </a:lnTo>
                    <a:lnTo>
                      <a:pt x="4031907" y="90055"/>
                    </a:lnTo>
                    <a:lnTo>
                      <a:pt x="4050017" y="54267"/>
                    </a:lnTo>
                    <a:lnTo>
                      <a:pt x="4055808" y="45605"/>
                    </a:lnTo>
                    <a:lnTo>
                      <a:pt x="4062882" y="35407"/>
                    </a:lnTo>
                    <a:close/>
                  </a:path>
                  <a:path w="4283075" h="264795">
                    <a:moveTo>
                      <a:pt x="4210075" y="214223"/>
                    </a:moveTo>
                    <a:lnTo>
                      <a:pt x="4191495" y="155803"/>
                    </a:lnTo>
                    <a:lnTo>
                      <a:pt x="4187456" y="143103"/>
                    </a:lnTo>
                    <a:lnTo>
                      <a:pt x="4165244" y="73291"/>
                    </a:lnTo>
                    <a:lnTo>
                      <a:pt x="4165244" y="143103"/>
                    </a:lnTo>
                    <a:lnTo>
                      <a:pt x="4109872" y="138658"/>
                    </a:lnTo>
                    <a:lnTo>
                      <a:pt x="4131716" y="92316"/>
                    </a:lnTo>
                    <a:lnTo>
                      <a:pt x="4134993" y="84759"/>
                    </a:lnTo>
                    <a:lnTo>
                      <a:pt x="4137977" y="77165"/>
                    </a:lnTo>
                    <a:lnTo>
                      <a:pt x="4140657" y="69519"/>
                    </a:lnTo>
                    <a:lnTo>
                      <a:pt x="4143019" y="61823"/>
                    </a:lnTo>
                    <a:lnTo>
                      <a:pt x="4144670" y="69519"/>
                    </a:lnTo>
                    <a:lnTo>
                      <a:pt x="4146537" y="77317"/>
                    </a:lnTo>
                    <a:lnTo>
                      <a:pt x="4148937" y="86512"/>
                    </a:lnTo>
                    <a:lnTo>
                      <a:pt x="4151782" y="96621"/>
                    </a:lnTo>
                    <a:lnTo>
                      <a:pt x="4165244" y="143103"/>
                    </a:lnTo>
                    <a:lnTo>
                      <a:pt x="4165244" y="73291"/>
                    </a:lnTo>
                    <a:lnTo>
                      <a:pt x="4161599" y="61823"/>
                    </a:lnTo>
                    <a:lnTo>
                      <a:pt x="4156481" y="45694"/>
                    </a:lnTo>
                    <a:lnTo>
                      <a:pt x="4133240" y="43802"/>
                    </a:lnTo>
                    <a:lnTo>
                      <a:pt x="4057421" y="201904"/>
                    </a:lnTo>
                    <a:lnTo>
                      <a:pt x="4080408" y="203682"/>
                    </a:lnTo>
                    <a:lnTo>
                      <a:pt x="4102252" y="155803"/>
                    </a:lnTo>
                    <a:lnTo>
                      <a:pt x="4170451" y="161264"/>
                    </a:lnTo>
                    <a:lnTo>
                      <a:pt x="4185564" y="212191"/>
                    </a:lnTo>
                    <a:lnTo>
                      <a:pt x="4210075" y="214223"/>
                    </a:lnTo>
                    <a:close/>
                  </a:path>
                  <a:path w="4283075" h="264795">
                    <a:moveTo>
                      <a:pt x="4282579" y="147358"/>
                    </a:moveTo>
                    <a:lnTo>
                      <a:pt x="4277639" y="109067"/>
                    </a:lnTo>
                    <a:lnTo>
                      <a:pt x="4259859" y="65316"/>
                    </a:lnTo>
                    <a:lnTo>
                      <a:pt x="4236872" y="49390"/>
                    </a:lnTo>
                    <a:lnTo>
                      <a:pt x="4242181" y="60718"/>
                    </a:lnTo>
                    <a:lnTo>
                      <a:pt x="4246486" y="70307"/>
                    </a:lnTo>
                    <a:lnTo>
                      <a:pt x="4258678" y="108661"/>
                    </a:lnTo>
                    <a:lnTo>
                      <a:pt x="4262056" y="148501"/>
                    </a:lnTo>
                    <a:lnTo>
                      <a:pt x="4261510" y="158978"/>
                    </a:lnTo>
                    <a:lnTo>
                      <a:pt x="4257243" y="185585"/>
                    </a:lnTo>
                    <a:lnTo>
                      <a:pt x="4248836" y="211836"/>
                    </a:lnTo>
                    <a:lnTo>
                      <a:pt x="4236288" y="237731"/>
                    </a:lnTo>
                    <a:lnTo>
                      <a:pt x="4219600" y="263245"/>
                    </a:lnTo>
                    <a:lnTo>
                      <a:pt x="4233951" y="264388"/>
                    </a:lnTo>
                    <a:lnTo>
                      <a:pt x="4258729" y="230733"/>
                    </a:lnTo>
                    <a:lnTo>
                      <a:pt x="4276826" y="189852"/>
                    </a:lnTo>
                    <a:lnTo>
                      <a:pt x="4282084" y="160502"/>
                    </a:lnTo>
                    <a:lnTo>
                      <a:pt x="4282579" y="147358"/>
                    </a:lnTo>
                    <a:close/>
                  </a:path>
                </a:pathLst>
              </a:custGeom>
              <a:solidFill>
                <a:srgbClr val="000000"/>
              </a:solidFill>
            </p:spPr>
            <p:txBody>
              <a:bodyPr wrap="square" lIns="0" tIns="0" rIns="0" bIns="0" rtlCol="0"/>
              <a:lstStyle/>
              <a:p>
                <a:endParaRPr/>
              </a:p>
            </p:txBody>
          </p:sp>
          <p:sp>
            <p:nvSpPr>
              <p:cNvPr id="15" name="object 15"/>
              <p:cNvSpPr/>
              <p:nvPr/>
            </p:nvSpPr>
            <p:spPr>
              <a:xfrm>
                <a:off x="1825752" y="3956304"/>
                <a:ext cx="5797296" cy="1799843"/>
              </a:xfrm>
              <a:prstGeom prst="rect">
                <a:avLst/>
              </a:prstGeom>
              <a:blipFill>
                <a:blip r:embed="rId5" cstate="print"/>
                <a:stretch>
                  <a:fillRect/>
                </a:stretch>
              </a:blipFill>
            </p:spPr>
            <p:txBody>
              <a:bodyPr wrap="square" lIns="0" tIns="0" rIns="0" bIns="0" rtlCol="0"/>
              <a:lstStyle/>
              <a:p>
                <a:endParaRPr/>
              </a:p>
            </p:txBody>
          </p:sp>
        </p:grpSp>
        <p:sp>
          <p:nvSpPr>
            <p:cNvPr id="16" name="object 16"/>
            <p:cNvSpPr txBox="1"/>
            <p:nvPr/>
          </p:nvSpPr>
          <p:spPr>
            <a:xfrm>
              <a:off x="267715" y="6016643"/>
              <a:ext cx="679770" cy="312968"/>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time</a:t>
              </a:r>
              <a:endParaRPr sz="1800" dirty="0">
                <a:latin typeface="Arial"/>
                <a:cs typeface="Arial"/>
              </a:endParaRPr>
            </a:p>
          </p:txBody>
        </p:sp>
        <p:sp>
          <p:nvSpPr>
            <p:cNvPr id="17" name="object 17"/>
            <p:cNvSpPr txBox="1"/>
            <p:nvPr/>
          </p:nvSpPr>
          <p:spPr>
            <a:xfrm>
              <a:off x="2609469" y="5105291"/>
              <a:ext cx="958215" cy="299720"/>
            </a:xfrm>
            <a:prstGeom prst="rect">
              <a:avLst/>
            </a:prstGeom>
          </p:spPr>
          <p:txBody>
            <a:bodyPr vert="horz" wrap="square" lIns="0" tIns="12700" rIns="0" bIns="0" rtlCol="0">
              <a:spAutoFit/>
            </a:bodyPr>
            <a:lstStyle/>
            <a:p>
              <a:pPr marL="12700">
                <a:lnSpc>
                  <a:spcPct val="100000"/>
                </a:lnSpc>
                <a:spcBef>
                  <a:spcPts val="100"/>
                </a:spcBef>
              </a:pPr>
              <a:r>
                <a:rPr sz="1800" spc="-65" dirty="0">
                  <a:latin typeface="Arial"/>
                  <a:cs typeface="Arial"/>
                </a:rPr>
                <a:t>DATA</a:t>
              </a:r>
              <a:r>
                <a:rPr sz="1800" spc="-185" dirty="0">
                  <a:latin typeface="Arial"/>
                  <a:cs typeface="Arial"/>
                </a:rPr>
                <a:t> </a:t>
              </a:r>
              <a:r>
                <a:rPr sz="1800" dirty="0">
                  <a:latin typeface="Arial"/>
                  <a:cs typeface="Arial"/>
                </a:rPr>
                <a:t>(A)</a:t>
              </a:r>
              <a:endParaRPr sz="1800">
                <a:latin typeface="Arial"/>
                <a:cs typeface="Arial"/>
              </a:endParaRPr>
            </a:p>
          </p:txBody>
        </p:sp>
        <p:grpSp>
          <p:nvGrpSpPr>
            <p:cNvPr id="18" name="object 18"/>
            <p:cNvGrpSpPr/>
            <p:nvPr/>
          </p:nvGrpSpPr>
          <p:grpSpPr>
            <a:xfrm>
              <a:off x="1825751" y="2651968"/>
              <a:ext cx="6472555" cy="4089400"/>
              <a:chOff x="1825751" y="2041969"/>
              <a:chExt cx="6472555" cy="4089400"/>
            </a:xfrm>
          </p:grpSpPr>
          <p:sp>
            <p:nvSpPr>
              <p:cNvPr id="19" name="object 19"/>
              <p:cNvSpPr/>
              <p:nvPr/>
            </p:nvSpPr>
            <p:spPr>
              <a:xfrm>
                <a:off x="1825752" y="5565647"/>
                <a:ext cx="6472555" cy="565785"/>
              </a:xfrm>
              <a:custGeom>
                <a:avLst/>
                <a:gdLst/>
                <a:ahLst/>
                <a:cxnLst/>
                <a:rect l="l" t="t" r="r" b="b"/>
                <a:pathLst>
                  <a:path w="6472555" h="565785">
                    <a:moveTo>
                      <a:pt x="6472428" y="296964"/>
                    </a:moveTo>
                    <a:lnTo>
                      <a:pt x="2951988" y="7048"/>
                    </a:lnTo>
                    <a:lnTo>
                      <a:pt x="2951988" y="0"/>
                    </a:lnTo>
                    <a:lnTo>
                      <a:pt x="2912567" y="3810"/>
                    </a:lnTo>
                    <a:lnTo>
                      <a:pt x="2884932" y="1524"/>
                    </a:lnTo>
                    <a:lnTo>
                      <a:pt x="2884932" y="6477"/>
                    </a:lnTo>
                    <a:lnTo>
                      <a:pt x="0" y="284581"/>
                    </a:lnTo>
                    <a:lnTo>
                      <a:pt x="0" y="551688"/>
                    </a:lnTo>
                    <a:lnTo>
                      <a:pt x="2914383" y="244043"/>
                    </a:lnTo>
                    <a:lnTo>
                      <a:pt x="6472428" y="565404"/>
                    </a:lnTo>
                    <a:lnTo>
                      <a:pt x="6472428" y="296964"/>
                    </a:lnTo>
                    <a:close/>
                  </a:path>
                </a:pathLst>
              </a:custGeom>
              <a:solidFill>
                <a:srgbClr val="FF99CC"/>
              </a:solidFill>
            </p:spPr>
            <p:txBody>
              <a:bodyPr wrap="square" lIns="0" tIns="0" rIns="0" bIns="0" rtlCol="0"/>
              <a:lstStyle/>
              <a:p>
                <a:endParaRPr/>
              </a:p>
            </p:txBody>
          </p:sp>
          <p:sp>
            <p:nvSpPr>
              <p:cNvPr id="20" name="object 20"/>
              <p:cNvSpPr/>
              <p:nvPr/>
            </p:nvSpPr>
            <p:spPr>
              <a:xfrm>
                <a:off x="2642870" y="5749086"/>
                <a:ext cx="4295140" cy="264795"/>
              </a:xfrm>
              <a:custGeom>
                <a:avLst/>
                <a:gdLst/>
                <a:ahLst/>
                <a:cxnLst/>
                <a:rect l="l" t="t" r="r" b="b"/>
                <a:pathLst>
                  <a:path w="4295140" h="264795">
                    <a:moveTo>
                      <a:pt x="152146" y="231190"/>
                    </a:moveTo>
                    <a:lnTo>
                      <a:pt x="127927" y="186753"/>
                    </a:lnTo>
                    <a:lnTo>
                      <a:pt x="122110" y="176072"/>
                    </a:lnTo>
                    <a:lnTo>
                      <a:pt x="94615" y="125615"/>
                    </a:lnTo>
                    <a:lnTo>
                      <a:pt x="94615" y="169964"/>
                    </a:lnTo>
                    <a:lnTo>
                      <a:pt x="39497" y="176072"/>
                    </a:lnTo>
                    <a:lnTo>
                      <a:pt x="52070" y="126390"/>
                    </a:lnTo>
                    <a:lnTo>
                      <a:pt x="53898" y="118376"/>
                    </a:lnTo>
                    <a:lnTo>
                      <a:pt x="55397" y="110350"/>
                    </a:lnTo>
                    <a:lnTo>
                      <a:pt x="56565" y="102349"/>
                    </a:lnTo>
                    <a:lnTo>
                      <a:pt x="57404" y="94348"/>
                    </a:lnTo>
                    <a:lnTo>
                      <a:pt x="60274" y="101180"/>
                    </a:lnTo>
                    <a:lnTo>
                      <a:pt x="63779" y="108864"/>
                    </a:lnTo>
                    <a:lnTo>
                      <a:pt x="67894" y="117398"/>
                    </a:lnTo>
                    <a:lnTo>
                      <a:pt x="72644" y="126796"/>
                    </a:lnTo>
                    <a:lnTo>
                      <a:pt x="94615" y="169964"/>
                    </a:lnTo>
                    <a:lnTo>
                      <a:pt x="94615" y="125615"/>
                    </a:lnTo>
                    <a:lnTo>
                      <a:pt x="77584" y="94348"/>
                    </a:lnTo>
                    <a:lnTo>
                      <a:pt x="67564" y="75933"/>
                    </a:lnTo>
                    <a:lnTo>
                      <a:pt x="44450" y="78498"/>
                    </a:lnTo>
                    <a:lnTo>
                      <a:pt x="0" y="248056"/>
                    </a:lnTo>
                    <a:lnTo>
                      <a:pt x="22860" y="245529"/>
                    </a:lnTo>
                    <a:lnTo>
                      <a:pt x="35179" y="194284"/>
                    </a:lnTo>
                    <a:lnTo>
                      <a:pt x="103251" y="186753"/>
                    </a:lnTo>
                    <a:lnTo>
                      <a:pt x="127635" y="233908"/>
                    </a:lnTo>
                    <a:lnTo>
                      <a:pt x="152146" y="231190"/>
                    </a:lnTo>
                    <a:close/>
                  </a:path>
                  <a:path w="4295140" h="264795">
                    <a:moveTo>
                      <a:pt x="301117" y="162471"/>
                    </a:moveTo>
                    <a:lnTo>
                      <a:pt x="279019" y="159423"/>
                    </a:lnTo>
                    <a:lnTo>
                      <a:pt x="277368" y="169367"/>
                    </a:lnTo>
                    <a:lnTo>
                      <a:pt x="274548" y="178142"/>
                    </a:lnTo>
                    <a:lnTo>
                      <a:pt x="244602" y="204470"/>
                    </a:lnTo>
                    <a:lnTo>
                      <a:pt x="228625" y="206413"/>
                    </a:lnTo>
                    <a:lnTo>
                      <a:pt x="221449" y="205752"/>
                    </a:lnTo>
                    <a:lnTo>
                      <a:pt x="186182" y="180428"/>
                    </a:lnTo>
                    <a:lnTo>
                      <a:pt x="175539" y="136867"/>
                    </a:lnTo>
                    <a:lnTo>
                      <a:pt x="175641" y="128892"/>
                    </a:lnTo>
                    <a:lnTo>
                      <a:pt x="187490" y="92519"/>
                    </a:lnTo>
                    <a:lnTo>
                      <a:pt x="223139" y="74536"/>
                    </a:lnTo>
                    <a:lnTo>
                      <a:pt x="230962" y="74180"/>
                    </a:lnTo>
                    <a:lnTo>
                      <a:pt x="238252" y="74917"/>
                    </a:lnTo>
                    <a:lnTo>
                      <a:pt x="270383" y="103670"/>
                    </a:lnTo>
                    <a:lnTo>
                      <a:pt x="290957" y="96329"/>
                    </a:lnTo>
                    <a:lnTo>
                      <a:pt x="263906" y="63944"/>
                    </a:lnTo>
                    <a:lnTo>
                      <a:pt x="233286" y="55549"/>
                    </a:lnTo>
                    <a:lnTo>
                      <a:pt x="221488" y="56070"/>
                    </a:lnTo>
                    <a:lnTo>
                      <a:pt x="183134" y="70256"/>
                    </a:lnTo>
                    <a:lnTo>
                      <a:pt x="158750" y="102044"/>
                    </a:lnTo>
                    <a:lnTo>
                      <a:pt x="153149" y="135089"/>
                    </a:lnTo>
                    <a:lnTo>
                      <a:pt x="153924" y="147447"/>
                    </a:lnTo>
                    <a:lnTo>
                      <a:pt x="167386" y="190093"/>
                    </a:lnTo>
                    <a:lnTo>
                      <a:pt x="195834" y="218325"/>
                    </a:lnTo>
                    <a:lnTo>
                      <a:pt x="227164" y="225018"/>
                    </a:lnTo>
                    <a:lnTo>
                      <a:pt x="239776" y="224294"/>
                    </a:lnTo>
                    <a:lnTo>
                      <a:pt x="280339" y="206413"/>
                    </a:lnTo>
                    <a:lnTo>
                      <a:pt x="298450" y="175399"/>
                    </a:lnTo>
                    <a:lnTo>
                      <a:pt x="301117" y="162471"/>
                    </a:lnTo>
                    <a:close/>
                  </a:path>
                  <a:path w="4295140" h="264795">
                    <a:moveTo>
                      <a:pt x="466471" y="196392"/>
                    </a:moveTo>
                    <a:lnTo>
                      <a:pt x="399376" y="123621"/>
                    </a:lnTo>
                    <a:lnTo>
                      <a:pt x="384556" y="107530"/>
                    </a:lnTo>
                    <a:lnTo>
                      <a:pt x="445389" y="34074"/>
                    </a:lnTo>
                    <a:lnTo>
                      <a:pt x="416306" y="37312"/>
                    </a:lnTo>
                    <a:lnTo>
                      <a:pt x="344424" y="126911"/>
                    </a:lnTo>
                    <a:lnTo>
                      <a:pt x="335534" y="46253"/>
                    </a:lnTo>
                    <a:lnTo>
                      <a:pt x="313944" y="48641"/>
                    </a:lnTo>
                    <a:lnTo>
                      <a:pt x="331978" y="211277"/>
                    </a:lnTo>
                    <a:lnTo>
                      <a:pt x="353568" y="208902"/>
                    </a:lnTo>
                    <a:lnTo>
                      <a:pt x="347218" y="152539"/>
                    </a:lnTo>
                    <a:lnTo>
                      <a:pt x="368261" y="126911"/>
                    </a:lnTo>
                    <a:lnTo>
                      <a:pt x="370967" y="123621"/>
                    </a:lnTo>
                    <a:lnTo>
                      <a:pt x="438023" y="199529"/>
                    </a:lnTo>
                    <a:lnTo>
                      <a:pt x="466471" y="196392"/>
                    </a:lnTo>
                    <a:close/>
                  </a:path>
                  <a:path w="4295140" h="264795">
                    <a:moveTo>
                      <a:pt x="539623" y="236689"/>
                    </a:moveTo>
                    <a:lnTo>
                      <a:pt x="508787" y="186182"/>
                    </a:lnTo>
                    <a:lnTo>
                      <a:pt x="494538" y="133756"/>
                    </a:lnTo>
                    <a:lnTo>
                      <a:pt x="493572" y="109829"/>
                    </a:lnTo>
                    <a:lnTo>
                      <a:pt x="493839" y="102133"/>
                    </a:lnTo>
                    <a:lnTo>
                      <a:pt x="501904" y="58381"/>
                    </a:lnTo>
                    <a:lnTo>
                      <a:pt x="516001" y="23456"/>
                    </a:lnTo>
                    <a:lnTo>
                      <a:pt x="501650" y="25044"/>
                    </a:lnTo>
                    <a:lnTo>
                      <a:pt x="481126" y="69735"/>
                    </a:lnTo>
                    <a:lnTo>
                      <a:pt x="473303" y="109829"/>
                    </a:lnTo>
                    <a:lnTo>
                      <a:pt x="473163" y="123253"/>
                    </a:lnTo>
                    <a:lnTo>
                      <a:pt x="474091" y="135915"/>
                    </a:lnTo>
                    <a:lnTo>
                      <a:pt x="485317" y="179019"/>
                    </a:lnTo>
                    <a:lnTo>
                      <a:pt x="507466" y="217335"/>
                    </a:lnTo>
                    <a:lnTo>
                      <a:pt x="525272" y="238277"/>
                    </a:lnTo>
                    <a:lnTo>
                      <a:pt x="539623" y="236689"/>
                    </a:lnTo>
                    <a:close/>
                  </a:path>
                  <a:path w="4295140" h="264795">
                    <a:moveTo>
                      <a:pt x="694436" y="171132"/>
                    </a:moveTo>
                    <a:lnTo>
                      <a:pt x="670217" y="126695"/>
                    </a:lnTo>
                    <a:lnTo>
                      <a:pt x="664400" y="116014"/>
                    </a:lnTo>
                    <a:lnTo>
                      <a:pt x="636905" y="65544"/>
                    </a:lnTo>
                    <a:lnTo>
                      <a:pt x="636905" y="109905"/>
                    </a:lnTo>
                    <a:lnTo>
                      <a:pt x="581787" y="116014"/>
                    </a:lnTo>
                    <a:lnTo>
                      <a:pt x="594360" y="66332"/>
                    </a:lnTo>
                    <a:lnTo>
                      <a:pt x="596188" y="58318"/>
                    </a:lnTo>
                    <a:lnTo>
                      <a:pt x="597687" y="50292"/>
                    </a:lnTo>
                    <a:lnTo>
                      <a:pt x="598855" y="42291"/>
                    </a:lnTo>
                    <a:lnTo>
                      <a:pt x="599694" y="34290"/>
                    </a:lnTo>
                    <a:lnTo>
                      <a:pt x="602564" y="41122"/>
                    </a:lnTo>
                    <a:lnTo>
                      <a:pt x="606069" y="48806"/>
                    </a:lnTo>
                    <a:lnTo>
                      <a:pt x="610184" y="57340"/>
                    </a:lnTo>
                    <a:lnTo>
                      <a:pt x="615048" y="66979"/>
                    </a:lnTo>
                    <a:lnTo>
                      <a:pt x="636905" y="109905"/>
                    </a:lnTo>
                    <a:lnTo>
                      <a:pt x="636905" y="65544"/>
                    </a:lnTo>
                    <a:lnTo>
                      <a:pt x="619887" y="34290"/>
                    </a:lnTo>
                    <a:lnTo>
                      <a:pt x="609854" y="15862"/>
                    </a:lnTo>
                    <a:lnTo>
                      <a:pt x="586613" y="18440"/>
                    </a:lnTo>
                    <a:lnTo>
                      <a:pt x="542290" y="187998"/>
                    </a:lnTo>
                    <a:lnTo>
                      <a:pt x="565023" y="185458"/>
                    </a:lnTo>
                    <a:lnTo>
                      <a:pt x="577469" y="134226"/>
                    </a:lnTo>
                    <a:lnTo>
                      <a:pt x="645541" y="126695"/>
                    </a:lnTo>
                    <a:lnTo>
                      <a:pt x="669925" y="173850"/>
                    </a:lnTo>
                    <a:lnTo>
                      <a:pt x="694436" y="171132"/>
                    </a:lnTo>
                    <a:close/>
                  </a:path>
                  <a:path w="4295140" h="264795">
                    <a:moveTo>
                      <a:pt x="755916" y="119735"/>
                    </a:moveTo>
                    <a:lnTo>
                      <a:pt x="749947" y="79197"/>
                    </a:lnTo>
                    <a:lnTo>
                      <a:pt x="733552" y="41770"/>
                    </a:lnTo>
                    <a:lnTo>
                      <a:pt x="703834" y="2654"/>
                    </a:lnTo>
                    <a:lnTo>
                      <a:pt x="689483" y="4241"/>
                    </a:lnTo>
                    <a:lnTo>
                      <a:pt x="696836" y="14376"/>
                    </a:lnTo>
                    <a:lnTo>
                      <a:pt x="702894" y="22974"/>
                    </a:lnTo>
                    <a:lnTo>
                      <a:pt x="722083" y="58331"/>
                    </a:lnTo>
                    <a:lnTo>
                      <a:pt x="732980" y="96824"/>
                    </a:lnTo>
                    <a:lnTo>
                      <a:pt x="735317" y="134099"/>
                    </a:lnTo>
                    <a:lnTo>
                      <a:pt x="732053" y="161442"/>
                    </a:lnTo>
                    <a:lnTo>
                      <a:pt x="724649" y="189242"/>
                    </a:lnTo>
                    <a:lnTo>
                      <a:pt x="713105" y="217474"/>
                    </a:lnTo>
                    <a:lnTo>
                      <a:pt x="727456" y="215887"/>
                    </a:lnTo>
                    <a:lnTo>
                      <a:pt x="745375" y="178193"/>
                    </a:lnTo>
                    <a:lnTo>
                      <a:pt x="755370" y="134581"/>
                    </a:lnTo>
                    <a:lnTo>
                      <a:pt x="755916" y="119735"/>
                    </a:lnTo>
                    <a:close/>
                  </a:path>
                  <a:path w="4295140" h="264795">
                    <a:moveTo>
                      <a:pt x="3678682" y="170345"/>
                    </a:moveTo>
                    <a:lnTo>
                      <a:pt x="3660051" y="111950"/>
                    </a:lnTo>
                    <a:lnTo>
                      <a:pt x="3656025" y="99326"/>
                    </a:lnTo>
                    <a:lnTo>
                      <a:pt x="3633724" y="29375"/>
                    </a:lnTo>
                    <a:lnTo>
                      <a:pt x="3633724" y="99326"/>
                    </a:lnTo>
                    <a:lnTo>
                      <a:pt x="3578479" y="94869"/>
                    </a:lnTo>
                    <a:lnTo>
                      <a:pt x="3600196" y="48475"/>
                    </a:lnTo>
                    <a:lnTo>
                      <a:pt x="3603472" y="40944"/>
                    </a:lnTo>
                    <a:lnTo>
                      <a:pt x="3606457" y="33362"/>
                    </a:lnTo>
                    <a:lnTo>
                      <a:pt x="3609136" y="25730"/>
                    </a:lnTo>
                    <a:lnTo>
                      <a:pt x="3611499" y="18021"/>
                    </a:lnTo>
                    <a:lnTo>
                      <a:pt x="3613175" y="25730"/>
                    </a:lnTo>
                    <a:lnTo>
                      <a:pt x="3615080" y="33489"/>
                    </a:lnTo>
                    <a:lnTo>
                      <a:pt x="3617531" y="42659"/>
                    </a:lnTo>
                    <a:lnTo>
                      <a:pt x="3620389" y="52781"/>
                    </a:lnTo>
                    <a:lnTo>
                      <a:pt x="3633724" y="99326"/>
                    </a:lnTo>
                    <a:lnTo>
                      <a:pt x="3633724" y="29375"/>
                    </a:lnTo>
                    <a:lnTo>
                      <a:pt x="3630104" y="18021"/>
                    </a:lnTo>
                    <a:lnTo>
                      <a:pt x="3624961" y="1866"/>
                    </a:lnTo>
                    <a:lnTo>
                      <a:pt x="3601720" y="0"/>
                    </a:lnTo>
                    <a:lnTo>
                      <a:pt x="3526028" y="158064"/>
                    </a:lnTo>
                    <a:lnTo>
                      <a:pt x="3548888" y="159905"/>
                    </a:lnTo>
                    <a:lnTo>
                      <a:pt x="3570732" y="111950"/>
                    </a:lnTo>
                    <a:lnTo>
                      <a:pt x="3639058" y="117436"/>
                    </a:lnTo>
                    <a:lnTo>
                      <a:pt x="3654044" y="168363"/>
                    </a:lnTo>
                    <a:lnTo>
                      <a:pt x="3678682" y="170345"/>
                    </a:lnTo>
                    <a:close/>
                  </a:path>
                  <a:path w="4295140" h="264795">
                    <a:moveTo>
                      <a:pt x="3840480" y="64236"/>
                    </a:moveTo>
                    <a:lnTo>
                      <a:pt x="3837419" y="53263"/>
                    </a:lnTo>
                    <a:lnTo>
                      <a:pt x="3833012" y="43446"/>
                    </a:lnTo>
                    <a:lnTo>
                      <a:pt x="3827221" y="34798"/>
                    </a:lnTo>
                    <a:lnTo>
                      <a:pt x="3822420" y="29819"/>
                    </a:lnTo>
                    <a:lnTo>
                      <a:pt x="3820033" y="27317"/>
                    </a:lnTo>
                    <a:lnTo>
                      <a:pt x="3779901" y="11544"/>
                    </a:lnTo>
                    <a:lnTo>
                      <a:pt x="3769296" y="11315"/>
                    </a:lnTo>
                    <a:lnTo>
                      <a:pt x="3759035" y="12344"/>
                    </a:lnTo>
                    <a:lnTo>
                      <a:pt x="3722662" y="29057"/>
                    </a:lnTo>
                    <a:lnTo>
                      <a:pt x="3700589" y="64795"/>
                    </a:lnTo>
                    <a:lnTo>
                      <a:pt x="3695814" y="99999"/>
                    </a:lnTo>
                    <a:lnTo>
                      <a:pt x="3696551" y="111239"/>
                    </a:lnTo>
                    <a:lnTo>
                      <a:pt x="3710508" y="151688"/>
                    </a:lnTo>
                    <a:lnTo>
                      <a:pt x="3742321" y="175577"/>
                    </a:lnTo>
                    <a:lnTo>
                      <a:pt x="3778313" y="180301"/>
                    </a:lnTo>
                    <a:lnTo>
                      <a:pt x="3789769" y="178587"/>
                    </a:lnTo>
                    <a:lnTo>
                      <a:pt x="3800411" y="175056"/>
                    </a:lnTo>
                    <a:lnTo>
                      <a:pt x="3810254" y="169697"/>
                    </a:lnTo>
                    <a:lnTo>
                      <a:pt x="3818979" y="162585"/>
                    </a:lnTo>
                    <a:lnTo>
                      <a:pt x="3819804" y="161620"/>
                    </a:lnTo>
                    <a:lnTo>
                      <a:pt x="3826522" y="153771"/>
                    </a:lnTo>
                    <a:lnTo>
                      <a:pt x="3832834" y="143281"/>
                    </a:lnTo>
                    <a:lnTo>
                      <a:pt x="3837940" y="131102"/>
                    </a:lnTo>
                    <a:lnTo>
                      <a:pt x="3816731" y="123913"/>
                    </a:lnTo>
                    <a:lnTo>
                      <a:pt x="3813225" y="133362"/>
                    </a:lnTo>
                    <a:lnTo>
                      <a:pt x="3808819" y="141452"/>
                    </a:lnTo>
                    <a:lnTo>
                      <a:pt x="3774490" y="161620"/>
                    </a:lnTo>
                    <a:lnTo>
                      <a:pt x="3765677" y="161569"/>
                    </a:lnTo>
                    <a:lnTo>
                      <a:pt x="3728301" y="141135"/>
                    </a:lnTo>
                    <a:lnTo>
                      <a:pt x="3718102" y="100241"/>
                    </a:lnTo>
                    <a:lnTo>
                      <a:pt x="3718560" y="90131"/>
                    </a:lnTo>
                    <a:lnTo>
                      <a:pt x="3729761" y="52260"/>
                    </a:lnTo>
                    <a:lnTo>
                      <a:pt x="3768915" y="29819"/>
                    </a:lnTo>
                    <a:lnTo>
                      <a:pt x="3777996" y="29972"/>
                    </a:lnTo>
                    <a:lnTo>
                      <a:pt x="3813187" y="51600"/>
                    </a:lnTo>
                    <a:lnTo>
                      <a:pt x="3818890" y="67525"/>
                    </a:lnTo>
                    <a:lnTo>
                      <a:pt x="3840480" y="64236"/>
                    </a:lnTo>
                    <a:close/>
                  </a:path>
                  <a:path w="4295140" h="264795">
                    <a:moveTo>
                      <a:pt x="4003929" y="32372"/>
                    </a:moveTo>
                    <a:lnTo>
                      <a:pt x="3974719" y="30022"/>
                    </a:lnTo>
                    <a:lnTo>
                      <a:pt x="3887203" y="104381"/>
                    </a:lnTo>
                    <a:lnTo>
                      <a:pt x="3893693" y="23495"/>
                    </a:lnTo>
                    <a:lnTo>
                      <a:pt x="3872103" y="21755"/>
                    </a:lnTo>
                    <a:lnTo>
                      <a:pt x="3859022" y="184873"/>
                    </a:lnTo>
                    <a:lnTo>
                      <a:pt x="3880599" y="186601"/>
                    </a:lnTo>
                    <a:lnTo>
                      <a:pt x="3885057" y="130086"/>
                    </a:lnTo>
                    <a:lnTo>
                      <a:pt x="3913886" y="106197"/>
                    </a:lnTo>
                    <a:lnTo>
                      <a:pt x="3965321" y="193433"/>
                    </a:lnTo>
                    <a:lnTo>
                      <a:pt x="3993769" y="195719"/>
                    </a:lnTo>
                    <a:lnTo>
                      <a:pt x="3938447" y="106197"/>
                    </a:lnTo>
                    <a:lnTo>
                      <a:pt x="3937330" y="104381"/>
                    </a:lnTo>
                    <a:lnTo>
                      <a:pt x="3930269" y="92951"/>
                    </a:lnTo>
                    <a:lnTo>
                      <a:pt x="4003929" y="32372"/>
                    </a:lnTo>
                    <a:close/>
                  </a:path>
                  <a:path w="4295140" h="264795">
                    <a:moveTo>
                      <a:pt x="4075176" y="35306"/>
                    </a:moveTo>
                    <a:lnTo>
                      <a:pt x="4040441" y="60680"/>
                    </a:lnTo>
                    <a:lnTo>
                      <a:pt x="4020667" y="99720"/>
                    </a:lnTo>
                    <a:lnTo>
                      <a:pt x="4012679" y="137782"/>
                    </a:lnTo>
                    <a:lnTo>
                      <a:pt x="4012260" y="152742"/>
                    </a:lnTo>
                    <a:lnTo>
                      <a:pt x="4013263" y="167563"/>
                    </a:lnTo>
                    <a:lnTo>
                      <a:pt x="4024477" y="210858"/>
                    </a:lnTo>
                    <a:lnTo>
                      <a:pt x="4043680" y="247992"/>
                    </a:lnTo>
                    <a:lnTo>
                      <a:pt x="4058031" y="249148"/>
                    </a:lnTo>
                    <a:lnTo>
                      <a:pt x="4045623" y="221272"/>
                    </a:lnTo>
                    <a:lnTo>
                      <a:pt x="4037355" y="193713"/>
                    </a:lnTo>
                    <a:lnTo>
                      <a:pt x="4033240" y="166471"/>
                    </a:lnTo>
                    <a:lnTo>
                      <a:pt x="4033355" y="138645"/>
                    </a:lnTo>
                    <a:lnTo>
                      <a:pt x="4034421" y="129082"/>
                    </a:lnTo>
                    <a:lnTo>
                      <a:pt x="4044277" y="90017"/>
                    </a:lnTo>
                    <a:lnTo>
                      <a:pt x="4062425" y="54241"/>
                    </a:lnTo>
                    <a:lnTo>
                      <a:pt x="4068165" y="45554"/>
                    </a:lnTo>
                    <a:lnTo>
                      <a:pt x="4075176" y="35306"/>
                    </a:lnTo>
                    <a:close/>
                  </a:path>
                  <a:path w="4295140" h="264795">
                    <a:moveTo>
                      <a:pt x="4222496" y="214134"/>
                    </a:moveTo>
                    <a:lnTo>
                      <a:pt x="4203916" y="155727"/>
                    </a:lnTo>
                    <a:lnTo>
                      <a:pt x="4199890" y="143103"/>
                    </a:lnTo>
                    <a:lnTo>
                      <a:pt x="4177538" y="72834"/>
                    </a:lnTo>
                    <a:lnTo>
                      <a:pt x="4177538" y="143103"/>
                    </a:lnTo>
                    <a:lnTo>
                      <a:pt x="4122293" y="138645"/>
                    </a:lnTo>
                    <a:lnTo>
                      <a:pt x="4144010" y="92252"/>
                    </a:lnTo>
                    <a:lnTo>
                      <a:pt x="4147337" y="84721"/>
                    </a:lnTo>
                    <a:lnTo>
                      <a:pt x="4150322" y="77139"/>
                    </a:lnTo>
                    <a:lnTo>
                      <a:pt x="4152963" y="69507"/>
                    </a:lnTo>
                    <a:lnTo>
                      <a:pt x="4155313" y="61810"/>
                    </a:lnTo>
                    <a:lnTo>
                      <a:pt x="4156976" y="69507"/>
                    </a:lnTo>
                    <a:lnTo>
                      <a:pt x="4158894" y="77279"/>
                    </a:lnTo>
                    <a:lnTo>
                      <a:pt x="4161345" y="86436"/>
                    </a:lnTo>
                    <a:lnTo>
                      <a:pt x="4164203" y="96558"/>
                    </a:lnTo>
                    <a:lnTo>
                      <a:pt x="4177538" y="143103"/>
                    </a:lnTo>
                    <a:lnTo>
                      <a:pt x="4177538" y="72834"/>
                    </a:lnTo>
                    <a:lnTo>
                      <a:pt x="4174032" y="61810"/>
                    </a:lnTo>
                    <a:lnTo>
                      <a:pt x="4168902" y="45643"/>
                    </a:lnTo>
                    <a:lnTo>
                      <a:pt x="4145534" y="43776"/>
                    </a:lnTo>
                    <a:lnTo>
                      <a:pt x="4069842" y="201841"/>
                    </a:lnTo>
                    <a:lnTo>
                      <a:pt x="4092702" y="203682"/>
                    </a:lnTo>
                    <a:lnTo>
                      <a:pt x="4114673" y="155727"/>
                    </a:lnTo>
                    <a:lnTo>
                      <a:pt x="4182872" y="161226"/>
                    </a:lnTo>
                    <a:lnTo>
                      <a:pt x="4197858" y="212153"/>
                    </a:lnTo>
                    <a:lnTo>
                      <a:pt x="4222496" y="214134"/>
                    </a:lnTo>
                    <a:close/>
                  </a:path>
                  <a:path w="4295140" h="264795">
                    <a:moveTo>
                      <a:pt x="4295000" y="147332"/>
                    </a:moveTo>
                    <a:lnTo>
                      <a:pt x="4289933" y="109042"/>
                    </a:lnTo>
                    <a:lnTo>
                      <a:pt x="4272178" y="65239"/>
                    </a:lnTo>
                    <a:lnTo>
                      <a:pt x="4249166" y="49314"/>
                    </a:lnTo>
                    <a:lnTo>
                      <a:pt x="4254538" y="60667"/>
                    </a:lnTo>
                    <a:lnTo>
                      <a:pt x="4258881" y="70256"/>
                    </a:lnTo>
                    <a:lnTo>
                      <a:pt x="4270972" y="108610"/>
                    </a:lnTo>
                    <a:lnTo>
                      <a:pt x="4274413" y="148463"/>
                    </a:lnTo>
                    <a:lnTo>
                      <a:pt x="4273931" y="158915"/>
                    </a:lnTo>
                    <a:lnTo>
                      <a:pt x="4269664" y="185508"/>
                    </a:lnTo>
                    <a:lnTo>
                      <a:pt x="4261256" y="211747"/>
                    </a:lnTo>
                    <a:lnTo>
                      <a:pt x="4248709" y="237642"/>
                    </a:lnTo>
                    <a:lnTo>
                      <a:pt x="4232021" y="263169"/>
                    </a:lnTo>
                    <a:lnTo>
                      <a:pt x="4246372" y="264312"/>
                    </a:lnTo>
                    <a:lnTo>
                      <a:pt x="4271099" y="230708"/>
                    </a:lnTo>
                    <a:lnTo>
                      <a:pt x="4289183" y="189776"/>
                    </a:lnTo>
                    <a:lnTo>
                      <a:pt x="4294505" y="160464"/>
                    </a:lnTo>
                    <a:lnTo>
                      <a:pt x="4295000" y="147332"/>
                    </a:lnTo>
                    <a:close/>
                  </a:path>
                </a:pathLst>
              </a:custGeom>
              <a:solidFill>
                <a:srgbClr val="000000"/>
              </a:solidFill>
            </p:spPr>
            <p:txBody>
              <a:bodyPr wrap="square" lIns="0" tIns="0" rIns="0" bIns="0" rtlCol="0"/>
              <a:lstStyle/>
              <a:p>
                <a:endParaRPr/>
              </a:p>
            </p:txBody>
          </p:sp>
          <p:sp>
            <p:nvSpPr>
              <p:cNvPr id="21" name="object 21"/>
              <p:cNvSpPr/>
              <p:nvPr/>
            </p:nvSpPr>
            <p:spPr>
              <a:xfrm>
                <a:off x="4418075" y="2046732"/>
                <a:ext cx="1083945" cy="464820"/>
              </a:xfrm>
              <a:custGeom>
                <a:avLst/>
                <a:gdLst/>
                <a:ahLst/>
                <a:cxnLst/>
                <a:rect l="l" t="t" r="r" b="b"/>
                <a:pathLst>
                  <a:path w="1083945" h="464819">
                    <a:moveTo>
                      <a:pt x="728472" y="0"/>
                    </a:moveTo>
                    <a:lnTo>
                      <a:pt x="541782" y="124840"/>
                    </a:lnTo>
                    <a:lnTo>
                      <a:pt x="418973" y="49402"/>
                    </a:lnTo>
                    <a:lnTo>
                      <a:pt x="366775" y="136016"/>
                    </a:lnTo>
                    <a:lnTo>
                      <a:pt x="18541" y="49402"/>
                    </a:lnTo>
                    <a:lnTo>
                      <a:pt x="232156" y="163956"/>
                    </a:lnTo>
                    <a:lnTo>
                      <a:pt x="0" y="185419"/>
                    </a:lnTo>
                    <a:lnTo>
                      <a:pt x="186689" y="253364"/>
                    </a:lnTo>
                    <a:lnTo>
                      <a:pt x="6731" y="313943"/>
                    </a:lnTo>
                    <a:lnTo>
                      <a:pt x="284225" y="299973"/>
                    </a:lnTo>
                    <a:lnTo>
                      <a:pt x="238887" y="379094"/>
                    </a:lnTo>
                    <a:lnTo>
                      <a:pt x="386969" y="336295"/>
                    </a:lnTo>
                    <a:lnTo>
                      <a:pt x="425703" y="464819"/>
                    </a:lnTo>
                    <a:lnTo>
                      <a:pt x="528320" y="321437"/>
                    </a:lnTo>
                    <a:lnTo>
                      <a:pt x="664590" y="424688"/>
                    </a:lnTo>
                    <a:lnTo>
                      <a:pt x="703326" y="311150"/>
                    </a:lnTo>
                    <a:lnTo>
                      <a:pt x="910209" y="389381"/>
                    </a:lnTo>
                    <a:lnTo>
                      <a:pt x="844676" y="278510"/>
                    </a:lnTo>
                    <a:lnTo>
                      <a:pt x="1083564" y="286003"/>
                    </a:lnTo>
                    <a:lnTo>
                      <a:pt x="883285" y="225425"/>
                    </a:lnTo>
                    <a:lnTo>
                      <a:pt x="1058290" y="175132"/>
                    </a:lnTo>
                    <a:lnTo>
                      <a:pt x="837819" y="157352"/>
                    </a:lnTo>
                    <a:lnTo>
                      <a:pt x="922020" y="95884"/>
                    </a:lnTo>
                    <a:lnTo>
                      <a:pt x="710057" y="114553"/>
                    </a:lnTo>
                    <a:lnTo>
                      <a:pt x="728472" y="0"/>
                    </a:lnTo>
                    <a:close/>
                  </a:path>
                </a:pathLst>
              </a:custGeom>
              <a:solidFill>
                <a:srgbClr val="FFFF00"/>
              </a:solidFill>
            </p:spPr>
            <p:txBody>
              <a:bodyPr wrap="square" lIns="0" tIns="0" rIns="0" bIns="0" rtlCol="0"/>
              <a:lstStyle/>
              <a:p>
                <a:endParaRPr/>
              </a:p>
            </p:txBody>
          </p:sp>
          <p:sp>
            <p:nvSpPr>
              <p:cNvPr id="22" name="object 22"/>
              <p:cNvSpPr/>
              <p:nvPr/>
            </p:nvSpPr>
            <p:spPr>
              <a:xfrm>
                <a:off x="4418075" y="2046732"/>
                <a:ext cx="1083945" cy="464820"/>
              </a:xfrm>
              <a:custGeom>
                <a:avLst/>
                <a:gdLst/>
                <a:ahLst/>
                <a:cxnLst/>
                <a:rect l="l" t="t" r="r" b="b"/>
                <a:pathLst>
                  <a:path w="1083945" h="464819">
                    <a:moveTo>
                      <a:pt x="541782" y="124840"/>
                    </a:moveTo>
                    <a:lnTo>
                      <a:pt x="728472" y="0"/>
                    </a:lnTo>
                    <a:lnTo>
                      <a:pt x="710057" y="114553"/>
                    </a:lnTo>
                    <a:lnTo>
                      <a:pt x="922020" y="95884"/>
                    </a:lnTo>
                    <a:lnTo>
                      <a:pt x="837819" y="157352"/>
                    </a:lnTo>
                    <a:lnTo>
                      <a:pt x="1058290" y="175132"/>
                    </a:lnTo>
                    <a:lnTo>
                      <a:pt x="883285" y="225425"/>
                    </a:lnTo>
                    <a:lnTo>
                      <a:pt x="1083564" y="286003"/>
                    </a:lnTo>
                    <a:lnTo>
                      <a:pt x="844676" y="278510"/>
                    </a:lnTo>
                    <a:lnTo>
                      <a:pt x="910209" y="389381"/>
                    </a:lnTo>
                    <a:lnTo>
                      <a:pt x="703326" y="311150"/>
                    </a:lnTo>
                    <a:lnTo>
                      <a:pt x="664590" y="424688"/>
                    </a:lnTo>
                    <a:lnTo>
                      <a:pt x="528320" y="321437"/>
                    </a:lnTo>
                    <a:lnTo>
                      <a:pt x="425703" y="464819"/>
                    </a:lnTo>
                    <a:lnTo>
                      <a:pt x="386969" y="336295"/>
                    </a:lnTo>
                    <a:lnTo>
                      <a:pt x="238887" y="379094"/>
                    </a:lnTo>
                    <a:lnTo>
                      <a:pt x="284225" y="299973"/>
                    </a:lnTo>
                    <a:lnTo>
                      <a:pt x="6731" y="313943"/>
                    </a:lnTo>
                    <a:lnTo>
                      <a:pt x="186689" y="253364"/>
                    </a:lnTo>
                    <a:lnTo>
                      <a:pt x="0" y="185419"/>
                    </a:lnTo>
                    <a:lnTo>
                      <a:pt x="232156" y="163956"/>
                    </a:lnTo>
                    <a:lnTo>
                      <a:pt x="18541" y="49402"/>
                    </a:lnTo>
                    <a:lnTo>
                      <a:pt x="366775" y="136016"/>
                    </a:lnTo>
                    <a:lnTo>
                      <a:pt x="418973" y="49402"/>
                    </a:lnTo>
                    <a:lnTo>
                      <a:pt x="541782" y="124840"/>
                    </a:lnTo>
                    <a:close/>
                  </a:path>
                </a:pathLst>
              </a:custGeom>
              <a:ln w="9144">
                <a:solidFill>
                  <a:srgbClr val="000000"/>
                </a:solidFill>
              </a:ln>
            </p:spPr>
            <p:txBody>
              <a:bodyPr wrap="square" lIns="0" tIns="0" rIns="0" bIns="0" rtlCol="0"/>
              <a:lstStyle/>
              <a:p>
                <a:endParaRPr/>
              </a:p>
            </p:txBody>
          </p:sp>
        </p:grpSp>
        <p:sp>
          <p:nvSpPr>
            <p:cNvPr id="23" name="object 23"/>
            <p:cNvSpPr txBox="1"/>
            <p:nvPr/>
          </p:nvSpPr>
          <p:spPr>
            <a:xfrm>
              <a:off x="4786376" y="3032600"/>
              <a:ext cx="2028825"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reservation</a:t>
              </a:r>
              <a:r>
                <a:rPr sz="1800" spc="-50" dirty="0">
                  <a:latin typeface="Arial"/>
                  <a:cs typeface="Arial"/>
                </a:rPr>
                <a:t> </a:t>
              </a:r>
              <a:r>
                <a:rPr sz="1800" spc="-5" dirty="0">
                  <a:latin typeface="Arial"/>
                  <a:cs typeface="Arial"/>
                </a:rPr>
                <a:t>collision</a:t>
              </a:r>
              <a:endParaRPr sz="1800">
                <a:latin typeface="Arial"/>
                <a:cs typeface="Arial"/>
              </a:endParaRPr>
            </a:p>
          </p:txBody>
        </p:sp>
        <p:grpSp>
          <p:nvGrpSpPr>
            <p:cNvPr id="24" name="object 24"/>
            <p:cNvGrpSpPr/>
            <p:nvPr/>
          </p:nvGrpSpPr>
          <p:grpSpPr>
            <a:xfrm>
              <a:off x="8014716" y="4282077"/>
              <a:ext cx="711835" cy="2425065"/>
              <a:chOff x="8014716" y="3672078"/>
              <a:chExt cx="711835" cy="2425065"/>
            </a:xfrm>
          </p:grpSpPr>
          <p:sp>
            <p:nvSpPr>
              <p:cNvPr id="25" name="object 25"/>
              <p:cNvSpPr/>
              <p:nvPr/>
            </p:nvSpPr>
            <p:spPr>
              <a:xfrm>
                <a:off x="8385048" y="3672078"/>
                <a:ext cx="86995" cy="2425065"/>
              </a:xfrm>
              <a:custGeom>
                <a:avLst/>
                <a:gdLst/>
                <a:ahLst/>
                <a:cxnLst/>
                <a:rect l="l" t="t" r="r" b="b"/>
                <a:pathLst>
                  <a:path w="86995" h="2425065">
                    <a:moveTo>
                      <a:pt x="28955" y="2337816"/>
                    </a:moveTo>
                    <a:lnTo>
                      <a:pt x="0" y="2337816"/>
                    </a:lnTo>
                    <a:lnTo>
                      <a:pt x="43433" y="2424684"/>
                    </a:lnTo>
                    <a:lnTo>
                      <a:pt x="79628" y="2352294"/>
                    </a:lnTo>
                    <a:lnTo>
                      <a:pt x="28955" y="2352294"/>
                    </a:lnTo>
                    <a:lnTo>
                      <a:pt x="28955" y="2337816"/>
                    </a:lnTo>
                    <a:close/>
                  </a:path>
                  <a:path w="86995" h="2425065">
                    <a:moveTo>
                      <a:pt x="57911" y="72390"/>
                    </a:moveTo>
                    <a:lnTo>
                      <a:pt x="28955" y="72390"/>
                    </a:lnTo>
                    <a:lnTo>
                      <a:pt x="28955" y="2352294"/>
                    </a:lnTo>
                    <a:lnTo>
                      <a:pt x="57911" y="2352294"/>
                    </a:lnTo>
                    <a:lnTo>
                      <a:pt x="57911" y="72390"/>
                    </a:lnTo>
                    <a:close/>
                  </a:path>
                  <a:path w="86995" h="2425065">
                    <a:moveTo>
                      <a:pt x="86868" y="2337816"/>
                    </a:moveTo>
                    <a:lnTo>
                      <a:pt x="57911" y="2337816"/>
                    </a:lnTo>
                    <a:lnTo>
                      <a:pt x="57911" y="2352294"/>
                    </a:lnTo>
                    <a:lnTo>
                      <a:pt x="79628" y="2352294"/>
                    </a:lnTo>
                    <a:lnTo>
                      <a:pt x="86868" y="2337816"/>
                    </a:lnTo>
                    <a:close/>
                  </a:path>
                  <a:path w="86995" h="2425065">
                    <a:moveTo>
                      <a:pt x="43433" y="0"/>
                    </a:moveTo>
                    <a:lnTo>
                      <a:pt x="0" y="86868"/>
                    </a:lnTo>
                    <a:lnTo>
                      <a:pt x="28955" y="86868"/>
                    </a:lnTo>
                    <a:lnTo>
                      <a:pt x="28955" y="72390"/>
                    </a:lnTo>
                    <a:lnTo>
                      <a:pt x="79628" y="72390"/>
                    </a:lnTo>
                    <a:lnTo>
                      <a:pt x="43433" y="0"/>
                    </a:lnTo>
                    <a:close/>
                  </a:path>
                  <a:path w="86995" h="2425065">
                    <a:moveTo>
                      <a:pt x="79628" y="72390"/>
                    </a:moveTo>
                    <a:lnTo>
                      <a:pt x="57911" y="72390"/>
                    </a:lnTo>
                    <a:lnTo>
                      <a:pt x="57911" y="86868"/>
                    </a:lnTo>
                    <a:lnTo>
                      <a:pt x="86868" y="86868"/>
                    </a:lnTo>
                    <a:lnTo>
                      <a:pt x="79628" y="72390"/>
                    </a:lnTo>
                    <a:close/>
                  </a:path>
                </a:pathLst>
              </a:custGeom>
              <a:solidFill>
                <a:srgbClr val="000000"/>
              </a:solidFill>
            </p:spPr>
            <p:txBody>
              <a:bodyPr wrap="square" lIns="0" tIns="0" rIns="0" bIns="0" rtlCol="0"/>
              <a:lstStyle/>
              <a:p>
                <a:endParaRPr/>
              </a:p>
            </p:txBody>
          </p:sp>
          <p:sp>
            <p:nvSpPr>
              <p:cNvPr id="26" name="object 26"/>
              <p:cNvSpPr/>
              <p:nvPr/>
            </p:nvSpPr>
            <p:spPr>
              <a:xfrm>
                <a:off x="8014716" y="4689348"/>
                <a:ext cx="711835" cy="370840"/>
              </a:xfrm>
              <a:custGeom>
                <a:avLst/>
                <a:gdLst/>
                <a:ahLst/>
                <a:cxnLst/>
                <a:rect l="l" t="t" r="r" b="b"/>
                <a:pathLst>
                  <a:path w="711834" h="370839">
                    <a:moveTo>
                      <a:pt x="711707" y="0"/>
                    </a:moveTo>
                    <a:lnTo>
                      <a:pt x="0" y="0"/>
                    </a:lnTo>
                    <a:lnTo>
                      <a:pt x="0" y="370331"/>
                    </a:lnTo>
                    <a:lnTo>
                      <a:pt x="711707" y="370331"/>
                    </a:lnTo>
                    <a:lnTo>
                      <a:pt x="711707" y="0"/>
                    </a:lnTo>
                    <a:close/>
                  </a:path>
                </a:pathLst>
              </a:custGeom>
              <a:solidFill>
                <a:srgbClr val="FFFFFF"/>
              </a:solidFill>
            </p:spPr>
            <p:txBody>
              <a:bodyPr wrap="square" lIns="0" tIns="0" rIns="0" bIns="0" rtlCol="0"/>
              <a:lstStyle/>
              <a:p>
                <a:endParaRPr/>
              </a:p>
            </p:txBody>
          </p:sp>
        </p:grpSp>
        <p:sp>
          <p:nvSpPr>
            <p:cNvPr id="27" name="object 27"/>
            <p:cNvSpPr txBox="1"/>
            <p:nvPr/>
          </p:nvSpPr>
          <p:spPr>
            <a:xfrm>
              <a:off x="8095233" y="5327540"/>
              <a:ext cx="930513" cy="312968"/>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d</a:t>
              </a:r>
              <a:r>
                <a:rPr sz="1800" spc="-15" dirty="0">
                  <a:latin typeface="Arial"/>
                  <a:cs typeface="Arial"/>
                </a:rPr>
                <a:t>e</a:t>
              </a:r>
              <a:r>
                <a:rPr sz="1800" dirty="0">
                  <a:latin typeface="Arial"/>
                  <a:cs typeface="Arial"/>
                </a:rPr>
                <a:t>fer</a:t>
              </a:r>
            </a:p>
          </p:txBody>
        </p:sp>
        <p:grpSp>
          <p:nvGrpSpPr>
            <p:cNvPr id="28" name="object 28"/>
            <p:cNvGrpSpPr/>
            <p:nvPr/>
          </p:nvGrpSpPr>
          <p:grpSpPr>
            <a:xfrm>
              <a:off x="1514855" y="1667654"/>
              <a:ext cx="7061200" cy="628015"/>
              <a:chOff x="1514855" y="1057655"/>
              <a:chExt cx="7061200" cy="628015"/>
            </a:xfrm>
          </p:grpSpPr>
          <p:sp>
            <p:nvSpPr>
              <p:cNvPr id="29" name="object 29"/>
              <p:cNvSpPr/>
              <p:nvPr/>
            </p:nvSpPr>
            <p:spPr>
              <a:xfrm>
                <a:off x="4364735" y="1190243"/>
                <a:ext cx="475488" cy="489203"/>
              </a:xfrm>
              <a:prstGeom prst="rect">
                <a:avLst/>
              </a:prstGeom>
              <a:blipFill>
                <a:blip r:embed="rId6" cstate="print"/>
                <a:stretch>
                  <a:fillRect/>
                </a:stretch>
              </a:blipFill>
            </p:spPr>
            <p:txBody>
              <a:bodyPr wrap="square" lIns="0" tIns="0" rIns="0" bIns="0" rtlCol="0"/>
              <a:lstStyle/>
              <a:p>
                <a:endParaRPr/>
              </a:p>
            </p:txBody>
          </p:sp>
          <p:sp>
            <p:nvSpPr>
              <p:cNvPr id="30" name="object 30"/>
              <p:cNvSpPr/>
              <p:nvPr/>
            </p:nvSpPr>
            <p:spPr>
              <a:xfrm>
                <a:off x="4328160" y="1117091"/>
                <a:ext cx="650748" cy="169163"/>
              </a:xfrm>
              <a:prstGeom prst="rect">
                <a:avLst/>
              </a:prstGeom>
              <a:blipFill>
                <a:blip r:embed="rId7" cstate="print"/>
                <a:stretch>
                  <a:fillRect/>
                </a:stretch>
              </a:blipFill>
            </p:spPr>
            <p:txBody>
              <a:bodyPr wrap="square" lIns="0" tIns="0" rIns="0" bIns="0" rtlCol="0"/>
              <a:lstStyle/>
              <a:p>
                <a:endParaRPr/>
              </a:p>
            </p:txBody>
          </p:sp>
          <p:sp>
            <p:nvSpPr>
              <p:cNvPr id="31" name="object 31"/>
              <p:cNvSpPr/>
              <p:nvPr/>
            </p:nvSpPr>
            <p:spPr>
              <a:xfrm>
                <a:off x="1514855" y="1193291"/>
                <a:ext cx="609600" cy="461772"/>
              </a:xfrm>
              <a:prstGeom prst="rect">
                <a:avLst/>
              </a:prstGeom>
              <a:blipFill>
                <a:blip r:embed="rId8" cstate="print"/>
                <a:stretch>
                  <a:fillRect/>
                </a:stretch>
              </a:blipFill>
            </p:spPr>
            <p:txBody>
              <a:bodyPr wrap="square" lIns="0" tIns="0" rIns="0" bIns="0" rtlCol="0"/>
              <a:lstStyle/>
              <a:p>
                <a:endParaRPr/>
              </a:p>
            </p:txBody>
          </p:sp>
          <p:sp>
            <p:nvSpPr>
              <p:cNvPr id="32" name="object 32"/>
              <p:cNvSpPr/>
              <p:nvPr/>
            </p:nvSpPr>
            <p:spPr>
              <a:xfrm>
                <a:off x="1525523" y="1057655"/>
                <a:ext cx="589788" cy="382524"/>
              </a:xfrm>
              <a:prstGeom prst="rect">
                <a:avLst/>
              </a:prstGeom>
              <a:blipFill>
                <a:blip r:embed="rId9" cstate="print"/>
                <a:stretch>
                  <a:fillRect/>
                </a:stretch>
              </a:blipFill>
            </p:spPr>
            <p:txBody>
              <a:bodyPr wrap="square" lIns="0" tIns="0" rIns="0" bIns="0" rtlCol="0"/>
              <a:lstStyle/>
              <a:p>
                <a:endParaRPr/>
              </a:p>
            </p:txBody>
          </p:sp>
          <p:sp>
            <p:nvSpPr>
              <p:cNvPr id="33" name="object 33"/>
              <p:cNvSpPr/>
              <p:nvPr/>
            </p:nvSpPr>
            <p:spPr>
              <a:xfrm>
                <a:off x="7965947" y="1223771"/>
                <a:ext cx="609600" cy="461772"/>
              </a:xfrm>
              <a:prstGeom prst="rect">
                <a:avLst/>
              </a:prstGeom>
              <a:blipFill>
                <a:blip r:embed="rId8" cstate="print"/>
                <a:stretch>
                  <a:fillRect/>
                </a:stretch>
              </a:blipFill>
            </p:spPr>
            <p:txBody>
              <a:bodyPr wrap="square" lIns="0" tIns="0" rIns="0" bIns="0" rtlCol="0"/>
              <a:lstStyle/>
              <a:p>
                <a:endParaRPr/>
              </a:p>
            </p:txBody>
          </p:sp>
          <p:sp>
            <p:nvSpPr>
              <p:cNvPr id="34" name="object 34"/>
              <p:cNvSpPr/>
              <p:nvPr/>
            </p:nvSpPr>
            <p:spPr>
              <a:xfrm>
                <a:off x="7976615" y="1088135"/>
                <a:ext cx="589787" cy="382524"/>
              </a:xfrm>
              <a:prstGeom prst="rect">
                <a:avLst/>
              </a:prstGeom>
              <a:blipFill>
                <a:blip r:embed="rId9" cstate="print"/>
                <a:stretch>
                  <a:fillRect/>
                </a:stretch>
              </a:blipFill>
            </p:spPr>
            <p:txBody>
              <a:bodyPr wrap="square" lIns="0" tIns="0" rIns="0" bIns="0" rtlCol="0"/>
              <a:lstStyle/>
              <a:p>
                <a:endParaRPr/>
              </a:p>
            </p:txBody>
          </p:sp>
        </p:grpSp>
      </p:grpSp>
    </p:spTree>
    <p:extLst>
      <p:ext uri="{BB962C8B-B14F-4D97-AF65-F5344CB8AC3E}">
        <p14:creationId xmlns:p14="http://schemas.microsoft.com/office/powerpoint/2010/main" val="3460756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707904" y="332656"/>
            <a:ext cx="4219956" cy="622401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51307" y="1452498"/>
            <a:ext cx="2934335" cy="1671955"/>
          </a:xfrm>
          <a:prstGeom prst="rect">
            <a:avLst/>
          </a:prstGeom>
        </p:spPr>
        <p:txBody>
          <a:bodyPr vert="horz" wrap="square" lIns="0" tIns="12700" rIns="0" bIns="0" rtlCol="0">
            <a:spAutoFit/>
          </a:bodyPr>
          <a:lstStyle/>
          <a:p>
            <a:pPr marL="12700">
              <a:lnSpc>
                <a:spcPct val="100000"/>
              </a:lnSpc>
              <a:spcBef>
                <a:spcPts val="100"/>
              </a:spcBef>
            </a:pPr>
            <a:r>
              <a:rPr sz="3600" dirty="0"/>
              <a:t>IEEE</a:t>
            </a:r>
            <a:r>
              <a:rPr sz="3600" spc="-5" dirty="0"/>
              <a:t> </a:t>
            </a:r>
            <a:r>
              <a:rPr sz="3600" dirty="0"/>
              <a:t>802.11</a:t>
            </a:r>
            <a:endParaRPr sz="3600"/>
          </a:p>
          <a:p>
            <a:pPr marL="12700" marR="5080">
              <a:lnSpc>
                <a:spcPct val="100000"/>
              </a:lnSpc>
            </a:pPr>
            <a:r>
              <a:rPr sz="3600" dirty="0"/>
              <a:t>Medium</a:t>
            </a:r>
            <a:r>
              <a:rPr sz="3600" spc="-120" dirty="0"/>
              <a:t> </a:t>
            </a:r>
            <a:r>
              <a:rPr sz="3600" dirty="0"/>
              <a:t>Access  </a:t>
            </a:r>
            <a:r>
              <a:rPr sz="3600" spc="-20" dirty="0"/>
              <a:t>Control</a:t>
            </a:r>
            <a:r>
              <a:rPr sz="3600" spc="-35" dirty="0"/>
              <a:t> </a:t>
            </a:r>
            <a:r>
              <a:rPr sz="3600" spc="-5" dirty="0"/>
              <a:t>Logic</a:t>
            </a:r>
            <a:endParaRPr sz="3600"/>
          </a:p>
        </p:txBody>
      </p:sp>
    </p:spTree>
    <p:extLst>
      <p:ext uri="{BB962C8B-B14F-4D97-AF65-F5344CB8AC3E}">
        <p14:creationId xmlns:p14="http://schemas.microsoft.com/office/powerpoint/2010/main" val="1161697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13574" y="764704"/>
            <a:ext cx="8345488" cy="975783"/>
          </a:xfrm>
        </p:spPr>
        <p:txBody>
          <a:bodyPr/>
          <a:lstStyle/>
          <a:p>
            <a:r>
              <a:rPr lang="en-US" dirty="0">
                <a:solidFill>
                  <a:schemeClr val="tx1"/>
                </a:solidFill>
              </a:rPr>
              <a:t>Wireless Client and AP Association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07504" y="1628800"/>
            <a:ext cx="4500500" cy="3471335"/>
          </a:xfrm>
        </p:spPr>
        <p:txBody>
          <a:bodyPr/>
          <a:lstStyle/>
          <a:p>
            <a:pPr marL="73085" lvl="1" indent="0">
              <a:buNone/>
            </a:pPr>
            <a:r>
              <a:rPr lang="en-US" sz="1800" dirty="0">
                <a:solidFill>
                  <a:srgbClr val="000000"/>
                </a:solidFill>
              </a:rPr>
              <a:t>Wireless devices must associate with an AP or wireless router.</a:t>
            </a:r>
          </a:p>
          <a:p>
            <a:pPr marL="73085" lvl="1" indent="0">
              <a:buNone/>
            </a:pPr>
            <a:r>
              <a:rPr lang="en-US" sz="1800" dirty="0">
                <a:solidFill>
                  <a:srgbClr val="000000"/>
                </a:solidFill>
              </a:rPr>
              <a:t>Wireless devices complete the following three stage process:</a:t>
            </a:r>
          </a:p>
          <a:p>
            <a:pPr marL="358835" lvl="1" indent="-285750"/>
            <a:r>
              <a:rPr lang="en-US" sz="1800" dirty="0">
                <a:solidFill>
                  <a:srgbClr val="000000"/>
                </a:solidFill>
              </a:rPr>
              <a:t>Discover a wireless AP</a:t>
            </a:r>
          </a:p>
          <a:p>
            <a:pPr marL="358835" lvl="1" indent="-285750"/>
            <a:r>
              <a:rPr lang="en-US" sz="1800" dirty="0">
                <a:solidFill>
                  <a:srgbClr val="000000"/>
                </a:solidFill>
              </a:rPr>
              <a:t>Authenticate with the AP</a:t>
            </a:r>
          </a:p>
          <a:p>
            <a:pPr marL="358835" lvl="1" indent="-285750"/>
            <a:r>
              <a:rPr lang="en-US" sz="1800" dirty="0">
                <a:solidFill>
                  <a:srgbClr val="000000"/>
                </a:solidFill>
              </a:rPr>
              <a:t>Associate with the AP – link to it to act as bridge into the network</a:t>
            </a:r>
            <a:endParaRPr lang="en-US" sz="2000" dirty="0">
              <a:solidFill>
                <a:srgbClr val="000000"/>
              </a:solidFill>
            </a:endParaRPr>
          </a:p>
          <a:p>
            <a:pPr marL="73085" lvl="1" indent="0">
              <a:buNone/>
            </a:pPr>
            <a:r>
              <a:rPr lang="en-US" sz="2000" dirty="0">
                <a:solidFill>
                  <a:srgbClr val="000000"/>
                </a:solidFill>
              </a:rPr>
              <a:t>A wireless client and an AP must agree on specific parameters:</a:t>
            </a:r>
          </a:p>
          <a:p>
            <a:pPr marL="73085" lvl="1" indent="0">
              <a:buNone/>
            </a:pPr>
            <a:endParaRPr lang="en-US" sz="1800" dirty="0">
              <a:solidFill>
                <a:srgbClr val="000000"/>
              </a:solidFill>
            </a:endParaRPr>
          </a:p>
          <a:p>
            <a:pPr marL="73085" lvl="1" indent="0">
              <a:buNone/>
            </a:pPr>
            <a:endParaRPr lang="en-US" sz="1600" dirty="0">
              <a:solidFill>
                <a:srgbClr val="000000"/>
              </a:solidFill>
            </a:endParaRP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5162E844-B4B3-499A-A303-0676D66D3340}"/>
              </a:ext>
            </a:extLst>
          </p:cNvPr>
          <p:cNvPicPr>
            <a:picLocks noChangeAspect="1"/>
          </p:cNvPicPr>
          <p:nvPr/>
        </p:nvPicPr>
        <p:blipFill>
          <a:blip r:embed="rId3"/>
          <a:stretch>
            <a:fillRect/>
          </a:stretch>
        </p:blipFill>
        <p:spPr>
          <a:xfrm>
            <a:off x="4450275" y="1628800"/>
            <a:ext cx="4586221" cy="3242424"/>
          </a:xfrm>
          <a:prstGeom prst="rect">
            <a:avLst/>
          </a:prstGeom>
        </p:spPr>
      </p:pic>
      <p:sp>
        <p:nvSpPr>
          <p:cNvPr id="4" name="Rectangle 3"/>
          <p:cNvSpPr/>
          <p:nvPr/>
        </p:nvSpPr>
        <p:spPr>
          <a:xfrm>
            <a:off x="184699" y="4858459"/>
            <a:ext cx="8136904" cy="1477328"/>
          </a:xfrm>
          <a:prstGeom prst="rect">
            <a:avLst/>
          </a:prstGeom>
        </p:spPr>
        <p:txBody>
          <a:bodyPr wrap="square">
            <a:spAutoFit/>
          </a:bodyPr>
          <a:lstStyle/>
          <a:p>
            <a:pPr marL="358835" lvl="1" indent="-285750"/>
            <a:r>
              <a:rPr lang="en-US" b="1" dirty="0">
                <a:solidFill>
                  <a:srgbClr val="000000"/>
                </a:solidFill>
              </a:rPr>
              <a:t>SSID</a:t>
            </a:r>
            <a:r>
              <a:rPr lang="en-US" dirty="0">
                <a:solidFill>
                  <a:srgbClr val="000000"/>
                </a:solidFill>
              </a:rPr>
              <a:t> – The client needs to know the name of the network to connect.</a:t>
            </a:r>
          </a:p>
          <a:p>
            <a:pPr marL="358835" lvl="1" indent="-285750"/>
            <a:r>
              <a:rPr lang="en-US" b="1" dirty="0">
                <a:solidFill>
                  <a:srgbClr val="000000"/>
                </a:solidFill>
              </a:rPr>
              <a:t>Password</a:t>
            </a:r>
            <a:r>
              <a:rPr lang="en-US" dirty="0">
                <a:solidFill>
                  <a:srgbClr val="000000"/>
                </a:solidFill>
              </a:rPr>
              <a:t> – This is required for the client to authenticate to the AP.</a:t>
            </a:r>
          </a:p>
          <a:p>
            <a:pPr marL="358835" lvl="1" indent="-285750"/>
            <a:r>
              <a:rPr lang="en-US" b="1" dirty="0">
                <a:solidFill>
                  <a:srgbClr val="000000"/>
                </a:solidFill>
              </a:rPr>
              <a:t>Network mode </a:t>
            </a:r>
            <a:r>
              <a:rPr lang="en-US" dirty="0">
                <a:solidFill>
                  <a:srgbClr val="000000"/>
                </a:solidFill>
              </a:rPr>
              <a:t>– The 802.11 standard in use x, n </a:t>
            </a:r>
            <a:r>
              <a:rPr lang="en-US" dirty="0" err="1">
                <a:solidFill>
                  <a:srgbClr val="000000"/>
                </a:solidFill>
              </a:rPr>
              <a:t>etc</a:t>
            </a:r>
            <a:endParaRPr lang="en-US" dirty="0">
              <a:solidFill>
                <a:srgbClr val="000000"/>
              </a:solidFill>
            </a:endParaRPr>
          </a:p>
          <a:p>
            <a:pPr marL="358835" lvl="1" indent="-285750"/>
            <a:r>
              <a:rPr lang="en-US" b="1" dirty="0">
                <a:solidFill>
                  <a:srgbClr val="000000"/>
                </a:solidFill>
              </a:rPr>
              <a:t>Security mode </a:t>
            </a:r>
            <a:r>
              <a:rPr lang="en-US" dirty="0">
                <a:solidFill>
                  <a:srgbClr val="000000"/>
                </a:solidFill>
              </a:rPr>
              <a:t>– The security parameter settings, i.e. WEP, WPA, or WPA2.</a:t>
            </a:r>
          </a:p>
          <a:p>
            <a:pPr marL="358835" lvl="1" indent="-285750"/>
            <a:r>
              <a:rPr lang="en-US" b="1" dirty="0">
                <a:solidFill>
                  <a:srgbClr val="000000"/>
                </a:solidFill>
              </a:rPr>
              <a:t>Channel settings </a:t>
            </a:r>
            <a:r>
              <a:rPr lang="en-US" dirty="0">
                <a:solidFill>
                  <a:srgbClr val="000000"/>
                </a:solidFill>
              </a:rPr>
              <a:t>– The frequency bands in use.</a:t>
            </a:r>
          </a:p>
        </p:txBody>
      </p:sp>
      <p:sp>
        <p:nvSpPr>
          <p:cNvPr id="9" name="TextBox 8">
            <a:extLst>
              <a:ext uri="{FF2B5EF4-FFF2-40B4-BE49-F238E27FC236}">
                <a16:creationId xmlns:a16="http://schemas.microsoft.com/office/drawing/2014/main" id="{30AE36F3-23A8-CA7F-36EE-4FFE07373AE3}"/>
              </a:ext>
            </a:extLst>
          </p:cNvPr>
          <p:cNvSpPr txBox="1"/>
          <p:nvPr/>
        </p:nvSpPr>
        <p:spPr>
          <a:xfrm>
            <a:off x="184699" y="6309320"/>
            <a:ext cx="4608870" cy="369332"/>
          </a:xfrm>
          <a:prstGeom prst="rect">
            <a:avLst/>
          </a:prstGeom>
          <a:noFill/>
        </p:spPr>
        <p:txBody>
          <a:bodyPr wrap="square">
            <a:spAutoFit/>
          </a:bodyPr>
          <a:lstStyle/>
          <a:p>
            <a:pPr marL="0" indent="0" algn="l"/>
            <a:r>
              <a:rPr lang="en-US" sz="1800" dirty="0">
                <a:solidFill>
                  <a:srgbClr val="000000"/>
                </a:solidFill>
                <a:hlinkClick r:id="rId4"/>
              </a:rPr>
              <a:t>AP association</a:t>
            </a:r>
            <a:endParaRPr lang="en-US" sz="1800" dirty="0">
              <a:solidFill>
                <a:srgbClr val="000000"/>
              </a:solidFill>
            </a:endParaRPr>
          </a:p>
        </p:txBody>
      </p:sp>
    </p:spTree>
    <p:extLst>
      <p:ext uri="{BB962C8B-B14F-4D97-AF65-F5344CB8AC3E}">
        <p14:creationId xmlns:p14="http://schemas.microsoft.com/office/powerpoint/2010/main" val="34378901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51520" y="836712"/>
            <a:ext cx="8093968" cy="975783"/>
          </a:xfrm>
        </p:spPr>
        <p:txBody>
          <a:bodyPr/>
          <a:lstStyle/>
          <a:p>
            <a:r>
              <a:rPr lang="en-US" dirty="0">
                <a:solidFill>
                  <a:schemeClr val="tx1"/>
                </a:solidFill>
              </a:rPr>
              <a:t>Discover Mode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3" y="1916833"/>
            <a:ext cx="4284213" cy="4496666"/>
          </a:xfrm>
        </p:spPr>
        <p:txBody>
          <a:bodyPr/>
          <a:lstStyle/>
          <a:p>
            <a:pPr marL="0" indent="0" algn="l"/>
            <a:r>
              <a:rPr lang="en-US" dirty="0">
                <a:solidFill>
                  <a:srgbClr val="000000"/>
                </a:solidFill>
              </a:rPr>
              <a:t>Wireless clients connect to the AP using a passive or active scanning (probing) process. </a:t>
            </a:r>
          </a:p>
          <a:p>
            <a:pPr marL="415985" lvl="1" indent="-342900">
              <a:buFont typeface="Arial" panose="020B0604020202020204" pitchFamily="34" charset="0"/>
              <a:buChar char="•"/>
            </a:pPr>
            <a:r>
              <a:rPr lang="en-US" sz="2000" b="1" dirty="0">
                <a:solidFill>
                  <a:srgbClr val="000000"/>
                </a:solidFill>
              </a:rPr>
              <a:t>Passive mode </a:t>
            </a:r>
            <a:r>
              <a:rPr lang="en-US" sz="2000" dirty="0">
                <a:solidFill>
                  <a:srgbClr val="000000"/>
                </a:solidFill>
              </a:rPr>
              <a:t>– AP openly advertises its service by periodically sending broadcast beacon frames containing the SSID, supported standards, and security settings.</a:t>
            </a:r>
          </a:p>
          <a:p>
            <a:pPr marL="415985" lvl="1" indent="-342900">
              <a:buFont typeface="Arial" panose="020B0604020202020204" pitchFamily="34" charset="0"/>
              <a:buChar char="•"/>
            </a:pPr>
            <a:r>
              <a:rPr lang="en-US" sz="2000" b="1" dirty="0">
                <a:solidFill>
                  <a:srgbClr val="000000"/>
                </a:solidFill>
              </a:rPr>
              <a:t>Active mode </a:t>
            </a:r>
            <a:r>
              <a:rPr lang="en-US" sz="2000" dirty="0">
                <a:solidFill>
                  <a:srgbClr val="000000"/>
                </a:solidFill>
              </a:rPr>
              <a:t>– Wireless clients must know the name of the SSID. The wireless client initiates the process by broadcasting a probe request frame on multiple channels. </a:t>
            </a:r>
          </a:p>
          <a:p>
            <a:pPr marL="489010" lvl="2" indent="-342900">
              <a:buFont typeface="Arial" panose="020B0604020202020204" pitchFamily="34" charset="0"/>
              <a:buChar char="•"/>
            </a:pPr>
            <a:endParaRPr lang="en-US" sz="2000" dirty="0">
              <a:solidFill>
                <a:srgbClr val="000000"/>
              </a:solidFill>
            </a:endParaRPr>
          </a:p>
          <a:p>
            <a:pPr marL="342900" indent="-342900" algn="l">
              <a:buFont typeface="Arial" panose="020B0604020202020204" pitchFamily="34" charset="0"/>
              <a:buChar char="•"/>
            </a:pPr>
            <a:endParaRPr lang="en-US" dirty="0">
              <a:solidFill>
                <a:srgbClr val="000000"/>
              </a:solidFill>
            </a:endParaRPr>
          </a:p>
          <a:p>
            <a:pPr marL="0" indent="0" algn="l"/>
            <a:endParaRPr lang="en-US" dirty="0">
              <a:solidFill>
                <a:srgbClr val="000000"/>
              </a:solidFill>
            </a:endParaRPr>
          </a:p>
          <a:p>
            <a:pPr marL="342900" indent="-342900" algn="l">
              <a:buFont typeface="Arial" panose="020B0604020202020204" pitchFamily="34" charset="0"/>
              <a:buChar char="•"/>
            </a:pPr>
            <a:endParaRPr lang="en-US" dirty="0">
              <a:solidFill>
                <a:srgbClr val="000000"/>
              </a:solidFill>
            </a:endParaRPr>
          </a:p>
        </p:txBody>
      </p:sp>
      <p:pic>
        <p:nvPicPr>
          <p:cNvPr id="4" name="Picture 3">
            <a:extLst>
              <a:ext uri="{FF2B5EF4-FFF2-40B4-BE49-F238E27FC236}">
                <a16:creationId xmlns:a16="http://schemas.microsoft.com/office/drawing/2014/main" id="{90D136F8-2584-410C-9668-B6E1046C53A8}"/>
              </a:ext>
            </a:extLst>
          </p:cNvPr>
          <p:cNvPicPr>
            <a:picLocks noChangeAspect="1"/>
          </p:cNvPicPr>
          <p:nvPr/>
        </p:nvPicPr>
        <p:blipFill>
          <a:blip r:embed="rId3"/>
          <a:stretch>
            <a:fillRect/>
          </a:stretch>
        </p:blipFill>
        <p:spPr>
          <a:xfrm>
            <a:off x="5097336" y="1131835"/>
            <a:ext cx="3075063" cy="2856356"/>
          </a:xfrm>
          <a:prstGeom prst="rect">
            <a:avLst/>
          </a:prstGeom>
        </p:spPr>
      </p:pic>
      <p:sp>
        <p:nvSpPr>
          <p:cNvPr id="10" name="Rectangle 9">
            <a:extLst>
              <a:ext uri="{FF2B5EF4-FFF2-40B4-BE49-F238E27FC236}">
                <a16:creationId xmlns:a16="http://schemas.microsoft.com/office/drawing/2014/main" id="{7BB98524-B210-49BE-AB9C-B15FC935C85F}"/>
              </a:ext>
            </a:extLst>
          </p:cNvPr>
          <p:cNvSpPr/>
          <p:nvPr/>
        </p:nvSpPr>
        <p:spPr>
          <a:xfrm>
            <a:off x="7754810" y="2560013"/>
            <a:ext cx="1515701" cy="307777"/>
          </a:xfrm>
          <a:prstGeom prst="rect">
            <a:avLst/>
          </a:prstGeom>
        </p:spPr>
        <p:txBody>
          <a:bodyPr wrap="square">
            <a:spAutoFit/>
          </a:bodyPr>
          <a:lstStyle/>
          <a:p>
            <a:r>
              <a:rPr lang="en-US" sz="1400" b="1" dirty="0">
                <a:solidFill>
                  <a:srgbClr val="000000"/>
                </a:solidFill>
                <a:latin typeface="CiscoSans"/>
              </a:rPr>
              <a:t>Passive mode</a:t>
            </a:r>
            <a:endParaRPr lang="en-US" sz="1400" b="1" dirty="0">
              <a:solidFill>
                <a:srgbClr val="000000"/>
              </a:solidFill>
            </a:endParaRPr>
          </a:p>
        </p:txBody>
      </p:sp>
      <p:pic>
        <p:nvPicPr>
          <p:cNvPr id="2" name="Picture 1">
            <a:extLst>
              <a:ext uri="{FF2B5EF4-FFF2-40B4-BE49-F238E27FC236}">
                <a16:creationId xmlns:a16="http://schemas.microsoft.com/office/drawing/2014/main" id="{3412303B-0BC9-454D-8539-9B757CDF5D9F}"/>
              </a:ext>
            </a:extLst>
          </p:cNvPr>
          <p:cNvPicPr>
            <a:picLocks noChangeAspect="1"/>
          </p:cNvPicPr>
          <p:nvPr/>
        </p:nvPicPr>
        <p:blipFill>
          <a:blip r:embed="rId4"/>
          <a:stretch>
            <a:fillRect/>
          </a:stretch>
        </p:blipFill>
        <p:spPr>
          <a:xfrm>
            <a:off x="5097338" y="3791873"/>
            <a:ext cx="3461045" cy="2661463"/>
          </a:xfrm>
          <a:prstGeom prst="rect">
            <a:avLst/>
          </a:prstGeom>
        </p:spPr>
      </p:pic>
      <p:sp>
        <p:nvSpPr>
          <p:cNvPr id="11" name="Rectangle 10">
            <a:extLst>
              <a:ext uri="{FF2B5EF4-FFF2-40B4-BE49-F238E27FC236}">
                <a16:creationId xmlns:a16="http://schemas.microsoft.com/office/drawing/2014/main" id="{0E2D58DD-5F4A-411B-AB2B-32F927F08580}"/>
              </a:ext>
            </a:extLst>
          </p:cNvPr>
          <p:cNvSpPr/>
          <p:nvPr/>
        </p:nvSpPr>
        <p:spPr>
          <a:xfrm>
            <a:off x="6996960" y="6450714"/>
            <a:ext cx="1515701" cy="307777"/>
          </a:xfrm>
          <a:prstGeom prst="rect">
            <a:avLst/>
          </a:prstGeom>
        </p:spPr>
        <p:txBody>
          <a:bodyPr wrap="square">
            <a:spAutoFit/>
          </a:bodyPr>
          <a:lstStyle/>
          <a:p>
            <a:r>
              <a:rPr lang="en-US" sz="1400" b="1" dirty="0">
                <a:solidFill>
                  <a:srgbClr val="000000"/>
                </a:solidFill>
                <a:latin typeface="CiscoSans"/>
              </a:rPr>
              <a:t>Active mode</a:t>
            </a:r>
            <a:endParaRPr lang="en-US" sz="1400" b="1" dirty="0">
              <a:solidFill>
                <a:srgbClr val="000000"/>
              </a:solidFill>
            </a:endParaRPr>
          </a:p>
        </p:txBody>
      </p:sp>
    </p:spTree>
    <p:extLst>
      <p:ext uri="{BB962C8B-B14F-4D97-AF65-F5344CB8AC3E}">
        <p14:creationId xmlns:p14="http://schemas.microsoft.com/office/powerpoint/2010/main" val="7936215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536" y="824916"/>
            <a:ext cx="6480810" cy="696595"/>
          </a:xfrm>
          <a:prstGeom prst="rect">
            <a:avLst/>
          </a:prstGeom>
        </p:spPr>
        <p:txBody>
          <a:bodyPr vert="horz" wrap="square" lIns="0" tIns="13335" rIns="0" bIns="0" rtlCol="0">
            <a:spAutoFit/>
          </a:bodyPr>
          <a:lstStyle/>
          <a:p>
            <a:pPr marL="12700">
              <a:lnSpc>
                <a:spcPct val="100000"/>
              </a:lnSpc>
              <a:spcBef>
                <a:spcPts val="105"/>
              </a:spcBef>
            </a:pPr>
            <a:r>
              <a:rPr spc="-10" dirty="0"/>
              <a:t>Association-Related</a:t>
            </a:r>
            <a:r>
              <a:rPr spc="-50" dirty="0"/>
              <a:t> </a:t>
            </a:r>
            <a:r>
              <a:rPr dirty="0"/>
              <a:t>Services</a:t>
            </a:r>
          </a:p>
        </p:txBody>
      </p:sp>
      <p:sp>
        <p:nvSpPr>
          <p:cNvPr id="3" name="object 3"/>
          <p:cNvSpPr txBox="1"/>
          <p:nvPr/>
        </p:nvSpPr>
        <p:spPr>
          <a:xfrm>
            <a:off x="535940" y="1521511"/>
            <a:ext cx="7573645" cy="3995966"/>
          </a:xfrm>
          <a:prstGeom prst="rect">
            <a:avLst/>
          </a:prstGeom>
        </p:spPr>
        <p:txBody>
          <a:bodyPr vert="horz" wrap="square" lIns="0" tIns="101600" rIns="0" bIns="0" rtlCol="0">
            <a:spAutoFit/>
          </a:bodyPr>
          <a:lstStyle/>
          <a:p>
            <a:pPr marL="355600" indent="-342900">
              <a:lnSpc>
                <a:spcPct val="100000"/>
              </a:lnSpc>
              <a:spcBef>
                <a:spcPts val="800"/>
              </a:spcBef>
              <a:buFont typeface="Arial"/>
              <a:buChar char="•"/>
              <a:tabLst>
                <a:tab pos="354965" algn="l"/>
                <a:tab pos="355600" algn="l"/>
              </a:tabLst>
            </a:pPr>
            <a:r>
              <a:rPr sz="2800" spc="-5" dirty="0">
                <a:latin typeface="+mn-lt"/>
                <a:cs typeface="Carlito"/>
              </a:rPr>
              <a:t>Association</a:t>
            </a:r>
            <a:endParaRPr sz="2800" dirty="0">
              <a:latin typeface="+mn-lt"/>
              <a:cs typeface="Carlito"/>
            </a:endParaRPr>
          </a:p>
          <a:p>
            <a:pPr marL="756285" lvl="1" indent="-287020">
              <a:lnSpc>
                <a:spcPct val="100000"/>
              </a:lnSpc>
              <a:spcBef>
                <a:spcPts val="605"/>
              </a:spcBef>
              <a:buFont typeface="Arial"/>
              <a:buChar char="–"/>
              <a:tabLst>
                <a:tab pos="756920" algn="l"/>
              </a:tabLst>
            </a:pPr>
            <a:r>
              <a:rPr sz="2400" spc="-5" dirty="0">
                <a:latin typeface="+mn-lt"/>
                <a:cs typeface="Carlito"/>
              </a:rPr>
              <a:t>Establishes </a:t>
            </a:r>
            <a:r>
              <a:rPr sz="2400" dirty="0">
                <a:latin typeface="+mn-lt"/>
                <a:cs typeface="Carlito"/>
              </a:rPr>
              <a:t>initial </a:t>
            </a:r>
            <a:r>
              <a:rPr sz="2400" spc="-5" dirty="0">
                <a:latin typeface="+mn-lt"/>
                <a:cs typeface="Carlito"/>
              </a:rPr>
              <a:t>association between </a:t>
            </a:r>
            <a:r>
              <a:rPr sz="2400" spc="-15" dirty="0">
                <a:latin typeface="+mn-lt"/>
                <a:cs typeface="Carlito"/>
              </a:rPr>
              <a:t>station </a:t>
            </a:r>
            <a:r>
              <a:rPr sz="2400" dirty="0">
                <a:latin typeface="+mn-lt"/>
                <a:cs typeface="Carlito"/>
              </a:rPr>
              <a:t>and</a:t>
            </a:r>
            <a:r>
              <a:rPr sz="2400" spc="-85" dirty="0">
                <a:latin typeface="+mn-lt"/>
                <a:cs typeface="Carlito"/>
              </a:rPr>
              <a:t> </a:t>
            </a:r>
            <a:r>
              <a:rPr sz="2400" dirty="0">
                <a:latin typeface="+mn-lt"/>
                <a:cs typeface="Carlito"/>
              </a:rPr>
              <a:t>AP</a:t>
            </a:r>
          </a:p>
          <a:p>
            <a:pPr marL="355600" indent="-342900">
              <a:lnSpc>
                <a:spcPct val="100000"/>
              </a:lnSpc>
              <a:spcBef>
                <a:spcPts val="640"/>
              </a:spcBef>
              <a:buFont typeface="Arial"/>
              <a:buChar char="•"/>
              <a:tabLst>
                <a:tab pos="354965" algn="l"/>
                <a:tab pos="355600" algn="l"/>
              </a:tabLst>
            </a:pPr>
            <a:r>
              <a:rPr sz="2800" spc="-10" dirty="0">
                <a:latin typeface="+mn-lt"/>
                <a:cs typeface="Carlito"/>
              </a:rPr>
              <a:t>Reassociation</a:t>
            </a:r>
            <a:endParaRPr sz="2800" dirty="0">
              <a:latin typeface="+mn-lt"/>
              <a:cs typeface="Carlito"/>
            </a:endParaRPr>
          </a:p>
          <a:p>
            <a:pPr marL="756285" marR="5080" lvl="1" indent="-287020">
              <a:lnSpc>
                <a:spcPct val="100000"/>
              </a:lnSpc>
              <a:spcBef>
                <a:spcPts val="610"/>
              </a:spcBef>
              <a:buFont typeface="Arial"/>
              <a:buChar char="–"/>
              <a:tabLst>
                <a:tab pos="756920" algn="l"/>
              </a:tabLst>
            </a:pPr>
            <a:r>
              <a:rPr sz="2400" spc="-5" dirty="0">
                <a:latin typeface="+mn-lt"/>
                <a:cs typeface="Carlito"/>
              </a:rPr>
              <a:t>Enables </a:t>
            </a:r>
            <a:r>
              <a:rPr sz="2400" spc="-20" dirty="0">
                <a:latin typeface="+mn-lt"/>
                <a:cs typeface="Carlito"/>
              </a:rPr>
              <a:t>transfer </a:t>
            </a:r>
            <a:r>
              <a:rPr sz="2400" spc="-5" dirty="0">
                <a:latin typeface="+mn-lt"/>
                <a:cs typeface="Carlito"/>
              </a:rPr>
              <a:t>of association </a:t>
            </a:r>
            <a:r>
              <a:rPr sz="2400" spc="-15" dirty="0">
                <a:latin typeface="+mn-lt"/>
                <a:cs typeface="Carlito"/>
              </a:rPr>
              <a:t>from </a:t>
            </a:r>
            <a:r>
              <a:rPr sz="2400" spc="-10" dirty="0">
                <a:latin typeface="+mn-lt"/>
                <a:cs typeface="Carlito"/>
              </a:rPr>
              <a:t>one </a:t>
            </a:r>
            <a:r>
              <a:rPr sz="2400" dirty="0">
                <a:latin typeface="+mn-lt"/>
                <a:cs typeface="Carlito"/>
              </a:rPr>
              <a:t>AP </a:t>
            </a:r>
            <a:r>
              <a:rPr sz="2400" spc="-15" dirty="0">
                <a:latin typeface="+mn-lt"/>
                <a:cs typeface="Carlito"/>
              </a:rPr>
              <a:t>to </a:t>
            </a:r>
            <a:r>
              <a:rPr sz="2400" spc="-25" dirty="0">
                <a:latin typeface="+mn-lt"/>
                <a:cs typeface="Carlito"/>
              </a:rPr>
              <a:t>another,  </a:t>
            </a:r>
            <a:r>
              <a:rPr sz="2400" spc="-5" dirty="0">
                <a:latin typeface="+mn-lt"/>
                <a:cs typeface="Carlito"/>
              </a:rPr>
              <a:t>allowing </a:t>
            </a:r>
            <a:r>
              <a:rPr sz="2400" spc="-15" dirty="0">
                <a:latin typeface="+mn-lt"/>
                <a:cs typeface="Carlito"/>
              </a:rPr>
              <a:t>station to move from </a:t>
            </a:r>
            <a:r>
              <a:rPr sz="2400" spc="-5" dirty="0">
                <a:latin typeface="+mn-lt"/>
                <a:cs typeface="Carlito"/>
              </a:rPr>
              <a:t>one </a:t>
            </a:r>
            <a:r>
              <a:rPr sz="2400" dirty="0">
                <a:latin typeface="+mn-lt"/>
                <a:cs typeface="Carlito"/>
              </a:rPr>
              <a:t>BSS </a:t>
            </a:r>
            <a:r>
              <a:rPr sz="2400" spc="-15" dirty="0">
                <a:latin typeface="+mn-lt"/>
                <a:cs typeface="Carlito"/>
              </a:rPr>
              <a:t>to</a:t>
            </a:r>
            <a:r>
              <a:rPr sz="2400" spc="-30" dirty="0">
                <a:latin typeface="+mn-lt"/>
                <a:cs typeface="Carlito"/>
              </a:rPr>
              <a:t> </a:t>
            </a:r>
            <a:r>
              <a:rPr sz="2400" dirty="0">
                <a:latin typeface="+mn-lt"/>
                <a:cs typeface="Carlito"/>
              </a:rPr>
              <a:t>another</a:t>
            </a:r>
          </a:p>
          <a:p>
            <a:pPr marL="355600" indent="-342900">
              <a:lnSpc>
                <a:spcPct val="100000"/>
              </a:lnSpc>
              <a:spcBef>
                <a:spcPts val="640"/>
              </a:spcBef>
              <a:buFont typeface="Arial"/>
              <a:buChar char="•"/>
              <a:tabLst>
                <a:tab pos="354965" algn="l"/>
                <a:tab pos="355600" algn="l"/>
              </a:tabLst>
            </a:pPr>
            <a:r>
              <a:rPr sz="2800" spc="-5" dirty="0">
                <a:latin typeface="+mn-lt"/>
                <a:cs typeface="Carlito"/>
              </a:rPr>
              <a:t>Disassociation</a:t>
            </a:r>
            <a:endParaRPr sz="2800" dirty="0">
              <a:latin typeface="+mn-lt"/>
              <a:cs typeface="Carlito"/>
            </a:endParaRPr>
          </a:p>
          <a:p>
            <a:pPr marL="756285" lvl="1" indent="-287020">
              <a:lnSpc>
                <a:spcPct val="100000"/>
              </a:lnSpc>
              <a:spcBef>
                <a:spcPts val="610"/>
              </a:spcBef>
              <a:buFont typeface="Arial"/>
              <a:buChar char="–"/>
              <a:tabLst>
                <a:tab pos="756920" algn="l"/>
              </a:tabLst>
            </a:pPr>
            <a:r>
              <a:rPr sz="2400" spc="-5" dirty="0">
                <a:latin typeface="+mn-lt"/>
                <a:cs typeface="Carlito"/>
              </a:rPr>
              <a:t>Association termination notice </a:t>
            </a:r>
            <a:r>
              <a:rPr sz="2400" spc="-15" dirty="0">
                <a:latin typeface="+mn-lt"/>
                <a:cs typeface="Carlito"/>
              </a:rPr>
              <a:t>from station </a:t>
            </a:r>
            <a:r>
              <a:rPr sz="2400" spc="-5" dirty="0">
                <a:latin typeface="+mn-lt"/>
                <a:cs typeface="Carlito"/>
              </a:rPr>
              <a:t>or</a:t>
            </a:r>
            <a:r>
              <a:rPr sz="2400" spc="-80" dirty="0">
                <a:latin typeface="+mn-lt"/>
                <a:cs typeface="Carlito"/>
              </a:rPr>
              <a:t> </a:t>
            </a:r>
            <a:r>
              <a:rPr sz="2400" dirty="0">
                <a:latin typeface="+mn-lt"/>
                <a:cs typeface="Carlito"/>
              </a:rPr>
              <a:t>AP</a:t>
            </a:r>
          </a:p>
        </p:txBody>
      </p:sp>
    </p:spTree>
    <p:extLst>
      <p:ext uri="{BB962C8B-B14F-4D97-AF65-F5344CB8AC3E}">
        <p14:creationId xmlns:p14="http://schemas.microsoft.com/office/powerpoint/2010/main" val="1145304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1520" y="3645024"/>
            <a:ext cx="6984776" cy="1752600"/>
          </a:xfrm>
        </p:spPr>
        <p:txBody>
          <a:bodyPr/>
          <a:lstStyle/>
          <a:p>
            <a:r>
              <a:rPr lang="en-US" dirty="0"/>
              <a:t>Control and Provisioning of Wireless Access Points (CAPWAP)</a:t>
            </a:r>
            <a:endParaRPr lang="en-GB" dirty="0"/>
          </a:p>
        </p:txBody>
      </p:sp>
    </p:spTree>
    <p:custDataLst>
      <p:tags r:id="rId1"/>
    </p:custDataLst>
    <p:extLst>
      <p:ext uri="{BB962C8B-B14F-4D97-AF65-F5344CB8AC3E}">
        <p14:creationId xmlns:p14="http://schemas.microsoft.com/office/powerpoint/2010/main" val="299363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AA104-CE29-B8BB-6B08-4E9FDD8BD5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E73088A-CEDF-2E69-67BC-97B78EF10134}"/>
              </a:ext>
            </a:extLst>
          </p:cNvPr>
          <p:cNvSpPr>
            <a:spLocks noGrp="1"/>
          </p:cNvSpPr>
          <p:nvPr>
            <p:ph type="title"/>
          </p:nvPr>
        </p:nvSpPr>
        <p:spPr>
          <a:xfrm>
            <a:off x="107504" y="764704"/>
            <a:ext cx="8345488" cy="975783"/>
          </a:xfrm>
        </p:spPr>
        <p:txBody>
          <a:bodyPr/>
          <a:lstStyle/>
          <a:p>
            <a:r>
              <a:rPr lang="en-US" dirty="0">
                <a:solidFill>
                  <a:schemeClr val="tx1"/>
                </a:solidFill>
              </a:rPr>
              <a:t>WLC Topology</a:t>
            </a:r>
          </a:p>
        </p:txBody>
      </p:sp>
      <p:sp>
        <p:nvSpPr>
          <p:cNvPr id="5" name="Content Placeholder 4">
            <a:extLst>
              <a:ext uri="{FF2B5EF4-FFF2-40B4-BE49-F238E27FC236}">
                <a16:creationId xmlns:a16="http://schemas.microsoft.com/office/drawing/2014/main" id="{2295A270-AD34-B7CB-1ACA-3AD9EA9FF2D9}"/>
              </a:ext>
            </a:extLst>
          </p:cNvPr>
          <p:cNvSpPr>
            <a:spLocks noGrp="1"/>
          </p:cNvSpPr>
          <p:nvPr>
            <p:ph idx="1"/>
          </p:nvPr>
        </p:nvSpPr>
        <p:spPr>
          <a:xfrm>
            <a:off x="107505" y="1916832"/>
            <a:ext cx="5112567" cy="4194100"/>
          </a:xfrm>
        </p:spPr>
        <p:txBody>
          <a:bodyPr/>
          <a:lstStyle/>
          <a:p>
            <a:pPr marL="285750" indent="-285750" algn="l">
              <a:buFont typeface="Arial" panose="020B0604020202020204" pitchFamily="34" charset="0"/>
              <a:buChar char="•"/>
            </a:pPr>
            <a:r>
              <a:rPr lang="en-US" dirty="0">
                <a:solidFill>
                  <a:srgbClr val="000000"/>
                </a:solidFill>
              </a:rPr>
              <a:t>The access point (AP) is a controller-based AP as opposed to an autonomous AP, so it requires no initial configuration and is often called lightweight APs (LAPs). </a:t>
            </a:r>
          </a:p>
          <a:p>
            <a:pPr marL="285750" indent="-285750" algn="l">
              <a:buFont typeface="Arial" panose="020B0604020202020204" pitchFamily="34" charset="0"/>
              <a:buChar char="•"/>
            </a:pPr>
            <a:r>
              <a:rPr lang="en-US" dirty="0">
                <a:solidFill>
                  <a:srgbClr val="000000"/>
                </a:solidFill>
              </a:rPr>
              <a:t>LAPs use the Lightweight Access Point Protocol (LWAPP) to communicate with a WLAN controller (WLC). </a:t>
            </a:r>
          </a:p>
          <a:p>
            <a:pPr marL="285750" indent="-285750" algn="l">
              <a:buFont typeface="Arial" panose="020B0604020202020204" pitchFamily="34" charset="0"/>
              <a:buChar char="•"/>
            </a:pPr>
            <a:r>
              <a:rPr lang="en-US" dirty="0">
                <a:solidFill>
                  <a:srgbClr val="000000"/>
                </a:solidFill>
              </a:rPr>
              <a:t>Controller-based APs are useful in situations where many APs are required in the network. </a:t>
            </a:r>
          </a:p>
          <a:p>
            <a:pPr marL="285750" indent="-285750" algn="l">
              <a:buFont typeface="Arial" panose="020B0604020202020204" pitchFamily="34" charset="0"/>
              <a:buChar char="•"/>
            </a:pPr>
            <a:r>
              <a:rPr lang="en-US" dirty="0">
                <a:solidFill>
                  <a:srgbClr val="000000"/>
                </a:solidFill>
              </a:rPr>
              <a:t>As more APs are added, each AP is automatically configured and managed by the WLC.</a:t>
            </a:r>
          </a:p>
        </p:txBody>
      </p:sp>
      <p:pic>
        <p:nvPicPr>
          <p:cNvPr id="2" name="Picture 1">
            <a:extLst>
              <a:ext uri="{FF2B5EF4-FFF2-40B4-BE49-F238E27FC236}">
                <a16:creationId xmlns:a16="http://schemas.microsoft.com/office/drawing/2014/main" id="{788D659E-C159-4BF1-1531-9BD1921CC1AF}"/>
              </a:ext>
            </a:extLst>
          </p:cNvPr>
          <p:cNvPicPr>
            <a:picLocks noChangeAspect="1"/>
          </p:cNvPicPr>
          <p:nvPr/>
        </p:nvPicPr>
        <p:blipFill>
          <a:blip r:embed="rId3"/>
          <a:stretch>
            <a:fillRect/>
          </a:stretch>
        </p:blipFill>
        <p:spPr>
          <a:xfrm>
            <a:off x="5220072" y="1340768"/>
            <a:ext cx="3785259" cy="3671497"/>
          </a:xfrm>
          <a:prstGeom prst="rect">
            <a:avLst/>
          </a:prstGeom>
        </p:spPr>
      </p:pic>
      <p:sp>
        <p:nvSpPr>
          <p:cNvPr id="4" name="TextBox 3">
            <a:extLst>
              <a:ext uri="{FF2B5EF4-FFF2-40B4-BE49-F238E27FC236}">
                <a16:creationId xmlns:a16="http://schemas.microsoft.com/office/drawing/2014/main" id="{92986F5F-CFEC-3351-1E79-575D8819A233}"/>
              </a:ext>
            </a:extLst>
          </p:cNvPr>
          <p:cNvSpPr txBox="1"/>
          <p:nvPr/>
        </p:nvSpPr>
        <p:spPr>
          <a:xfrm>
            <a:off x="5940152" y="5949280"/>
            <a:ext cx="697627" cy="369332"/>
          </a:xfrm>
          <a:prstGeom prst="rect">
            <a:avLst/>
          </a:prstGeom>
          <a:noFill/>
        </p:spPr>
        <p:txBody>
          <a:bodyPr wrap="none" rtlCol="0">
            <a:spAutoFit/>
          </a:bodyPr>
          <a:lstStyle/>
          <a:p>
            <a:r>
              <a:rPr lang="en-GB" dirty="0">
                <a:hlinkClick r:id="rId4"/>
              </a:rPr>
              <a:t>WLC</a:t>
            </a:r>
            <a:endParaRPr lang="en-GB" dirty="0"/>
          </a:p>
        </p:txBody>
      </p:sp>
    </p:spTree>
    <p:extLst>
      <p:ext uri="{BB962C8B-B14F-4D97-AF65-F5344CB8AC3E}">
        <p14:creationId xmlns:p14="http://schemas.microsoft.com/office/powerpoint/2010/main" val="55018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709218"/>
            <a:ext cx="8345488" cy="975783"/>
          </a:xfrm>
        </p:spPr>
        <p:txBody>
          <a:bodyPr/>
          <a:lstStyle/>
          <a:p>
            <a:r>
              <a:rPr lang="en-US" dirty="0">
                <a:solidFill>
                  <a:schemeClr val="tx1"/>
                </a:solidFill>
              </a:rPr>
              <a:t>CAPWAP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276140" y="1613749"/>
            <a:ext cx="4608512" cy="4214441"/>
          </a:xfrm>
        </p:spPr>
        <p:txBody>
          <a:bodyPr/>
          <a:lstStyle/>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800" dirty="0">
                <a:solidFill>
                  <a:srgbClr val="000000"/>
                </a:solidFill>
              </a:rPr>
              <a:t>IEEE standard protocol that enables a WLC to manage multiple APs and WLANs.</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800" dirty="0">
                <a:solidFill>
                  <a:srgbClr val="000000"/>
                </a:solidFill>
              </a:rPr>
              <a:t>Based on LWAPP but adds additional security with Datagram Transport Layer Security (DLTS).</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800" dirty="0">
                <a:solidFill>
                  <a:srgbClr val="000000"/>
                </a:solidFill>
              </a:rPr>
              <a:t>Encapsulates and forwards WLAN client traffic between an AP and a WLC over  tunnels using UDP ports 5246 and 5247.</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800" dirty="0">
                <a:solidFill>
                  <a:srgbClr val="000000"/>
                </a:solidFill>
              </a:rPr>
              <a:t>Operates over both IPv4 and IPv6. IPv4 uses IP protocol 17 and IPv6 uses IP protocol 136.</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800" dirty="0">
                <a:solidFill>
                  <a:srgbClr val="000000"/>
                </a:solidFill>
              </a:rPr>
              <a:t>MAC functions are split between WLC and APs</a:t>
            </a:r>
          </a:p>
          <a:p>
            <a:pPr marL="489010" lvl="2" indent="-342900">
              <a:buFont typeface="Arial" panose="020B0604020202020204" pitchFamily="34" charset="0"/>
              <a:buChar char="•"/>
            </a:pPr>
            <a:r>
              <a:rPr lang="en-US" sz="1800" dirty="0">
                <a:solidFill>
                  <a:srgbClr val="000000"/>
                </a:solidFill>
                <a:hlinkClick r:id="rId3"/>
              </a:rPr>
              <a:t>CAPWAP explained</a:t>
            </a:r>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a:p>
            <a:pPr marL="0" indent="0" algn="l"/>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p:txBody>
      </p:sp>
      <p:pic>
        <p:nvPicPr>
          <p:cNvPr id="5" name="Picture 4">
            <a:extLst>
              <a:ext uri="{FF2B5EF4-FFF2-40B4-BE49-F238E27FC236}">
                <a16:creationId xmlns:a16="http://schemas.microsoft.com/office/drawing/2014/main" id="{0F48CA15-E45D-45AD-AB09-AD2CCD8D3BB3}"/>
              </a:ext>
            </a:extLst>
          </p:cNvPr>
          <p:cNvPicPr>
            <a:picLocks noChangeAspect="1"/>
          </p:cNvPicPr>
          <p:nvPr/>
        </p:nvPicPr>
        <p:blipFill>
          <a:blip r:embed="rId4"/>
          <a:stretch>
            <a:fillRect/>
          </a:stretch>
        </p:blipFill>
        <p:spPr>
          <a:xfrm>
            <a:off x="5076056" y="332656"/>
            <a:ext cx="3810000" cy="3454400"/>
          </a:xfrm>
          <a:prstGeom prst="rect">
            <a:avLst/>
          </a:prstGeom>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8431" y="4077072"/>
            <a:ext cx="3905250" cy="258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00872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725025"/>
            <a:ext cx="8345488" cy="975783"/>
          </a:xfrm>
        </p:spPr>
        <p:txBody>
          <a:bodyPr/>
          <a:lstStyle/>
          <a:p>
            <a:r>
              <a:rPr lang="en-GB" b="0" i="0" dirty="0">
                <a:solidFill>
                  <a:srgbClr val="001D35"/>
                </a:solidFill>
                <a:effectLst/>
                <a:latin typeface="Google Sans"/>
              </a:rPr>
              <a:t>Datagram Transport Layer Security (DTLS)</a:t>
            </a:r>
            <a:endParaRPr lang="en-US" dirty="0">
              <a:solidFill>
                <a:schemeClr val="tx1"/>
              </a:solidFill>
            </a:endParaRP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330183" y="2501357"/>
            <a:ext cx="3997323" cy="4712691"/>
          </a:xfrm>
        </p:spPr>
        <p:txBody>
          <a:bodyPr/>
          <a:lstStyle/>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800" dirty="0">
                <a:solidFill>
                  <a:srgbClr val="000000"/>
                </a:solidFill>
              </a:rPr>
              <a:t>DTLS provides security between the AP and the WLC.</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800" dirty="0">
                <a:solidFill>
                  <a:srgbClr val="000000"/>
                </a:solidFill>
              </a:rPr>
              <a:t>It is enabled by default to secure the CAPWAP control channel and encrypt all management and control traffic between AP and WLC.</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800" dirty="0">
                <a:solidFill>
                  <a:srgbClr val="000000"/>
                </a:solidFill>
              </a:rPr>
              <a:t>Data encryption is disabled by default and requires a DTLS license to be installed on the WLC before it can be enabled on the AP.</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a:p>
            <a:pPr marL="0" indent="0" algn="l"/>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p:txBody>
      </p:sp>
      <p:pic>
        <p:nvPicPr>
          <p:cNvPr id="2" name="Picture 1">
            <a:extLst>
              <a:ext uri="{FF2B5EF4-FFF2-40B4-BE49-F238E27FC236}">
                <a16:creationId xmlns:a16="http://schemas.microsoft.com/office/drawing/2014/main" id="{F3107A68-75BE-49F0-8FBE-BB3810419C19}"/>
              </a:ext>
            </a:extLst>
          </p:cNvPr>
          <p:cNvPicPr>
            <a:picLocks noChangeAspect="1"/>
          </p:cNvPicPr>
          <p:nvPr/>
        </p:nvPicPr>
        <p:blipFill>
          <a:blip r:embed="rId3"/>
          <a:stretch>
            <a:fillRect/>
          </a:stretch>
        </p:blipFill>
        <p:spPr>
          <a:xfrm>
            <a:off x="4327506" y="2885368"/>
            <a:ext cx="4595028" cy="3247153"/>
          </a:xfrm>
          <a:prstGeom prst="rect">
            <a:avLst/>
          </a:prstGeom>
        </p:spPr>
      </p:pic>
    </p:spTree>
    <p:extLst>
      <p:ext uri="{BB962C8B-B14F-4D97-AF65-F5344CB8AC3E}">
        <p14:creationId xmlns:p14="http://schemas.microsoft.com/office/powerpoint/2010/main" val="2319424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79512" y="653017"/>
            <a:ext cx="8345488" cy="975783"/>
          </a:xfrm>
        </p:spPr>
        <p:txBody>
          <a:bodyPr/>
          <a:lstStyle/>
          <a:p>
            <a:r>
              <a:rPr lang="en-US" dirty="0">
                <a:solidFill>
                  <a:schemeClr val="tx1"/>
                </a:solidFill>
              </a:rPr>
              <a:t>Flex Connect APs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79512" y="1628800"/>
            <a:ext cx="8712200" cy="2429631"/>
          </a:xfrm>
        </p:spPr>
        <p:txBody>
          <a:bodyPr/>
          <a:lstStyle/>
          <a:p>
            <a:pPr marL="0" indent="0" algn="l" defTabSz="684213" fontAlgn="base">
              <a:spcBef>
                <a:spcPts val="600"/>
              </a:spcBef>
              <a:spcAft>
                <a:spcPts val="600"/>
              </a:spcAft>
              <a:buClr>
                <a:schemeClr val="tx2"/>
              </a:buClr>
              <a:buSzPct val="90000"/>
            </a:pPr>
            <a:r>
              <a:rPr lang="en-US" sz="1800" dirty="0">
                <a:solidFill>
                  <a:srgbClr val="000000"/>
                </a:solidFill>
              </a:rPr>
              <a:t>FlexConnect enables the configuration and control of Aps over a WAN link.</a:t>
            </a:r>
          </a:p>
          <a:p>
            <a:pPr lvl="1" algn="thaiDist">
              <a:lnSpc>
                <a:spcPct val="85000"/>
              </a:lnSpc>
              <a:spcBef>
                <a:spcPct val="30000"/>
              </a:spcBef>
              <a:spcAft>
                <a:spcPts val="300"/>
              </a:spcAft>
              <a:buSzPct val="90000"/>
            </a:pPr>
            <a:r>
              <a:rPr lang="en-US" sz="1800" b="1" dirty="0">
                <a:solidFill>
                  <a:srgbClr val="000000"/>
                </a:solidFill>
              </a:rPr>
              <a:t>Connected mode </a:t>
            </a:r>
            <a:r>
              <a:rPr lang="en-US" sz="1800" dirty="0">
                <a:solidFill>
                  <a:srgbClr val="000000"/>
                </a:solidFill>
              </a:rPr>
              <a:t>– The WLC is reachable. The FlexConnect AP has CAPWAP connectivity with the WLC through the CAPWAP tunnel. The WLC performs all CAPWAP functions.</a:t>
            </a:r>
          </a:p>
          <a:p>
            <a:pPr lvl="1" algn="thaiDist">
              <a:lnSpc>
                <a:spcPct val="85000"/>
              </a:lnSpc>
              <a:spcBef>
                <a:spcPct val="30000"/>
              </a:spcBef>
              <a:spcAft>
                <a:spcPts val="300"/>
              </a:spcAft>
              <a:buSzPct val="90000"/>
            </a:pPr>
            <a:r>
              <a:rPr lang="en-US" sz="1800" b="1" dirty="0">
                <a:solidFill>
                  <a:srgbClr val="000000"/>
                </a:solidFill>
              </a:rPr>
              <a:t>Standalone mode </a:t>
            </a:r>
            <a:r>
              <a:rPr lang="en-US" sz="1800" dirty="0">
                <a:solidFill>
                  <a:srgbClr val="000000"/>
                </a:solidFill>
              </a:rPr>
              <a:t>– The WLC is unreachable. The FlexConnect AP has lost CAPWAP connectivity with the WLC. The FlexConnect AP can assume some of the WLC functions such as switching client data traffic locally and performing client authentication locally.</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a:p>
            <a:pPr marL="0" indent="0" algn="l"/>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p:txBody>
      </p:sp>
      <p:pic>
        <p:nvPicPr>
          <p:cNvPr id="4" name="Picture 3">
            <a:extLst>
              <a:ext uri="{FF2B5EF4-FFF2-40B4-BE49-F238E27FC236}">
                <a16:creationId xmlns:a16="http://schemas.microsoft.com/office/drawing/2014/main" id="{68E27057-9975-40C1-A87D-146743F9A3F7}"/>
              </a:ext>
            </a:extLst>
          </p:cNvPr>
          <p:cNvPicPr>
            <a:picLocks noChangeAspect="1"/>
          </p:cNvPicPr>
          <p:nvPr/>
        </p:nvPicPr>
        <p:blipFill>
          <a:blip r:embed="rId3"/>
          <a:stretch>
            <a:fillRect/>
          </a:stretch>
        </p:blipFill>
        <p:spPr>
          <a:xfrm>
            <a:off x="1979712" y="4160172"/>
            <a:ext cx="5472608" cy="2697828"/>
          </a:xfrm>
          <a:prstGeom prst="rect">
            <a:avLst/>
          </a:prstGeom>
        </p:spPr>
      </p:pic>
    </p:spTree>
    <p:extLst>
      <p:ext uri="{BB962C8B-B14F-4D97-AF65-F5344CB8AC3E}">
        <p14:creationId xmlns:p14="http://schemas.microsoft.com/office/powerpoint/2010/main" val="6277919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solidFill>
                  <a:schemeClr val="accent5">
                    <a:lumMod val="40000"/>
                    <a:lumOff val="60000"/>
                  </a:schemeClr>
                </a:solidFill>
              </a:rPr>
              <a:t>Channel Management</a:t>
            </a:r>
          </a:p>
          <a:p>
            <a:endParaRPr lang="en-GB" dirty="0"/>
          </a:p>
        </p:txBody>
      </p:sp>
    </p:spTree>
    <p:custDataLst>
      <p:tags r:id="rId1"/>
    </p:custDataLst>
    <p:extLst>
      <p:ext uri="{BB962C8B-B14F-4D97-AF65-F5344CB8AC3E}">
        <p14:creationId xmlns:p14="http://schemas.microsoft.com/office/powerpoint/2010/main" val="2709366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20688"/>
            <a:ext cx="8345488" cy="975783"/>
          </a:xfrm>
        </p:spPr>
        <p:txBody>
          <a:bodyPr/>
          <a:lstStyle/>
          <a:p>
            <a:r>
              <a:rPr lang="en-US" dirty="0">
                <a:solidFill>
                  <a:schemeClr val="tx1"/>
                </a:solidFill>
              </a:rPr>
              <a:t>Frequency Channel Saturation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18533" y="1407110"/>
            <a:ext cx="5497075" cy="5112568"/>
          </a:xfrm>
        </p:spPr>
        <p:txBody>
          <a:bodyPr/>
          <a:lstStyle/>
          <a:p>
            <a:pPr marL="0" indent="0" algn="l" defTabSz="684213" fontAlgn="base">
              <a:spcBef>
                <a:spcPct val="30000"/>
              </a:spcBef>
              <a:spcAft>
                <a:spcPts val="600"/>
              </a:spcAft>
              <a:buClr>
                <a:schemeClr val="tx2"/>
              </a:buClr>
              <a:buSzPct val="90000"/>
            </a:pPr>
            <a:r>
              <a:rPr lang="en-US" sz="1800" dirty="0">
                <a:solidFill>
                  <a:srgbClr val="000000"/>
                </a:solidFill>
              </a:rPr>
              <a:t>Channel saturation can be mitigated using techniques that use the channels more efficiently.</a:t>
            </a:r>
          </a:p>
          <a:p>
            <a:pPr marL="169863" lvl="1" indent="-169863">
              <a:lnSpc>
                <a:spcPct val="85000"/>
              </a:lnSpc>
              <a:spcBef>
                <a:spcPct val="30000"/>
              </a:spcBef>
              <a:spcAft>
                <a:spcPts val="600"/>
              </a:spcAft>
              <a:buSzPct val="90000"/>
              <a:buFont typeface="Arial" panose="020B0604020202020204" pitchFamily="34" charset="0"/>
              <a:buChar char="•"/>
            </a:pPr>
            <a:r>
              <a:rPr lang="en-US" sz="1800" b="1" dirty="0">
                <a:solidFill>
                  <a:srgbClr val="000000"/>
                </a:solidFill>
              </a:rPr>
              <a:t>Direct-Sequence Spread Spectrum (DSSS) </a:t>
            </a:r>
            <a:r>
              <a:rPr lang="en-US" sz="1800" dirty="0">
                <a:solidFill>
                  <a:srgbClr val="000000"/>
                </a:solidFill>
              </a:rPr>
              <a:t>- A modulation technique designed to spread a signal over a larger frequency band. </a:t>
            </a:r>
          </a:p>
          <a:p>
            <a:pPr marL="169863" lvl="1" indent="-169863">
              <a:lnSpc>
                <a:spcPct val="85000"/>
              </a:lnSpc>
              <a:spcBef>
                <a:spcPct val="30000"/>
              </a:spcBef>
              <a:spcAft>
                <a:spcPts val="600"/>
              </a:spcAft>
              <a:buSzPct val="90000"/>
              <a:buFont typeface="Arial" panose="020B0604020202020204" pitchFamily="34" charset="0"/>
              <a:buChar char="•"/>
            </a:pPr>
            <a:r>
              <a:rPr lang="en-US" sz="1800" b="1" dirty="0">
                <a:solidFill>
                  <a:srgbClr val="000000"/>
                </a:solidFill>
              </a:rPr>
              <a:t>Frequency-Hopping Spread Spectrum (FHSS) </a:t>
            </a:r>
            <a:r>
              <a:rPr lang="en-US" sz="1800" dirty="0">
                <a:solidFill>
                  <a:srgbClr val="000000"/>
                </a:solidFill>
              </a:rPr>
              <a:t>- Transmits radio signals by rapidly switching a carrier signal among many frequency channels. Sender and receiver must be synchronized to “know” which channel to jump to. Used by the original 802.11 standard.</a:t>
            </a:r>
          </a:p>
          <a:p>
            <a:pPr marL="169863" lvl="1" indent="-169863">
              <a:lnSpc>
                <a:spcPct val="85000"/>
              </a:lnSpc>
              <a:spcBef>
                <a:spcPct val="30000"/>
              </a:spcBef>
              <a:spcAft>
                <a:spcPts val="600"/>
              </a:spcAft>
              <a:buSzPct val="90000"/>
              <a:buFont typeface="Arial" panose="020B0604020202020204" pitchFamily="34" charset="0"/>
              <a:buChar char="•"/>
            </a:pPr>
            <a:r>
              <a:rPr lang="en-US" sz="1800" b="1" dirty="0">
                <a:solidFill>
                  <a:srgbClr val="000000"/>
                </a:solidFill>
              </a:rPr>
              <a:t>Orthogonal Frequency-Division Multiplexing (OFDM) </a:t>
            </a:r>
            <a:r>
              <a:rPr lang="en-US" sz="1800" dirty="0">
                <a:solidFill>
                  <a:srgbClr val="000000"/>
                </a:solidFill>
              </a:rPr>
              <a:t>- A</a:t>
            </a:r>
            <a:r>
              <a:rPr lang="en-US" sz="1800" dirty="0"/>
              <a:t> </a:t>
            </a:r>
            <a:r>
              <a:rPr lang="en-US" sz="1800" dirty="0">
                <a:solidFill>
                  <a:srgbClr val="000000"/>
                </a:solidFill>
              </a:rPr>
              <a:t>subset of frequency division multiplexing in which a single channel uses multiple sub-channels on adjacent frequencies. OFDM is used by a number of communication systems including </a:t>
            </a:r>
            <a:r>
              <a:rPr lang="en-US" sz="1800" dirty="0">
                <a:solidFill>
                  <a:srgbClr val="FF0000"/>
                </a:solidFill>
              </a:rPr>
              <a:t>802.11a/g/n/ac.  5G</a:t>
            </a:r>
          </a:p>
          <a:p>
            <a:pPr marL="169863" lvl="1" indent="-169863">
              <a:lnSpc>
                <a:spcPct val="85000"/>
              </a:lnSpc>
              <a:spcBef>
                <a:spcPct val="30000"/>
              </a:spcBef>
              <a:spcAft>
                <a:spcPts val="600"/>
              </a:spcAft>
              <a:buSzPct val="90000"/>
              <a:buFont typeface="Arial" panose="020B0604020202020204" pitchFamily="34" charset="0"/>
              <a:buChar char="•"/>
            </a:pPr>
            <a:r>
              <a:rPr lang="en-US" sz="1800" dirty="0"/>
              <a:t>Quadrature Amplitude Modulation </a:t>
            </a:r>
            <a:r>
              <a:rPr lang="en-US" sz="1800" dirty="0">
                <a:solidFill>
                  <a:srgbClr val="FF0000"/>
                </a:solidFill>
              </a:rPr>
              <a:t>– </a:t>
            </a:r>
            <a:r>
              <a:rPr lang="en-US" sz="1800" dirty="0"/>
              <a:t>used by </a:t>
            </a:r>
            <a:r>
              <a:rPr lang="en-US" sz="1800" dirty="0" err="1"/>
              <a:t>WiFi</a:t>
            </a:r>
            <a:r>
              <a:rPr lang="en-US" sz="1800" dirty="0"/>
              <a:t> 7, this involves only the amplitude of the wave but also the phase</a:t>
            </a:r>
          </a:p>
          <a:p>
            <a:pPr marL="0" indent="0" algn="l" defTabSz="684213" fontAlgn="base">
              <a:spcBef>
                <a:spcPts val="600"/>
              </a:spcBef>
              <a:spcAft>
                <a:spcPts val="600"/>
              </a:spcAft>
              <a:buClr>
                <a:schemeClr val="tx2"/>
              </a:buClr>
              <a:buSzPct val="90000"/>
            </a:pPr>
            <a:endParaRPr lang="en-US" sz="1800" b="1"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0" indent="0" algn="l"/>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15608" y="1365381"/>
            <a:ext cx="3207165" cy="1853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6135" y="3212976"/>
            <a:ext cx="3288353" cy="1855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6599" y="5085183"/>
            <a:ext cx="2966173" cy="17862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01972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3867" y="908720"/>
            <a:ext cx="8345488" cy="975783"/>
          </a:xfrm>
        </p:spPr>
        <p:txBody>
          <a:bodyPr/>
          <a:lstStyle/>
          <a:p>
            <a:r>
              <a:rPr lang="en-US" dirty="0">
                <a:solidFill>
                  <a:schemeClr val="tx1"/>
                </a:solidFill>
              </a:rPr>
              <a:t>Channel Selection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395536" y="1700808"/>
            <a:ext cx="7913686" cy="1440035"/>
          </a:xfrm>
        </p:spPr>
        <p:txBody>
          <a:bodyPr/>
          <a:lstStyle/>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500" dirty="0">
                <a:solidFill>
                  <a:srgbClr val="000000"/>
                </a:solidFill>
              </a:rPr>
              <a:t>The 2.4 GHz band is subdivided into multiple channels each allotted 22 MHz bandwidth and separated from the next channel by 5 MHz.</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500" dirty="0">
                <a:solidFill>
                  <a:srgbClr val="000000"/>
                </a:solidFill>
              </a:rPr>
              <a:t>A best practice for 802.11b/g/n WLANs requiring multiple APs is to use non-overlapping channels such as 1, 6, and 11.</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500" dirty="0">
              <a:solidFill>
                <a:srgbClr val="000000"/>
              </a:solidFill>
            </a:endParaRPr>
          </a:p>
          <a:p>
            <a:pPr marL="0" indent="0" algn="l" defTabSz="684213" fontAlgn="base">
              <a:spcBef>
                <a:spcPts val="600"/>
              </a:spcBef>
              <a:spcAft>
                <a:spcPts val="600"/>
              </a:spcAft>
              <a:buClr>
                <a:schemeClr val="tx2"/>
              </a:buClr>
              <a:buSzPct val="90000"/>
            </a:pPr>
            <a:endParaRPr lang="en-US" sz="1600" b="1"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0" indent="0" algn="l"/>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pic>
        <p:nvPicPr>
          <p:cNvPr id="7" name="Picture 6">
            <a:extLst>
              <a:ext uri="{FF2B5EF4-FFF2-40B4-BE49-F238E27FC236}">
                <a16:creationId xmlns:a16="http://schemas.microsoft.com/office/drawing/2014/main" id="{07C3226C-D38B-4EAD-BDD2-31F7901806DA}"/>
              </a:ext>
            </a:extLst>
          </p:cNvPr>
          <p:cNvPicPr>
            <a:picLocks noChangeAspect="1"/>
          </p:cNvPicPr>
          <p:nvPr/>
        </p:nvPicPr>
        <p:blipFill>
          <a:blip r:embed="rId3"/>
          <a:stretch>
            <a:fillRect/>
          </a:stretch>
        </p:blipFill>
        <p:spPr>
          <a:xfrm>
            <a:off x="0" y="2636912"/>
            <a:ext cx="5444867" cy="3240360"/>
          </a:xfrm>
          <a:prstGeom prst="rect">
            <a:avLst/>
          </a:prstGeom>
        </p:spPr>
      </p:pic>
      <p:pic>
        <p:nvPicPr>
          <p:cNvPr id="8" name="Picture 2" descr="https://learning.oreilly.com/library/view/switching-routing-and/9780136729471/graphics/12fig3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3857157"/>
            <a:ext cx="3923766" cy="2952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3223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725025"/>
            <a:ext cx="8345488" cy="975783"/>
          </a:xfrm>
        </p:spPr>
        <p:txBody>
          <a:bodyPr/>
          <a:lstStyle/>
          <a:p>
            <a:r>
              <a:rPr lang="en-US" dirty="0">
                <a:solidFill>
                  <a:schemeClr val="tx1"/>
                </a:solidFill>
              </a:rPr>
              <a:t>Channel Selection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395536" y="1634693"/>
            <a:ext cx="7913686" cy="1650291"/>
          </a:xfrm>
        </p:spPr>
        <p:txBody>
          <a:bodyPr/>
          <a:lstStyle/>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For the 5GHz standards 802.11a/n/ac, there are 24 channels. Each channel is separated from the next channel by 20 MHz.</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500" dirty="0">
                <a:solidFill>
                  <a:srgbClr val="000000"/>
                </a:solidFill>
              </a:rPr>
              <a:t>Non-overlapping channels are 36, 48, and 60.</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5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500" dirty="0">
              <a:solidFill>
                <a:srgbClr val="000000"/>
              </a:solidFill>
            </a:endParaRPr>
          </a:p>
          <a:p>
            <a:pPr marL="0" indent="0" algn="l" defTabSz="684213" fontAlgn="base">
              <a:spcBef>
                <a:spcPts val="600"/>
              </a:spcBef>
              <a:spcAft>
                <a:spcPts val="600"/>
              </a:spcAft>
              <a:buClr>
                <a:schemeClr val="tx2"/>
              </a:buClr>
              <a:buSzPct val="90000"/>
            </a:pPr>
            <a:endParaRPr lang="en-US" sz="1600" b="1"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0" indent="0" algn="l"/>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pic>
        <p:nvPicPr>
          <p:cNvPr id="4" name="Picture 3">
            <a:extLst>
              <a:ext uri="{FF2B5EF4-FFF2-40B4-BE49-F238E27FC236}">
                <a16:creationId xmlns:a16="http://schemas.microsoft.com/office/drawing/2014/main" id="{EE67C185-3EB1-47D2-844A-E056EFF02077}"/>
              </a:ext>
            </a:extLst>
          </p:cNvPr>
          <p:cNvPicPr>
            <a:picLocks noChangeAspect="1"/>
          </p:cNvPicPr>
          <p:nvPr/>
        </p:nvPicPr>
        <p:blipFill>
          <a:blip r:embed="rId3"/>
          <a:stretch>
            <a:fillRect/>
          </a:stretch>
        </p:blipFill>
        <p:spPr>
          <a:xfrm>
            <a:off x="32602" y="4077072"/>
            <a:ext cx="5636420" cy="2615797"/>
          </a:xfrm>
          <a:prstGeom prst="rect">
            <a:avLst/>
          </a:prstGeom>
        </p:spPr>
      </p:pic>
      <p:pic>
        <p:nvPicPr>
          <p:cNvPr id="5122" name="Picture 2" descr="https://learning.oreilly.com/library/view/switching-routing-and/9780136729471/graphics/12fig32.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14865" y="2132856"/>
            <a:ext cx="3729135" cy="2823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4496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07504" y="836712"/>
            <a:ext cx="8237984" cy="975783"/>
          </a:xfrm>
        </p:spPr>
        <p:txBody>
          <a:bodyPr/>
          <a:lstStyle/>
          <a:p>
            <a:r>
              <a:rPr lang="en-US" dirty="0">
                <a:solidFill>
                  <a:schemeClr val="tx1"/>
                </a:solidFill>
              </a:rPr>
              <a:t>Plan a WLAN Deployment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251520" y="1988840"/>
            <a:ext cx="4464496" cy="4352568"/>
          </a:xfrm>
        </p:spPr>
        <p:txBody>
          <a:bodyPr/>
          <a:lstStyle/>
          <a:p>
            <a:pPr marL="0" indent="0" algn="l" defTabSz="684213" fontAlgn="base">
              <a:lnSpc>
                <a:spcPct val="85000"/>
              </a:lnSpc>
              <a:spcBef>
                <a:spcPct val="30000"/>
              </a:spcBef>
              <a:spcAft>
                <a:spcPts val="600"/>
              </a:spcAft>
              <a:buClr>
                <a:schemeClr val="tx2"/>
              </a:buClr>
              <a:buSzPct val="90000"/>
            </a:pPr>
            <a:r>
              <a:rPr lang="en-US" dirty="0">
                <a:solidFill>
                  <a:srgbClr val="000000"/>
                </a:solidFill>
              </a:rPr>
              <a:t>The number of users supported by a WLAN depends on the following:</a:t>
            </a:r>
          </a:p>
          <a:p>
            <a:pPr lvl="1">
              <a:lnSpc>
                <a:spcPct val="85000"/>
              </a:lnSpc>
              <a:spcBef>
                <a:spcPct val="30000"/>
              </a:spcBef>
              <a:spcAft>
                <a:spcPts val="300"/>
              </a:spcAft>
              <a:buSzPct val="90000"/>
            </a:pPr>
            <a:r>
              <a:rPr lang="en-US" sz="2000" dirty="0">
                <a:solidFill>
                  <a:srgbClr val="000000"/>
                </a:solidFill>
              </a:rPr>
              <a:t>The geographical layout of the facility</a:t>
            </a:r>
          </a:p>
          <a:p>
            <a:pPr lvl="1">
              <a:lnSpc>
                <a:spcPct val="85000"/>
              </a:lnSpc>
              <a:spcBef>
                <a:spcPct val="30000"/>
              </a:spcBef>
              <a:spcAft>
                <a:spcPts val="300"/>
              </a:spcAft>
              <a:buSzPct val="90000"/>
            </a:pPr>
            <a:r>
              <a:rPr lang="en-US" sz="2000" dirty="0">
                <a:solidFill>
                  <a:srgbClr val="000000"/>
                </a:solidFill>
              </a:rPr>
              <a:t>The number of bodies and devices that can fit in a space</a:t>
            </a:r>
          </a:p>
          <a:p>
            <a:pPr lvl="1">
              <a:lnSpc>
                <a:spcPct val="85000"/>
              </a:lnSpc>
              <a:spcBef>
                <a:spcPct val="30000"/>
              </a:spcBef>
              <a:spcAft>
                <a:spcPts val="300"/>
              </a:spcAft>
              <a:buSzPct val="90000"/>
            </a:pPr>
            <a:r>
              <a:rPr lang="en-US" sz="2000" dirty="0">
                <a:solidFill>
                  <a:srgbClr val="000000"/>
                </a:solidFill>
              </a:rPr>
              <a:t>The data rates users expect</a:t>
            </a:r>
          </a:p>
          <a:p>
            <a:pPr lvl="1">
              <a:lnSpc>
                <a:spcPct val="85000"/>
              </a:lnSpc>
              <a:spcBef>
                <a:spcPct val="30000"/>
              </a:spcBef>
              <a:spcAft>
                <a:spcPts val="300"/>
              </a:spcAft>
              <a:buSzPct val="90000"/>
            </a:pPr>
            <a:r>
              <a:rPr lang="en-US" sz="2000" dirty="0">
                <a:solidFill>
                  <a:srgbClr val="000000"/>
                </a:solidFill>
              </a:rPr>
              <a:t>The use of non-overlapping channels by multiple APs and transmit power settings</a:t>
            </a:r>
          </a:p>
          <a:p>
            <a:pPr marL="0" indent="0" algn="l" defTabSz="684213" fontAlgn="base">
              <a:lnSpc>
                <a:spcPct val="85000"/>
              </a:lnSpc>
              <a:spcBef>
                <a:spcPct val="30000"/>
              </a:spcBef>
              <a:spcAft>
                <a:spcPts val="600"/>
              </a:spcAft>
              <a:buClr>
                <a:schemeClr val="tx2"/>
              </a:buClr>
              <a:buSzPct val="90000"/>
            </a:pPr>
            <a:r>
              <a:rPr lang="en-US" dirty="0">
                <a:solidFill>
                  <a:srgbClr val="000000"/>
                </a:solidFill>
              </a:rPr>
              <a:t>When planning the location of APs, the approximate circular coverage area is important.</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b="1" dirty="0">
              <a:solidFill>
                <a:srgbClr val="000000"/>
              </a:solidFill>
            </a:endParaRPr>
          </a:p>
          <a:p>
            <a:pPr marL="285750" indent="-285750" algn="l">
              <a:buFont typeface="Arial" panose="020B0604020202020204" pitchFamily="34" charset="0"/>
              <a:buChar char="•"/>
            </a:pPr>
            <a:endParaRPr lang="en-US" b="1" dirty="0">
              <a:solidFill>
                <a:srgbClr val="000000"/>
              </a:solidFill>
            </a:endParaRPr>
          </a:p>
          <a:p>
            <a:pPr marL="285750" indent="-285750" algn="l">
              <a:buFont typeface="Arial" panose="020B0604020202020204" pitchFamily="34" charset="0"/>
              <a:buChar char="•"/>
            </a:pPr>
            <a:endParaRPr lang="en-US" b="1" dirty="0">
              <a:solidFill>
                <a:srgbClr val="000000"/>
              </a:solidFill>
            </a:endParaRPr>
          </a:p>
          <a:p>
            <a:pPr marL="489010" lvl="2" indent="-342900">
              <a:buFont typeface="Arial" panose="020B0604020202020204" pitchFamily="34" charset="0"/>
              <a:buChar char="•"/>
            </a:pPr>
            <a:endParaRPr lang="en-US" sz="2000" b="1" dirty="0">
              <a:solidFill>
                <a:srgbClr val="000000"/>
              </a:solidFill>
            </a:endParaRPr>
          </a:p>
          <a:p>
            <a:pPr marL="342900" indent="-342900" algn="l">
              <a:buFont typeface="Arial" panose="020B0604020202020204" pitchFamily="34" charset="0"/>
              <a:buChar char="•"/>
            </a:pPr>
            <a:endParaRPr lang="en-US" b="1" dirty="0">
              <a:solidFill>
                <a:srgbClr val="000000"/>
              </a:solidFill>
            </a:endParaRPr>
          </a:p>
          <a:p>
            <a:pPr marL="285750" indent="-285750" algn="l">
              <a:buFont typeface="Arial" panose="020B0604020202020204" pitchFamily="34" charset="0"/>
              <a:buChar char="•"/>
            </a:pPr>
            <a:endParaRPr lang="en-US" b="1" dirty="0">
              <a:solidFill>
                <a:srgbClr val="000000"/>
              </a:solidFill>
            </a:endParaRPr>
          </a:p>
          <a:p>
            <a:pPr marL="342900" indent="-342900" algn="l">
              <a:buFont typeface="Arial" panose="020B0604020202020204" pitchFamily="34" charset="0"/>
              <a:buChar char="•"/>
            </a:pPr>
            <a:endParaRPr lang="en-US" b="1" dirty="0">
              <a:solidFill>
                <a:srgbClr val="000000"/>
              </a:solidFill>
            </a:endParaRPr>
          </a:p>
        </p:txBody>
      </p:sp>
      <p:pic>
        <p:nvPicPr>
          <p:cNvPr id="2" name="Picture 1">
            <a:extLst>
              <a:ext uri="{FF2B5EF4-FFF2-40B4-BE49-F238E27FC236}">
                <a16:creationId xmlns:a16="http://schemas.microsoft.com/office/drawing/2014/main" id="{050E2E62-D377-4FDC-8C64-91BBA481B374}"/>
              </a:ext>
            </a:extLst>
          </p:cNvPr>
          <p:cNvPicPr>
            <a:picLocks noChangeAspect="1"/>
          </p:cNvPicPr>
          <p:nvPr/>
        </p:nvPicPr>
        <p:blipFill>
          <a:blip r:embed="rId3"/>
          <a:stretch>
            <a:fillRect/>
          </a:stretch>
        </p:blipFill>
        <p:spPr>
          <a:xfrm>
            <a:off x="4860032" y="2122770"/>
            <a:ext cx="4036015" cy="3841749"/>
          </a:xfrm>
          <a:prstGeom prst="rect">
            <a:avLst/>
          </a:prstGeom>
        </p:spPr>
      </p:pic>
    </p:spTree>
    <p:extLst>
      <p:ext uri="{BB962C8B-B14F-4D97-AF65-F5344CB8AC3E}">
        <p14:creationId xmlns:p14="http://schemas.microsoft.com/office/powerpoint/2010/main" val="2598120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86952" y="653017"/>
            <a:ext cx="8345488" cy="975783"/>
          </a:xfrm>
        </p:spPr>
        <p:txBody>
          <a:bodyPr/>
          <a:lstStyle/>
          <a:p>
            <a:r>
              <a:rPr lang="en-US" dirty="0">
                <a:solidFill>
                  <a:schemeClr val="tx1"/>
                </a:solidFill>
              </a:rPr>
              <a:t>Wireless Security</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323528" y="1556792"/>
            <a:ext cx="8280920" cy="4680520"/>
          </a:xfrm>
        </p:spPr>
        <p:txBody>
          <a:bodyPr/>
          <a:lstStyle/>
          <a:p>
            <a:pPr marL="0" indent="0" algn="l" defTabSz="684213" fontAlgn="base">
              <a:lnSpc>
                <a:spcPct val="85000"/>
              </a:lnSpc>
              <a:spcBef>
                <a:spcPct val="30000"/>
              </a:spcBef>
              <a:spcAft>
                <a:spcPts val="600"/>
              </a:spcAft>
              <a:buClr>
                <a:schemeClr val="tx2"/>
              </a:buClr>
              <a:buSzPct val="90000"/>
            </a:pPr>
            <a:r>
              <a:rPr lang="en-US" sz="1800" dirty="0">
                <a:solidFill>
                  <a:srgbClr val="000000"/>
                </a:solidFill>
              </a:rPr>
              <a:t>A WLAN is open to anyone within range of an AP and the appropriate credentials to associate to it.</a:t>
            </a:r>
          </a:p>
          <a:p>
            <a:pPr marL="0" indent="0" algn="l" defTabSz="684213" fontAlgn="base">
              <a:lnSpc>
                <a:spcPct val="85000"/>
              </a:lnSpc>
              <a:spcBef>
                <a:spcPct val="30000"/>
              </a:spcBef>
              <a:spcAft>
                <a:spcPts val="600"/>
              </a:spcAft>
              <a:buClr>
                <a:schemeClr val="tx2"/>
              </a:buClr>
              <a:buSzPct val="90000"/>
            </a:pPr>
            <a:r>
              <a:rPr lang="en-US" sz="1800" dirty="0">
                <a:solidFill>
                  <a:srgbClr val="000000"/>
                </a:solidFill>
              </a:rPr>
              <a:t>Wireless networks are specifically susceptible to several threats, including the following:</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800" dirty="0">
                <a:solidFill>
                  <a:srgbClr val="000000"/>
                </a:solidFill>
              </a:rPr>
              <a:t>Interception of data</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800" dirty="0">
                <a:solidFill>
                  <a:srgbClr val="000000"/>
                </a:solidFill>
              </a:rPr>
              <a:t>Wireless intruders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800" dirty="0">
                <a:solidFill>
                  <a:srgbClr val="000000"/>
                </a:solidFill>
              </a:rPr>
              <a:t>Denial of Service (DoS) Attacks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800" dirty="0">
                <a:solidFill>
                  <a:srgbClr val="000000"/>
                </a:solidFill>
              </a:rPr>
              <a:t>Rogue Aps</a:t>
            </a:r>
          </a:p>
          <a:p>
            <a:pPr marL="0" indent="0" algn="l" defTabSz="684213" fontAlgn="base">
              <a:lnSpc>
                <a:spcPct val="85000"/>
              </a:lnSpc>
              <a:spcBef>
                <a:spcPct val="30000"/>
              </a:spcBef>
              <a:spcAft>
                <a:spcPts val="600"/>
              </a:spcAft>
              <a:buClr>
                <a:schemeClr val="tx2"/>
              </a:buClr>
              <a:buSzPct val="90000"/>
            </a:pPr>
            <a:r>
              <a:rPr lang="en-US" sz="1800" dirty="0">
                <a:solidFill>
                  <a:srgbClr val="000000"/>
                </a:solidFill>
              </a:rPr>
              <a:t>Secure WLANs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800" dirty="0">
                <a:solidFill>
                  <a:srgbClr val="000000"/>
                </a:solidFill>
              </a:rPr>
              <a:t>SSID cloaking – use active mode and clients must know the SSID</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800" dirty="0">
                <a:solidFill>
                  <a:srgbClr val="000000"/>
                </a:solidFill>
              </a:rPr>
              <a:t>MAC addresses filtering</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800" dirty="0">
                <a:solidFill>
                  <a:srgbClr val="000000"/>
                </a:solidFill>
              </a:rPr>
              <a:t>Authentication and Encryption Systems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800" b="1" dirty="0">
              <a:solidFill>
                <a:srgbClr val="000000"/>
              </a:solidFill>
            </a:endParaRPr>
          </a:p>
          <a:p>
            <a:pPr marL="285750" indent="-285750" algn="l">
              <a:buFont typeface="Arial" panose="020B0604020202020204" pitchFamily="34" charset="0"/>
              <a:buChar char="•"/>
            </a:pPr>
            <a:endParaRPr lang="en-US" sz="1800" b="1" dirty="0">
              <a:solidFill>
                <a:srgbClr val="000000"/>
              </a:solidFill>
            </a:endParaRPr>
          </a:p>
          <a:p>
            <a:pPr marL="285750" indent="-285750" algn="l">
              <a:buFont typeface="Arial" panose="020B0604020202020204" pitchFamily="34" charset="0"/>
              <a:buChar char="•"/>
            </a:pPr>
            <a:endParaRPr lang="en-US" sz="1800" b="1" dirty="0">
              <a:solidFill>
                <a:srgbClr val="000000"/>
              </a:solidFill>
            </a:endParaRPr>
          </a:p>
          <a:p>
            <a:pPr marL="489010" lvl="2" indent="-342900">
              <a:buFont typeface="Arial" panose="020B0604020202020204" pitchFamily="34" charset="0"/>
              <a:buChar char="•"/>
            </a:pPr>
            <a:endParaRPr lang="en-US" sz="1800" b="1" dirty="0">
              <a:solidFill>
                <a:srgbClr val="000000"/>
              </a:solidFill>
            </a:endParaRPr>
          </a:p>
          <a:p>
            <a:pPr marL="342900" indent="-342900" algn="l">
              <a:buFont typeface="Arial" panose="020B0604020202020204" pitchFamily="34" charset="0"/>
              <a:buChar char="•"/>
            </a:pPr>
            <a:endParaRPr lang="en-US" sz="1800" b="1" dirty="0">
              <a:solidFill>
                <a:srgbClr val="000000"/>
              </a:solidFill>
            </a:endParaRPr>
          </a:p>
          <a:p>
            <a:pPr marL="285750" indent="-285750" algn="l">
              <a:buFont typeface="Arial" panose="020B0604020202020204" pitchFamily="34" charset="0"/>
              <a:buChar char="•"/>
            </a:pPr>
            <a:endParaRPr lang="en-US" sz="1800" b="1" dirty="0">
              <a:solidFill>
                <a:srgbClr val="000000"/>
              </a:solidFill>
            </a:endParaRPr>
          </a:p>
          <a:p>
            <a:pPr marL="342900" indent="-342900" algn="l">
              <a:buFont typeface="Arial" panose="020B0604020202020204" pitchFamily="34" charset="0"/>
              <a:buChar char="•"/>
            </a:pPr>
            <a:endParaRPr lang="en-US" sz="1800" b="1" dirty="0">
              <a:solidFill>
                <a:srgbClr val="000000"/>
              </a:solidFill>
            </a:endParaRPr>
          </a:p>
        </p:txBody>
      </p:sp>
    </p:spTree>
    <p:extLst>
      <p:ext uri="{BB962C8B-B14F-4D97-AF65-F5344CB8AC3E}">
        <p14:creationId xmlns:p14="http://schemas.microsoft.com/office/powerpoint/2010/main" val="30957871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lstStyle/>
          <a:p>
            <a:r>
              <a:rPr lang="en-US" dirty="0">
                <a:solidFill>
                  <a:schemeClr val="accent5">
                    <a:lumMod val="40000"/>
                    <a:lumOff val="60000"/>
                  </a:schemeClr>
                </a:solidFill>
              </a:rPr>
              <a:t>WLAN Configuration</a:t>
            </a:r>
          </a:p>
          <a:p>
            <a:endParaRPr lang="en-US" dirty="0"/>
          </a:p>
        </p:txBody>
      </p:sp>
    </p:spTree>
    <p:custDataLst>
      <p:tags r:id="rId1"/>
    </p:custDataLst>
    <p:extLst>
      <p:ext uri="{BB962C8B-B14F-4D97-AF65-F5344CB8AC3E}">
        <p14:creationId xmlns:p14="http://schemas.microsoft.com/office/powerpoint/2010/main" val="15785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24377" y="908720"/>
            <a:ext cx="8345488" cy="975783"/>
          </a:xfrm>
        </p:spPr>
        <p:txBody>
          <a:bodyPr/>
          <a:lstStyle/>
          <a:p>
            <a:r>
              <a:rPr lang="en-US" dirty="0">
                <a:solidFill>
                  <a:schemeClr val="tx1"/>
                </a:solidFill>
              </a:rPr>
              <a:t>The Wireless Router</a:t>
            </a:r>
          </a:p>
        </p:txBody>
      </p:sp>
      <p:sp>
        <p:nvSpPr>
          <p:cNvPr id="5" name="Content Placeholder 4">
            <a:extLst>
              <a:ext uri="{FF2B5EF4-FFF2-40B4-BE49-F238E27FC236}">
                <a16:creationId xmlns:a16="http://schemas.microsoft.com/office/drawing/2014/main" id="{B8A80458-5FAF-4BF3-8D24-3817B93C8172}"/>
              </a:ext>
            </a:extLst>
          </p:cNvPr>
          <p:cNvSpPr>
            <a:spLocks noGrp="1"/>
          </p:cNvSpPr>
          <p:nvPr>
            <p:ph idx="1"/>
          </p:nvPr>
        </p:nvSpPr>
        <p:spPr>
          <a:xfrm>
            <a:off x="126039" y="1867279"/>
            <a:ext cx="5502600" cy="3114718"/>
          </a:xfrm>
        </p:spPr>
        <p:txBody>
          <a:bodyPr/>
          <a:lstStyle/>
          <a:p>
            <a:pPr marL="0" indent="0" algn="l"/>
            <a:r>
              <a:rPr lang="en-US" dirty="0">
                <a:solidFill>
                  <a:srgbClr val="000000"/>
                </a:solidFill>
              </a:rPr>
              <a:t>Remote workers, small branch offices, and home networks often use a small office and home router. </a:t>
            </a:r>
          </a:p>
          <a:p>
            <a:pPr marL="285750" indent="-285750" algn="l">
              <a:buFont typeface="Arial" panose="020B0604020202020204" pitchFamily="34" charset="0"/>
              <a:buChar char="•"/>
            </a:pPr>
            <a:r>
              <a:rPr lang="en-US" dirty="0">
                <a:solidFill>
                  <a:srgbClr val="000000"/>
                </a:solidFill>
              </a:rPr>
              <a:t>These “integrated” routers typically include a switch for wired clients, a port for an internet connection (sometimes labeled “WAN”), and wireless components for wireless client access. </a:t>
            </a:r>
          </a:p>
          <a:p>
            <a:pPr marL="285750" indent="-285750" algn="l">
              <a:buFont typeface="Arial" panose="020B0604020202020204" pitchFamily="34" charset="0"/>
              <a:buChar char="•"/>
            </a:pPr>
            <a:r>
              <a:rPr lang="en-US" dirty="0">
                <a:solidFill>
                  <a:srgbClr val="000000"/>
                </a:solidFill>
              </a:rPr>
              <a:t>These wireless routers typically provide WLAN security, DHCP services, integrated Network Address Translation (NAT), quality of service (QoS), as well as a variety of other features. </a:t>
            </a:r>
          </a:p>
          <a:p>
            <a:pPr marL="285750" indent="-285750" algn="l">
              <a:buFont typeface="Arial" panose="020B0604020202020204" pitchFamily="34" charset="0"/>
              <a:buChar char="•"/>
            </a:pPr>
            <a:r>
              <a:rPr lang="en-US" dirty="0">
                <a:solidFill>
                  <a:srgbClr val="000000"/>
                </a:solidFill>
              </a:rPr>
              <a:t>The feature set will vary based on the router model.</a:t>
            </a:r>
          </a:p>
          <a:p>
            <a:pPr marL="73085" lvl="1" indent="0">
              <a:buNone/>
            </a:pPr>
            <a:endParaRPr lang="en-US" sz="2000" b="1" dirty="0">
              <a:solidFill>
                <a:srgbClr val="000000"/>
              </a:solidFill>
            </a:endParaRPr>
          </a:p>
        </p:txBody>
      </p:sp>
      <p:pic>
        <p:nvPicPr>
          <p:cNvPr id="4" name="Picture 3">
            <a:extLst>
              <a:ext uri="{FF2B5EF4-FFF2-40B4-BE49-F238E27FC236}">
                <a16:creationId xmlns:a16="http://schemas.microsoft.com/office/drawing/2014/main" id="{779D9BF7-99CA-4EA3-B675-8CA3E0E6959C}"/>
              </a:ext>
            </a:extLst>
          </p:cNvPr>
          <p:cNvPicPr>
            <a:picLocks noChangeAspect="1"/>
          </p:cNvPicPr>
          <p:nvPr/>
        </p:nvPicPr>
        <p:blipFill>
          <a:blip r:embed="rId3"/>
          <a:stretch>
            <a:fillRect/>
          </a:stretch>
        </p:blipFill>
        <p:spPr>
          <a:xfrm>
            <a:off x="5628639" y="344797"/>
            <a:ext cx="3145816" cy="2317123"/>
          </a:xfrm>
          <a:prstGeom prst="rect">
            <a:avLst/>
          </a:prstGeom>
        </p:spPr>
      </p:pic>
      <p:pic>
        <p:nvPicPr>
          <p:cNvPr id="6" name="Picture 5">
            <a:extLst>
              <a:ext uri="{FF2B5EF4-FFF2-40B4-BE49-F238E27FC236}">
                <a16:creationId xmlns:a16="http://schemas.microsoft.com/office/drawing/2014/main" id="{8F62773C-86CB-40C7-B2E4-3836B9613D1A}"/>
              </a:ext>
            </a:extLst>
          </p:cNvPr>
          <p:cNvPicPr>
            <a:picLocks noChangeAspect="1"/>
          </p:cNvPicPr>
          <p:nvPr/>
        </p:nvPicPr>
        <p:blipFill>
          <a:blip r:embed="rId4"/>
          <a:stretch>
            <a:fillRect/>
          </a:stretch>
        </p:blipFill>
        <p:spPr>
          <a:xfrm>
            <a:off x="5898136" y="2996952"/>
            <a:ext cx="2606821" cy="1989747"/>
          </a:xfrm>
          <a:prstGeom prst="rect">
            <a:avLst/>
          </a:prstGeom>
        </p:spPr>
      </p:pic>
      <p:pic>
        <p:nvPicPr>
          <p:cNvPr id="7170" name="Picture 2" descr="Virgin Media UK to Extend Hub 4 Broadband Router Availability - ISPreview U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90747" y="4653136"/>
            <a:ext cx="2014210" cy="2016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27476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6491" y="548680"/>
            <a:ext cx="8345488" cy="975783"/>
          </a:xfrm>
        </p:spPr>
        <p:txBody>
          <a:bodyPr/>
          <a:lstStyle/>
          <a:p>
            <a:br>
              <a:rPr lang="en-US" dirty="0">
                <a:solidFill>
                  <a:schemeClr val="tx1"/>
                </a:solidFill>
              </a:rPr>
            </a:br>
            <a:r>
              <a:rPr lang="en-US" dirty="0">
                <a:solidFill>
                  <a:schemeClr val="tx1"/>
                </a:solidFill>
              </a:rPr>
              <a:t>Basic Network Setup</a:t>
            </a:r>
          </a:p>
        </p:txBody>
      </p:sp>
      <p:sp>
        <p:nvSpPr>
          <p:cNvPr id="4" name="Content Placeholder 3">
            <a:extLst>
              <a:ext uri="{FF2B5EF4-FFF2-40B4-BE49-F238E27FC236}">
                <a16:creationId xmlns:a16="http://schemas.microsoft.com/office/drawing/2014/main" id="{7A22DCCF-5BB5-44EF-B0CB-AC58F945096D}"/>
              </a:ext>
            </a:extLst>
          </p:cNvPr>
          <p:cNvSpPr>
            <a:spLocks noGrp="1"/>
          </p:cNvSpPr>
          <p:nvPr>
            <p:ph idx="1"/>
          </p:nvPr>
        </p:nvSpPr>
        <p:spPr>
          <a:xfrm>
            <a:off x="251520" y="1628800"/>
            <a:ext cx="8568952" cy="4919863"/>
          </a:xfrm>
        </p:spPr>
        <p:txBody>
          <a:bodyPr/>
          <a:lstStyle/>
          <a:p>
            <a:pPr marL="0" indent="0" algn="l"/>
            <a:r>
              <a:rPr lang="en-US" sz="1800" dirty="0">
                <a:solidFill>
                  <a:srgbClr val="000000"/>
                </a:solidFill>
              </a:rPr>
              <a:t>Basic network setup includes the following steps:</a:t>
            </a:r>
          </a:p>
          <a:p>
            <a:pPr marL="342900" indent="-342900" algn="l">
              <a:buFont typeface="Arial" panose="020B0604020202020204" pitchFamily="34" charset="0"/>
              <a:buChar char="•"/>
            </a:pPr>
            <a:r>
              <a:rPr lang="en-US" sz="1800" dirty="0">
                <a:solidFill>
                  <a:srgbClr val="000000"/>
                </a:solidFill>
              </a:rPr>
              <a:t>Log in to the router from a web browser.</a:t>
            </a:r>
          </a:p>
          <a:p>
            <a:pPr marL="342900" indent="-342900" algn="l">
              <a:buFont typeface="Arial" panose="020B0604020202020204" pitchFamily="34" charset="0"/>
              <a:buChar char="•"/>
            </a:pPr>
            <a:r>
              <a:rPr lang="en-US" sz="1800" dirty="0">
                <a:solidFill>
                  <a:srgbClr val="000000"/>
                </a:solidFill>
              </a:rPr>
              <a:t>Change the default administrative password.</a:t>
            </a:r>
          </a:p>
          <a:p>
            <a:pPr marL="342900" indent="-342900" algn="l">
              <a:buFont typeface="Arial" panose="020B0604020202020204" pitchFamily="34" charset="0"/>
              <a:buChar char="•"/>
            </a:pPr>
            <a:r>
              <a:rPr lang="en-US" sz="1800" dirty="0">
                <a:solidFill>
                  <a:srgbClr val="000000"/>
                </a:solidFill>
              </a:rPr>
              <a:t>Log in with the new administrative password.</a:t>
            </a:r>
          </a:p>
          <a:p>
            <a:pPr marL="342900" indent="-342900" algn="l">
              <a:buFont typeface="Arial" panose="020B0604020202020204" pitchFamily="34" charset="0"/>
              <a:buChar char="•"/>
            </a:pPr>
            <a:r>
              <a:rPr lang="en-US" sz="1800" dirty="0">
                <a:solidFill>
                  <a:srgbClr val="000000"/>
                </a:solidFill>
              </a:rPr>
              <a:t>Change the default DHCP IPv4 addresses.</a:t>
            </a:r>
          </a:p>
          <a:p>
            <a:pPr marL="342900" indent="-342900" algn="l">
              <a:buFont typeface="Arial" panose="020B0604020202020204" pitchFamily="34" charset="0"/>
              <a:buChar char="•"/>
            </a:pPr>
            <a:r>
              <a:rPr lang="en-US" sz="1800" dirty="0">
                <a:solidFill>
                  <a:srgbClr val="000000"/>
                </a:solidFill>
              </a:rPr>
              <a:t>Renew the IP address.</a:t>
            </a:r>
          </a:p>
          <a:p>
            <a:pPr marL="342900" indent="-342900" algn="l">
              <a:buFont typeface="Arial" panose="020B0604020202020204" pitchFamily="34" charset="0"/>
              <a:buChar char="•"/>
            </a:pPr>
            <a:r>
              <a:rPr lang="en-US" sz="1800" dirty="0">
                <a:solidFill>
                  <a:srgbClr val="000000"/>
                </a:solidFill>
              </a:rPr>
              <a:t>Log in to the router with the new IP address.</a:t>
            </a:r>
          </a:p>
          <a:p>
            <a:pPr marL="0" indent="0" algn="l"/>
            <a:r>
              <a:rPr lang="en-US" sz="1800" dirty="0">
                <a:solidFill>
                  <a:srgbClr val="000000"/>
                </a:solidFill>
              </a:rPr>
              <a:t>Basic wireless setup includes the following steps:</a:t>
            </a:r>
          </a:p>
          <a:p>
            <a:pPr marL="342900" indent="-342900" algn="l">
              <a:buFont typeface="Arial" panose="020B0604020202020204" pitchFamily="34" charset="0"/>
              <a:buChar char="•"/>
            </a:pPr>
            <a:r>
              <a:rPr lang="en-US" sz="1800" dirty="0">
                <a:solidFill>
                  <a:srgbClr val="000000"/>
                </a:solidFill>
              </a:rPr>
              <a:t>View the WLAN defaults.</a:t>
            </a:r>
          </a:p>
          <a:p>
            <a:pPr marL="342900" indent="-342900" algn="l">
              <a:buFont typeface="Arial" panose="020B0604020202020204" pitchFamily="34" charset="0"/>
              <a:buChar char="•"/>
            </a:pPr>
            <a:r>
              <a:rPr lang="en-US" sz="1800" dirty="0">
                <a:solidFill>
                  <a:srgbClr val="000000"/>
                </a:solidFill>
              </a:rPr>
              <a:t>Change the network mode, identifying which 802.11 standard is to be implemented.</a:t>
            </a:r>
          </a:p>
          <a:p>
            <a:pPr marL="342900" indent="-342900" algn="l">
              <a:buFont typeface="Arial" panose="020B0604020202020204" pitchFamily="34" charset="0"/>
              <a:buChar char="•"/>
            </a:pPr>
            <a:r>
              <a:rPr lang="en-US" sz="1800" dirty="0">
                <a:solidFill>
                  <a:srgbClr val="000000"/>
                </a:solidFill>
              </a:rPr>
              <a:t>Configure the SSID.</a:t>
            </a:r>
          </a:p>
          <a:p>
            <a:pPr marL="342900" indent="-342900" algn="l">
              <a:buFont typeface="Arial" panose="020B0604020202020204" pitchFamily="34" charset="0"/>
              <a:buChar char="•"/>
            </a:pPr>
            <a:r>
              <a:rPr lang="en-US" sz="1800" dirty="0">
                <a:solidFill>
                  <a:srgbClr val="000000"/>
                </a:solidFill>
              </a:rPr>
              <a:t>Configure the channel, ensuring there are no overlapping channels in use.</a:t>
            </a:r>
          </a:p>
          <a:p>
            <a:pPr marL="342900" indent="-342900" algn="l">
              <a:buFont typeface="Arial" panose="020B0604020202020204" pitchFamily="34" charset="0"/>
              <a:buChar char="•"/>
            </a:pPr>
            <a:r>
              <a:rPr lang="en-US" sz="1800" dirty="0">
                <a:solidFill>
                  <a:srgbClr val="000000"/>
                </a:solidFill>
              </a:rPr>
              <a:t>Configure the security mode, selecting from Open, WPA, WPA2 Personal, WPA2 Enterprise, etc..</a:t>
            </a:r>
          </a:p>
          <a:p>
            <a:pPr marL="342900" indent="-342900" algn="l">
              <a:buFont typeface="Arial" panose="020B0604020202020204" pitchFamily="34" charset="0"/>
              <a:buChar char="•"/>
            </a:pPr>
            <a:r>
              <a:rPr lang="en-US" sz="1800" dirty="0">
                <a:solidFill>
                  <a:srgbClr val="000000"/>
                </a:solidFill>
              </a:rPr>
              <a:t>Configure the passphrase, as required for the selected security mode.</a:t>
            </a:r>
          </a:p>
          <a:p>
            <a:pPr marL="342900" indent="-342900" algn="l">
              <a:buFont typeface="Arial" panose="020B0604020202020204" pitchFamily="34" charset="0"/>
              <a:buChar char="•"/>
            </a:pPr>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p:txBody>
      </p:sp>
    </p:spTree>
    <p:extLst>
      <p:ext uri="{BB962C8B-B14F-4D97-AF65-F5344CB8AC3E}">
        <p14:creationId xmlns:p14="http://schemas.microsoft.com/office/powerpoint/2010/main" val="1510969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86952" y="653017"/>
            <a:ext cx="8345488" cy="975783"/>
          </a:xfrm>
        </p:spPr>
        <p:txBody>
          <a:bodyPr/>
          <a:lstStyle/>
          <a:p>
            <a:r>
              <a:rPr lang="en-US" dirty="0">
                <a:solidFill>
                  <a:schemeClr val="tx1"/>
                </a:solidFill>
              </a:rPr>
              <a:t>Wireless Mesh Network</a:t>
            </a:r>
          </a:p>
        </p:txBody>
      </p:sp>
      <p:sp>
        <p:nvSpPr>
          <p:cNvPr id="5" name="Content Placeholder 4">
            <a:extLst>
              <a:ext uri="{FF2B5EF4-FFF2-40B4-BE49-F238E27FC236}">
                <a16:creationId xmlns:a16="http://schemas.microsoft.com/office/drawing/2014/main" id="{F1DA98B9-49B3-4F7A-8317-33D71C191442}"/>
              </a:ext>
            </a:extLst>
          </p:cNvPr>
          <p:cNvSpPr>
            <a:spLocks noGrp="1"/>
          </p:cNvSpPr>
          <p:nvPr>
            <p:ph idx="1"/>
          </p:nvPr>
        </p:nvSpPr>
        <p:spPr>
          <a:xfrm>
            <a:off x="309616" y="1484784"/>
            <a:ext cx="8595102" cy="4404148"/>
          </a:xfrm>
        </p:spPr>
        <p:txBody>
          <a:bodyPr/>
          <a:lstStyle/>
          <a:p>
            <a:pPr marL="0" indent="0" algn="l"/>
            <a:r>
              <a:rPr lang="en-US" dirty="0">
                <a:solidFill>
                  <a:srgbClr val="000000"/>
                </a:solidFill>
              </a:rPr>
              <a:t>In a small office or home network, one wireless router may suffice to provide wireless access to all the clients. </a:t>
            </a:r>
          </a:p>
        </p:txBody>
      </p:sp>
      <p:pic>
        <p:nvPicPr>
          <p:cNvPr id="6" name="Picture 5">
            <a:extLst>
              <a:ext uri="{FF2B5EF4-FFF2-40B4-BE49-F238E27FC236}">
                <a16:creationId xmlns:a16="http://schemas.microsoft.com/office/drawing/2014/main" id="{AA488784-D968-4FE0-BC60-C968332871F6}"/>
              </a:ext>
            </a:extLst>
          </p:cNvPr>
          <p:cNvPicPr>
            <a:picLocks noChangeAspect="1"/>
          </p:cNvPicPr>
          <p:nvPr/>
        </p:nvPicPr>
        <p:blipFill>
          <a:blip r:embed="rId3"/>
          <a:stretch>
            <a:fillRect/>
          </a:stretch>
        </p:blipFill>
        <p:spPr>
          <a:xfrm>
            <a:off x="4848480" y="2578409"/>
            <a:ext cx="4262384" cy="3127513"/>
          </a:xfrm>
          <a:prstGeom prst="rect">
            <a:avLst/>
          </a:prstGeom>
        </p:spPr>
      </p:pic>
      <p:sp>
        <p:nvSpPr>
          <p:cNvPr id="7" name="Content Placeholder 4">
            <a:extLst>
              <a:ext uri="{FF2B5EF4-FFF2-40B4-BE49-F238E27FC236}">
                <a16:creationId xmlns:a16="http://schemas.microsoft.com/office/drawing/2014/main" id="{A932577D-37DE-490A-84DC-9A106FA3BFDF}"/>
              </a:ext>
            </a:extLst>
          </p:cNvPr>
          <p:cNvSpPr txBox="1">
            <a:spLocks/>
          </p:cNvSpPr>
          <p:nvPr/>
        </p:nvSpPr>
        <p:spPr>
          <a:xfrm>
            <a:off x="309616" y="2114283"/>
            <a:ext cx="4694432" cy="462708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dirty="0">
                <a:solidFill>
                  <a:srgbClr val="000000"/>
                </a:solidFill>
              </a:rPr>
              <a:t>If you want to extend the range beyond approximately 45 meters indoors and 90 meters outdoors, you create a wireless mesh. </a:t>
            </a:r>
          </a:p>
          <a:p>
            <a:pPr marL="342900" indent="-342900" algn="l">
              <a:buFont typeface="Arial" panose="020B0604020202020204" pitchFamily="34" charset="0"/>
              <a:buChar char="•"/>
            </a:pPr>
            <a:r>
              <a:rPr lang="en-CA" dirty="0">
                <a:solidFill>
                  <a:srgbClr val="000000"/>
                </a:solidFill>
              </a:rPr>
              <a:t>Create the mesh by adding access points with the same settings, except using different channels to prevent interference.</a:t>
            </a:r>
          </a:p>
          <a:p>
            <a:pPr marL="342900" indent="-342900" algn="l">
              <a:buFont typeface="Arial" panose="020B0604020202020204" pitchFamily="34" charset="0"/>
              <a:buChar char="•"/>
            </a:pPr>
            <a:r>
              <a:rPr lang="en-CA" dirty="0">
                <a:solidFill>
                  <a:srgbClr val="000000"/>
                </a:solidFill>
              </a:rPr>
              <a:t>Extending a WLAN in a small office or home has become increasingly easier. </a:t>
            </a:r>
          </a:p>
          <a:p>
            <a:pPr marL="342900" indent="-342900" algn="l">
              <a:buFont typeface="Arial" panose="020B0604020202020204" pitchFamily="34" charset="0"/>
              <a:buChar char="•"/>
            </a:pPr>
            <a:r>
              <a:rPr lang="en-CA" dirty="0">
                <a:solidFill>
                  <a:srgbClr val="000000"/>
                </a:solidFill>
              </a:rPr>
              <a:t>Manufacturers have made creating a wireless mesh network (WMN) simple through smartphone apps. </a:t>
            </a:r>
          </a:p>
        </p:txBody>
      </p:sp>
    </p:spTree>
    <p:extLst>
      <p:ext uri="{BB962C8B-B14F-4D97-AF65-F5344CB8AC3E}">
        <p14:creationId xmlns:p14="http://schemas.microsoft.com/office/powerpoint/2010/main" val="645922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idx="4294967295"/>
          </p:nvPr>
        </p:nvSpPr>
        <p:spPr>
          <a:xfrm>
            <a:off x="2627784" y="3429000"/>
            <a:ext cx="3208588" cy="799051"/>
          </a:xfrm>
          <a:prstGeom prst="rect">
            <a:avLst/>
          </a:prstGeom>
        </p:spPr>
        <p:txBody>
          <a:bodyPr vert="horz" wrap="square" lIns="0" tIns="31474" rIns="0" bIns="0" rtlCol="0">
            <a:spAutoFit/>
          </a:bodyPr>
          <a:lstStyle/>
          <a:p>
            <a:pPr marL="25179">
              <a:spcBef>
                <a:spcPts val="248"/>
              </a:spcBef>
            </a:pPr>
            <a:r>
              <a:rPr sz="4900" spc="20" dirty="0"/>
              <a:t>Questions?</a:t>
            </a:r>
            <a:endParaRPr sz="4900" dirty="0"/>
          </a:p>
        </p:txBody>
      </p:sp>
    </p:spTree>
    <p:extLst>
      <p:ext uri="{BB962C8B-B14F-4D97-AF65-F5344CB8AC3E}">
        <p14:creationId xmlns:p14="http://schemas.microsoft.com/office/powerpoint/2010/main" val="35000302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uow2">
  <a:themeElements>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ow2">
      <a:majorFont>
        <a:latin typeface="Rockwel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ow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ow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ow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ow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ow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ow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ow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ow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ow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ow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ow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uow2</Template>
  <TotalTime>41290</TotalTime>
  <Words>5906</Words>
  <Application>Microsoft Office PowerPoint</Application>
  <PresentationFormat>On-screen Show (4:3)</PresentationFormat>
  <Paragraphs>413</Paragraphs>
  <Slides>39</Slides>
  <Notes>32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ＭＳ Ｐゴシック</vt:lpstr>
      <vt:lpstr>Arial</vt:lpstr>
      <vt:lpstr>Carlito</vt:lpstr>
      <vt:lpstr>CiscoSans</vt:lpstr>
      <vt:lpstr>Google Sans</vt:lpstr>
      <vt:lpstr>Helvetica</vt:lpstr>
      <vt:lpstr>Proxima Nova</vt:lpstr>
      <vt:lpstr>Rockwell</vt:lpstr>
      <vt:lpstr>Trebuchet MS</vt:lpstr>
      <vt:lpstr>uow2</vt:lpstr>
      <vt:lpstr>Wireless Networks</vt:lpstr>
      <vt:lpstr>Elements of a wireless network</vt:lpstr>
      <vt:lpstr>Wireless Technologies</vt:lpstr>
      <vt:lpstr>Wireless Technologies (cont.)</vt:lpstr>
      <vt:lpstr>PowerPoint Presentation</vt:lpstr>
      <vt:lpstr>802.11 Standards</vt:lpstr>
      <vt:lpstr>Radio Frequencies</vt:lpstr>
      <vt:lpstr>WLAN Components </vt:lpstr>
      <vt:lpstr>Wireless Access Point</vt:lpstr>
      <vt:lpstr>Aerials for external use</vt:lpstr>
      <vt:lpstr>AP Categories</vt:lpstr>
      <vt:lpstr>PowerPoint Presentation</vt:lpstr>
      <vt:lpstr>802.11 Wireless Topology Modes</vt:lpstr>
      <vt:lpstr>BSS and ESS</vt:lpstr>
      <vt:lpstr>Transition Types Based On Mobility</vt:lpstr>
      <vt:lpstr>Wireless Link Characteristics</vt:lpstr>
      <vt:lpstr>Medium Access Control</vt:lpstr>
      <vt:lpstr>CSMA/CA</vt:lpstr>
      <vt:lpstr>Collision Avoidance: RTS-CTS  exchange</vt:lpstr>
      <vt:lpstr>IEEE 802.11 Medium Access  Control Logic</vt:lpstr>
      <vt:lpstr>Wireless Client and AP Association</vt:lpstr>
      <vt:lpstr>Discover Mode</vt:lpstr>
      <vt:lpstr>Association-Related Services</vt:lpstr>
      <vt:lpstr>PowerPoint Presentation</vt:lpstr>
      <vt:lpstr>WLC Topology</vt:lpstr>
      <vt:lpstr>CAPWAP</vt:lpstr>
      <vt:lpstr>Datagram Transport Layer Security (DTLS)</vt:lpstr>
      <vt:lpstr>Flex Connect APs</vt:lpstr>
      <vt:lpstr>PowerPoint Presentation</vt:lpstr>
      <vt:lpstr>Frequency Channel Saturation</vt:lpstr>
      <vt:lpstr>Channel Selection</vt:lpstr>
      <vt:lpstr>Channel Selection</vt:lpstr>
      <vt:lpstr>Plan a WLAN Deployment</vt:lpstr>
      <vt:lpstr>Wireless Security</vt:lpstr>
      <vt:lpstr>PowerPoint Presentation</vt:lpstr>
      <vt:lpstr>The Wireless Router</vt:lpstr>
      <vt:lpstr> Basic Network Setup</vt:lpstr>
      <vt:lpstr>Wireless Mesh Network</vt:lpstr>
      <vt:lpstr>Questions?</vt:lpstr>
    </vt:vector>
  </TitlesOfParts>
  <Company>University of Wolverhampton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Mbarushimana, Consolee</dc:creator>
  <cp:lastModifiedBy>Coulson, Ian M. (Dr)</cp:lastModifiedBy>
  <cp:revision>566</cp:revision>
  <cp:lastPrinted>2017-02-13T10:20:23Z</cp:lastPrinted>
  <dcterms:created xsi:type="dcterms:W3CDTF">2009-12-02T13:43:23Z</dcterms:created>
  <dcterms:modified xsi:type="dcterms:W3CDTF">2025-02-27T09:42:58Z</dcterms:modified>
</cp:coreProperties>
</file>