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60" r:id="rId2"/>
    <p:sldId id="271" r:id="rId3"/>
    <p:sldId id="272" r:id="rId4"/>
    <p:sldId id="274" r:id="rId5"/>
    <p:sldId id="321" r:id="rId6"/>
    <p:sldId id="275" r:id="rId7"/>
    <p:sldId id="276" r:id="rId8"/>
    <p:sldId id="277" r:id="rId9"/>
    <p:sldId id="278" r:id="rId10"/>
    <p:sldId id="279" r:id="rId11"/>
    <p:sldId id="281" r:id="rId12"/>
    <p:sldId id="282" r:id="rId13"/>
    <p:sldId id="283" r:id="rId14"/>
    <p:sldId id="284" r:id="rId15"/>
    <p:sldId id="285" r:id="rId16"/>
    <p:sldId id="286" r:id="rId17"/>
    <p:sldId id="289" r:id="rId18"/>
    <p:sldId id="290" r:id="rId19"/>
    <p:sldId id="291" r:id="rId20"/>
    <p:sldId id="293" r:id="rId21"/>
    <p:sldId id="294" r:id="rId22"/>
    <p:sldId id="296" r:id="rId23"/>
    <p:sldId id="297" r:id="rId24"/>
    <p:sldId id="298" r:id="rId25"/>
    <p:sldId id="300" r:id="rId26"/>
    <p:sldId id="302" r:id="rId27"/>
    <p:sldId id="305" r:id="rId28"/>
    <p:sldId id="306" r:id="rId29"/>
    <p:sldId id="307" r:id="rId30"/>
    <p:sldId id="309" r:id="rId31"/>
    <p:sldId id="311" r:id="rId32"/>
    <p:sldId id="312" r:id="rId33"/>
    <p:sldId id="313" r:id="rId34"/>
    <p:sldId id="316" r:id="rId35"/>
    <p:sldId id="317" r:id="rId36"/>
    <p:sldId id="318" r:id="rId37"/>
    <p:sldId id="319" r:id="rId38"/>
    <p:sldId id="323" r:id="rId39"/>
  </p:sldIdLst>
  <p:sldSz cx="9144000" cy="6858000" type="screen4x3"/>
  <p:notesSz cx="6797675" cy="9926638"/>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098">
          <p15:clr>
            <a:srgbClr val="A4A3A4"/>
          </p15:clr>
        </p15:guide>
        <p15:guide id="3"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E814"/>
    <a:srgbClr val="FACB18"/>
    <a:srgbClr val="660066"/>
    <a:srgbClr val="CC0099"/>
    <a:srgbClr val="200029"/>
    <a:srgbClr val="1A00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BEEFC3-29F1-4C59-B79C-3D1918652128}" v="4" dt="2024-02-14T14:55:25.983"/>
  </p1510:revLst>
</p1510:revInfo>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07" autoAdjust="0"/>
    <p:restoredTop sz="71598" autoAdjust="0"/>
  </p:normalViewPr>
  <p:slideViewPr>
    <p:cSldViewPr>
      <p:cViewPr varScale="1">
        <p:scale>
          <a:sx n="80" d="100"/>
          <a:sy n="80" d="100"/>
        </p:scale>
        <p:origin x="1290"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406" y="-90"/>
      </p:cViewPr>
      <p:guideLst>
        <p:guide orient="horz" pos="3126"/>
        <p:guide pos="209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ulson, Ian M. (Dr)" userId="a8d3dc85-8701-425a-87df-1f27458d7dd7" providerId="ADAL" clId="{EDBEEFC3-29F1-4C59-B79C-3D1918652128}"/>
    <pc:docChg chg="undo custSel modSld">
      <pc:chgData name="Coulson, Ian M. (Dr)" userId="a8d3dc85-8701-425a-87df-1f27458d7dd7" providerId="ADAL" clId="{EDBEEFC3-29F1-4C59-B79C-3D1918652128}" dt="2024-02-14T15:20:30.580" v="231" actId="2711"/>
      <pc:docMkLst>
        <pc:docMk/>
      </pc:docMkLst>
      <pc:sldChg chg="modSp mod modAnim">
        <pc:chgData name="Coulson, Ian M. (Dr)" userId="a8d3dc85-8701-425a-87df-1f27458d7dd7" providerId="ADAL" clId="{EDBEEFC3-29F1-4C59-B79C-3D1918652128}" dt="2024-02-14T14:28:59.388" v="142"/>
        <pc:sldMkLst>
          <pc:docMk/>
          <pc:sldMk cId="1008041026" sldId="281"/>
        </pc:sldMkLst>
        <pc:spChg chg="mod">
          <ac:chgData name="Coulson, Ian M. (Dr)" userId="a8d3dc85-8701-425a-87df-1f27458d7dd7" providerId="ADAL" clId="{EDBEEFC3-29F1-4C59-B79C-3D1918652128}" dt="2024-02-14T14:28:38.313" v="140" actId="207"/>
          <ac:spMkLst>
            <pc:docMk/>
            <pc:sldMk cId="1008041026" sldId="281"/>
            <ac:spMk id="4" creationId="{50693879-5816-3444-9D50-A12F1F37F5DE}"/>
          </ac:spMkLst>
        </pc:spChg>
      </pc:sldChg>
      <pc:sldChg chg="addSp delSp modSp mod">
        <pc:chgData name="Coulson, Ian M. (Dr)" userId="a8d3dc85-8701-425a-87df-1f27458d7dd7" providerId="ADAL" clId="{EDBEEFC3-29F1-4C59-B79C-3D1918652128}" dt="2024-02-14T14:55:27.888" v="154" actId="478"/>
        <pc:sldMkLst>
          <pc:docMk/>
          <pc:sldMk cId="3313181999" sldId="289"/>
        </pc:sldMkLst>
        <pc:picChg chg="add del mod">
          <ac:chgData name="Coulson, Ian M. (Dr)" userId="a8d3dc85-8701-425a-87df-1f27458d7dd7" providerId="ADAL" clId="{EDBEEFC3-29F1-4C59-B79C-3D1918652128}" dt="2024-02-14T14:55:27.888" v="154" actId="478"/>
          <ac:picMkLst>
            <pc:docMk/>
            <pc:sldMk cId="3313181999" sldId="289"/>
            <ac:picMk id="2" creationId="{CB081BAF-76FA-4992-A3FF-D3567E53A9ED}"/>
          </ac:picMkLst>
        </pc:picChg>
        <pc:picChg chg="add mod">
          <ac:chgData name="Coulson, Ian M. (Dr)" userId="a8d3dc85-8701-425a-87df-1f27458d7dd7" providerId="ADAL" clId="{EDBEEFC3-29F1-4C59-B79C-3D1918652128}" dt="2024-02-14T14:55:24.104" v="153" actId="1076"/>
          <ac:picMkLst>
            <pc:docMk/>
            <pc:sldMk cId="3313181999" sldId="289"/>
            <ac:picMk id="5" creationId="{ADD3DA35-27CD-C236-4FC0-A83A5AB768C3}"/>
          </ac:picMkLst>
        </pc:picChg>
      </pc:sldChg>
      <pc:sldChg chg="modSp mod">
        <pc:chgData name="Coulson, Ian M. (Dr)" userId="a8d3dc85-8701-425a-87df-1f27458d7dd7" providerId="ADAL" clId="{EDBEEFC3-29F1-4C59-B79C-3D1918652128}" dt="2024-02-14T15:20:30.580" v="231" actId="2711"/>
        <pc:sldMkLst>
          <pc:docMk/>
          <pc:sldMk cId="103111868" sldId="290"/>
        </pc:sldMkLst>
        <pc:spChg chg="mod">
          <ac:chgData name="Coulson, Ian M. (Dr)" userId="a8d3dc85-8701-425a-87df-1f27458d7dd7" providerId="ADAL" clId="{EDBEEFC3-29F1-4C59-B79C-3D1918652128}" dt="2024-02-14T15:20:10.167" v="229" actId="1076"/>
          <ac:spMkLst>
            <pc:docMk/>
            <pc:sldMk cId="103111868" sldId="290"/>
            <ac:spMk id="2" creationId="{00000000-0000-0000-0000-000000000000}"/>
          </ac:spMkLst>
        </pc:spChg>
        <pc:spChg chg="mod">
          <ac:chgData name="Coulson, Ian M. (Dr)" userId="a8d3dc85-8701-425a-87df-1f27458d7dd7" providerId="ADAL" clId="{EDBEEFC3-29F1-4C59-B79C-3D1918652128}" dt="2024-02-14T15:20:30.580" v="231" actId="2711"/>
          <ac:spMkLst>
            <pc:docMk/>
            <pc:sldMk cId="103111868" sldId="290"/>
            <ac:spMk id="4" creationId="{50693879-5816-3444-9D50-A12F1F37F5DE}"/>
          </ac:spMkLst>
        </pc:spChg>
        <pc:picChg chg="mod">
          <ac:chgData name="Coulson, Ian M. (Dr)" userId="a8d3dc85-8701-425a-87df-1f27458d7dd7" providerId="ADAL" clId="{EDBEEFC3-29F1-4C59-B79C-3D1918652128}" dt="2024-02-14T15:19:25.344" v="217" actId="14100"/>
          <ac:picMkLst>
            <pc:docMk/>
            <pc:sldMk cId="103111868" sldId="290"/>
            <ac:picMk id="5" creationId="{A73777F7-7346-4E18-806F-0CAE40BBA42F}"/>
          </ac:picMkLst>
        </pc:picChg>
      </pc:sldChg>
      <pc:sldChg chg="modSp mod">
        <pc:chgData name="Coulson, Ian M. (Dr)" userId="a8d3dc85-8701-425a-87df-1f27458d7dd7" providerId="ADAL" clId="{EDBEEFC3-29F1-4C59-B79C-3D1918652128}" dt="2024-02-14T15:06:56.586" v="216" actId="20577"/>
        <pc:sldMkLst>
          <pc:docMk/>
          <pc:sldMk cId="1142159530" sldId="298"/>
        </pc:sldMkLst>
        <pc:spChg chg="mod">
          <ac:chgData name="Coulson, Ian M. (Dr)" userId="a8d3dc85-8701-425a-87df-1f27458d7dd7" providerId="ADAL" clId="{EDBEEFC3-29F1-4C59-B79C-3D1918652128}" dt="2024-02-14T15:06:56.586" v="216" actId="20577"/>
          <ac:spMkLst>
            <pc:docMk/>
            <pc:sldMk cId="1142159530" sldId="298"/>
            <ac:spMk id="6" creationId="{50693879-5816-3444-9D50-A12F1F37F5DE}"/>
          </ac:spMkLst>
        </pc:spChg>
      </pc:sldChg>
    </pc:docChg>
  </pc:docChgLst>
  <pc:docChgLst>
    <pc:chgData name="Mbarushimana, Consolee" userId="590bd641-1445-4ca5-b0d0-e8a1894872d1" providerId="ADAL" clId="{4113304E-5E66-47B7-A7B9-7D925A202093}"/>
    <pc:docChg chg="modSld">
      <pc:chgData name="Mbarushimana, Consolee" userId="590bd641-1445-4ca5-b0d0-e8a1894872d1" providerId="ADAL" clId="{4113304E-5E66-47B7-A7B9-7D925A202093}" dt="2024-02-13T16:52:27.098" v="0" actId="6549"/>
      <pc:docMkLst>
        <pc:docMk/>
      </pc:docMkLst>
      <pc:sldChg chg="modNotesTx">
        <pc:chgData name="Mbarushimana, Consolee" userId="590bd641-1445-4ca5-b0d0-e8a1894872d1" providerId="ADAL" clId="{4113304E-5E66-47B7-A7B9-7D925A202093}" dt="2024-02-13T16:52:27.098" v="0" actId="6549"/>
        <pc:sldMkLst>
          <pc:docMk/>
          <pc:sldMk cId="3685580962" sldId="26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6083" name="Rectangle 3"/>
          <p:cNvSpPr>
            <a:spLocks noGrp="1" noChangeArrowheads="1"/>
          </p:cNvSpPr>
          <p:nvPr>
            <p:ph type="dt" sz="quarter"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6084" name="Rectangle 4"/>
          <p:cNvSpPr>
            <a:spLocks noGrp="1" noChangeArrowheads="1"/>
          </p:cNvSpPr>
          <p:nvPr>
            <p:ph type="ftr" sz="quarter" idx="2"/>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6085" name="Rectangle 5"/>
          <p:cNvSpPr>
            <a:spLocks noGrp="1" noChangeArrowheads="1"/>
          </p:cNvSpPr>
          <p:nvPr>
            <p:ph type="sldNum" sz="quarter" idx="3"/>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DFF9B02-B511-41B7-B86E-BB5F03402011}" type="slidenum">
              <a:rPr lang="en-GB"/>
              <a:pPr>
                <a:defRPr/>
              </a:pPr>
              <a:t>‹#›</a:t>
            </a:fld>
            <a:endParaRPr lang="en-GB"/>
          </a:p>
        </p:txBody>
      </p:sp>
    </p:spTree>
    <p:extLst>
      <p:ext uri="{BB962C8B-B14F-4D97-AF65-F5344CB8AC3E}">
        <p14:creationId xmlns:p14="http://schemas.microsoft.com/office/powerpoint/2010/main" val="200005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03" name="Rectangle 3"/>
          <p:cNvSpPr>
            <a:spLocks noGrp="1" noChangeArrowheads="1"/>
          </p:cNvSpPr>
          <p:nvPr>
            <p:ph type="dt"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4340"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680254" y="4714876"/>
            <a:ext cx="5437168"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06" name="Rectangle 6"/>
          <p:cNvSpPr>
            <a:spLocks noGrp="1" noChangeArrowheads="1"/>
          </p:cNvSpPr>
          <p:nvPr>
            <p:ph type="ftr" sz="quarter" idx="4"/>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07" name="Rectangle 7"/>
          <p:cNvSpPr>
            <a:spLocks noGrp="1" noChangeArrowheads="1"/>
          </p:cNvSpPr>
          <p:nvPr>
            <p:ph type="sldNum" sz="quarter" idx="5"/>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C91629A-89CF-4C2C-9865-CC6C32D5498C}" type="slidenum">
              <a:rPr lang="en-GB"/>
              <a:pPr>
                <a:defRPr/>
              </a:pPr>
              <a:t>‹#›</a:t>
            </a:fld>
            <a:endParaRPr lang="en-GB"/>
          </a:p>
        </p:txBody>
      </p:sp>
    </p:spTree>
    <p:extLst>
      <p:ext uri="{BB962C8B-B14F-4D97-AF65-F5344CB8AC3E}">
        <p14:creationId xmlns:p14="http://schemas.microsoft.com/office/powerpoint/2010/main" val="40788705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earning.oreilly.com/library/view/enterprise-networking-security/9780136634171/ch09.xhtml#ch09fig08"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learning.oreilly.com/library/view/enterprise-networking-security/9780136634171/gloss01.xhtml#gloss01_470"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learning.oreilly.com/library/view/enterprise-networking-security/9780136634171/ch09.xhtml#ch09fig22" TargetMode="External"/><Relationship Id="rId4" Type="http://schemas.openxmlformats.org/officeDocument/2006/relationships/hyperlink" Target="https://learning.oreilly.com/library/view/enterprise-networking-security/9780136634171/gloss01.xhtml#gloss01_469"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a:t>
            </a:fld>
            <a:endParaRPr lang="en-GB"/>
          </a:p>
        </p:txBody>
      </p:sp>
    </p:spTree>
    <p:extLst>
      <p:ext uri="{BB962C8B-B14F-4D97-AF65-F5344CB8AC3E}">
        <p14:creationId xmlns:p14="http://schemas.microsoft.com/office/powerpoint/2010/main" val="3153157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877157" y="9423413"/>
            <a:ext cx="805650" cy="311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xfrm>
            <a:off x="917575" y="744538"/>
            <a:ext cx="4962525" cy="3722687"/>
          </a:xfrm>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lvl="2">
              <a:lnSpc>
                <a:spcPct val="85000"/>
              </a:lnSpc>
              <a:spcBef>
                <a:spcPct val="30000"/>
              </a:spcBef>
            </a:pPr>
            <a:r>
              <a:rPr lang="en-US" sz="1400" dirty="0"/>
              <a:t>Can you think of a situation where you experienced the effects of excessive delay on a network?</a:t>
            </a:r>
          </a:p>
          <a:p>
            <a:pPr lvl="2">
              <a:lnSpc>
                <a:spcPct val="85000"/>
              </a:lnSpc>
              <a:spcBef>
                <a:spcPct val="30000"/>
              </a:spcBef>
            </a:pPr>
            <a:r>
              <a:rPr lang="en-US" sz="1400" dirty="0"/>
              <a:t>Discuss how packet loss and delay can impact voice or video communication.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1" i="0" kern="1200" dirty="0">
                <a:solidFill>
                  <a:schemeClr val="tx1"/>
                </a:solidFill>
                <a:effectLst/>
                <a:latin typeface="Arial" charset="0"/>
                <a:ea typeface="+mn-ea"/>
                <a:cs typeface="+mn-cs"/>
              </a:rPr>
              <a:t>Prioritizing Traffic</a:t>
            </a:r>
          </a:p>
          <a:p>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is an ever-increasing requirement of networks today. New applications, such as voice and live video transmissions, create higher expectations for quality delivery among users.</a:t>
            </a:r>
          </a:p>
          <a:p>
            <a:r>
              <a:rPr lang="en-GB" sz="1200" b="0" i="0" kern="1200" dirty="0">
                <a:solidFill>
                  <a:schemeClr val="tx1"/>
                </a:solidFill>
                <a:effectLst/>
                <a:latin typeface="Arial" charset="0"/>
                <a:ea typeface="+mn-ea"/>
                <a:cs typeface="+mn-cs"/>
              </a:rPr>
              <a:t>Congestion occurs when multiple communication lines aggregate onto a single device such as a router, and then much of that data is placed on just a few outbound interfaces, or onto a slower interface. Congestion can also occur when large data packets prevent smaller packets from being transmitted in a timely manner.</a:t>
            </a:r>
          </a:p>
          <a:p>
            <a:r>
              <a:rPr lang="en-GB" sz="1200" b="0" i="0" kern="1200" dirty="0">
                <a:solidFill>
                  <a:schemeClr val="tx1"/>
                </a:solidFill>
                <a:effectLst/>
                <a:latin typeface="Arial" charset="0"/>
                <a:ea typeface="+mn-ea"/>
                <a:cs typeface="+mn-cs"/>
              </a:rPr>
              <a:t>When the volume of traffic is greater than what can be transported across the network, devices queue (hold) the packets in memory until resources become available to transmit them. Queuing packets causes delay because new packets cannot be transmitted until previous packets have been processed. If the number of packets to be queued continues to increase, the memory within the device fills up and packets are dropped. One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technique that can help with this problem is to classify data into multiple queues, next slide.</a:t>
            </a:r>
          </a:p>
          <a:p>
            <a:r>
              <a:rPr lang="en-GB" sz="1200" b="1" i="0" kern="1200" dirty="0">
                <a:solidFill>
                  <a:schemeClr val="tx1"/>
                </a:solidFill>
                <a:effectLst/>
                <a:latin typeface="Arial" charset="0"/>
                <a:ea typeface="+mn-ea"/>
                <a:cs typeface="+mn-cs"/>
              </a:rPr>
              <a:t>Note</a:t>
            </a:r>
            <a:r>
              <a:rPr lang="en-GB" sz="1200" b="0" i="0" kern="1200" dirty="0">
                <a:solidFill>
                  <a:schemeClr val="tx1"/>
                </a:solidFill>
                <a:effectLst/>
                <a:latin typeface="Arial" charset="0"/>
                <a:ea typeface="+mn-ea"/>
                <a:cs typeface="+mn-cs"/>
              </a:rPr>
              <a:t>: A device implements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only when it is experiencing some type of congestion.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186569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1" i="0" kern="1200" dirty="0">
                <a:solidFill>
                  <a:schemeClr val="tx1"/>
                </a:solidFill>
                <a:effectLst/>
                <a:latin typeface="Arial" charset="0"/>
                <a:ea typeface="+mn-ea"/>
                <a:cs typeface="+mn-cs"/>
              </a:rPr>
              <a:t>Note</a:t>
            </a:r>
            <a:r>
              <a:rPr lang="en-GB" sz="1200" b="0" i="0" kern="1200" dirty="0">
                <a:solidFill>
                  <a:schemeClr val="tx1"/>
                </a:solidFill>
                <a:effectLst/>
                <a:latin typeface="Arial" charset="0"/>
                <a:ea typeface="+mn-ea"/>
                <a:cs typeface="+mn-cs"/>
              </a:rPr>
              <a:t>: A device implements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only when it is experiencing some type of congestion.</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186569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Network bandwidth is measured in the number of bits that can be transmitted in a single second, or bits per second (bps). For example, a network device may be described as having the capability to perform at 10 gigabits per second (</a:t>
            </a:r>
            <a:r>
              <a:rPr lang="en-GB" sz="1200" b="0" i="0" kern="1200" dirty="0" err="1">
                <a:solidFill>
                  <a:schemeClr val="tx1"/>
                </a:solidFill>
                <a:effectLst/>
                <a:latin typeface="Arial" charset="0"/>
                <a:ea typeface="+mn-ea"/>
                <a:cs typeface="+mn-cs"/>
              </a:rPr>
              <a:t>Gbps</a:t>
            </a:r>
            <a:r>
              <a:rPr lang="en-GB" sz="1200" b="0" i="0" kern="1200" dirty="0">
                <a:solidFill>
                  <a:schemeClr val="tx1"/>
                </a:solidFill>
                <a:effectLst/>
                <a:latin typeface="Arial" charset="0"/>
                <a:ea typeface="+mn-ea"/>
                <a:cs typeface="+mn-cs"/>
              </a:rPr>
              <a:t>).</a:t>
            </a:r>
          </a:p>
          <a:p>
            <a:r>
              <a:rPr lang="en-GB" sz="1200" b="0" i="0" kern="1200" dirty="0">
                <a:solidFill>
                  <a:schemeClr val="tx1"/>
                </a:solidFill>
                <a:effectLst/>
                <a:latin typeface="Arial" charset="0"/>
                <a:ea typeface="+mn-ea"/>
                <a:cs typeface="+mn-cs"/>
              </a:rPr>
              <a:t>Network congestion causes delay. An interface experiences congestion when it is presented with more traffic than it can handle. Network congestion points are ideal candidates for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mechanisms. The figure shows three examples of typical congestion points.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95187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Delay or latency refers to the time it takes for a packet to travel from the source to the destination. Two types of delays are fixed and variable. A fixed delay is a specific amount of time a specific process takes, such as how long it takes to place a bit on the transmission media. A variable delay takes an unspecified amount of time and is affected by factors such as how much traffic is being processed.</a:t>
            </a:r>
          </a:p>
          <a:p>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Jitter is the variation in the delay of received packets. At the sending side, packets are sent in a continuous stream with the packets spaced evenly apart. Due to network congestion, improper queuing, or configuration errors, the delay between each packet can vary instead of remaining constant. Both delay and jitter need to be controlled and minimized to support real-time and interactive traffic.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206473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Without any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mechanisms in place, packets are processed in the order in which they are received. When congestion occurs, network devices such as routers and switches can drop packets. This means that time-sensitive packets, such as real-time video and voice, will be dropped with the same frequency as data that is not time-sensitive, such as email and web browsing.</a:t>
            </a:r>
          </a:p>
          <a:p>
            <a:r>
              <a:rPr lang="en-GB" sz="1200" b="0" i="0" kern="1200" dirty="0">
                <a:solidFill>
                  <a:schemeClr val="tx1"/>
                </a:solidFill>
                <a:effectLst/>
                <a:latin typeface="Arial" charset="0"/>
                <a:ea typeface="+mn-ea"/>
                <a:cs typeface="+mn-cs"/>
              </a:rPr>
              <a:t>When a router receives a Real-Time Protocol (RTP) digital audio stream for Voice over IP (VoIP), it must compensate for the jitter that is encountered. The mechanism that handles this function is the playout delay buffer. The playout delay buffer must buffer these packets and then play them out in a steady stream, as shown in the figure. The digital packets are later converted back to an analogue audio stream.</a:t>
            </a:r>
          </a:p>
          <a:p>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Online</a:t>
            </a:r>
            <a:r>
              <a:rPr lang="en-GB" sz="1200" b="0" i="0" kern="1200" baseline="0" dirty="0">
                <a:solidFill>
                  <a:schemeClr val="tx1"/>
                </a:solidFill>
                <a:effectLst/>
                <a:latin typeface="Arial" charset="0"/>
                <a:ea typeface="+mn-ea"/>
                <a:cs typeface="+mn-cs"/>
              </a:rPr>
              <a:t> BBC lags behind terrestrial</a:t>
            </a:r>
            <a:endParaRPr lang="en-GB" sz="1200" b="0" i="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792401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For losses as small as one packet, the digital signal processor (DSP) interpolates what it thinks the audio should be and no problem is audible to the user. However, when jitter exceeds what the DSP can do to make up for the missing packets, audio problems are heard.</a:t>
            </a:r>
          </a:p>
          <a:p>
            <a:r>
              <a:rPr lang="en-GB" sz="1200" b="0" i="0" kern="1200" dirty="0">
                <a:solidFill>
                  <a:schemeClr val="tx1"/>
                </a:solidFill>
                <a:effectLst/>
                <a:latin typeface="Arial" charset="0"/>
                <a:ea typeface="+mn-ea"/>
                <a:cs typeface="+mn-cs"/>
              </a:rPr>
              <a:t>Packet loss is a very common cause of voice quality problems on an IP network. In a properly designed network, packet loss should be near zero. The voice codecs used by the DSP can tolerate some degree of packet loss without a dramatic effect on voice quality. Network engineers use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mechanisms to classify voice packets for zero packet loss. Bandwidth is guaranteed for the voice calls by giving priority to voice traffic over traffic that is not sensitive to delays.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dirty="0"/>
              <a:t>Note</a:t>
            </a:r>
            <a:r>
              <a:rPr lang="en-US" sz="1200" dirty="0"/>
              <a:t>: In a properly designed network, packet loss should be near zero.</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34057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In a previous topic, you learned about network transmission quality. In this topic you will learn about traffic characteristics (voice, video, and data). In the early 2000s, the predominant types of IP traffic were voice and data. Voice traffic has a predictable bandwidth need and known packet arrival times. Data traffic is not real-time and has unpredictable bandwidth need. Data traffic can temporarily burst, as when a large file is being downloaded. This bursting can consume the entire bandwidth of a link.</a:t>
            </a:r>
          </a:p>
          <a:p>
            <a:r>
              <a:rPr lang="en-GB" sz="1200" b="0" i="0" kern="1200" dirty="0">
                <a:solidFill>
                  <a:schemeClr val="tx1"/>
                </a:solidFill>
                <a:effectLst/>
                <a:latin typeface="Arial" charset="0"/>
                <a:ea typeface="+mn-ea"/>
                <a:cs typeface="+mn-cs"/>
              </a:rPr>
              <a:t>More recently, video traffic has become the increasingly important to business communications and operations. Consider that organizations now commonly use video conferencing to meet with users and clients, high definition video surveillance to remotely monitor facilities and equipment, and video streaming for a variety of purposes including training. According to the Cisco Visual Networking Index (VNI), by 2022 video will represent 82% of all internet traffic. In addition, mobile video traffic will reach 60.9 </a:t>
            </a:r>
            <a:r>
              <a:rPr lang="en-GB" sz="1200" b="0" i="0" kern="1200" dirty="0" err="1">
                <a:solidFill>
                  <a:schemeClr val="tx1"/>
                </a:solidFill>
                <a:effectLst/>
                <a:latin typeface="Arial" charset="0"/>
                <a:ea typeface="+mn-ea"/>
                <a:cs typeface="+mn-cs"/>
              </a:rPr>
              <a:t>exabytes</a:t>
            </a:r>
            <a:r>
              <a:rPr lang="en-GB" sz="1200" b="0" i="0" kern="1200" dirty="0">
                <a:solidFill>
                  <a:schemeClr val="tx1"/>
                </a:solidFill>
                <a:effectLst/>
                <a:latin typeface="Arial" charset="0"/>
                <a:ea typeface="+mn-ea"/>
                <a:cs typeface="+mn-cs"/>
              </a:rPr>
              <a:t> per month by 2022."</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580400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Voice traffic is predictable and smooth, as shown in the figure. However, voice is very sensitive to delays and dropped packets. It makes no sense to re-transmit voice if packets are lost; therefore, voice packets must receive a higher priority than other types of traffic. For example, Cisco products use the RTP port range 16384 to 32767 to prioritize voice traffic. Voice can tolerate a certain amount of latency, jitter, and loss without any noticeable effects. Latency should be no more than 150 milliseconds (</a:t>
            </a:r>
            <a:r>
              <a:rPr lang="en-GB" sz="1200" b="0" i="0" kern="1200" dirty="0" err="1">
                <a:solidFill>
                  <a:schemeClr val="tx1"/>
                </a:solidFill>
                <a:effectLst/>
                <a:latin typeface="Arial" charset="0"/>
                <a:ea typeface="+mn-ea"/>
                <a:cs typeface="+mn-cs"/>
              </a:rPr>
              <a:t>ms</a:t>
            </a:r>
            <a:r>
              <a:rPr lang="en-GB" sz="1200" b="0" i="0" kern="1200" dirty="0">
                <a:solidFill>
                  <a:schemeClr val="tx1"/>
                </a:solidFill>
                <a:effectLst/>
                <a:latin typeface="Arial" charset="0"/>
                <a:ea typeface="+mn-ea"/>
                <a:cs typeface="+mn-cs"/>
              </a:rPr>
              <a:t>). Jitter should be no more than 30 </a:t>
            </a:r>
            <a:r>
              <a:rPr lang="en-GB" sz="1200" b="0" i="0" kern="1200" dirty="0" err="1">
                <a:solidFill>
                  <a:schemeClr val="tx1"/>
                </a:solidFill>
                <a:effectLst/>
                <a:latin typeface="Arial" charset="0"/>
                <a:ea typeface="+mn-ea"/>
                <a:cs typeface="+mn-cs"/>
              </a:rPr>
              <a:t>ms</a:t>
            </a:r>
            <a:r>
              <a:rPr lang="en-GB" sz="1200" b="0" i="0" kern="1200" dirty="0">
                <a:solidFill>
                  <a:schemeClr val="tx1"/>
                </a:solidFill>
                <a:effectLst/>
                <a:latin typeface="Arial" charset="0"/>
                <a:ea typeface="+mn-ea"/>
                <a:cs typeface="+mn-cs"/>
              </a:rPr>
              <a:t>, and voice packet loss should be no more than 1%. Voice traffic requires at least 30 Kbps of bandwidth. The table gives a summary of voice traffic characteristics and requirements.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153935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Without </a:t>
            </a:r>
            <a:r>
              <a:rPr lang="en-GB" dirty="0" err="1"/>
              <a:t>QoS</a:t>
            </a:r>
            <a:r>
              <a:rPr lang="en-GB" dirty="0"/>
              <a:t> and a significant amount of extra bandwidth capacity, video quality typically degrades. The picture appears blurry, jagged, or too slow. The audio portion of the feed may become unsynchronized with the </a:t>
            </a:r>
            <a:r>
              <a:rPr lang="en-GB" dirty="0" err="1"/>
              <a:t>video.Video</a:t>
            </a:r>
            <a:r>
              <a:rPr lang="en-GB" dirty="0"/>
              <a:t> traffic tends to be unpredictable, inconsistent, and </a:t>
            </a:r>
            <a:r>
              <a:rPr lang="en-GB" dirty="0" err="1"/>
              <a:t>bursty</a:t>
            </a:r>
            <a:r>
              <a:rPr lang="en-GB" dirty="0"/>
              <a:t> compared to voice traffic. Compared to voice, video is less resilient to loss and has a higher volume of data per packet. Notice in Figure 9-5 that voice packets arrive every 20 </a:t>
            </a:r>
            <a:r>
              <a:rPr lang="en-GB" dirty="0" err="1"/>
              <a:t>ms</a:t>
            </a:r>
            <a:r>
              <a:rPr lang="en-GB" dirty="0"/>
              <a:t> and are a predictable 200 bytes each. In contrast, the number and size of video packets vary every 33 </a:t>
            </a:r>
            <a:r>
              <a:rPr lang="en-GB" dirty="0" err="1"/>
              <a:t>ms</a:t>
            </a:r>
            <a:r>
              <a:rPr lang="en-GB" dirty="0"/>
              <a:t>, based on the content of the video, as shown in Figure 9-6.For example, if the video stream consists of content that is not changing much from frame to frame, the video packets are small, and fewer of them are required to maintain acceptable user experience. However, if the video steam consists of content that is rapidly changing, such as an action sequence in a movie, the video packets are larger, and more of them are required per the 33 </a:t>
            </a:r>
            <a:r>
              <a:rPr lang="en-GB" dirty="0" err="1"/>
              <a:t>ms</a:t>
            </a:r>
            <a:r>
              <a:rPr lang="en-GB" dirty="0"/>
              <a:t> time slot to maintain an acceptable user experience.</a:t>
            </a:r>
          </a:p>
          <a:p>
            <a:endParaRPr lang="en-GB" dirty="0"/>
          </a:p>
          <a:p>
            <a:r>
              <a:rPr lang="en-GB" dirty="0"/>
              <a:t>UDP ports such as 554 are used for the Real-Time Streaming Protocol (RTSP) and should be given priority over other, less delay-sensitive, network traffic. Similar to voice, video can tolerate a certain amount of latency, jitter, and loss without any noticeable effects. Latency should be no more than 400 milliseconds (</a:t>
            </a:r>
            <a:r>
              <a:rPr lang="en-GB" dirty="0" err="1"/>
              <a:t>ms</a:t>
            </a:r>
            <a:r>
              <a:rPr lang="en-GB" dirty="0"/>
              <a:t>). Jitter should be no more than 50 </a:t>
            </a:r>
            <a:r>
              <a:rPr lang="en-GB" dirty="0" err="1"/>
              <a:t>ms</a:t>
            </a:r>
            <a:r>
              <a:rPr lang="en-GB" dirty="0"/>
              <a:t>, and video packet loss should be no more than 1%. Video traffic requires at least 384 kbps of bandwidth. Table 9-3 gives a summary of video traffic characteristics and requirements.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233476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Most applications use either TCP or UDP. Unlike UDP, TCP performs error recovery. Data applications that have no tolerance for data loss, such as email and web pages, use TCP to ensure that, if packets are lost in transit, they are re-sent. Data traffic can be smooth or </a:t>
            </a:r>
            <a:r>
              <a:rPr lang="en-GB" dirty="0" err="1"/>
              <a:t>bursty</a:t>
            </a:r>
            <a:r>
              <a:rPr lang="en-GB" dirty="0"/>
              <a:t>. Network control traffic is usually smooth and predictable. When there is a topology change, the network control traffic may burst for a few seconds. But the capacity of today’s networks can easily handle the increase in network control traffic as the network </a:t>
            </a:r>
            <a:r>
              <a:rPr lang="en-GB" dirty="0" err="1"/>
              <a:t>converges.However</a:t>
            </a:r>
            <a:r>
              <a:rPr lang="en-GB" dirty="0"/>
              <a:t>, some TCP applications can consume a large portion of network capacity. For example, FTP consumes as much bandwidth as it can get when you download a large file, such as a movie or game. Table 9-4 summarizes data traffic characteristics.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648383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Although data traffic is relatively insensitive to drops and delays compared to voice and video, a network administrator still needs to consider the quality of the user experience, sometimes referred to as quality of experience (</a:t>
            </a:r>
            <a:r>
              <a:rPr lang="en-GB" dirty="0" err="1"/>
              <a:t>QoE</a:t>
            </a:r>
            <a:r>
              <a:rPr lang="en-GB" dirty="0"/>
              <a:t>). There are two main factors that a network administrator needs to consider about the flow of data </a:t>
            </a:r>
            <a:r>
              <a:rPr lang="en-GB" dirty="0" err="1"/>
              <a:t>traffic:Does</a:t>
            </a:r>
            <a:r>
              <a:rPr lang="en-GB" dirty="0"/>
              <a:t> the data come from an interactive </a:t>
            </a:r>
            <a:r>
              <a:rPr lang="en-GB" dirty="0" err="1"/>
              <a:t>application?Is</a:t>
            </a:r>
            <a:r>
              <a:rPr lang="en-GB" dirty="0"/>
              <a:t> the data mission critical?</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782055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The </a:t>
            </a:r>
            <a:r>
              <a:rPr lang="en-GB" dirty="0" err="1"/>
              <a:t>QoS</a:t>
            </a:r>
            <a:r>
              <a:rPr lang="en-GB" dirty="0"/>
              <a:t> policy implemented by a network administrator becomes active when congestion occurs on the link. Queuing is a congestion management tool that can buffer, prioritize, and, if required, reorder packets before they are transmitted to the </a:t>
            </a:r>
            <a:r>
              <a:rPr lang="en-GB" dirty="0" err="1"/>
              <a:t>destination.A</a:t>
            </a:r>
            <a:r>
              <a:rPr lang="en-GB" dirty="0"/>
              <a:t> number of queuing algorithms are available.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160292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In its simplest form, first-in, first-out (FIFO) queuing, also known as first-come, first-served queuing, buffers and forwards packets in the order of their </a:t>
            </a:r>
            <a:r>
              <a:rPr lang="en-GB" dirty="0" err="1"/>
              <a:t>arrival.FIFO</a:t>
            </a:r>
            <a:r>
              <a:rPr lang="en-GB" dirty="0"/>
              <a:t> has no concept of priority or classes of traffic. Consequently, it makes no decision about packet priority. There is only one queue, and all packets are treated equally. Packets are sent out an interface in the order in which they arrive, as shown in Figure 9-7.</a:t>
            </a:r>
          </a:p>
          <a:p>
            <a:r>
              <a:rPr lang="en-GB" dirty="0"/>
              <a:t>Although some traffic may be more important or time-sensitive than other traffic, based on the priority classification, notice that the traffic is sent out in the order in which it is </a:t>
            </a:r>
            <a:r>
              <a:rPr lang="en-GB" dirty="0" err="1"/>
              <a:t>received.When</a:t>
            </a:r>
            <a:r>
              <a:rPr lang="en-GB" dirty="0"/>
              <a:t> FIFO is used, important or time-sensitive traffic can be dropped when there is congestion on the router or switch interface. When no other queuing strategies are configured, all interfaces except serial interfaces at E1 (2.048 Mbps) and below use FIFO by default. (Serial interfaces at E1 and below use WFQ by default.)FIFO, which is the fastest method of queuing, is effective for large links that have little delay and minimal congestion. If a link has very little congestion, FIFO queuing may be the only queuing needed.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186243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Weighted Fair Queuing (WFQ) is an automated scheduling method that provides fair bandwidth allocation to all network traffic. WFQ does not allow classification options to be configured. WFQ applies priority, or weights, to identified traffic and classifies it into conversations or flows, as shown in </a:t>
            </a:r>
            <a:r>
              <a:rPr lang="en-GB" sz="1200" b="0" i="0" u="none" strike="noStrike" kern="1200" dirty="0">
                <a:solidFill>
                  <a:schemeClr val="tx1"/>
                </a:solidFill>
                <a:effectLst/>
                <a:latin typeface="Arial" charset="0"/>
                <a:ea typeface="+mn-ea"/>
                <a:cs typeface="+mn-cs"/>
                <a:hlinkClick r:id="rId3"/>
              </a:rPr>
              <a:t>Figure 9-8</a:t>
            </a:r>
            <a:r>
              <a:rPr lang="en-GB" sz="1200" b="0" i="0" kern="1200" dirty="0">
                <a:solidFill>
                  <a:schemeClr val="tx1"/>
                </a:solidFill>
                <a:effectLst/>
                <a:latin typeface="Arial" charset="0"/>
                <a:ea typeface="+mn-ea"/>
                <a:cs typeface="+mn-cs"/>
              </a:rPr>
              <a:t>.</a:t>
            </a:r>
          </a:p>
          <a:p>
            <a:r>
              <a:rPr lang="en-GB" dirty="0"/>
              <a:t>WFQ then determines how much bandwidth each flow is allowed, relative to other flows. The flow-based algorithm used by WFQ simultaneously schedules interactive traffic to the front of a queue to reduce response time. It then fairly shares the remaining bandwidth among high-bandwidth flows. WFQ allows you to give low-volume, interactive traffic, such as Telnet sessions and voice, priority over high-volume traffic, such as FTP sessions. When multiple file transfer flows are occurring simultaneously, the transfers are given comparable </a:t>
            </a:r>
            <a:r>
              <a:rPr lang="en-GB" dirty="0" err="1"/>
              <a:t>bandwidth.WFQ</a:t>
            </a:r>
            <a:r>
              <a:rPr lang="en-GB" dirty="0"/>
              <a:t> classifies traffic into different flows based on packet header addressing, including characteristics such as source and destination IP addresses, MAC addresses, port numbers, protocol, and Type of Service (</a:t>
            </a:r>
            <a:r>
              <a:rPr lang="en-GB" dirty="0" err="1"/>
              <a:t>ToS</a:t>
            </a:r>
            <a:r>
              <a:rPr lang="en-GB" dirty="0"/>
              <a:t>) value. The </a:t>
            </a:r>
            <a:r>
              <a:rPr lang="en-GB" dirty="0" err="1"/>
              <a:t>ToS</a:t>
            </a:r>
            <a:r>
              <a:rPr lang="en-GB" dirty="0"/>
              <a:t> value in the IP header can be used to classify traffic.</a:t>
            </a:r>
          </a:p>
          <a:p>
            <a:r>
              <a:rPr lang="en-GB" dirty="0"/>
              <a:t>Low-bandwidth traffic flows, which comprise the majority of traffic, receive preferential service that allows their entire offered loads to be sent in a timely fashion. High-volume traffic flows share the remaining capacity proportionally among themselves.</a:t>
            </a:r>
          </a:p>
          <a:p>
            <a:endParaRPr lang="en-GB" dirty="0"/>
          </a:p>
          <a:p>
            <a:r>
              <a:rPr lang="en-GB" dirty="0"/>
              <a:t>Limitations of WFQ</a:t>
            </a:r>
          </a:p>
          <a:p>
            <a:r>
              <a:rPr lang="en-GB" dirty="0"/>
              <a:t>WFQ is not supported with </a:t>
            </a:r>
            <a:r>
              <a:rPr lang="en-GB" dirty="0" err="1"/>
              <a:t>tunneling</a:t>
            </a:r>
            <a:r>
              <a:rPr lang="en-GB" dirty="0"/>
              <a:t> and encryption because these features modify the packet content information required by WFQ for classification.</a:t>
            </a:r>
          </a:p>
          <a:p>
            <a:r>
              <a:rPr lang="en-GB" dirty="0"/>
              <a:t>Although WFQ automatically adapts to changing network traffic conditions, it does not offer the degree of precise control over bandwidth allocation that CBWFQ offers.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430727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Class-Based Weighted Fair Queuing (CBWFQ) extends the standard WFQ functionality to provide support for user-defined traffic classes. With CBWFQ, you define traffic classes based on match criteria including protocols, access control lists (ACLs), and input interfaces. Packets satisfying the match criteria for a class constitute the traffic for that class. A FIFO queue is reserved for each class, and traffic belonging to a class is directed to the queue for that class, as shown in Figure 9-9.</a:t>
            </a:r>
          </a:p>
          <a:p>
            <a:endParaRPr lang="en-GB" dirty="0"/>
          </a:p>
          <a:p>
            <a:r>
              <a:rPr lang="en-GB" sz="1200" b="0" i="0" kern="1200" dirty="0">
                <a:solidFill>
                  <a:schemeClr val="tx1"/>
                </a:solidFill>
                <a:effectLst/>
                <a:latin typeface="Arial" charset="0"/>
                <a:ea typeface="+mn-ea"/>
                <a:cs typeface="+mn-cs"/>
              </a:rPr>
              <a:t>When a class has been defined according to its match criteria, you can assign it characteristics. To characterize a class, you assign it bandwidth, weight, and a maximum packet limit. The bandwidth assigned to a class is the guaranteed bandwidth delivered to the class during congestion.</a:t>
            </a:r>
          </a:p>
          <a:p>
            <a:r>
              <a:rPr lang="en-GB" sz="1200" b="0" i="0" kern="1200" dirty="0">
                <a:solidFill>
                  <a:schemeClr val="tx1"/>
                </a:solidFill>
                <a:effectLst/>
                <a:latin typeface="Arial" charset="0"/>
                <a:ea typeface="+mn-ea"/>
                <a:cs typeface="+mn-cs"/>
              </a:rPr>
              <a:t>To characterize a class, you also specify the queue limit for that class, which is the maximum number of packets allowed to accumulate in the queue for the class. Packets belonging to a class are subject to the bandwidth and queue limits that characterize the class.</a:t>
            </a:r>
          </a:p>
          <a:p>
            <a:r>
              <a:rPr lang="en-GB" sz="1200" b="0" i="0" kern="1200" dirty="0">
                <a:solidFill>
                  <a:schemeClr val="tx1"/>
                </a:solidFill>
                <a:effectLst/>
                <a:latin typeface="Arial" charset="0"/>
                <a:ea typeface="+mn-ea"/>
                <a:cs typeface="+mn-cs"/>
              </a:rPr>
              <a:t>After a queue has reached its configured queue limit, adding more packets to the class causes tail drop or packet drop to occur, depending on how class policy is configured. Tail drop means a router simply discards any packet that arrives at the tail end of a queue that has completely used up its packet-holding resources. This is the default queuing response to congestion. Tail drop treats all traffic equally and does not differentiate between classes of service.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183907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US" dirty="0"/>
              <a:t>The Low Latency Queuing (LLQ) feature brings strict priority queuing (PQ) to CBWFQ. Strict PQ allows delay-sensitive packets such as voice packets to be sent before packets in other queues. LLQ provides strict priority queuing for CBWFQ to reduce jitter in voice conversations, as shown in Figure 9-10.</a:t>
            </a:r>
          </a:p>
          <a:p>
            <a:r>
              <a:rPr lang="en-GB" dirty="0"/>
              <a:t>Without LLQ, CBWFQ provides WFQ based on defined classes, with no strict priority queue available for real-time traffic. The weight for a packet belonging to a specific class is derived from the bandwidth you assigned to the class when you configured it. Therefore, the bandwidth assigned to the packets of a class determines the order in which packets are sent. All packets are serviced fairly, based on weight; no class of packets may be granted strict priority. This scheme poses problems for voice traffic that is largely intolerant of delay, especially variation in delay. For voice traffic, variations in delay introduce irregularities of transmission manifesting as jitter in the heard </a:t>
            </a:r>
            <a:r>
              <a:rPr lang="en-GB" dirty="0" err="1"/>
              <a:t>conversation.LLQ</a:t>
            </a:r>
            <a:r>
              <a:rPr lang="en-GB" dirty="0"/>
              <a:t> allows delay-sensitive packets such as voice packets to be sent first (before packets in other queues), giving delay-sensitive packets preferential treatment over other traffic. Although it is possible to classify various types of real-time traffic to the strict priority queue, Cisco recommends that only voice traffic be directed to the priority queue.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804301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How can </a:t>
            </a:r>
            <a:r>
              <a:rPr lang="en-GB" dirty="0" err="1"/>
              <a:t>QoS</a:t>
            </a:r>
            <a:r>
              <a:rPr lang="en-GB" dirty="0"/>
              <a:t> be implemented in a network?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973649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algn="l">
              <a:lnSpc>
                <a:spcPts val="1650"/>
              </a:lnSpc>
            </a:pPr>
            <a:r>
              <a:rPr lang="en-GB" b="0" i="0" dirty="0" err="1">
                <a:solidFill>
                  <a:srgbClr val="333333"/>
                </a:solidFill>
                <a:effectLst/>
                <a:latin typeface="CiscoSans-Light"/>
              </a:rPr>
              <a:t>ntegrated</a:t>
            </a:r>
            <a:r>
              <a:rPr lang="en-GB" b="0" i="0" dirty="0">
                <a:solidFill>
                  <a:srgbClr val="333333"/>
                </a:solidFill>
                <a:effectLst/>
                <a:latin typeface="CiscoSans-Light"/>
              </a:rPr>
              <a:t> Services</a:t>
            </a:r>
            <a:endParaRPr lang="en-GB" b="0" i="0" dirty="0">
              <a:solidFill>
                <a:srgbClr val="58585B"/>
              </a:solidFill>
              <a:effectLst/>
              <a:latin typeface="CiscoSans-Light"/>
            </a:endParaRPr>
          </a:p>
          <a:p>
            <a:pPr algn="l">
              <a:lnSpc>
                <a:spcPts val="1650"/>
              </a:lnSpc>
            </a:pPr>
            <a:r>
              <a:rPr lang="en-GB" b="0" i="0" dirty="0">
                <a:solidFill>
                  <a:srgbClr val="58585B"/>
                </a:solidFill>
                <a:effectLst/>
                <a:latin typeface="CiscoSans-Light"/>
              </a:rPr>
              <a:t> </a:t>
            </a:r>
          </a:p>
          <a:p>
            <a:pPr algn="l">
              <a:lnSpc>
                <a:spcPts val="1650"/>
              </a:lnSpc>
            </a:pPr>
            <a:r>
              <a:rPr lang="en-GB" b="0" i="0" dirty="0">
                <a:solidFill>
                  <a:srgbClr val="58585B"/>
                </a:solidFill>
                <a:effectLst/>
                <a:latin typeface="CiscoSans-Light"/>
              </a:rPr>
              <a:t>The Integrated Services (</a:t>
            </a:r>
            <a:r>
              <a:rPr lang="en-GB" b="0" i="0" dirty="0" err="1">
                <a:solidFill>
                  <a:srgbClr val="58585B"/>
                </a:solidFill>
                <a:effectLst/>
                <a:latin typeface="CiscoSans-Light"/>
              </a:rPr>
              <a:t>IntServ</a:t>
            </a:r>
            <a:r>
              <a:rPr lang="en-GB" b="0" i="0" dirty="0">
                <a:solidFill>
                  <a:srgbClr val="58585B"/>
                </a:solidFill>
                <a:effectLst/>
                <a:latin typeface="CiscoSans-Light"/>
              </a:rPr>
              <a:t>) model is also known as hard QoS model. It’s a model based on flows, i.e., source and destination IP addresses and ports.</a:t>
            </a:r>
          </a:p>
          <a:p>
            <a:pPr algn="l">
              <a:lnSpc>
                <a:spcPts val="1650"/>
              </a:lnSpc>
            </a:pPr>
            <a:r>
              <a:rPr lang="en-GB" b="0" i="0" dirty="0">
                <a:solidFill>
                  <a:srgbClr val="58585B"/>
                </a:solidFill>
                <a:effectLst/>
                <a:latin typeface="CiscoSans-Light"/>
              </a:rPr>
              <a:t> </a:t>
            </a:r>
          </a:p>
          <a:p>
            <a:pPr algn="l">
              <a:lnSpc>
                <a:spcPts val="1650"/>
              </a:lnSpc>
            </a:pPr>
            <a:r>
              <a:rPr lang="en-GB" b="0" i="0" dirty="0">
                <a:solidFill>
                  <a:srgbClr val="58585B"/>
                </a:solidFill>
                <a:effectLst/>
                <a:latin typeface="CiscoSans-Light"/>
              </a:rPr>
              <a:t>With the </a:t>
            </a:r>
            <a:r>
              <a:rPr lang="en-GB" b="0" i="0" dirty="0" err="1">
                <a:solidFill>
                  <a:srgbClr val="58585B"/>
                </a:solidFill>
                <a:effectLst/>
                <a:latin typeface="CiscoSans-Light"/>
              </a:rPr>
              <a:t>IntServ</a:t>
            </a:r>
            <a:r>
              <a:rPr lang="en-GB" b="0" i="0" dirty="0">
                <a:solidFill>
                  <a:srgbClr val="58585B"/>
                </a:solidFill>
                <a:effectLst/>
                <a:latin typeface="CiscoSans-Light"/>
              </a:rPr>
              <a:t> model, applications ask to the network for an explicit resource reservation per flow. Network devices keep track of all the flows traversing the nodes checking if new packets belong to an existing flow and if there are enough network resources available to accept the packet.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883914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The basic design of the internet is best-effort packet delivery with no guarantees. This approach is still predominant on the internet today and remains appropriate for most purposes. The best-effort model treats all network packets in the same way, so an emergency voice message is treated the same way that a digital photograph attached to an email is treated. Without </a:t>
            </a:r>
            <a:r>
              <a:rPr lang="en-GB" dirty="0" err="1"/>
              <a:t>QoS</a:t>
            </a:r>
            <a:r>
              <a:rPr lang="en-GB" dirty="0"/>
              <a:t>, the network cannot tell the difference between packets and, as a result, cannot treat packets preferentially. The best-effort model is similar in concept to sending a letter using standard postal mail. Your letter is treated exactly the same as every other letter. With the best-effort model, the letter may never arrive, and, unless you have a separate notification arrangement with the letter recipient, you may never know that the letter did not arrive.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608915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The Integrated Services (</a:t>
            </a:r>
            <a:r>
              <a:rPr lang="en-GB" dirty="0" err="1"/>
              <a:t>IntServ</a:t>
            </a:r>
            <a:r>
              <a:rPr lang="en-GB" dirty="0"/>
              <a:t>) architecture model (RFCs 1633, 2211, and 2212) was developed in 1994 to meet the needs of real-time applications, such as remote video, multimedia conferencing, data visualization applications, and virtual reality. </a:t>
            </a:r>
            <a:r>
              <a:rPr lang="en-GB" dirty="0" err="1"/>
              <a:t>IntServ</a:t>
            </a:r>
            <a:r>
              <a:rPr lang="en-GB" dirty="0"/>
              <a:t> is a multiple-service model that can accommodate many </a:t>
            </a:r>
            <a:r>
              <a:rPr lang="en-GB" dirty="0" err="1"/>
              <a:t>QoS</a:t>
            </a:r>
            <a:r>
              <a:rPr lang="en-GB" dirty="0"/>
              <a:t> requirements.</a:t>
            </a:r>
          </a:p>
          <a:p>
            <a:r>
              <a:rPr lang="en-GB" dirty="0" err="1"/>
              <a:t>IntServ</a:t>
            </a:r>
            <a:r>
              <a:rPr lang="en-GB" dirty="0"/>
              <a:t> delivers the end-to-end </a:t>
            </a:r>
            <a:r>
              <a:rPr lang="en-GB" dirty="0" err="1"/>
              <a:t>QoS</a:t>
            </a:r>
            <a:r>
              <a:rPr lang="en-GB" dirty="0"/>
              <a:t> that real-time applications require. </a:t>
            </a:r>
            <a:r>
              <a:rPr lang="en-GB" dirty="0" err="1"/>
              <a:t>IntServ</a:t>
            </a:r>
            <a:r>
              <a:rPr lang="en-GB" dirty="0"/>
              <a:t> explicitly manages network resources to provide </a:t>
            </a:r>
            <a:r>
              <a:rPr lang="en-GB" dirty="0" err="1"/>
              <a:t>QoS</a:t>
            </a:r>
            <a:r>
              <a:rPr lang="en-GB" dirty="0"/>
              <a:t> to individual flows or streams, sometimes called </a:t>
            </a:r>
            <a:r>
              <a:rPr lang="en-GB" dirty="0" err="1"/>
              <a:t>microflows</a:t>
            </a:r>
            <a:r>
              <a:rPr lang="en-GB" dirty="0"/>
              <a:t>. It uses resource reservation and admission-control mechanisms as building blocks to establish and maintain </a:t>
            </a:r>
            <a:r>
              <a:rPr lang="en-GB" dirty="0" err="1"/>
              <a:t>QoS</a:t>
            </a:r>
            <a:r>
              <a:rPr lang="en-GB" dirty="0"/>
              <a:t>. This is similar to a concept known as “hard </a:t>
            </a:r>
            <a:r>
              <a:rPr lang="en-GB" dirty="0" err="1"/>
              <a:t>QoS</a:t>
            </a:r>
            <a:r>
              <a:rPr lang="en-GB" dirty="0"/>
              <a:t>.” Hard </a:t>
            </a:r>
            <a:r>
              <a:rPr lang="en-GB" dirty="0" err="1"/>
              <a:t>QoS</a:t>
            </a:r>
            <a:r>
              <a:rPr lang="en-GB" dirty="0"/>
              <a:t> guarantees traffic characteristics, such as bandwidth, delay, and packet-loss rates, from end to end. Hard </a:t>
            </a:r>
            <a:r>
              <a:rPr lang="en-GB" dirty="0" err="1"/>
              <a:t>QoS</a:t>
            </a:r>
            <a:r>
              <a:rPr lang="en-GB" dirty="0"/>
              <a:t> ensures both predictable and guaranteed service levels for mission-critical </a:t>
            </a:r>
            <a:r>
              <a:rPr lang="en-GB" dirty="0" err="1"/>
              <a:t>applications.Figure</a:t>
            </a:r>
            <a:r>
              <a:rPr lang="en-GB" dirty="0"/>
              <a:t> 9-11 shows a simple illustration of the </a:t>
            </a:r>
            <a:r>
              <a:rPr lang="en-GB" dirty="0" err="1"/>
              <a:t>IntServ</a:t>
            </a:r>
            <a:r>
              <a:rPr lang="en-GB" dirty="0"/>
              <a:t> </a:t>
            </a:r>
            <a:r>
              <a:rPr lang="en-GB" dirty="0" err="1"/>
              <a:t>model.IntServ</a:t>
            </a:r>
            <a:r>
              <a:rPr lang="en-GB" dirty="0"/>
              <a:t> uses a connection-oriented approach inherited from telephony network design. Each individual communication must explicitly specify its traffic descriptor and requested resources to the network. The edge router performs admission control to ensure that available resources are sufficient in the network. The </a:t>
            </a:r>
            <a:r>
              <a:rPr lang="en-GB" dirty="0" err="1"/>
              <a:t>IntServ</a:t>
            </a:r>
            <a:r>
              <a:rPr lang="en-GB" dirty="0"/>
              <a:t> standard assumes that routers along a path set and maintain the state for each individual communication.</a:t>
            </a:r>
          </a:p>
          <a:p>
            <a:endParaRPr lang="en-GB" dirty="0"/>
          </a:p>
          <a:p>
            <a:r>
              <a:rPr lang="en-GB" dirty="0"/>
              <a:t>In the </a:t>
            </a:r>
            <a:r>
              <a:rPr lang="en-GB" dirty="0" err="1"/>
              <a:t>IntServ</a:t>
            </a:r>
            <a:r>
              <a:rPr lang="en-GB" dirty="0"/>
              <a:t> model, the application requests a specific kind of service from the network before sending data. The application informs the network of its traffic profile and requests a particular kind of service that can encompass its bandwidth and delay requirements. </a:t>
            </a:r>
            <a:r>
              <a:rPr lang="en-GB" dirty="0" err="1"/>
              <a:t>IntServ</a:t>
            </a:r>
            <a:r>
              <a:rPr lang="en-GB" dirty="0"/>
              <a:t> uses Resource Reservation Protocol (RSVP) to signal the </a:t>
            </a:r>
            <a:r>
              <a:rPr lang="en-GB" dirty="0" err="1"/>
              <a:t>QoS</a:t>
            </a:r>
            <a:r>
              <a:rPr lang="en-GB" dirty="0"/>
              <a:t> needs of an application’s traffic along devices in the end-to-end path through the network. If network devices along the path can reserve the necessary bandwidth, the originating application can begin transmitting. If the requested reservation fails along the path, the originating application does not send any </a:t>
            </a:r>
            <a:r>
              <a:rPr lang="en-GB" dirty="0" err="1"/>
              <a:t>data.The</a:t>
            </a:r>
            <a:r>
              <a:rPr lang="en-GB" dirty="0"/>
              <a:t> edge router performs admission control based on information from the application and available network resources. The network commits to meeting the </a:t>
            </a:r>
            <a:r>
              <a:rPr lang="en-GB" dirty="0" err="1"/>
              <a:t>QoS</a:t>
            </a:r>
            <a:r>
              <a:rPr lang="en-GB" dirty="0"/>
              <a:t> requirements of the application as long as the traffic remains within the profile specifications. The network </a:t>
            </a:r>
            <a:r>
              <a:rPr lang="en-GB" dirty="0" err="1"/>
              <a:t>fulfills</a:t>
            </a:r>
            <a:r>
              <a:rPr lang="en-GB" dirty="0"/>
              <a:t> its commitment by maintaining the per-flow state and then performing packet classification, policing, and intelligent queuing based on that state.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600689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The Differentiated Services (</a:t>
            </a:r>
            <a:r>
              <a:rPr lang="en-GB" dirty="0" err="1"/>
              <a:t>DiffServ</a:t>
            </a:r>
            <a:r>
              <a:rPr lang="en-GB" dirty="0"/>
              <a:t>) </a:t>
            </a:r>
            <a:r>
              <a:rPr lang="en-GB" dirty="0" err="1"/>
              <a:t>QoS</a:t>
            </a:r>
            <a:r>
              <a:rPr lang="en-GB" dirty="0"/>
              <a:t> model specifies a simple and scalable mechanism for classifying and managing network traffic. For example, </a:t>
            </a:r>
            <a:r>
              <a:rPr lang="en-GB" dirty="0" err="1"/>
              <a:t>DiffServ</a:t>
            </a:r>
            <a:r>
              <a:rPr lang="en-GB" dirty="0"/>
              <a:t> can provide low-latency guaranteed service to critical network traffic such as voice or video, while providing simple best-effort traffic guarantees to non-critical services such as web traffic or file </a:t>
            </a:r>
            <a:r>
              <a:rPr lang="en-GB" dirty="0" err="1"/>
              <a:t>transfers.The</a:t>
            </a:r>
            <a:r>
              <a:rPr lang="en-GB" dirty="0"/>
              <a:t> </a:t>
            </a:r>
            <a:r>
              <a:rPr lang="en-GB" dirty="0" err="1"/>
              <a:t>DiffServ</a:t>
            </a:r>
            <a:r>
              <a:rPr lang="en-GB" dirty="0"/>
              <a:t> design overcomes the limitations of both the best-effort and </a:t>
            </a:r>
            <a:r>
              <a:rPr lang="en-GB" dirty="0" err="1"/>
              <a:t>IntServ</a:t>
            </a:r>
            <a:r>
              <a:rPr lang="en-GB" dirty="0"/>
              <a:t> models. </a:t>
            </a:r>
          </a:p>
          <a:p>
            <a:r>
              <a:rPr lang="en-GB" dirty="0" err="1"/>
              <a:t>DiffServ</a:t>
            </a:r>
            <a:r>
              <a:rPr lang="en-GB" dirty="0"/>
              <a:t> can provide an “almost guaranteed” </a:t>
            </a:r>
            <a:r>
              <a:rPr lang="en-GB" dirty="0" err="1"/>
              <a:t>QoS</a:t>
            </a:r>
            <a:r>
              <a:rPr lang="en-GB" dirty="0"/>
              <a:t> while still being cost-effective and </a:t>
            </a:r>
            <a:r>
              <a:rPr lang="en-GB" dirty="0" err="1"/>
              <a:t>scalable.The</a:t>
            </a:r>
            <a:r>
              <a:rPr lang="en-GB" dirty="0"/>
              <a:t> </a:t>
            </a:r>
            <a:r>
              <a:rPr lang="en-GB" dirty="0" err="1"/>
              <a:t>DiffServ</a:t>
            </a:r>
            <a:r>
              <a:rPr lang="en-GB" dirty="0"/>
              <a:t> model is similar in concept to sending a package using a delivery service. You request (and pay for) a level of service when you send a package. Throughout the package network, the level of service you paid for is recognized, and your package is given either preferential or normal service, depending on what you </a:t>
            </a:r>
            <a:r>
              <a:rPr lang="en-GB" dirty="0" err="1"/>
              <a:t>requested.DiffServ</a:t>
            </a:r>
            <a:r>
              <a:rPr lang="en-GB" dirty="0"/>
              <a:t> is not an end-to-end </a:t>
            </a:r>
            <a:r>
              <a:rPr lang="en-GB" dirty="0" err="1"/>
              <a:t>QoS</a:t>
            </a:r>
            <a:r>
              <a:rPr lang="en-GB" dirty="0"/>
              <a:t> strategy because it cannot enforce end-to-end guarantees. However, </a:t>
            </a:r>
            <a:r>
              <a:rPr lang="en-GB" dirty="0" err="1"/>
              <a:t>DiffServ</a:t>
            </a:r>
            <a:r>
              <a:rPr lang="en-GB" dirty="0"/>
              <a:t> </a:t>
            </a:r>
            <a:r>
              <a:rPr lang="en-GB" dirty="0" err="1"/>
              <a:t>QoS</a:t>
            </a:r>
            <a:r>
              <a:rPr lang="en-GB" dirty="0"/>
              <a:t> is a more scalable approach to implementing </a:t>
            </a:r>
            <a:r>
              <a:rPr lang="en-GB" dirty="0" err="1"/>
              <a:t>QoS</a:t>
            </a:r>
            <a:r>
              <a:rPr lang="en-GB" dirty="0"/>
              <a:t>. Unlike </a:t>
            </a:r>
            <a:r>
              <a:rPr lang="en-GB" dirty="0" err="1"/>
              <a:t>IntServ</a:t>
            </a:r>
            <a:r>
              <a:rPr lang="en-GB" dirty="0"/>
              <a:t> and hard </a:t>
            </a:r>
            <a:r>
              <a:rPr lang="en-GB" dirty="0" err="1"/>
              <a:t>QoS</a:t>
            </a:r>
            <a:r>
              <a:rPr lang="en-GB" dirty="0"/>
              <a:t>, in which the end hosts signal their </a:t>
            </a:r>
            <a:r>
              <a:rPr lang="en-GB" dirty="0" err="1"/>
              <a:t>QoS</a:t>
            </a:r>
            <a:r>
              <a:rPr lang="en-GB" dirty="0"/>
              <a:t> needs to the network, </a:t>
            </a:r>
            <a:r>
              <a:rPr lang="en-GB" dirty="0" err="1"/>
              <a:t>DiffServ</a:t>
            </a:r>
            <a:r>
              <a:rPr lang="en-GB" dirty="0"/>
              <a:t> does not use </a:t>
            </a:r>
            <a:r>
              <a:rPr lang="en-GB" dirty="0" err="1"/>
              <a:t>signaling</a:t>
            </a:r>
            <a:r>
              <a:rPr lang="en-GB" dirty="0"/>
              <a:t>. Instead, </a:t>
            </a:r>
            <a:r>
              <a:rPr lang="en-GB" dirty="0" err="1"/>
              <a:t>DiffServ</a:t>
            </a:r>
            <a:r>
              <a:rPr lang="en-GB" dirty="0"/>
              <a:t> uses a “soft </a:t>
            </a:r>
            <a:r>
              <a:rPr lang="en-GB" dirty="0" err="1"/>
              <a:t>QoS</a:t>
            </a:r>
            <a:r>
              <a:rPr lang="en-GB" dirty="0"/>
              <a:t>” approach. It works on the provisioned-</a:t>
            </a:r>
            <a:r>
              <a:rPr lang="en-GB" dirty="0" err="1"/>
              <a:t>QoS</a:t>
            </a:r>
            <a:r>
              <a:rPr lang="en-GB" dirty="0"/>
              <a:t> model, where network elements are set up to service multiple classes of traffic, each with varying </a:t>
            </a:r>
            <a:r>
              <a:rPr lang="en-GB" dirty="0" err="1"/>
              <a:t>QoS</a:t>
            </a:r>
            <a:r>
              <a:rPr lang="en-GB" dirty="0"/>
              <a:t> requirements.</a:t>
            </a:r>
          </a:p>
          <a:p>
            <a:r>
              <a:rPr lang="en-GB" dirty="0"/>
              <a:t>As a host forwards traffic to a router, the router classifies the flows into aggregates (classes) and provides the appropriate </a:t>
            </a:r>
            <a:r>
              <a:rPr lang="en-GB" dirty="0" err="1"/>
              <a:t>QoS</a:t>
            </a:r>
            <a:r>
              <a:rPr lang="en-GB" dirty="0"/>
              <a:t> policy for the classes. </a:t>
            </a:r>
            <a:r>
              <a:rPr lang="en-GB" dirty="0" err="1"/>
              <a:t>DiffServ</a:t>
            </a:r>
            <a:r>
              <a:rPr lang="en-GB" dirty="0"/>
              <a:t> enforces and applies </a:t>
            </a:r>
            <a:r>
              <a:rPr lang="en-GB" dirty="0" err="1"/>
              <a:t>QoS</a:t>
            </a:r>
            <a:r>
              <a:rPr lang="en-GB" dirty="0"/>
              <a:t> mechanisms on a hop-by-hop basis, uniformly applying global meaning to each traffic class to provide both flexibility and scalability. For example, </a:t>
            </a:r>
            <a:r>
              <a:rPr lang="en-GB" dirty="0" err="1"/>
              <a:t>DiffServ</a:t>
            </a:r>
            <a:r>
              <a:rPr lang="en-GB" dirty="0"/>
              <a:t> could be configured to group all TCP flows as a single class and allocate bandwidth for that class rather than for the individual flows, as </a:t>
            </a:r>
            <a:r>
              <a:rPr lang="en-GB" dirty="0" err="1"/>
              <a:t>IntServ</a:t>
            </a:r>
            <a:r>
              <a:rPr lang="en-GB" dirty="0"/>
              <a:t> would do. In addition to classifying traffic, </a:t>
            </a:r>
            <a:r>
              <a:rPr lang="en-GB" dirty="0" err="1"/>
              <a:t>DiffServ</a:t>
            </a:r>
            <a:r>
              <a:rPr lang="en-GB" dirty="0"/>
              <a:t> minimizes </a:t>
            </a:r>
            <a:r>
              <a:rPr lang="en-GB" dirty="0" err="1"/>
              <a:t>signaling</a:t>
            </a:r>
            <a:r>
              <a:rPr lang="en-GB" dirty="0"/>
              <a:t> and state maintenance requirements on each network </a:t>
            </a:r>
            <a:r>
              <a:rPr lang="en-GB" dirty="0" err="1"/>
              <a:t>node.Specifically</a:t>
            </a:r>
            <a:r>
              <a:rPr lang="en-GB" dirty="0"/>
              <a:t>, </a:t>
            </a:r>
            <a:r>
              <a:rPr lang="en-GB" dirty="0" err="1"/>
              <a:t>DiffServ</a:t>
            </a:r>
            <a:r>
              <a:rPr lang="en-GB" dirty="0"/>
              <a:t> divides network traffic into classes based on business requirements. Each of the classes can then be assigned a different level of service. As the packets traverse a network, each of the network devices identifies the packet class and services the packet according to that class. It is possible to choose many levels of service with </a:t>
            </a:r>
            <a:r>
              <a:rPr lang="en-GB" dirty="0" err="1"/>
              <a:t>DiffServ</a:t>
            </a:r>
            <a:r>
              <a:rPr lang="en-GB" dirty="0"/>
              <a:t>. For example, voice traffic from IP phones is usually given preferential treatment over all other application traffic, email is generally given best-effort service, and </a:t>
            </a:r>
            <a:r>
              <a:rPr lang="en-GB" dirty="0" err="1"/>
              <a:t>nonbusiness</a:t>
            </a:r>
            <a:r>
              <a:rPr lang="en-GB" dirty="0"/>
              <a:t> traffic can either be given very poor service or blocked entirely.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480441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Packet loss is usually the result of congestion on an interface. Most applications that use TCP experience slowdown because TCP automatically adjusts to network congestion. Dropped TCP segments cause TCP sessions to reduce their window sizes. Some applications do not use TCP and cannot handle drops (fragile flows).</a:t>
            </a:r>
          </a:p>
          <a:p>
            <a:r>
              <a:rPr lang="en-GB" dirty="0"/>
              <a:t>How would you prevent drops in sensitive</a:t>
            </a:r>
            <a:r>
              <a:rPr lang="en-GB" baseline="0" dirty="0"/>
              <a:t> applications?</a:t>
            </a:r>
          </a:p>
          <a:p>
            <a:endParaRPr lang="en-GB" baseline="0" dirty="0"/>
          </a:p>
          <a:p>
            <a:endParaRPr lang="en-GB" dirty="0"/>
          </a:p>
          <a:p>
            <a:r>
              <a:rPr lang="en-GB" dirty="0"/>
              <a:t>The following approaches can prevent drops in sensitive applications:</a:t>
            </a:r>
          </a:p>
          <a:p>
            <a:r>
              <a:rPr lang="en-GB" dirty="0"/>
              <a:t>Increase link capacity to ease or prevent congestion.</a:t>
            </a:r>
          </a:p>
          <a:p>
            <a:r>
              <a:rPr lang="en-GB" dirty="0"/>
              <a:t>Guarantee enough bandwidth and increase buffer space to accommodate bursts of traffic from fragile flows. WFQ, CBWFQ, and LLQ can guarantee bandwidth and provide prioritized forwarding to drop-sensitive applications.</a:t>
            </a:r>
          </a:p>
          <a:p>
            <a:r>
              <a:rPr lang="en-GB" dirty="0"/>
              <a:t>Drop lower-priority packets before congestion occurs.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929906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dirty="0">
                <a:solidFill>
                  <a:schemeClr val="tx1"/>
                </a:solidFill>
              </a:rPr>
              <a:t>Classification and marking tools</a:t>
            </a:r>
          </a:p>
          <a:p>
            <a:pPr marL="628650" lvl="1" indent="-171450">
              <a:buFont typeface="Arial" panose="020B0604020202020204" pitchFamily="34" charset="0"/>
              <a:buChar char="•"/>
            </a:pPr>
            <a:r>
              <a:rPr lang="en-GB" sz="1200" dirty="0">
                <a:solidFill>
                  <a:schemeClr val="tx1"/>
                </a:solidFill>
              </a:rPr>
              <a:t>Sessions, or flows, are </a:t>
            </a:r>
            <a:r>
              <a:rPr lang="en-GB" sz="1200" dirty="0" err="1">
                <a:solidFill>
                  <a:schemeClr val="tx1"/>
                </a:solidFill>
              </a:rPr>
              <a:t>analyzed</a:t>
            </a:r>
            <a:r>
              <a:rPr lang="en-GB" sz="1200" dirty="0">
                <a:solidFill>
                  <a:schemeClr val="tx1"/>
                </a:solidFill>
              </a:rPr>
              <a:t> to determine what traffic class they belong to.</a:t>
            </a:r>
          </a:p>
          <a:p>
            <a:pPr marL="628650" lvl="1" indent="-171450">
              <a:buFont typeface="Arial" panose="020B0604020202020204" pitchFamily="34" charset="0"/>
              <a:buChar char="•"/>
            </a:pPr>
            <a:r>
              <a:rPr lang="en-GB" sz="1200" dirty="0">
                <a:solidFill>
                  <a:schemeClr val="tx1"/>
                </a:solidFill>
              </a:rPr>
              <a:t>When the traffic class is determined, the packets are marked.</a:t>
            </a:r>
          </a:p>
          <a:p>
            <a:pPr marL="171450" indent="-171450">
              <a:buFont typeface="Arial" panose="020B0604020202020204" pitchFamily="34" charset="0"/>
              <a:buChar char="•"/>
            </a:pPr>
            <a:r>
              <a:rPr lang="en-GB" sz="1200" dirty="0">
                <a:solidFill>
                  <a:schemeClr val="tx1"/>
                </a:solidFill>
              </a:rPr>
              <a:t>Congestion avoidance tools</a:t>
            </a:r>
          </a:p>
          <a:p>
            <a:pPr marL="628650" lvl="1" indent="-171450">
              <a:buFont typeface="Arial" panose="020B0604020202020204" pitchFamily="34" charset="0"/>
              <a:buChar char="•"/>
            </a:pPr>
            <a:r>
              <a:rPr lang="en-GB" sz="1200" dirty="0">
                <a:solidFill>
                  <a:schemeClr val="tx1"/>
                </a:solidFill>
              </a:rPr>
              <a:t>Traffic classes are allotted portions of network resources, as defined by the </a:t>
            </a:r>
            <a:r>
              <a:rPr lang="en-GB" sz="1200" dirty="0" err="1">
                <a:solidFill>
                  <a:schemeClr val="tx1"/>
                </a:solidFill>
              </a:rPr>
              <a:t>QoS</a:t>
            </a:r>
            <a:r>
              <a:rPr lang="en-GB" sz="1200" dirty="0">
                <a:solidFill>
                  <a:schemeClr val="tx1"/>
                </a:solidFill>
              </a:rPr>
              <a:t> policy.</a:t>
            </a:r>
          </a:p>
          <a:p>
            <a:pPr marL="628650" lvl="1" indent="-171450">
              <a:buFont typeface="Arial" panose="020B0604020202020204" pitchFamily="34" charset="0"/>
              <a:buChar char="•"/>
            </a:pPr>
            <a:r>
              <a:rPr lang="en-GB" sz="1200" dirty="0">
                <a:solidFill>
                  <a:schemeClr val="tx1"/>
                </a:solidFill>
              </a:rPr>
              <a:t>The </a:t>
            </a:r>
            <a:r>
              <a:rPr lang="en-GB" sz="1200" dirty="0" err="1">
                <a:solidFill>
                  <a:schemeClr val="tx1"/>
                </a:solidFill>
              </a:rPr>
              <a:t>QoS</a:t>
            </a:r>
            <a:r>
              <a:rPr lang="en-GB" sz="1200" dirty="0">
                <a:solidFill>
                  <a:schemeClr val="tx1"/>
                </a:solidFill>
              </a:rPr>
              <a:t> policy also identifies how some traffic may be selectively dropped, delayed, or re-marked to avoid congestion.</a:t>
            </a:r>
          </a:p>
          <a:p>
            <a:pPr marL="628650" lvl="1" indent="-171450">
              <a:buFont typeface="Arial" panose="020B0604020202020204" pitchFamily="34" charset="0"/>
              <a:buChar char="•"/>
            </a:pPr>
            <a:r>
              <a:rPr lang="en-GB" sz="1200" dirty="0">
                <a:solidFill>
                  <a:schemeClr val="tx1"/>
                </a:solidFill>
              </a:rPr>
              <a:t>The primary congestion avoidance tool is WRED, which is used to regulate TCP data traffic in a bandwidth-efficient manner before tail drops caused by queue overflows occur.</a:t>
            </a:r>
          </a:p>
          <a:p>
            <a:pPr marL="171450" indent="-171450">
              <a:buFont typeface="Arial" panose="020B0604020202020204" pitchFamily="34" charset="0"/>
              <a:buChar char="•"/>
            </a:pPr>
            <a:r>
              <a:rPr lang="en-GB" sz="1200" dirty="0">
                <a:solidFill>
                  <a:schemeClr val="tx1"/>
                </a:solidFill>
              </a:rPr>
              <a:t>Congestion management tools</a:t>
            </a:r>
          </a:p>
          <a:p>
            <a:pPr marL="628650" lvl="1" indent="-171450">
              <a:buFont typeface="Arial" panose="020B0604020202020204" pitchFamily="34" charset="0"/>
              <a:buChar char="•"/>
            </a:pPr>
            <a:r>
              <a:rPr lang="en-GB" sz="1200" dirty="0">
                <a:solidFill>
                  <a:schemeClr val="tx1"/>
                </a:solidFill>
              </a:rPr>
              <a:t>When traffic exceeds available network resources, traffic is queued to await availability of resources.</a:t>
            </a:r>
          </a:p>
          <a:p>
            <a:pPr marL="628650" lvl="1" indent="-171450">
              <a:buFont typeface="Arial" panose="020B0604020202020204" pitchFamily="34" charset="0"/>
              <a:buChar char="•"/>
            </a:pPr>
            <a:r>
              <a:rPr lang="en-GB" sz="1200" dirty="0">
                <a:solidFill>
                  <a:schemeClr val="tx1"/>
                </a:solidFill>
              </a:rPr>
              <a:t>Common Cisco IOS-based congestion management tools include CBWFQ and LLQ algorithms.</a:t>
            </a: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613756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As shown in the figure, ingress packets (</a:t>
            </a:r>
            <a:r>
              <a:rPr lang="en-GB" dirty="0" err="1"/>
              <a:t>gray</a:t>
            </a:r>
            <a:r>
              <a:rPr lang="en-GB" dirty="0"/>
              <a:t> squares) are classified, and their respective IP header is marked (lettered squares). To avoid congestion, packets are then allocated resources based on defined policies. Packets are then queued and forwarded out the egress interface, based on their defined </a:t>
            </a:r>
            <a:r>
              <a:rPr lang="en-GB" dirty="0" err="1"/>
              <a:t>QoS</a:t>
            </a:r>
            <a:r>
              <a:rPr lang="en-GB" dirty="0"/>
              <a:t> shaping and policing policy.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718770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Before a packet can have a </a:t>
            </a:r>
            <a:r>
              <a:rPr lang="en-GB" dirty="0" err="1"/>
              <a:t>QoS</a:t>
            </a:r>
            <a:r>
              <a:rPr lang="en-GB" dirty="0"/>
              <a:t> policy applied to it, the packet has to be classified. Classification and marking allow you to identify or “mark” types of packets. Classification determines the class of traffic to which packets or frames belong. Only after traffic is marked can policies be applied to </a:t>
            </a:r>
            <a:r>
              <a:rPr lang="en-GB" dirty="0" err="1"/>
              <a:t>it.How</a:t>
            </a:r>
            <a:r>
              <a:rPr lang="en-GB" dirty="0"/>
              <a:t> a packet is classified depends on the </a:t>
            </a:r>
            <a:r>
              <a:rPr lang="en-GB" dirty="0" err="1"/>
              <a:t>QoS</a:t>
            </a:r>
            <a:r>
              <a:rPr lang="en-GB" dirty="0"/>
              <a:t> implementation. Methods of classifying traffic flows at Layers 2 and 3 include using interfaces, ACLs, and class maps. Traffic can also be classified at Layers 4 to 7 using Network Based Application Recognition (NBAR).</a:t>
            </a:r>
          </a:p>
          <a:p>
            <a:endParaRPr lang="en-GB" dirty="0"/>
          </a:p>
          <a:p>
            <a:r>
              <a:rPr lang="en-GB" dirty="0"/>
              <a:t>NBAR is a classification and protocol discovery feature of Cisco IOS software that works with </a:t>
            </a:r>
            <a:r>
              <a:rPr lang="en-GB" dirty="0" err="1"/>
              <a:t>QoS</a:t>
            </a:r>
            <a:r>
              <a:rPr lang="en-GB" dirty="0"/>
              <a:t> features. </a:t>
            </a:r>
          </a:p>
          <a:p>
            <a:endParaRPr lang="en-GB" dirty="0"/>
          </a:p>
          <a:p>
            <a:r>
              <a:rPr lang="en-GB" dirty="0"/>
              <a:t>Marking involves adding a value to the packet header. Devices receiving the packet look at the marked field to see if it matches a defined policy. Marking should be done as close to the source device as possible to establish the trust </a:t>
            </a:r>
            <a:r>
              <a:rPr lang="en-GB" dirty="0" err="1"/>
              <a:t>boundary.How</a:t>
            </a:r>
            <a:r>
              <a:rPr lang="en-GB" dirty="0"/>
              <a:t> traffic is marked usually depends on the technology. Table 9-11 lists some of the marking fields used in various technologies.</a:t>
            </a:r>
          </a:p>
          <a:p>
            <a:endParaRPr lang="en-GB" dirty="0"/>
          </a:p>
          <a:p>
            <a:r>
              <a:rPr lang="en-GB" dirty="0"/>
              <a:t>The decision of whether to mark traffic at Layer 2 or Layer 3 (or both) is not trivial and should be made after consideration of the following </a:t>
            </a:r>
            <a:r>
              <a:rPr lang="en-GB" dirty="0" err="1"/>
              <a:t>points:Layer</a:t>
            </a:r>
            <a:r>
              <a:rPr lang="en-GB" dirty="0"/>
              <a:t> 2 marking of frames can be performed for non-IP </a:t>
            </a:r>
            <a:r>
              <a:rPr lang="en-GB" dirty="0" err="1"/>
              <a:t>traffic.Layer</a:t>
            </a:r>
            <a:r>
              <a:rPr lang="en-GB" dirty="0"/>
              <a:t> 2 marking of frames is the only </a:t>
            </a:r>
            <a:r>
              <a:rPr lang="en-GB" dirty="0" err="1"/>
              <a:t>QoS</a:t>
            </a:r>
            <a:r>
              <a:rPr lang="en-GB" dirty="0"/>
              <a:t> option available for switches that are not IP </a:t>
            </a:r>
            <a:r>
              <a:rPr lang="en-GB" dirty="0" err="1"/>
              <a:t>aware.Layer</a:t>
            </a:r>
            <a:r>
              <a:rPr lang="en-GB" dirty="0"/>
              <a:t> 3 marking carries the </a:t>
            </a:r>
            <a:r>
              <a:rPr lang="en-GB" dirty="0" err="1"/>
              <a:t>QoS</a:t>
            </a:r>
            <a:r>
              <a:rPr lang="en-GB" dirty="0"/>
              <a:t> information from end to end.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242260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802.1Q is the IEEE standard that supports VLAN tagging at Layer 2 on Ethernet networks. When 802.1Q is implemented, two fields are added to the Ethernet frame. As shown in Figure 9-14, these two fields are inserted into the Ethernet frame following the source MAC address </a:t>
            </a:r>
            <a:r>
              <a:rPr lang="en-GB" dirty="0" err="1"/>
              <a:t>field.The</a:t>
            </a:r>
            <a:r>
              <a:rPr lang="en-GB" dirty="0"/>
              <a:t> 802.1Q standard also includes the </a:t>
            </a:r>
            <a:r>
              <a:rPr lang="en-GB" dirty="0" err="1"/>
              <a:t>QoS</a:t>
            </a:r>
            <a:r>
              <a:rPr lang="en-GB" dirty="0"/>
              <a:t> prioritization scheme known as IEEE 802.1p. The 802.1p standard uses the first 3 bits in the Tag Control Information (TCI) field. Known as the Priority (PRI) field, this 3-bit field identifies the Class of Service (</a:t>
            </a:r>
            <a:r>
              <a:rPr lang="en-GB" dirty="0" err="1"/>
              <a:t>CoS</a:t>
            </a:r>
            <a:r>
              <a:rPr lang="en-GB" dirty="0"/>
              <a:t>) markings. Three bits means that a Layer 2 Ethernet frame can be marked with one of eight levels of priority (values 0 through 7), </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119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9.5.6 – Marking at Layer 3</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9149100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The Type of Service (IPv4) and Traffic Class (IPv6) fields carry the packet marking, as assigned by the </a:t>
            </a:r>
            <a:r>
              <a:rPr lang="en-GB" dirty="0" err="1"/>
              <a:t>QoS</a:t>
            </a:r>
            <a:r>
              <a:rPr lang="en-GB" dirty="0"/>
              <a:t> classification tools. The field is then referred to by receiving devices, which forward the packets based on the appropriate assigned </a:t>
            </a:r>
            <a:r>
              <a:rPr lang="en-GB" dirty="0" err="1"/>
              <a:t>QoS</a:t>
            </a:r>
            <a:r>
              <a:rPr lang="en-GB" dirty="0"/>
              <a:t> </a:t>
            </a:r>
            <a:r>
              <a:rPr lang="en-GB" dirty="0" err="1"/>
              <a:t>policy.Figure</a:t>
            </a:r>
            <a:r>
              <a:rPr lang="en-GB" dirty="0"/>
              <a:t> 9-16 shows the contents of the 8-bit field. In RFC 791, the original IP standard specified the IP Precedence (IPP) field to be used for </a:t>
            </a:r>
            <a:r>
              <a:rPr lang="en-GB" dirty="0" err="1"/>
              <a:t>QoS</a:t>
            </a:r>
            <a:r>
              <a:rPr lang="en-GB" dirty="0"/>
              <a:t> markings. However, in practice, these 3 bits did not provide enough granularity to implement </a:t>
            </a:r>
            <a:r>
              <a:rPr lang="en-GB" dirty="0" err="1"/>
              <a:t>QoS.RFC</a:t>
            </a:r>
            <a:r>
              <a:rPr lang="en-GB" dirty="0"/>
              <a:t> 2474 supersedes RFC 791 and redefines the </a:t>
            </a:r>
            <a:r>
              <a:rPr lang="en-GB" dirty="0" err="1"/>
              <a:t>ToS</a:t>
            </a:r>
            <a:r>
              <a:rPr lang="en-GB" dirty="0"/>
              <a:t> field by renaming and extending the IPP field. The new field, as shown in the figure, has 6 bits allocated for </a:t>
            </a:r>
            <a:r>
              <a:rPr lang="en-GB" dirty="0" err="1"/>
              <a:t>QoS</a:t>
            </a:r>
            <a:r>
              <a:rPr lang="en-GB" dirty="0"/>
              <a:t> and is called the Differentiated Services Code Point (DSCP) field. These 6 bits offer a maximum of 64 possible classes of service. The remaining 2 IP Extended Congestion Notification (ECN) bits can be used by ECN-aware routers to mark packets instead of dropping them. The ECN marking informs downstream routers that there is congestion in the packet flow.</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170062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The 64 DSCP values are organized into three </a:t>
            </a:r>
            <a:r>
              <a:rPr lang="en-GB" dirty="0" err="1"/>
              <a:t>categories:Best</a:t>
            </a:r>
            <a:r>
              <a:rPr lang="en-GB" dirty="0"/>
              <a:t> Effort (BE): This is the default for all IP packets. The DSCP value is 0. The per-hop </a:t>
            </a:r>
            <a:r>
              <a:rPr lang="en-GB" dirty="0" err="1"/>
              <a:t>behavior</a:t>
            </a:r>
            <a:r>
              <a:rPr lang="en-GB" dirty="0"/>
              <a:t> is normal routing. When a router experiences congestion, these packets are dropped. No </a:t>
            </a:r>
            <a:r>
              <a:rPr lang="en-GB" dirty="0" err="1"/>
              <a:t>QoS</a:t>
            </a:r>
            <a:r>
              <a:rPr lang="en-GB" dirty="0"/>
              <a:t> plan is </a:t>
            </a:r>
            <a:r>
              <a:rPr lang="en-GB" dirty="0" err="1"/>
              <a:t>implemented.Expedited</a:t>
            </a:r>
            <a:r>
              <a:rPr lang="en-GB" dirty="0"/>
              <a:t> Forwarding (EF): RFC 3246 defines EF as the DSCP decimal value 46 (binary 101110). The first 3 bits (101) map directly to the Layer 2 </a:t>
            </a:r>
            <a:r>
              <a:rPr lang="en-GB" dirty="0" err="1"/>
              <a:t>CoS</a:t>
            </a:r>
            <a:r>
              <a:rPr lang="en-GB" dirty="0"/>
              <a:t> value 5 used for voice traffic. At Layer 3, Cisco recommends that EF only be used to mark voice </a:t>
            </a:r>
            <a:r>
              <a:rPr lang="en-GB" dirty="0" err="1"/>
              <a:t>packets.Assured</a:t>
            </a:r>
            <a:r>
              <a:rPr lang="en-GB" dirty="0"/>
              <a:t> Forwarding (AF): RFC 2597 defines AF to use the 5 most significant DSCP bits to indicate queues and drop preference. The definition of AF is illustrated in Figure 9-17.The </a:t>
            </a:r>
            <a:r>
              <a:rPr lang="en-GB" dirty="0" err="1"/>
              <a:t>AFxy</a:t>
            </a:r>
            <a:r>
              <a:rPr lang="en-GB" dirty="0"/>
              <a:t> formula is specified as </a:t>
            </a:r>
            <a:r>
              <a:rPr lang="en-GB" dirty="0" err="1"/>
              <a:t>follows:The</a:t>
            </a:r>
            <a:r>
              <a:rPr lang="en-GB" dirty="0"/>
              <a:t> first 3 most significant bits are used to designate the class. Class 4 is the best queue, and Class 1 is the worst </a:t>
            </a:r>
            <a:r>
              <a:rPr lang="en-GB" dirty="0" err="1"/>
              <a:t>queue.The</a:t>
            </a:r>
            <a:r>
              <a:rPr lang="en-GB" dirty="0"/>
              <a:t> fourth and fifth most significant bits are used to designate the drop </a:t>
            </a:r>
            <a:r>
              <a:rPr lang="en-GB" dirty="0" err="1"/>
              <a:t>preference.The</a:t>
            </a:r>
            <a:r>
              <a:rPr lang="en-GB" dirty="0"/>
              <a:t> sixth most significant bit is set to 0.</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9969421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Where should markings occur? Traffic should be classified and marked as close to its source as technically and administratively feasible to define the trust boundary, as shown in Figure 9-20.</a:t>
            </a:r>
          </a:p>
          <a:p>
            <a:r>
              <a:rPr lang="en-GB" dirty="0"/>
              <a:t>The numbers in Figure 9-20 correspond to the </a:t>
            </a:r>
            <a:r>
              <a:rPr lang="en-GB" dirty="0" err="1"/>
              <a:t>following:Trusted</a:t>
            </a:r>
            <a:r>
              <a:rPr lang="en-GB" dirty="0"/>
              <a:t> endpoints have the capabilities and intelligence to mark application traffic to the appropriate Layer 2 </a:t>
            </a:r>
            <a:r>
              <a:rPr lang="en-GB" dirty="0" err="1"/>
              <a:t>CoS</a:t>
            </a:r>
            <a:r>
              <a:rPr lang="en-GB" dirty="0"/>
              <a:t> and/or Layer 3 DSCP values. Examples of trusted endpoints include IP phones, wireless access points, videoconferencing gateways and systems, and IP conferencing </a:t>
            </a:r>
            <a:r>
              <a:rPr lang="en-GB" dirty="0" err="1"/>
              <a:t>stations.Secure</a:t>
            </a:r>
            <a:r>
              <a:rPr lang="en-GB" dirty="0"/>
              <a:t> endpoints can have traffic marked at the Layer 2 </a:t>
            </a:r>
            <a:r>
              <a:rPr lang="en-GB" dirty="0" err="1"/>
              <a:t>switch.Traffic</a:t>
            </a:r>
            <a:r>
              <a:rPr lang="en-GB" dirty="0"/>
              <a:t> can also be marked at Layer 3 switches / </a:t>
            </a:r>
            <a:r>
              <a:rPr lang="en-GB" dirty="0" err="1"/>
              <a:t>routers.Re</a:t>
            </a:r>
            <a:r>
              <a:rPr lang="en-GB" dirty="0"/>
              <a:t>-marking traffic—for example, re-marking </a:t>
            </a:r>
            <a:r>
              <a:rPr lang="en-GB" dirty="0" err="1"/>
              <a:t>CoS</a:t>
            </a:r>
            <a:r>
              <a:rPr lang="en-GB" dirty="0"/>
              <a:t> values to IP Precedent or DSCP values—is typically necessary.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8304609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Congestion management includes queuing and scheduling methods where excess traffic is buffered or queued (and sometimes dropped) while it waits to be sent out an egress interface. Congestion avoidance tools are simpler. They monitor network traffic loads in an effort to anticipate and avoid congestion at common network and internetwork bottlenecks before congestion becomes a problem. These tools can monitor the average depth of the queue, as represented in Figure 9-21. When the queue is below the minimum threshold, there are no drops. As the queue fills up to the maximum threshold, a small percentage of packets are dropped. When the maximum threshold is passed, all packets are dropped.</a:t>
            </a:r>
          </a:p>
          <a:p>
            <a:endParaRPr lang="en-GB" dirty="0"/>
          </a:p>
          <a:p>
            <a:r>
              <a:rPr lang="en-GB" dirty="0"/>
              <a:t>Some congestion avoidance techniques provide preferential treatment in terms of which packets will get dropped. For example, Cisco IOS </a:t>
            </a:r>
            <a:r>
              <a:rPr lang="en-GB" dirty="0" err="1"/>
              <a:t>QoS</a:t>
            </a:r>
            <a:r>
              <a:rPr lang="en-GB" dirty="0"/>
              <a:t> includes weighted random early detection (WRED) as a possible congestion avoidance solution. The WRED algorithm allows for congestion avoidance on network interfaces by providing buffer management and allowing TCP traffic to decrease, or throttle back, before buffers are exhausted. Using WRED helps avoid tail drops and maximizes network use and TCP-based application performance. There is no congestion avoidance for User Datagram Protocol (UDP)-based traffic, such as voice traffic. In case of UDP-based traffic, methods such as queuing and compression techniques help reduce and even prevent UDP packet loss.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5605706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1" u="none" strike="noStrike" kern="1200" dirty="0">
                <a:solidFill>
                  <a:schemeClr val="tx1"/>
                </a:solidFill>
                <a:effectLst/>
                <a:latin typeface="Arial" charset="0"/>
                <a:ea typeface="+mn-ea"/>
                <a:cs typeface="+mn-cs"/>
                <a:hlinkClick r:id="rId3"/>
              </a:rPr>
              <a:t>Traffic shaping</a:t>
            </a:r>
            <a:r>
              <a:rPr lang="en-GB" sz="1200" b="0" i="0" kern="1200" dirty="0">
                <a:solidFill>
                  <a:schemeClr val="tx1"/>
                </a:solidFill>
                <a:effectLst/>
                <a:latin typeface="Arial" charset="0"/>
                <a:ea typeface="+mn-ea"/>
                <a:cs typeface="+mn-cs"/>
              </a:rPr>
              <a:t> and </a:t>
            </a:r>
            <a:r>
              <a:rPr lang="en-GB" sz="1200" b="0" i="1" u="none" strike="noStrike" kern="1200" dirty="0">
                <a:solidFill>
                  <a:schemeClr val="tx1"/>
                </a:solidFill>
                <a:effectLst/>
                <a:latin typeface="Arial" charset="0"/>
                <a:ea typeface="+mn-ea"/>
                <a:cs typeface="+mn-cs"/>
                <a:hlinkClick r:id="rId4"/>
              </a:rPr>
              <a:t>traffic policing</a:t>
            </a:r>
            <a:r>
              <a:rPr lang="en-GB" sz="1200" b="0" i="0" kern="1200" dirty="0">
                <a:solidFill>
                  <a:schemeClr val="tx1"/>
                </a:solidFill>
                <a:effectLst/>
                <a:latin typeface="Arial" charset="0"/>
                <a:ea typeface="+mn-ea"/>
                <a:cs typeface="+mn-cs"/>
              </a:rPr>
              <a:t> are two mechanisms provided by Cisco IOS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software to prevent congestion.</a:t>
            </a:r>
          </a:p>
          <a:p>
            <a:r>
              <a:rPr lang="en-GB" sz="1200" b="0" i="0" kern="1200" dirty="0">
                <a:solidFill>
                  <a:schemeClr val="tx1"/>
                </a:solidFill>
                <a:effectLst/>
                <a:latin typeface="Arial" charset="0"/>
                <a:ea typeface="+mn-ea"/>
                <a:cs typeface="+mn-cs"/>
              </a:rPr>
              <a:t>Traffic shaping retains excess packets in a queue and then schedules the excess for later transmission over increments of time. The result of traffic shaping is a smoothed packet output rate, as shown in </a:t>
            </a:r>
            <a:r>
              <a:rPr lang="en-GB" sz="1200" b="0" i="0" u="none" strike="noStrike" kern="1200" dirty="0">
                <a:solidFill>
                  <a:schemeClr val="tx1"/>
                </a:solidFill>
                <a:effectLst/>
                <a:latin typeface="Arial" charset="0"/>
                <a:ea typeface="+mn-ea"/>
                <a:cs typeface="+mn-cs"/>
                <a:hlinkClick r:id="rId5"/>
              </a:rPr>
              <a:t>Figure 9-22</a:t>
            </a:r>
            <a:r>
              <a:rPr lang="en-GB" sz="1200" b="0" i="0" kern="1200" dirty="0">
                <a:solidFill>
                  <a:schemeClr val="tx1"/>
                </a:solidFill>
                <a:effectLst/>
                <a:latin typeface="Arial" charset="0"/>
                <a:ea typeface="+mn-ea"/>
                <a:cs typeface="+mn-cs"/>
              </a:rPr>
              <a:t>.</a:t>
            </a:r>
          </a:p>
          <a:p>
            <a:r>
              <a:rPr lang="en-GB" dirty="0"/>
              <a:t>Shaping implies the existence of a queue and of sufficient memory to buffer delayed packets, whereas policing does </a:t>
            </a:r>
            <a:r>
              <a:rPr lang="en-GB" dirty="0" err="1"/>
              <a:t>not.Ensure</a:t>
            </a:r>
            <a:r>
              <a:rPr lang="en-GB" dirty="0"/>
              <a:t> that you have sufficient memory when enabling shaping. In addition, shaping requires a scheduling function for later transmission of any delayed packets. This scheduling function allows you to organize the shaping queue into different queues. Examples of scheduling functions are CBWFQ and </a:t>
            </a:r>
            <a:r>
              <a:rPr lang="en-GB" dirty="0" err="1"/>
              <a:t>LLQ.Shaping</a:t>
            </a:r>
            <a:r>
              <a:rPr lang="en-GB" dirty="0"/>
              <a:t> is an outbound concept; packets going out an interface get queued and can be shaped. In contrast, policing is applied to inbound traffic on an interface. When the traffic rate reaches the configured maximum rate, excess traffic is dropped (or re-marked).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4582182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Policing is commonly implemented by service providers to enforce a contracted committed information rate (CIR), as shown in Figure 9-23. However, the service provider may also allow bursting over the CIR if the service provider’s network is not currently experiencing congestion.</a:t>
            </a:r>
          </a:p>
          <a:p>
            <a:endParaRPr lang="en-GB" dirty="0"/>
          </a:p>
          <a:p>
            <a:r>
              <a:rPr lang="en-GB" dirty="0"/>
              <a:t>A </a:t>
            </a:r>
            <a:r>
              <a:rPr lang="en-GB" dirty="0" err="1"/>
              <a:t>QoS</a:t>
            </a:r>
            <a:r>
              <a:rPr lang="en-GB" dirty="0"/>
              <a:t> policy must consider the full path from source to destination. If one device in the path is using a different policy than desired, then the entire </a:t>
            </a:r>
            <a:r>
              <a:rPr lang="en-GB" dirty="0" err="1"/>
              <a:t>QoS</a:t>
            </a:r>
            <a:r>
              <a:rPr lang="en-GB" dirty="0"/>
              <a:t> policy is impacted. For example, stutter in video playback could be the result of one switch in the path not having the </a:t>
            </a:r>
            <a:r>
              <a:rPr lang="en-GB" dirty="0" err="1"/>
              <a:t>CoS</a:t>
            </a:r>
            <a:r>
              <a:rPr lang="en-GB" dirty="0"/>
              <a:t> value set appropriately.</a:t>
            </a:r>
          </a:p>
          <a:p>
            <a:r>
              <a:rPr lang="en-GB" dirty="0"/>
              <a:t>A few guidelines that help ensure the best experience for end users include the following:</a:t>
            </a:r>
          </a:p>
          <a:p>
            <a:r>
              <a:rPr lang="en-GB" dirty="0"/>
              <a:t>Enable queuing at every device in the path between the source and the destination.</a:t>
            </a:r>
          </a:p>
          <a:p>
            <a:r>
              <a:rPr lang="en-GB" dirty="0"/>
              <a:t>Classify and mark traffic as close to the source as possible.</a:t>
            </a:r>
          </a:p>
          <a:p>
            <a:r>
              <a:rPr lang="en-GB" dirty="0"/>
              <a:t>Shape and police traffic flows as close to their sources as possible.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9285111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8C91629A-89CF-4C2C-9865-CC6C32D5498C}" type="slidenum">
              <a:rPr lang="en-GB" smtClean="0"/>
              <a:pPr>
                <a:defRPr/>
              </a:pPr>
              <a:t>38</a:t>
            </a:fld>
            <a:endParaRPr lang="en-GB"/>
          </a:p>
        </p:txBody>
      </p:sp>
    </p:spTree>
    <p:extLst>
      <p:ext uri="{BB962C8B-B14F-4D97-AF65-F5344CB8AC3E}">
        <p14:creationId xmlns:p14="http://schemas.microsoft.com/office/powerpoint/2010/main" val="7281691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95536" y="2512921"/>
            <a:ext cx="7772400" cy="1470025"/>
          </a:xfrm>
        </p:spPr>
        <p:txBody>
          <a:bodyPr/>
          <a:lstStyle>
            <a:lvl1pPr algn="l">
              <a:defRPr b="1">
                <a:solidFill>
                  <a:schemeClr val="bg1"/>
                </a:solidFill>
              </a:defRPr>
            </a:lvl1pPr>
          </a:lstStyle>
          <a:p>
            <a:pPr lvl="0"/>
            <a:r>
              <a:rPr lang="en-GB" noProof="0" dirty="0"/>
              <a:t>Click to edit Master title style</a:t>
            </a:r>
          </a:p>
        </p:txBody>
      </p:sp>
      <p:sp>
        <p:nvSpPr>
          <p:cNvPr id="4099" name="Rectangle 3"/>
          <p:cNvSpPr>
            <a:spLocks noGrp="1" noChangeArrowheads="1"/>
          </p:cNvSpPr>
          <p:nvPr>
            <p:ph type="subTitle" idx="1"/>
          </p:nvPr>
        </p:nvSpPr>
        <p:spPr>
          <a:xfrm>
            <a:off x="395536" y="4268688"/>
            <a:ext cx="6400800" cy="1752600"/>
          </a:xfrm>
        </p:spPr>
        <p:txBody>
          <a:bodyPr/>
          <a:lstStyle>
            <a:lvl1pPr marL="0" indent="0" algn="l">
              <a:buFontTx/>
              <a:buNone/>
              <a:defRPr>
                <a:solidFill>
                  <a:schemeClr val="bg1"/>
                </a:solidFill>
                <a:latin typeface="Rockwell" pitchFamily="18" charset="0"/>
              </a:defRPr>
            </a:lvl1pPr>
          </a:lstStyle>
          <a:p>
            <a:pPr lvl="0"/>
            <a:r>
              <a:rPr lang="en-GB" noProof="0" dirty="0"/>
              <a:t>Click to edit Master subtitle style</a:t>
            </a:r>
          </a:p>
        </p:txBody>
      </p:sp>
    </p:spTree>
    <p:extLst>
      <p:ext uri="{BB962C8B-B14F-4D97-AF65-F5344CB8AC3E}">
        <p14:creationId xmlns:p14="http://schemas.microsoft.com/office/powerpoint/2010/main" val="231582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6154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78" indent="0">
              <a:buNone/>
              <a:defRPr sz="1800"/>
            </a:lvl2pPr>
            <a:lvl3pPr marL="914355" indent="0">
              <a:buNone/>
              <a:defRPr sz="1600"/>
            </a:lvl3pPr>
            <a:lvl4pPr marL="1371532" indent="0">
              <a:buNone/>
              <a:defRPr sz="1400"/>
            </a:lvl4pPr>
            <a:lvl5pPr marL="1828709" indent="0">
              <a:buNone/>
              <a:defRPr sz="1400"/>
            </a:lvl5pPr>
            <a:lvl6pPr marL="2285886" indent="0">
              <a:buNone/>
              <a:defRPr sz="1400"/>
            </a:lvl6pPr>
            <a:lvl7pPr marL="2743064" indent="0">
              <a:buNone/>
              <a:defRPr sz="1400"/>
            </a:lvl7pPr>
            <a:lvl8pPr marL="3200240" indent="0">
              <a:buNone/>
              <a:defRPr sz="1400"/>
            </a:lvl8pPr>
            <a:lvl9pPr marL="3657418" indent="0">
              <a:buNone/>
              <a:defRPr sz="1400"/>
            </a:lvl9pPr>
          </a:lstStyle>
          <a:p>
            <a:pPr lvl="0"/>
            <a:r>
              <a:rPr lang="en-US"/>
              <a:t>Click to edit Master text styles</a:t>
            </a:r>
          </a:p>
        </p:txBody>
      </p:sp>
    </p:spTree>
    <p:extLst>
      <p:ext uri="{BB962C8B-B14F-4D97-AF65-F5344CB8AC3E}">
        <p14:creationId xmlns:p14="http://schemas.microsoft.com/office/powerpoint/2010/main" val="2348730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62" y="1940981"/>
            <a:ext cx="8424863" cy="1143000"/>
          </a:xfrm>
        </p:spPr>
        <p:txBody>
          <a:bodyPr/>
          <a:lstStyle/>
          <a:p>
            <a:r>
              <a:rPr lang="en-US"/>
              <a:t>Click to edit Master title style</a:t>
            </a:r>
            <a:endParaRPr lang="en-GB"/>
          </a:p>
        </p:txBody>
      </p:sp>
      <p:sp>
        <p:nvSpPr>
          <p:cNvPr id="3" name="Content Placeholder 2"/>
          <p:cNvSpPr>
            <a:spLocks noGrp="1"/>
          </p:cNvSpPr>
          <p:nvPr>
            <p:ph sz="half" idx="1"/>
          </p:nvPr>
        </p:nvSpPr>
        <p:spPr>
          <a:xfrm>
            <a:off x="323850" y="2852247"/>
            <a:ext cx="4135438"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1700" y="2852247"/>
            <a:ext cx="4137025"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912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513913"/>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2774389"/>
            <a:ext cx="4040188"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341414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33" y="2774389"/>
            <a:ext cx="4041775"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341414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758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1774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3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2" y="1594873"/>
            <a:ext cx="3008313"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159488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12" y="2756931"/>
            <a:ext cx="3008313" cy="46910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44096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1604802"/>
            <a:ext cx="5486400" cy="3122777"/>
          </a:xfrm>
        </p:spPr>
        <p:txBody>
          <a:bodyPr/>
          <a:lstStyle>
            <a:lvl1pPr marL="0" indent="0">
              <a:buNone/>
              <a:defRPr sz="3200"/>
            </a:lvl1pPr>
            <a:lvl2pPr marL="457178" indent="0">
              <a:buNone/>
              <a:defRPr sz="2800"/>
            </a:lvl2pPr>
            <a:lvl3pPr marL="914355" indent="0">
              <a:buNone/>
              <a:defRPr sz="2400"/>
            </a:lvl3pPr>
            <a:lvl4pPr marL="1371532" indent="0">
              <a:buNone/>
              <a:defRPr sz="2000"/>
            </a:lvl4pPr>
            <a:lvl5pPr marL="1828709" indent="0">
              <a:buNone/>
              <a:defRPr sz="2000"/>
            </a:lvl5pPr>
            <a:lvl6pPr marL="2285886" indent="0">
              <a:buNone/>
              <a:defRPr sz="2000"/>
            </a:lvl6pPr>
            <a:lvl7pPr marL="2743064" indent="0">
              <a:buNone/>
              <a:defRPr sz="2000"/>
            </a:lvl7pPr>
            <a:lvl8pPr marL="3200240" indent="0">
              <a:buNone/>
              <a:defRPr sz="2000"/>
            </a:lvl8pPr>
            <a:lvl9pPr marL="3657418" indent="0">
              <a:buNone/>
              <a:defRPr sz="2000"/>
            </a:lvl9pPr>
          </a:lstStyle>
          <a:p>
            <a:pPr lvl="0"/>
            <a:endParaRPr lang="en-GB" noProof="0"/>
          </a:p>
        </p:txBody>
      </p:sp>
      <p:sp>
        <p:nvSpPr>
          <p:cNvPr id="4" name="Text Placeholder 3"/>
          <p:cNvSpPr>
            <a:spLocks noGrp="1"/>
          </p:cNvSpPr>
          <p:nvPr>
            <p:ph type="body" sz="half" idx="2"/>
          </p:nvPr>
        </p:nvSpPr>
        <p:spPr>
          <a:xfrm>
            <a:off x="1792288" y="5367345"/>
            <a:ext cx="5486400" cy="8048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1665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138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700" y="990603"/>
            <a:ext cx="2105025" cy="54625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23850" y="990603"/>
            <a:ext cx="6167438" cy="5462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025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1"/>
            <a:ext cx="9144000" cy="68579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1220545"/>
            <a:ext cx="7598042" cy="3426595"/>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169" y="6375382"/>
            <a:ext cx="218952"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6373710"/>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40" y="6286929"/>
            <a:ext cx="340257" cy="241299"/>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66484279"/>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3" y="1797051"/>
            <a:ext cx="8280057" cy="409859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455085"/>
            <a:ext cx="8345488"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2640081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3862" y="1806837"/>
            <a:ext cx="84248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dirty="0"/>
              <a:t>Click to edit Master title style</a:t>
            </a:r>
          </a:p>
        </p:txBody>
      </p:sp>
      <p:sp>
        <p:nvSpPr>
          <p:cNvPr id="2051" name="Rectangle 3"/>
          <p:cNvSpPr>
            <a:spLocks noGrp="1" noChangeArrowheads="1"/>
          </p:cNvSpPr>
          <p:nvPr>
            <p:ph type="body" idx="1"/>
          </p:nvPr>
        </p:nvSpPr>
        <p:spPr bwMode="auto">
          <a:xfrm>
            <a:off x="323862" y="2948258"/>
            <a:ext cx="8424863"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cSld>
  <p:clrMap bg1="lt1" tx1="dk1" bg2="lt2" tx2="dk2" accent1="accent1" accent2="accent2" accent3="accent3" accent4="accent4" accent5="accent5" accent6="accent6" hlink="hlink" folHlink="folHlink"/>
  <p:sldLayoutIdLst>
    <p:sldLayoutId id="2147483983"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5" r:id="rId12"/>
    <p:sldLayoutId id="2147483986" r:id="rId13"/>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p:titleStyle>
    <p:bodyStyle>
      <a:lvl1pPr marL="342884" indent="-342884" algn="l" rtl="0" eaLnBrk="0" fontAlgn="base" hangingPunct="0">
        <a:spcBef>
          <a:spcPct val="20000"/>
        </a:spcBef>
        <a:spcAft>
          <a:spcPct val="0"/>
        </a:spcAft>
        <a:buChar char="•"/>
        <a:defRPr sz="3200">
          <a:solidFill>
            <a:schemeClr val="tx1"/>
          </a:solidFill>
          <a:latin typeface="+mn-lt"/>
          <a:ea typeface="+mn-ea"/>
          <a:cs typeface="+mn-cs"/>
        </a:defRPr>
      </a:lvl1pPr>
      <a:lvl2pPr marL="742913" indent="-285736" algn="l" rtl="0" eaLnBrk="0" fontAlgn="base" hangingPunct="0">
        <a:spcBef>
          <a:spcPct val="20000"/>
        </a:spcBef>
        <a:spcAft>
          <a:spcPct val="0"/>
        </a:spcAft>
        <a:buChar char="–"/>
        <a:defRPr sz="2800">
          <a:solidFill>
            <a:schemeClr val="tx1"/>
          </a:solidFill>
          <a:latin typeface="+mn-lt"/>
        </a:defRPr>
      </a:lvl2pPr>
      <a:lvl3pPr marL="1142944" indent="-228588" algn="l" rtl="0" eaLnBrk="0" fontAlgn="base" hangingPunct="0">
        <a:spcBef>
          <a:spcPct val="20000"/>
        </a:spcBef>
        <a:spcAft>
          <a:spcPct val="0"/>
        </a:spcAft>
        <a:buChar char="•"/>
        <a:defRPr sz="2400">
          <a:solidFill>
            <a:schemeClr val="tx1"/>
          </a:solidFill>
          <a:latin typeface="+mn-lt"/>
        </a:defRPr>
      </a:lvl3pPr>
      <a:lvl4pPr marL="1600120" indent="-228588" algn="l" rtl="0" eaLnBrk="0" fontAlgn="base" hangingPunct="0">
        <a:spcBef>
          <a:spcPct val="20000"/>
        </a:spcBef>
        <a:spcAft>
          <a:spcPct val="0"/>
        </a:spcAft>
        <a:buChar char="–"/>
        <a:defRPr sz="2000">
          <a:solidFill>
            <a:schemeClr val="tx1"/>
          </a:solidFill>
          <a:latin typeface="+mn-lt"/>
        </a:defRPr>
      </a:lvl4pPr>
      <a:lvl5pPr marL="2057297" indent="-228588" algn="l" rtl="0" eaLnBrk="0" fontAlgn="base" hangingPunct="0">
        <a:spcBef>
          <a:spcPct val="20000"/>
        </a:spcBef>
        <a:spcAft>
          <a:spcPct val="0"/>
        </a:spcAft>
        <a:buChar char="»"/>
        <a:defRPr sz="2000">
          <a:solidFill>
            <a:schemeClr val="tx1"/>
          </a:solidFill>
          <a:latin typeface="+mn-lt"/>
        </a:defRPr>
      </a:lvl5pPr>
      <a:lvl6pPr marL="2514474" indent="-228588" algn="l" rtl="0" fontAlgn="base">
        <a:spcBef>
          <a:spcPct val="20000"/>
        </a:spcBef>
        <a:spcAft>
          <a:spcPct val="0"/>
        </a:spcAft>
        <a:buChar char="»"/>
        <a:defRPr sz="2000">
          <a:solidFill>
            <a:schemeClr val="tx1"/>
          </a:solidFill>
          <a:latin typeface="+mn-lt"/>
        </a:defRPr>
      </a:lvl6pPr>
      <a:lvl7pPr marL="2971652" indent="-228588" algn="l" rtl="0" fontAlgn="base">
        <a:spcBef>
          <a:spcPct val="20000"/>
        </a:spcBef>
        <a:spcAft>
          <a:spcPct val="0"/>
        </a:spcAft>
        <a:buChar char="»"/>
        <a:defRPr sz="2000">
          <a:solidFill>
            <a:schemeClr val="tx1"/>
          </a:solidFill>
          <a:latin typeface="+mn-lt"/>
        </a:defRPr>
      </a:lvl7pPr>
      <a:lvl8pPr marL="3428829" indent="-228588" algn="l" rtl="0" fontAlgn="base">
        <a:spcBef>
          <a:spcPct val="20000"/>
        </a:spcBef>
        <a:spcAft>
          <a:spcPct val="0"/>
        </a:spcAft>
        <a:buChar char="»"/>
        <a:defRPr sz="2000">
          <a:solidFill>
            <a:schemeClr val="tx1"/>
          </a:solidFill>
          <a:latin typeface="+mn-lt"/>
        </a:defRPr>
      </a:lvl8pPr>
      <a:lvl9pPr marL="3886006" indent="-228588"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hyperlink" Target="https://www.techtarget.com/searchnetworking/definition/Real-Time-Transport-Protoco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hyperlink" Target="https://www.telefonica.com/en/communication-room/blog/impact-of-traffic-growth-on-networks-and-investment-needs/"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Quality of Service (</a:t>
            </a:r>
            <a:r>
              <a:rPr lang="en-GB" dirty="0" err="1"/>
              <a:t>QoS</a:t>
            </a:r>
            <a:r>
              <a:rPr lang="en-GB" dirty="0"/>
              <a:t>) Concepts</a:t>
            </a:r>
          </a:p>
        </p:txBody>
      </p:sp>
      <p:sp>
        <p:nvSpPr>
          <p:cNvPr id="3" name="Subtitle 2"/>
          <p:cNvSpPr>
            <a:spLocks noGrp="1"/>
          </p:cNvSpPr>
          <p:nvPr>
            <p:ph type="subTitle" idx="1"/>
          </p:nvPr>
        </p:nvSpPr>
        <p:spPr/>
        <p:txBody>
          <a:bodyPr/>
          <a:lstStyle/>
          <a:p>
            <a:r>
              <a:rPr lang="en-GB" dirty="0"/>
              <a:t>6CS029 Advanced Networking</a:t>
            </a:r>
          </a:p>
        </p:txBody>
      </p:sp>
    </p:spTree>
    <p:extLst>
      <p:ext uri="{BB962C8B-B14F-4D97-AF65-F5344CB8AC3E}">
        <p14:creationId xmlns:p14="http://schemas.microsoft.com/office/powerpoint/2010/main" val="3685580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79512" y="1052736"/>
            <a:ext cx="8424863" cy="1143000"/>
          </a:xfrm>
        </p:spPr>
        <p:txBody>
          <a:bodyPr/>
          <a:lstStyle/>
          <a:p>
            <a:pPr eaLnBrk="1" hangingPunct="1"/>
            <a:r>
              <a:rPr lang="en-US" dirty="0"/>
              <a:t>In this session</a:t>
            </a:r>
          </a:p>
        </p:txBody>
      </p:sp>
      <p:sp>
        <p:nvSpPr>
          <p:cNvPr id="4" name="Content Placeholder 3"/>
          <p:cNvSpPr>
            <a:spLocks noGrp="1"/>
          </p:cNvSpPr>
          <p:nvPr>
            <p:ph idx="1"/>
          </p:nvPr>
        </p:nvSpPr>
        <p:spPr>
          <a:xfrm>
            <a:off x="251520" y="2132856"/>
            <a:ext cx="8424863" cy="4321175"/>
          </a:xfrm>
        </p:spPr>
        <p:txBody>
          <a:bodyPr/>
          <a:lstStyle/>
          <a:p>
            <a:pPr marL="0" marR="0">
              <a:lnSpc>
                <a:spcPct val="107000"/>
              </a:lnSpc>
              <a:spcBef>
                <a:spcPts val="0"/>
              </a:spcBef>
              <a:spcAft>
                <a:spcPts val="0"/>
              </a:spcAft>
            </a:pPr>
            <a:r>
              <a:rPr lang="en-US" dirty="0"/>
              <a:t>Network Transmission Quality</a:t>
            </a:r>
            <a:endParaRPr lang="en-US" dirty="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dirty="0"/>
              <a:t>Traffic Characteristics</a:t>
            </a:r>
            <a:endParaRPr lang="en-US" dirty="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dirty="0">
                <a:ea typeface="Calibri" panose="020F0502020204030204" pitchFamily="34" charset="0"/>
                <a:cs typeface="Times New Roman" panose="02020603050405020304" pitchFamily="18" charset="0"/>
              </a:rPr>
              <a:t>Queuing Algorithms</a:t>
            </a:r>
          </a:p>
          <a:p>
            <a:pPr marL="0" marR="0">
              <a:lnSpc>
                <a:spcPct val="107000"/>
              </a:lnSpc>
              <a:spcBef>
                <a:spcPts val="0"/>
              </a:spcBef>
              <a:spcAft>
                <a:spcPts val="0"/>
              </a:spcAft>
            </a:pPr>
            <a:r>
              <a:rPr lang="en-US" dirty="0" err="1">
                <a:ea typeface="Calibri" panose="020F0502020204030204" pitchFamily="34" charset="0"/>
                <a:cs typeface="Times New Roman" panose="02020603050405020304" pitchFamily="18" charset="0"/>
              </a:rPr>
              <a:t>QoS</a:t>
            </a:r>
            <a:r>
              <a:rPr lang="en-US" dirty="0">
                <a:ea typeface="Calibri" panose="020F0502020204030204" pitchFamily="34" charset="0"/>
                <a:cs typeface="Times New Roman" panose="02020603050405020304" pitchFamily="18" charset="0"/>
              </a:rPr>
              <a:t> Models</a:t>
            </a:r>
          </a:p>
          <a:p>
            <a:pPr marL="0" marR="0">
              <a:lnSpc>
                <a:spcPct val="107000"/>
              </a:lnSpc>
              <a:spcBef>
                <a:spcPts val="0"/>
              </a:spcBef>
              <a:spcAft>
                <a:spcPts val="0"/>
              </a:spcAft>
            </a:pPr>
            <a:r>
              <a:rPr lang="en-US" dirty="0" err="1">
                <a:ea typeface="Calibri" panose="020F0502020204030204" pitchFamily="34" charset="0"/>
                <a:cs typeface="Times New Roman" panose="02020603050405020304" pitchFamily="18" charset="0"/>
              </a:rPr>
              <a:t>QoS</a:t>
            </a:r>
            <a:r>
              <a:rPr lang="en-US" dirty="0">
                <a:ea typeface="Calibri" panose="020F0502020204030204" pitchFamily="34" charset="0"/>
                <a:cs typeface="Times New Roman" panose="02020603050405020304" pitchFamily="18" charset="0"/>
              </a:rPr>
              <a:t> Implementation Techniques</a:t>
            </a:r>
          </a:p>
          <a:p>
            <a:endParaRPr lang="en-GB" dirty="0"/>
          </a:p>
        </p:txBody>
      </p:sp>
    </p:spTree>
    <p:custDataLst>
      <p:tags r:id="rId1"/>
    </p:custDataLst>
    <p:extLst>
      <p:ext uri="{BB962C8B-B14F-4D97-AF65-F5344CB8AC3E}">
        <p14:creationId xmlns:p14="http://schemas.microsoft.com/office/powerpoint/2010/main" val="3091387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solidFill>
                  <a:schemeClr val="accent5">
                    <a:lumMod val="40000"/>
                    <a:lumOff val="60000"/>
                  </a:schemeClr>
                </a:solidFill>
              </a:rPr>
              <a:t>Network Transmission Quality</a:t>
            </a:r>
          </a:p>
          <a:p>
            <a:endParaRPr lang="en-GB" dirty="0"/>
          </a:p>
        </p:txBody>
      </p:sp>
    </p:spTree>
    <p:custDataLst>
      <p:tags r:id="rId1"/>
    </p:custDataLst>
    <p:extLst>
      <p:ext uri="{BB962C8B-B14F-4D97-AF65-F5344CB8AC3E}">
        <p14:creationId xmlns:p14="http://schemas.microsoft.com/office/powerpoint/2010/main" val="1082980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908720"/>
            <a:ext cx="8165976" cy="975783"/>
          </a:xfrm>
        </p:spPr>
        <p:txBody>
          <a:bodyPr/>
          <a:lstStyle/>
          <a:p>
            <a:r>
              <a:rPr lang="en-GB" dirty="0">
                <a:solidFill>
                  <a:schemeClr val="tx1"/>
                </a:solidFill>
              </a:rPr>
              <a:t>The Purpose of </a:t>
            </a:r>
            <a:r>
              <a:rPr lang="en-GB" dirty="0" err="1">
                <a:solidFill>
                  <a:schemeClr val="tx1"/>
                </a:solidFill>
              </a:rPr>
              <a:t>QoS</a:t>
            </a:r>
            <a:endParaRPr lang="en-GB" dirty="0">
              <a:solidFill>
                <a:schemeClr val="tx1"/>
              </a:solidFill>
            </a:endParaRP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1892524"/>
            <a:ext cx="8568952" cy="3696716"/>
          </a:xfrm>
        </p:spPr>
        <p:txBody>
          <a:bodyPr/>
          <a:lstStyle/>
          <a:p>
            <a:pPr marL="342900" indent="-342900" algn="l">
              <a:buFont typeface="Arial" panose="020B0604020202020204" pitchFamily="34" charset="0"/>
              <a:buChar char="•"/>
            </a:pPr>
            <a:r>
              <a:rPr lang="en-US" sz="2400" dirty="0">
                <a:solidFill>
                  <a:srgbClr val="000000"/>
                </a:solidFill>
              </a:rPr>
              <a:t>When traffic volume is greater than what can be transported across the network, devices queue (hold) the packets in memory until resources become available to transmit them.</a:t>
            </a:r>
          </a:p>
          <a:p>
            <a:pPr marL="342900" indent="-342900" algn="l">
              <a:buFont typeface="Arial" panose="020B0604020202020204" pitchFamily="34" charset="0"/>
              <a:buChar char="•"/>
            </a:pPr>
            <a:r>
              <a:rPr lang="en-US" sz="2400" dirty="0">
                <a:solidFill>
                  <a:srgbClr val="000000"/>
                </a:solidFill>
              </a:rPr>
              <a:t>Queuing packets causes delay because new packets cannot be transmitted until previous packets have been processed.</a:t>
            </a:r>
          </a:p>
          <a:p>
            <a:pPr marL="342900" indent="-342900" algn="l">
              <a:buFont typeface="Arial" panose="020B0604020202020204" pitchFamily="34" charset="0"/>
              <a:buChar char="•"/>
            </a:pPr>
            <a:r>
              <a:rPr lang="en-US" sz="2400" dirty="0">
                <a:solidFill>
                  <a:srgbClr val="000000"/>
                </a:solidFill>
              </a:rPr>
              <a:t>If the number of packets to be queued continues to increase, the memory within the device fills up and packets are dropped. </a:t>
            </a:r>
          </a:p>
          <a:p>
            <a:pPr marL="342900" indent="-342900" algn="l">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21335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908720"/>
            <a:ext cx="8165976" cy="975783"/>
          </a:xfrm>
        </p:spPr>
        <p:txBody>
          <a:bodyPr/>
          <a:lstStyle/>
          <a:p>
            <a:r>
              <a:rPr lang="en-GB" dirty="0">
                <a:solidFill>
                  <a:schemeClr val="tx1"/>
                </a:solidFill>
              </a:rPr>
              <a:t>Prioritizing</a:t>
            </a:r>
            <a:r>
              <a:rPr lang="en-US" dirty="0">
                <a:solidFill>
                  <a:schemeClr val="tx1"/>
                </a:solidFill>
              </a:rPr>
              <a:t> Traffic</a:t>
            </a:r>
          </a:p>
        </p:txBody>
      </p:sp>
      <p:pic>
        <p:nvPicPr>
          <p:cNvPr id="2" name="Picture 1">
            <a:extLst>
              <a:ext uri="{FF2B5EF4-FFF2-40B4-BE49-F238E27FC236}">
                <a16:creationId xmlns:a16="http://schemas.microsoft.com/office/drawing/2014/main" id="{6936C9B1-27CC-4B10-A913-9115638971B8}"/>
              </a:ext>
            </a:extLst>
          </p:cNvPr>
          <p:cNvPicPr>
            <a:picLocks noChangeAspect="1"/>
          </p:cNvPicPr>
          <p:nvPr/>
        </p:nvPicPr>
        <p:blipFill>
          <a:blip r:embed="rId3"/>
          <a:stretch>
            <a:fillRect/>
          </a:stretch>
        </p:blipFill>
        <p:spPr>
          <a:xfrm>
            <a:off x="1907704" y="2546918"/>
            <a:ext cx="5544616" cy="4338466"/>
          </a:xfrm>
          <a:prstGeom prst="rect">
            <a:avLst/>
          </a:prstGeom>
        </p:spPr>
      </p:pic>
      <p:sp>
        <p:nvSpPr>
          <p:cNvPr id="6" name="Rectangle 5"/>
          <p:cNvSpPr/>
          <p:nvPr/>
        </p:nvSpPr>
        <p:spPr>
          <a:xfrm>
            <a:off x="219010" y="1844823"/>
            <a:ext cx="7953390" cy="707886"/>
          </a:xfrm>
          <a:prstGeom prst="rect">
            <a:avLst/>
          </a:prstGeom>
        </p:spPr>
        <p:txBody>
          <a:bodyPr wrap="square">
            <a:spAutoFit/>
          </a:bodyPr>
          <a:lstStyle/>
          <a:p>
            <a:pPr marL="342900" indent="-342900">
              <a:buFont typeface="Arial" panose="020B0604020202020204" pitchFamily="34" charset="0"/>
              <a:buChar char="•"/>
            </a:pPr>
            <a:r>
              <a:rPr lang="en-US" sz="2000" dirty="0">
                <a:solidFill>
                  <a:srgbClr val="000000"/>
                </a:solidFill>
                <a:latin typeface="+mn-lt"/>
              </a:rPr>
              <a:t>One </a:t>
            </a:r>
            <a:r>
              <a:rPr lang="en-US" sz="2000" dirty="0" err="1">
                <a:solidFill>
                  <a:srgbClr val="000000"/>
                </a:solidFill>
                <a:latin typeface="+mn-lt"/>
              </a:rPr>
              <a:t>QoS</a:t>
            </a:r>
            <a:r>
              <a:rPr lang="en-US" sz="2000" dirty="0">
                <a:solidFill>
                  <a:srgbClr val="000000"/>
                </a:solidFill>
                <a:latin typeface="+mn-lt"/>
              </a:rPr>
              <a:t> technique that can help with this problem is to classify data into multiple queues</a:t>
            </a:r>
          </a:p>
        </p:txBody>
      </p:sp>
    </p:spTree>
    <p:extLst>
      <p:ext uri="{BB962C8B-B14F-4D97-AF65-F5344CB8AC3E}">
        <p14:creationId xmlns:p14="http://schemas.microsoft.com/office/powerpoint/2010/main" val="6051671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692696"/>
            <a:ext cx="8143516" cy="975783"/>
          </a:xfrm>
        </p:spPr>
        <p:txBody>
          <a:bodyPr/>
          <a:lstStyle/>
          <a:p>
            <a:br>
              <a:rPr lang="en-US" dirty="0">
                <a:solidFill>
                  <a:schemeClr val="tx1"/>
                </a:solidFill>
              </a:rPr>
            </a:br>
            <a:r>
              <a:rPr lang="en-US" dirty="0">
                <a:solidFill>
                  <a:schemeClr val="tx1"/>
                </a:solidFill>
              </a:rPr>
              <a:t>Bandwidth, Congestion, Delay, and Jitter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8196" y="2150777"/>
            <a:ext cx="8686292" cy="2286335"/>
          </a:xfrm>
        </p:spPr>
        <p:txBody>
          <a:bodyPr/>
          <a:lstStyle/>
          <a:p>
            <a:pPr marL="285750" indent="-285750" algn="l">
              <a:buFont typeface="Arial" panose="020B0604020202020204" pitchFamily="34" charset="0"/>
              <a:buChar char="•"/>
            </a:pPr>
            <a:r>
              <a:rPr lang="en-US" sz="2200" dirty="0">
                <a:solidFill>
                  <a:srgbClr val="000000"/>
                </a:solidFill>
              </a:rPr>
              <a:t>Bandwidth is measured in the number of bits that can be transmitted in a single second.</a:t>
            </a:r>
          </a:p>
          <a:p>
            <a:pPr marL="285750" indent="-285750" algn="l">
              <a:buFont typeface="Arial" panose="020B0604020202020204" pitchFamily="34" charset="0"/>
              <a:buChar char="•"/>
            </a:pPr>
            <a:r>
              <a:rPr lang="en-US" sz="2200" dirty="0">
                <a:solidFill>
                  <a:srgbClr val="000000"/>
                </a:solidFill>
              </a:rPr>
              <a:t>Network congestion causes delay.</a:t>
            </a:r>
          </a:p>
          <a:p>
            <a:pPr marL="285750" indent="-285750" algn="l">
              <a:buFont typeface="Arial" panose="020B0604020202020204" pitchFamily="34" charset="0"/>
              <a:buChar char="•"/>
            </a:pPr>
            <a:r>
              <a:rPr lang="en-US" sz="2200" dirty="0">
                <a:solidFill>
                  <a:srgbClr val="000000"/>
                </a:solidFill>
              </a:rPr>
              <a:t>Congestion points are ideal candidates for QoS mechanisms</a:t>
            </a:r>
            <a:r>
              <a:rPr lang="en-US" sz="2100" dirty="0">
                <a:solidFill>
                  <a:srgbClr val="000000"/>
                </a:solidFill>
              </a:rPr>
              <a:t>.</a:t>
            </a:r>
          </a:p>
          <a:p>
            <a:pPr marL="742973" lvl="1" indent="-285750">
              <a:buFont typeface="Arial" panose="020B0604020202020204" pitchFamily="34" charset="0"/>
              <a:buChar char="•"/>
            </a:pPr>
            <a:r>
              <a:rPr lang="en-US" sz="2100" dirty="0">
                <a:solidFill>
                  <a:srgbClr val="000000"/>
                </a:solidFill>
              </a:rPr>
              <a:t>Aggregation, speed mismatch, and LAN to WAN.</a:t>
            </a:r>
          </a:p>
        </p:txBody>
      </p:sp>
      <p:pic>
        <p:nvPicPr>
          <p:cNvPr id="6" name="Picture 5">
            <a:extLst>
              <a:ext uri="{FF2B5EF4-FFF2-40B4-BE49-F238E27FC236}">
                <a16:creationId xmlns:a16="http://schemas.microsoft.com/office/drawing/2014/main" id="{14CC6A36-2A89-49AF-9342-6B74D7895473}"/>
              </a:ext>
            </a:extLst>
          </p:cNvPr>
          <p:cNvPicPr>
            <a:picLocks noChangeAspect="1"/>
          </p:cNvPicPr>
          <p:nvPr/>
        </p:nvPicPr>
        <p:blipFill>
          <a:blip r:embed="rId3"/>
          <a:stretch>
            <a:fillRect/>
          </a:stretch>
        </p:blipFill>
        <p:spPr>
          <a:xfrm>
            <a:off x="2699792" y="4258626"/>
            <a:ext cx="5760640" cy="2599374"/>
          </a:xfrm>
          <a:prstGeom prst="rect">
            <a:avLst/>
          </a:prstGeom>
        </p:spPr>
      </p:pic>
    </p:spTree>
    <p:extLst>
      <p:ext uri="{BB962C8B-B14F-4D97-AF65-F5344CB8AC3E}">
        <p14:creationId xmlns:p14="http://schemas.microsoft.com/office/powerpoint/2010/main" val="3167298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941049"/>
            <a:ext cx="8345488" cy="975783"/>
          </a:xfrm>
        </p:spPr>
        <p:txBody>
          <a:bodyPr/>
          <a:lstStyle/>
          <a:p>
            <a:r>
              <a:rPr lang="en-US" dirty="0">
                <a:solidFill>
                  <a:schemeClr val="tx1"/>
                </a:solidFill>
              </a:rPr>
              <a:t>Causes of delay</a:t>
            </a:r>
          </a:p>
        </p:txBody>
      </p:sp>
      <p:graphicFrame>
        <p:nvGraphicFramePr>
          <p:cNvPr id="5" name="Content Placeholder 6">
            <a:extLst>
              <a:ext uri="{FF2B5EF4-FFF2-40B4-BE49-F238E27FC236}">
                <a16:creationId xmlns:a16="http://schemas.microsoft.com/office/drawing/2014/main" id="{3D1E8862-A376-45A7-AC00-3A951DBE91F4}"/>
              </a:ext>
            </a:extLst>
          </p:cNvPr>
          <p:cNvGraphicFramePr>
            <a:graphicFrameLocks/>
          </p:cNvGraphicFramePr>
          <p:nvPr>
            <p:extLst>
              <p:ext uri="{D42A27DB-BD31-4B8C-83A1-F6EECF244321}">
                <p14:modId xmlns:p14="http://schemas.microsoft.com/office/powerpoint/2010/main" val="86822443"/>
              </p:ext>
            </p:extLst>
          </p:nvPr>
        </p:nvGraphicFramePr>
        <p:xfrm>
          <a:off x="251520" y="2204864"/>
          <a:ext cx="8345488" cy="4248473"/>
        </p:xfrm>
        <a:graphic>
          <a:graphicData uri="http://schemas.openxmlformats.org/drawingml/2006/table">
            <a:tbl>
              <a:tblPr firstRow="1" bandRow="1">
                <a:tableStyleId>{C083E6E3-FA7D-4D7B-A595-EF9225AFEA82}</a:tableStyleId>
              </a:tblPr>
              <a:tblGrid>
                <a:gridCol w="1711629">
                  <a:extLst>
                    <a:ext uri="{9D8B030D-6E8A-4147-A177-3AD203B41FA5}">
                      <a16:colId xmlns:a16="http://schemas.microsoft.com/office/drawing/2014/main" val="3729139006"/>
                    </a:ext>
                  </a:extLst>
                </a:gridCol>
                <a:gridCol w="6633859">
                  <a:extLst>
                    <a:ext uri="{9D8B030D-6E8A-4147-A177-3AD203B41FA5}">
                      <a16:colId xmlns:a16="http://schemas.microsoft.com/office/drawing/2014/main" val="2623022619"/>
                    </a:ext>
                  </a:extLst>
                </a:gridCol>
              </a:tblGrid>
              <a:tr h="386225">
                <a:tc>
                  <a:txBody>
                    <a:bodyPr/>
                    <a:lstStyle/>
                    <a:p>
                      <a:r>
                        <a:rPr lang="en-US" sz="1600" dirty="0"/>
                        <a:t>Delay</a:t>
                      </a:r>
                    </a:p>
                  </a:txBody>
                  <a:tcPr marT="60960" marB="60960"/>
                </a:tc>
                <a:tc>
                  <a:txBody>
                    <a:bodyPr/>
                    <a:lstStyle/>
                    <a:p>
                      <a:r>
                        <a:rPr lang="en-US" sz="1600" dirty="0"/>
                        <a:t>Description</a:t>
                      </a:r>
                    </a:p>
                  </a:txBody>
                  <a:tcPr marT="60960" marB="60960"/>
                </a:tc>
                <a:extLst>
                  <a:ext uri="{0D108BD9-81ED-4DB2-BD59-A6C34878D82A}">
                    <a16:rowId xmlns:a16="http://schemas.microsoft.com/office/drawing/2014/main" val="2583676789"/>
                  </a:ext>
                </a:extLst>
              </a:tr>
              <a:tr h="643708">
                <a:tc>
                  <a:txBody>
                    <a:bodyPr/>
                    <a:lstStyle/>
                    <a:p>
                      <a:r>
                        <a:rPr lang="en-US" sz="1600" dirty="0"/>
                        <a:t>Code delay</a:t>
                      </a:r>
                      <a:endParaRPr lang="en-US" sz="1600" dirty="0">
                        <a:solidFill>
                          <a:srgbClr val="000000"/>
                        </a:solidFill>
                      </a:endParaRPr>
                    </a:p>
                  </a:txBody>
                  <a:tcPr marT="60960" marB="60960"/>
                </a:tc>
                <a:tc>
                  <a:txBody>
                    <a:bodyPr/>
                    <a:lstStyle/>
                    <a:p>
                      <a:r>
                        <a:rPr lang="en-US" sz="1600" dirty="0"/>
                        <a:t>The fixed amount of time it takes to compress data at the source before transmitting to the first internetworking device, usually a switch.</a:t>
                      </a:r>
                      <a:endParaRPr lang="en-US" sz="1600" dirty="0">
                        <a:solidFill>
                          <a:srgbClr val="000000"/>
                        </a:solidFill>
                      </a:endParaRPr>
                    </a:p>
                  </a:txBody>
                  <a:tcPr marT="60960" marB="60960"/>
                </a:tc>
                <a:extLst>
                  <a:ext uri="{0D108BD9-81ED-4DB2-BD59-A6C34878D82A}">
                    <a16:rowId xmlns:a16="http://schemas.microsoft.com/office/drawing/2014/main" val="3849654457"/>
                  </a:ext>
                </a:extLst>
              </a:tr>
              <a:tr h="643708">
                <a:tc>
                  <a:txBody>
                    <a:bodyPr/>
                    <a:lstStyle/>
                    <a:p>
                      <a:r>
                        <a:rPr lang="en-US" sz="1600" dirty="0"/>
                        <a:t>Packetization delay</a:t>
                      </a:r>
                      <a:endParaRPr lang="en-US" sz="1600" dirty="0">
                        <a:solidFill>
                          <a:srgbClr val="000000"/>
                        </a:solidFill>
                      </a:endParaRPr>
                    </a:p>
                  </a:txBody>
                  <a:tcPr marT="60960" marB="60960"/>
                </a:tc>
                <a:tc>
                  <a:txBody>
                    <a:bodyPr/>
                    <a:lstStyle/>
                    <a:p>
                      <a:r>
                        <a:rPr lang="en-US" sz="1600" dirty="0"/>
                        <a:t>The fixed time it takes to encapsulate a packet with all the necessary header information.</a:t>
                      </a:r>
                      <a:endParaRPr lang="en-US" sz="1600" dirty="0">
                        <a:solidFill>
                          <a:srgbClr val="000000"/>
                        </a:solidFill>
                      </a:endParaRPr>
                    </a:p>
                  </a:txBody>
                  <a:tcPr marT="60960" marB="60960"/>
                </a:tc>
                <a:extLst>
                  <a:ext uri="{0D108BD9-81ED-4DB2-BD59-A6C34878D82A}">
                    <a16:rowId xmlns:a16="http://schemas.microsoft.com/office/drawing/2014/main" val="235735172"/>
                  </a:ext>
                </a:extLst>
              </a:tr>
              <a:tr h="643708">
                <a:tc>
                  <a:txBody>
                    <a:bodyPr/>
                    <a:lstStyle/>
                    <a:p>
                      <a:r>
                        <a:rPr lang="en-US" sz="1600" dirty="0"/>
                        <a:t>Queuing delay</a:t>
                      </a:r>
                      <a:endParaRPr lang="en-US" sz="1600" dirty="0">
                        <a:solidFill>
                          <a:srgbClr val="000000"/>
                        </a:solidFill>
                      </a:endParaRPr>
                    </a:p>
                  </a:txBody>
                  <a:tcPr marT="60960" marB="60960"/>
                </a:tc>
                <a:tc>
                  <a:txBody>
                    <a:bodyPr/>
                    <a:lstStyle/>
                    <a:p>
                      <a:r>
                        <a:rPr lang="en-US" sz="1600" dirty="0"/>
                        <a:t>The variable amount of time a frame or packet waits to be transmitted on the link.</a:t>
                      </a:r>
                      <a:endParaRPr lang="en-US" sz="1600" dirty="0">
                        <a:solidFill>
                          <a:srgbClr val="000000"/>
                        </a:solidFill>
                      </a:endParaRPr>
                    </a:p>
                  </a:txBody>
                  <a:tcPr marT="60960" marB="60960"/>
                </a:tc>
                <a:extLst>
                  <a:ext uri="{0D108BD9-81ED-4DB2-BD59-A6C34878D82A}">
                    <a16:rowId xmlns:a16="http://schemas.microsoft.com/office/drawing/2014/main" val="354468046"/>
                  </a:ext>
                </a:extLst>
              </a:tr>
              <a:tr h="643708">
                <a:tc>
                  <a:txBody>
                    <a:bodyPr/>
                    <a:lstStyle/>
                    <a:p>
                      <a:r>
                        <a:rPr lang="en-US" sz="1600" dirty="0"/>
                        <a:t>Serialization delay</a:t>
                      </a:r>
                      <a:endParaRPr lang="en-US" sz="1600" dirty="0">
                        <a:solidFill>
                          <a:srgbClr val="000000"/>
                        </a:solidFill>
                      </a:endParaRPr>
                    </a:p>
                  </a:txBody>
                  <a:tcPr marT="60960" marB="60960"/>
                </a:tc>
                <a:tc>
                  <a:txBody>
                    <a:bodyPr/>
                    <a:lstStyle/>
                    <a:p>
                      <a:r>
                        <a:rPr lang="en-US" sz="1600" dirty="0"/>
                        <a:t>The fixed amount of time it takes to transmit a frame onto the wire.</a:t>
                      </a:r>
                      <a:endParaRPr lang="en-US" sz="1600" dirty="0">
                        <a:solidFill>
                          <a:srgbClr val="000000"/>
                        </a:solidFill>
                      </a:endParaRPr>
                    </a:p>
                  </a:txBody>
                  <a:tcPr marT="60960" marB="60960"/>
                </a:tc>
                <a:extLst>
                  <a:ext uri="{0D108BD9-81ED-4DB2-BD59-A6C34878D82A}">
                    <a16:rowId xmlns:a16="http://schemas.microsoft.com/office/drawing/2014/main" val="1458107787"/>
                  </a:ext>
                </a:extLst>
              </a:tr>
              <a:tr h="643708">
                <a:tc>
                  <a:txBody>
                    <a:bodyPr/>
                    <a:lstStyle/>
                    <a:p>
                      <a:r>
                        <a:rPr lang="en-US" sz="1600" dirty="0"/>
                        <a:t>Propagation delay</a:t>
                      </a:r>
                      <a:endParaRPr lang="en-US" sz="1600" dirty="0">
                        <a:solidFill>
                          <a:srgbClr val="000000"/>
                        </a:solidFill>
                      </a:endParaRPr>
                    </a:p>
                  </a:txBody>
                  <a:tcPr marT="60960" marB="60960"/>
                </a:tc>
                <a:tc>
                  <a:txBody>
                    <a:bodyPr/>
                    <a:lstStyle/>
                    <a:p>
                      <a:r>
                        <a:rPr lang="en-US" sz="1600" dirty="0"/>
                        <a:t>The variable amount of time it takes for the frame to travel between the source and destination.</a:t>
                      </a:r>
                      <a:endParaRPr lang="en-US" sz="1600" dirty="0">
                        <a:solidFill>
                          <a:srgbClr val="000000"/>
                        </a:solidFill>
                      </a:endParaRPr>
                    </a:p>
                  </a:txBody>
                  <a:tcPr marT="60960" marB="60960"/>
                </a:tc>
                <a:extLst>
                  <a:ext uri="{0D108BD9-81ED-4DB2-BD59-A6C34878D82A}">
                    <a16:rowId xmlns:a16="http://schemas.microsoft.com/office/drawing/2014/main" val="1670050751"/>
                  </a:ext>
                </a:extLst>
              </a:tr>
              <a:tr h="643708">
                <a:tc>
                  <a:txBody>
                    <a:bodyPr/>
                    <a:lstStyle/>
                    <a:p>
                      <a:r>
                        <a:rPr lang="en-US" sz="1600" dirty="0"/>
                        <a:t>De-jitter delay</a:t>
                      </a:r>
                      <a:endParaRPr lang="en-US" sz="1600" dirty="0">
                        <a:solidFill>
                          <a:srgbClr val="000000"/>
                        </a:solidFill>
                      </a:endParaRPr>
                    </a:p>
                  </a:txBody>
                  <a:tcPr marT="60960" marB="60960"/>
                </a:tc>
                <a:tc>
                  <a:txBody>
                    <a:bodyPr/>
                    <a:lstStyle/>
                    <a:p>
                      <a:r>
                        <a:rPr lang="en-US" sz="1600" dirty="0"/>
                        <a:t>The fixed amount of time it takes to buffer a flow of packets and then send them out in evenly spaced intervals.</a:t>
                      </a:r>
                      <a:endParaRPr lang="en-US" sz="1600" dirty="0">
                        <a:solidFill>
                          <a:srgbClr val="000000"/>
                        </a:solidFill>
                      </a:endParaRPr>
                    </a:p>
                  </a:txBody>
                  <a:tcPr marT="60960" marB="60960"/>
                </a:tc>
                <a:extLst>
                  <a:ext uri="{0D108BD9-81ED-4DB2-BD59-A6C34878D82A}">
                    <a16:rowId xmlns:a16="http://schemas.microsoft.com/office/drawing/2014/main" val="2807720915"/>
                  </a:ext>
                </a:extLst>
              </a:tr>
            </a:tbl>
          </a:graphicData>
        </a:graphic>
      </p:graphicFrame>
    </p:spTree>
    <p:extLst>
      <p:ext uri="{BB962C8B-B14F-4D97-AF65-F5344CB8AC3E}">
        <p14:creationId xmlns:p14="http://schemas.microsoft.com/office/powerpoint/2010/main" val="2762633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1" y="764704"/>
            <a:ext cx="8181723" cy="975783"/>
          </a:xfrm>
        </p:spPr>
        <p:txBody>
          <a:bodyPr/>
          <a:lstStyle/>
          <a:p>
            <a:br>
              <a:rPr lang="en-US" dirty="0">
                <a:solidFill>
                  <a:schemeClr val="tx1"/>
                </a:solidFill>
              </a:rPr>
            </a:br>
            <a:r>
              <a:rPr lang="en-US" dirty="0">
                <a:solidFill>
                  <a:schemeClr val="tx1"/>
                </a:solidFill>
              </a:rPr>
              <a:t>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2060848"/>
            <a:ext cx="4140028" cy="4620495"/>
          </a:xfrm>
        </p:spPr>
        <p:txBody>
          <a:bodyPr/>
          <a:lstStyle/>
          <a:p>
            <a:pPr marL="0" indent="0" algn="l"/>
            <a:r>
              <a:rPr lang="en-US" dirty="0">
                <a:solidFill>
                  <a:srgbClr val="000000"/>
                </a:solidFill>
              </a:rPr>
              <a:t>Without QoS mechanisms, time-sensitive packets, such as real-time video and voice, are dropped with the same frequency as data that is not time-sensitive.</a:t>
            </a:r>
          </a:p>
          <a:p>
            <a:pPr marL="285750" indent="-285750" algn="l">
              <a:buFont typeface="Arial" panose="020B0604020202020204" pitchFamily="34" charset="0"/>
              <a:buChar char="•"/>
            </a:pPr>
            <a:r>
              <a:rPr lang="en-US" dirty="0">
                <a:solidFill>
                  <a:srgbClr val="000000"/>
                </a:solidFill>
              </a:rPr>
              <a:t>When a router receives a Real-Time Protocol (RTP) digital audio stream for Voice over IP (VoIP), it compensates for the jitter that is encountered using a playout delay buffer. </a:t>
            </a:r>
          </a:p>
          <a:p>
            <a:pPr marL="285750" indent="-285750" algn="l">
              <a:buFont typeface="Arial" panose="020B0604020202020204" pitchFamily="34" charset="0"/>
              <a:buChar char="•"/>
            </a:pPr>
            <a:r>
              <a:rPr lang="en-US" dirty="0">
                <a:solidFill>
                  <a:srgbClr val="000000"/>
                </a:solidFill>
              </a:rPr>
              <a:t>The playout delay buffer buffers these packets and then plays them out in a steady stream.</a:t>
            </a:r>
          </a:p>
        </p:txBody>
      </p:sp>
      <p:pic>
        <p:nvPicPr>
          <p:cNvPr id="2" name="Picture 1">
            <a:extLst>
              <a:ext uri="{FF2B5EF4-FFF2-40B4-BE49-F238E27FC236}">
                <a16:creationId xmlns:a16="http://schemas.microsoft.com/office/drawing/2014/main" id="{6E727764-5C85-4A6B-8DF7-47744A544A32}"/>
              </a:ext>
            </a:extLst>
          </p:cNvPr>
          <p:cNvPicPr>
            <a:picLocks noChangeAspect="1"/>
          </p:cNvPicPr>
          <p:nvPr/>
        </p:nvPicPr>
        <p:blipFill>
          <a:blip r:embed="rId3"/>
          <a:stretch>
            <a:fillRect/>
          </a:stretch>
        </p:blipFill>
        <p:spPr>
          <a:xfrm>
            <a:off x="4644008" y="1309892"/>
            <a:ext cx="4140028" cy="3847300"/>
          </a:xfrm>
          <a:prstGeom prst="rect">
            <a:avLst/>
          </a:prstGeom>
        </p:spPr>
      </p:pic>
      <p:sp>
        <p:nvSpPr>
          <p:cNvPr id="5" name="Rectangle 4"/>
          <p:cNvSpPr/>
          <p:nvPr/>
        </p:nvSpPr>
        <p:spPr>
          <a:xfrm>
            <a:off x="4428022" y="5898758"/>
            <a:ext cx="4572000" cy="338554"/>
          </a:xfrm>
          <a:prstGeom prst="rect">
            <a:avLst/>
          </a:prstGeom>
        </p:spPr>
        <p:txBody>
          <a:bodyPr>
            <a:spAutoFit/>
          </a:bodyPr>
          <a:lstStyle/>
          <a:p>
            <a:r>
              <a:rPr lang="en-GB" sz="1600" b="1" i="1" dirty="0"/>
              <a:t>Playout Delay Buffer Compensates for Jitter</a:t>
            </a:r>
          </a:p>
        </p:txBody>
      </p:sp>
      <p:sp>
        <p:nvSpPr>
          <p:cNvPr id="7" name="TextBox 6">
            <a:hlinkClick r:id="rId4"/>
            <a:extLst>
              <a:ext uri="{FF2B5EF4-FFF2-40B4-BE49-F238E27FC236}">
                <a16:creationId xmlns:a16="http://schemas.microsoft.com/office/drawing/2014/main" id="{8BA80A8F-0D71-6CF1-08E3-B8FC897EA30C}"/>
              </a:ext>
            </a:extLst>
          </p:cNvPr>
          <p:cNvSpPr txBox="1"/>
          <p:nvPr/>
        </p:nvSpPr>
        <p:spPr>
          <a:xfrm>
            <a:off x="5580112" y="6353060"/>
            <a:ext cx="4578016" cy="369332"/>
          </a:xfrm>
          <a:prstGeom prst="rect">
            <a:avLst/>
          </a:prstGeom>
          <a:noFill/>
        </p:spPr>
        <p:txBody>
          <a:bodyPr wrap="square">
            <a:spAutoFit/>
          </a:bodyPr>
          <a:lstStyle/>
          <a:p>
            <a:r>
              <a:rPr lang="en-GB" dirty="0">
                <a:hlinkClick r:id="rId4"/>
              </a:rPr>
              <a:t>Real Time Protocol</a:t>
            </a:r>
            <a:endParaRPr lang="en-GB" dirty="0"/>
          </a:p>
        </p:txBody>
      </p:sp>
    </p:spTree>
    <p:extLst>
      <p:ext uri="{BB962C8B-B14F-4D97-AF65-F5344CB8AC3E}">
        <p14:creationId xmlns:p14="http://schemas.microsoft.com/office/powerpoint/2010/main" val="743504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797033"/>
            <a:ext cx="8345488" cy="975783"/>
          </a:xfrm>
        </p:spPr>
        <p:txBody>
          <a:bodyPr/>
          <a:lstStyle/>
          <a:p>
            <a:r>
              <a:rPr lang="en-US" dirty="0">
                <a:solidFill>
                  <a:schemeClr val="tx1"/>
                </a:solidFill>
              </a:rPr>
              <a:t>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19" y="1628800"/>
            <a:ext cx="4464497" cy="4680520"/>
          </a:xfrm>
        </p:spPr>
        <p:txBody>
          <a:bodyPr/>
          <a:lstStyle/>
          <a:p>
            <a:pPr marL="0" indent="0" algn="l"/>
            <a:r>
              <a:rPr lang="en-US" dirty="0">
                <a:solidFill>
                  <a:srgbClr val="000000"/>
                </a:solidFill>
              </a:rPr>
              <a:t>If the jitter is so large that it causes packets to be received out of the range of the play out buffer, the out-of-range packets are discarded and dropouts are heard in the audio.</a:t>
            </a:r>
          </a:p>
          <a:p>
            <a:pPr marL="285750" indent="-285750" algn="l">
              <a:buFont typeface="Arial" panose="020B0604020202020204" pitchFamily="34" charset="0"/>
              <a:buChar char="•"/>
            </a:pPr>
            <a:r>
              <a:rPr lang="en-US" dirty="0">
                <a:solidFill>
                  <a:srgbClr val="000000"/>
                </a:solidFill>
              </a:rPr>
              <a:t>For losses as small as one packet, the digital signal processor (DSP) interpolates what it thinks the audio should be and no problem is audible to the user. </a:t>
            </a:r>
          </a:p>
          <a:p>
            <a:pPr marL="285750" indent="-285750" algn="l">
              <a:buFont typeface="Arial" panose="020B0604020202020204" pitchFamily="34" charset="0"/>
              <a:buChar char="•"/>
            </a:pPr>
            <a:r>
              <a:rPr lang="en-US" dirty="0">
                <a:solidFill>
                  <a:srgbClr val="000000"/>
                </a:solidFill>
              </a:rPr>
              <a:t>When jitter exceeds what the DSP can do to make up for the missing packets, audio problems are heard.</a:t>
            </a:r>
          </a:p>
        </p:txBody>
      </p:sp>
      <p:pic>
        <p:nvPicPr>
          <p:cNvPr id="2" name="Picture 1">
            <a:extLst>
              <a:ext uri="{FF2B5EF4-FFF2-40B4-BE49-F238E27FC236}">
                <a16:creationId xmlns:a16="http://schemas.microsoft.com/office/drawing/2014/main" id="{6D0E67A8-5952-4334-8F31-12EE33768754}"/>
              </a:ext>
            </a:extLst>
          </p:cNvPr>
          <p:cNvPicPr>
            <a:picLocks noChangeAspect="1"/>
          </p:cNvPicPr>
          <p:nvPr/>
        </p:nvPicPr>
        <p:blipFill>
          <a:blip r:embed="rId3"/>
          <a:stretch>
            <a:fillRect/>
          </a:stretch>
        </p:blipFill>
        <p:spPr>
          <a:xfrm>
            <a:off x="4932040" y="908720"/>
            <a:ext cx="4030890" cy="3649016"/>
          </a:xfrm>
          <a:prstGeom prst="rect">
            <a:avLst/>
          </a:prstGeom>
        </p:spPr>
      </p:pic>
    </p:spTree>
    <p:extLst>
      <p:ext uri="{BB962C8B-B14F-4D97-AF65-F5344CB8AC3E}">
        <p14:creationId xmlns:p14="http://schemas.microsoft.com/office/powerpoint/2010/main" val="36605551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solidFill>
                  <a:schemeClr val="accent5">
                    <a:lumMod val="40000"/>
                    <a:lumOff val="60000"/>
                  </a:schemeClr>
                </a:solidFill>
              </a:rPr>
              <a:t>Traffic Characteristics</a:t>
            </a:r>
            <a:endParaRPr lang="en-GB" dirty="0"/>
          </a:p>
        </p:txBody>
      </p:sp>
    </p:spTree>
    <p:custDataLst>
      <p:tags r:id="rId1"/>
    </p:custDataLst>
    <p:extLst>
      <p:ext uri="{BB962C8B-B14F-4D97-AF65-F5344CB8AC3E}">
        <p14:creationId xmlns:p14="http://schemas.microsoft.com/office/powerpoint/2010/main" val="777222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692696"/>
            <a:ext cx="8165976" cy="975783"/>
          </a:xfrm>
        </p:spPr>
        <p:txBody>
          <a:bodyPr/>
          <a:lstStyle/>
          <a:p>
            <a:r>
              <a:rPr lang="en-US" dirty="0">
                <a:solidFill>
                  <a:schemeClr val="tx1"/>
                </a:solidFill>
              </a:rPr>
              <a:t>Network Traffic Trends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1700808"/>
            <a:ext cx="7913516" cy="5012148"/>
          </a:xfrm>
        </p:spPr>
        <p:txBody>
          <a:bodyPr/>
          <a:lstStyle/>
          <a:p>
            <a:pPr marL="0" indent="0" algn="l"/>
            <a:r>
              <a:rPr lang="en-US" dirty="0">
                <a:solidFill>
                  <a:srgbClr val="000000"/>
                </a:solidFill>
              </a:rPr>
              <a:t>In the early 2000s, the predominant types of IP traffic were voice and data. </a:t>
            </a:r>
          </a:p>
          <a:p>
            <a:pPr marL="285750" indent="-285750" algn="l">
              <a:buFont typeface="Arial" panose="020B0604020202020204" pitchFamily="34" charset="0"/>
              <a:buChar char="•"/>
            </a:pPr>
            <a:r>
              <a:rPr lang="en-US" sz="1800" dirty="0">
                <a:solidFill>
                  <a:srgbClr val="000000"/>
                </a:solidFill>
              </a:rPr>
              <a:t>Voice traffic has a predictable bandwidth need and known packet arrival times. </a:t>
            </a:r>
          </a:p>
          <a:p>
            <a:pPr marL="285750" indent="-285750" algn="l">
              <a:buFont typeface="Arial" panose="020B0604020202020204" pitchFamily="34" charset="0"/>
              <a:buChar char="•"/>
            </a:pPr>
            <a:r>
              <a:rPr lang="en-US" sz="1800" dirty="0">
                <a:solidFill>
                  <a:srgbClr val="000000"/>
                </a:solidFill>
              </a:rPr>
              <a:t>Data traffic is not real-time and has unpredictable bandwidth need. </a:t>
            </a:r>
          </a:p>
          <a:p>
            <a:pPr marL="285750" indent="-285750" algn="l">
              <a:buFont typeface="Arial" panose="020B0604020202020204" pitchFamily="34" charset="0"/>
              <a:buChar char="•"/>
            </a:pPr>
            <a:r>
              <a:rPr lang="en-US" sz="1800" dirty="0">
                <a:solidFill>
                  <a:srgbClr val="000000"/>
                </a:solidFill>
              </a:rPr>
              <a:t>Data traffic can temporarily burst</a:t>
            </a:r>
          </a:p>
          <a:p>
            <a:pPr marL="0" indent="0" algn="l"/>
            <a:r>
              <a:rPr lang="en-US" dirty="0">
                <a:solidFill>
                  <a:srgbClr val="000000"/>
                </a:solidFill>
              </a:rPr>
              <a:t>For the last 10 years traffic has grown by 30% year on year.</a:t>
            </a:r>
          </a:p>
          <a:p>
            <a:pPr marL="342900" indent="-342900" algn="l">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The type of demands that voice, video, and data traffic place on the network are very different.</a:t>
            </a:r>
          </a:p>
          <a:p>
            <a:pPr marL="342900" indent="-342900" algn="l">
              <a:buFont typeface="Arial" panose="020B0604020202020204" pitchFamily="34" charset="0"/>
              <a:buChar char="•"/>
            </a:pPr>
            <a:r>
              <a:rPr lang="en-GB" i="0" dirty="0">
                <a:solidFill>
                  <a:schemeClr val="tx1"/>
                </a:solidFill>
                <a:effectLst/>
                <a:latin typeface="Arial" panose="020B0604020202020204" pitchFamily="34" charset="0"/>
                <a:cs typeface="Arial" panose="020B0604020202020204" pitchFamily="34" charset="0"/>
              </a:rPr>
              <a:t>Video along with social networking and gaming already accounts for more than 70% of Internet traffic</a:t>
            </a:r>
          </a:p>
          <a:p>
            <a:pPr marL="342900" indent="-342900" algn="l">
              <a:buFont typeface="Arial" panose="020B0604020202020204" pitchFamily="34" charset="0"/>
              <a:buChar char="•"/>
            </a:pPr>
            <a:r>
              <a:rPr lang="en-GB" i="0" dirty="0">
                <a:solidFill>
                  <a:schemeClr val="tx1"/>
                </a:solidFill>
                <a:effectLst/>
                <a:latin typeface="Arial" panose="020B0604020202020204" pitchFamily="34" charset="0"/>
                <a:cs typeface="Arial" panose="020B0604020202020204" pitchFamily="34" charset="0"/>
              </a:rPr>
              <a:t> It will continue to be the main driver of demand, as video resolution increases from SD to HD, 4K and 8K, and consumption grows from HD live sports and social networking</a:t>
            </a:r>
          </a:p>
          <a:p>
            <a:pPr marL="0" indent="0" algn="l"/>
            <a:r>
              <a:rPr lang="en-GB" dirty="0">
                <a:hlinkClick r:id="rId3"/>
              </a:rPr>
              <a:t>Impact of traffic growth on networks and investment needs - Telefónica (telefonica.com)</a:t>
            </a:r>
            <a:endParaRPr lang="en-US" dirty="0">
              <a:solidFill>
                <a:srgbClr val="000000"/>
              </a:solidFill>
            </a:endParaRPr>
          </a:p>
          <a:p>
            <a:pPr marL="0" indent="0" algn="l"/>
            <a:endParaRPr lang="en-US" dirty="0">
              <a:solidFill>
                <a:srgbClr val="000000"/>
              </a:solidFill>
            </a:endParaRPr>
          </a:p>
        </p:txBody>
      </p:sp>
    </p:spTree>
    <p:extLst>
      <p:ext uri="{BB962C8B-B14F-4D97-AF65-F5344CB8AC3E}">
        <p14:creationId xmlns:p14="http://schemas.microsoft.com/office/powerpoint/2010/main" val="10080410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836712"/>
            <a:ext cx="8424863" cy="1143000"/>
          </a:xfrm>
        </p:spPr>
        <p:txBody>
          <a:bodyPr/>
          <a:lstStyle/>
          <a:p>
            <a:r>
              <a:rPr lang="en-US" dirty="0">
                <a:solidFill>
                  <a:schemeClr val="tx1"/>
                </a:solidFill>
              </a:rPr>
              <a:t>Voice</a:t>
            </a:r>
          </a:p>
        </p:txBody>
      </p:sp>
      <p:pic>
        <p:nvPicPr>
          <p:cNvPr id="1026" name="Picture 2" descr="https://learning.oreilly.com/library/view/enterprise-networking-security/9780136634171/graphics/09fig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6914" y="1810544"/>
            <a:ext cx="4695825" cy="419100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5"/>
          <p:cNvSpPr txBox="1">
            <a:spLocks/>
          </p:cNvSpPr>
          <p:nvPr/>
        </p:nvSpPr>
        <p:spPr bwMode="auto">
          <a:xfrm>
            <a:off x="179512" y="1628800"/>
            <a:ext cx="5616624"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0" fontAlgn="base" hangingPunct="0">
              <a:spcBef>
                <a:spcPct val="20000"/>
              </a:spcBef>
              <a:spcAft>
                <a:spcPct val="0"/>
              </a:spcAft>
              <a:buChar char="•"/>
              <a:defRPr sz="3200">
                <a:solidFill>
                  <a:schemeClr val="tx1"/>
                </a:solidFill>
                <a:latin typeface="+mn-lt"/>
                <a:ea typeface="+mn-ea"/>
                <a:cs typeface="+mn-cs"/>
              </a:defRPr>
            </a:lvl1pPr>
            <a:lvl2pPr marL="742913" indent="-285736" algn="l" rtl="0" eaLnBrk="0" fontAlgn="base" hangingPunct="0">
              <a:spcBef>
                <a:spcPct val="20000"/>
              </a:spcBef>
              <a:spcAft>
                <a:spcPct val="0"/>
              </a:spcAft>
              <a:buChar char="–"/>
              <a:defRPr sz="2800">
                <a:solidFill>
                  <a:schemeClr val="tx1"/>
                </a:solidFill>
                <a:latin typeface="+mn-lt"/>
              </a:defRPr>
            </a:lvl2pPr>
            <a:lvl3pPr marL="1142944" indent="-228588" algn="l" rtl="0" eaLnBrk="0" fontAlgn="base" hangingPunct="0">
              <a:spcBef>
                <a:spcPct val="20000"/>
              </a:spcBef>
              <a:spcAft>
                <a:spcPct val="0"/>
              </a:spcAft>
              <a:buChar char="•"/>
              <a:defRPr sz="2400">
                <a:solidFill>
                  <a:schemeClr val="tx1"/>
                </a:solidFill>
                <a:latin typeface="+mn-lt"/>
              </a:defRPr>
            </a:lvl3pPr>
            <a:lvl4pPr marL="1600120" indent="-228588" algn="l" rtl="0" eaLnBrk="0" fontAlgn="base" hangingPunct="0">
              <a:spcBef>
                <a:spcPct val="20000"/>
              </a:spcBef>
              <a:spcAft>
                <a:spcPct val="0"/>
              </a:spcAft>
              <a:buChar char="–"/>
              <a:defRPr sz="2000">
                <a:solidFill>
                  <a:schemeClr val="tx1"/>
                </a:solidFill>
                <a:latin typeface="+mn-lt"/>
              </a:defRPr>
            </a:lvl4pPr>
            <a:lvl5pPr marL="2057297" indent="-228588" algn="l" rtl="0" eaLnBrk="0" fontAlgn="base" hangingPunct="0">
              <a:spcBef>
                <a:spcPct val="20000"/>
              </a:spcBef>
              <a:spcAft>
                <a:spcPct val="0"/>
              </a:spcAft>
              <a:buChar char="»"/>
              <a:defRPr sz="2000">
                <a:solidFill>
                  <a:schemeClr val="tx1"/>
                </a:solidFill>
                <a:latin typeface="+mn-lt"/>
              </a:defRPr>
            </a:lvl5pPr>
            <a:lvl6pPr marL="2514474" indent="-228588" algn="l" rtl="0" fontAlgn="base">
              <a:spcBef>
                <a:spcPct val="20000"/>
              </a:spcBef>
              <a:spcAft>
                <a:spcPct val="0"/>
              </a:spcAft>
              <a:buChar char="»"/>
              <a:defRPr sz="2000">
                <a:solidFill>
                  <a:schemeClr val="tx1"/>
                </a:solidFill>
                <a:latin typeface="+mn-lt"/>
              </a:defRPr>
            </a:lvl6pPr>
            <a:lvl7pPr marL="2971652" indent="-228588" algn="l" rtl="0" fontAlgn="base">
              <a:spcBef>
                <a:spcPct val="20000"/>
              </a:spcBef>
              <a:spcAft>
                <a:spcPct val="0"/>
              </a:spcAft>
              <a:buChar char="»"/>
              <a:defRPr sz="2000">
                <a:solidFill>
                  <a:schemeClr val="tx1"/>
                </a:solidFill>
                <a:latin typeface="+mn-lt"/>
              </a:defRPr>
            </a:lvl7pPr>
            <a:lvl8pPr marL="3428829" indent="-228588" algn="l" rtl="0" fontAlgn="base">
              <a:spcBef>
                <a:spcPct val="20000"/>
              </a:spcBef>
              <a:spcAft>
                <a:spcPct val="0"/>
              </a:spcAft>
              <a:buChar char="»"/>
              <a:defRPr sz="2000">
                <a:solidFill>
                  <a:schemeClr val="tx1"/>
                </a:solidFill>
                <a:latin typeface="+mn-lt"/>
              </a:defRPr>
            </a:lvl8pPr>
            <a:lvl9pPr marL="3886006" indent="-228588" algn="l" rtl="0" fontAlgn="base">
              <a:spcBef>
                <a:spcPct val="20000"/>
              </a:spcBef>
              <a:spcAft>
                <a:spcPct val="0"/>
              </a:spcAft>
              <a:buChar char="»"/>
              <a:defRPr sz="2000">
                <a:solidFill>
                  <a:schemeClr val="tx1"/>
                </a:solidFill>
                <a:latin typeface="+mn-lt"/>
              </a:defRPr>
            </a:lvl9pPr>
          </a:lstStyle>
          <a:p>
            <a:r>
              <a:rPr lang="en-US" sz="2800" kern="0" dirty="0"/>
              <a:t>Voice Traffic Characteristics</a:t>
            </a:r>
          </a:p>
          <a:p>
            <a:pPr lvl="1"/>
            <a:r>
              <a:rPr lang="en-US" sz="2400" kern="0" dirty="0">
                <a:solidFill>
                  <a:srgbClr val="000000"/>
                </a:solidFill>
              </a:rPr>
              <a:t>Smooth – not bursty</a:t>
            </a:r>
          </a:p>
          <a:p>
            <a:pPr lvl="1"/>
            <a:r>
              <a:rPr lang="en-US" sz="2400" kern="0" dirty="0">
                <a:solidFill>
                  <a:srgbClr val="000000"/>
                </a:solidFill>
              </a:rPr>
              <a:t>Benign – not BW greedy</a:t>
            </a:r>
          </a:p>
          <a:p>
            <a:pPr lvl="1"/>
            <a:r>
              <a:rPr lang="en-US" sz="2400" kern="0" dirty="0">
                <a:solidFill>
                  <a:srgbClr val="000000"/>
                </a:solidFill>
              </a:rPr>
              <a:t>Drop sensitive</a:t>
            </a:r>
          </a:p>
          <a:p>
            <a:pPr lvl="1"/>
            <a:r>
              <a:rPr lang="en-US" sz="2400" kern="0" dirty="0">
                <a:solidFill>
                  <a:srgbClr val="000000"/>
                </a:solidFill>
              </a:rPr>
              <a:t>Delay sensitive</a:t>
            </a:r>
          </a:p>
          <a:p>
            <a:pPr lvl="1"/>
            <a:r>
              <a:rPr lang="en-US" sz="2400" kern="0" dirty="0">
                <a:solidFill>
                  <a:srgbClr val="000000"/>
                </a:solidFill>
              </a:rPr>
              <a:t>UDP – have  priority</a:t>
            </a:r>
          </a:p>
          <a:p>
            <a:r>
              <a:rPr lang="en-GB" sz="2800" kern="0" dirty="0"/>
              <a:t>Requirements</a:t>
            </a:r>
          </a:p>
          <a:p>
            <a:pPr lvl="1"/>
            <a:r>
              <a:rPr lang="en-US" sz="2400" kern="0" dirty="0">
                <a:solidFill>
                  <a:srgbClr val="000000"/>
                </a:solidFill>
              </a:rPr>
              <a:t>Latency </a:t>
            </a:r>
            <a:r>
              <a:rPr lang="en-US" sz="2400" u="sng" kern="0" dirty="0">
                <a:solidFill>
                  <a:srgbClr val="000000"/>
                </a:solidFill>
              </a:rPr>
              <a:t>&lt;</a:t>
            </a:r>
            <a:r>
              <a:rPr lang="en-US" sz="2400" kern="0" dirty="0">
                <a:solidFill>
                  <a:srgbClr val="000000"/>
                </a:solidFill>
              </a:rPr>
              <a:t> 150ms</a:t>
            </a:r>
          </a:p>
          <a:p>
            <a:pPr lvl="1"/>
            <a:r>
              <a:rPr lang="en-US" sz="2400" kern="0" dirty="0">
                <a:solidFill>
                  <a:srgbClr val="000000"/>
                </a:solidFill>
              </a:rPr>
              <a:t>Jitter </a:t>
            </a:r>
            <a:r>
              <a:rPr lang="en-US" sz="2400" u="sng" kern="0" dirty="0">
                <a:solidFill>
                  <a:srgbClr val="000000"/>
                </a:solidFill>
              </a:rPr>
              <a:t>&lt;</a:t>
            </a:r>
            <a:r>
              <a:rPr lang="en-US" sz="2400" kern="0" dirty="0">
                <a:solidFill>
                  <a:srgbClr val="000000"/>
                </a:solidFill>
              </a:rPr>
              <a:t> 30ms</a:t>
            </a:r>
          </a:p>
          <a:p>
            <a:pPr lvl="1"/>
            <a:r>
              <a:rPr lang="en-US" sz="2400" kern="0" dirty="0">
                <a:solidFill>
                  <a:srgbClr val="000000"/>
                </a:solidFill>
              </a:rPr>
              <a:t>Loss </a:t>
            </a:r>
            <a:r>
              <a:rPr lang="en-US" sz="2400" u="sng" kern="0" dirty="0">
                <a:solidFill>
                  <a:srgbClr val="000000"/>
                </a:solidFill>
              </a:rPr>
              <a:t>&lt;</a:t>
            </a:r>
            <a:r>
              <a:rPr lang="en-US" sz="2400" kern="0" dirty="0">
                <a:solidFill>
                  <a:srgbClr val="000000"/>
                </a:solidFill>
              </a:rPr>
              <a:t> 1% Bandwidth (30-128 Kbps)</a:t>
            </a:r>
          </a:p>
          <a:p>
            <a:endParaRPr lang="en-GB" sz="2800" kern="0" dirty="0"/>
          </a:p>
        </p:txBody>
      </p:sp>
    </p:spTree>
    <p:extLst>
      <p:ext uri="{BB962C8B-B14F-4D97-AF65-F5344CB8AC3E}">
        <p14:creationId xmlns:p14="http://schemas.microsoft.com/office/powerpoint/2010/main" val="253091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980728"/>
            <a:ext cx="8424863" cy="1143000"/>
          </a:xfrm>
        </p:spPr>
        <p:txBody>
          <a:bodyPr/>
          <a:lstStyle/>
          <a:p>
            <a:r>
              <a:rPr lang="en-US" dirty="0"/>
              <a:t>Video</a:t>
            </a:r>
          </a:p>
        </p:txBody>
      </p:sp>
      <p:sp>
        <p:nvSpPr>
          <p:cNvPr id="2" name="Content Placeholder 1"/>
          <p:cNvSpPr>
            <a:spLocks noGrp="1"/>
          </p:cNvSpPr>
          <p:nvPr>
            <p:ph idx="1"/>
          </p:nvPr>
        </p:nvSpPr>
        <p:spPr>
          <a:xfrm>
            <a:off x="179513" y="1988840"/>
            <a:ext cx="4752528" cy="4321175"/>
          </a:xfrm>
        </p:spPr>
        <p:txBody>
          <a:bodyPr/>
          <a:lstStyle/>
          <a:p>
            <a:r>
              <a:rPr lang="en-GB" sz="2400" dirty="0"/>
              <a:t>Characteristics</a:t>
            </a:r>
          </a:p>
          <a:p>
            <a:pPr lvl="1"/>
            <a:r>
              <a:rPr lang="en-US" sz="2000" dirty="0" err="1">
                <a:solidFill>
                  <a:srgbClr val="000000"/>
                </a:solidFill>
              </a:rPr>
              <a:t>Bursty</a:t>
            </a:r>
            <a:endParaRPr lang="en-US" sz="2000" dirty="0">
              <a:solidFill>
                <a:srgbClr val="000000"/>
              </a:solidFill>
            </a:endParaRPr>
          </a:p>
          <a:p>
            <a:pPr lvl="1"/>
            <a:r>
              <a:rPr lang="en-US" sz="2000" dirty="0">
                <a:solidFill>
                  <a:srgbClr val="000000"/>
                </a:solidFill>
              </a:rPr>
              <a:t>Greedy</a:t>
            </a:r>
          </a:p>
          <a:p>
            <a:pPr lvl="1"/>
            <a:r>
              <a:rPr lang="en-US" sz="2000" dirty="0">
                <a:solidFill>
                  <a:srgbClr val="000000"/>
                </a:solidFill>
              </a:rPr>
              <a:t>Drop sensitive</a:t>
            </a:r>
          </a:p>
          <a:p>
            <a:pPr lvl="1"/>
            <a:r>
              <a:rPr lang="en-US" sz="2000" dirty="0">
                <a:solidFill>
                  <a:srgbClr val="000000"/>
                </a:solidFill>
              </a:rPr>
              <a:t>Delay sensitive</a:t>
            </a:r>
          </a:p>
          <a:p>
            <a:pPr lvl="1"/>
            <a:r>
              <a:rPr lang="en-US" sz="2000" dirty="0">
                <a:solidFill>
                  <a:srgbClr val="000000"/>
                </a:solidFill>
              </a:rPr>
              <a:t>UDP priority</a:t>
            </a:r>
          </a:p>
          <a:p>
            <a:r>
              <a:rPr lang="en-US" sz="2400" dirty="0"/>
              <a:t>One-Way Requirements</a:t>
            </a:r>
          </a:p>
          <a:p>
            <a:pPr lvl="1"/>
            <a:r>
              <a:rPr lang="en-US" sz="2000" dirty="0">
                <a:solidFill>
                  <a:srgbClr val="000000"/>
                </a:solidFill>
              </a:rPr>
              <a:t>Latency </a:t>
            </a:r>
            <a:r>
              <a:rPr lang="en-US" sz="2000" u="sng" dirty="0">
                <a:solidFill>
                  <a:srgbClr val="000000"/>
                </a:solidFill>
              </a:rPr>
              <a:t>&lt;</a:t>
            </a:r>
            <a:r>
              <a:rPr lang="en-US" sz="2000" dirty="0">
                <a:solidFill>
                  <a:srgbClr val="000000"/>
                </a:solidFill>
              </a:rPr>
              <a:t> 200-400 </a:t>
            </a:r>
            <a:r>
              <a:rPr lang="en-US" sz="2000" dirty="0" err="1">
                <a:solidFill>
                  <a:srgbClr val="000000"/>
                </a:solidFill>
              </a:rPr>
              <a:t>ms</a:t>
            </a:r>
            <a:endParaRPr lang="en-US" sz="2000" dirty="0">
              <a:solidFill>
                <a:srgbClr val="000000"/>
              </a:solidFill>
            </a:endParaRPr>
          </a:p>
          <a:p>
            <a:pPr lvl="1"/>
            <a:r>
              <a:rPr lang="en-US" sz="2000" dirty="0">
                <a:solidFill>
                  <a:srgbClr val="000000"/>
                </a:solidFill>
              </a:rPr>
              <a:t>Jitter </a:t>
            </a:r>
            <a:r>
              <a:rPr lang="en-US" sz="2000" u="sng" dirty="0">
                <a:solidFill>
                  <a:srgbClr val="000000"/>
                </a:solidFill>
              </a:rPr>
              <a:t>&lt;</a:t>
            </a:r>
            <a:r>
              <a:rPr lang="en-US" sz="2000" dirty="0">
                <a:solidFill>
                  <a:srgbClr val="000000"/>
                </a:solidFill>
              </a:rPr>
              <a:t> 30-50 </a:t>
            </a:r>
            <a:r>
              <a:rPr lang="en-US" sz="2000" dirty="0" err="1">
                <a:solidFill>
                  <a:srgbClr val="000000"/>
                </a:solidFill>
              </a:rPr>
              <a:t>ms</a:t>
            </a:r>
            <a:endParaRPr lang="en-US" sz="2000" dirty="0">
              <a:solidFill>
                <a:srgbClr val="000000"/>
              </a:solidFill>
            </a:endParaRPr>
          </a:p>
          <a:p>
            <a:pPr lvl="1"/>
            <a:r>
              <a:rPr lang="en-US" sz="2000" dirty="0">
                <a:solidFill>
                  <a:srgbClr val="000000"/>
                </a:solidFill>
              </a:rPr>
              <a:t>Loss </a:t>
            </a:r>
            <a:r>
              <a:rPr lang="en-US" sz="2000" u="sng" dirty="0">
                <a:solidFill>
                  <a:srgbClr val="000000"/>
                </a:solidFill>
              </a:rPr>
              <a:t>&lt;</a:t>
            </a:r>
            <a:r>
              <a:rPr lang="en-US" sz="2000" dirty="0">
                <a:solidFill>
                  <a:srgbClr val="000000"/>
                </a:solidFill>
              </a:rPr>
              <a:t> 0.1 – 1%</a:t>
            </a:r>
          </a:p>
          <a:p>
            <a:pPr lvl="1"/>
            <a:r>
              <a:rPr lang="en-US" sz="2000" dirty="0">
                <a:solidFill>
                  <a:srgbClr val="000000"/>
                </a:solidFill>
              </a:rPr>
              <a:t>Bandwidth (384 Kbps - 20 Mbps)</a:t>
            </a:r>
          </a:p>
          <a:p>
            <a:pPr marL="571479" lvl="1" indent="-171450">
              <a:buFont typeface="Arial" panose="020B0604020202020204" pitchFamily="34" charset="0"/>
              <a:buChar char="•"/>
            </a:pPr>
            <a:endParaRPr lang="en-US" sz="2400" dirty="0">
              <a:solidFill>
                <a:srgbClr val="000000"/>
              </a:solidFill>
            </a:endParaRPr>
          </a:p>
          <a:p>
            <a:endParaRPr lang="en-GB" sz="2400" dirty="0"/>
          </a:p>
        </p:txBody>
      </p:sp>
      <p:pic>
        <p:nvPicPr>
          <p:cNvPr id="2052" name="Picture 4" descr="https://learning.oreilly.com/library/view/enterprise-networking-security/9780136634171/graphics/09fig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748" y="1052737"/>
            <a:ext cx="4844724" cy="4587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7399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908720"/>
            <a:ext cx="8424863" cy="1143000"/>
          </a:xfrm>
        </p:spPr>
        <p:txBody>
          <a:bodyPr/>
          <a:lstStyle/>
          <a:p>
            <a:r>
              <a:rPr lang="en-US" dirty="0">
                <a:solidFill>
                  <a:schemeClr val="tx1"/>
                </a:solidFill>
              </a:rPr>
              <a:t>Data</a:t>
            </a:r>
          </a:p>
        </p:txBody>
      </p:sp>
      <p:sp>
        <p:nvSpPr>
          <p:cNvPr id="2" name="Content Placeholder 1"/>
          <p:cNvSpPr>
            <a:spLocks noGrp="1"/>
          </p:cNvSpPr>
          <p:nvPr>
            <p:ph idx="1"/>
          </p:nvPr>
        </p:nvSpPr>
        <p:spPr>
          <a:xfrm>
            <a:off x="251520" y="1916832"/>
            <a:ext cx="8424863" cy="4321175"/>
          </a:xfrm>
        </p:spPr>
        <p:txBody>
          <a:bodyPr/>
          <a:lstStyle/>
          <a:p>
            <a:pPr marL="0" indent="0"/>
            <a:r>
              <a:rPr lang="en-US" sz="2400" dirty="0">
                <a:solidFill>
                  <a:srgbClr val="000000"/>
                </a:solidFill>
              </a:rPr>
              <a:t>Data applications that have no tolerance for data loss, such as email and web pages, we use TCP to ensure that if packets are lost in transit, they will be resent.</a:t>
            </a:r>
          </a:p>
          <a:p>
            <a:pPr marL="285750" indent="-285750">
              <a:buFont typeface="Arial" panose="020B0604020202020204" pitchFamily="34" charset="0"/>
              <a:buChar char="•"/>
            </a:pPr>
            <a:r>
              <a:rPr lang="en-US" sz="2000" dirty="0">
                <a:solidFill>
                  <a:srgbClr val="000000"/>
                </a:solidFill>
              </a:rPr>
              <a:t>Data traffic can be smooth or </a:t>
            </a:r>
            <a:r>
              <a:rPr lang="en-US" sz="2000" dirty="0" err="1">
                <a:solidFill>
                  <a:srgbClr val="000000"/>
                </a:solidFill>
              </a:rPr>
              <a:t>bursty</a:t>
            </a:r>
            <a:r>
              <a:rPr lang="en-US" sz="2000" dirty="0">
                <a:solidFill>
                  <a:srgbClr val="000000"/>
                </a:solidFill>
              </a:rPr>
              <a:t>. </a:t>
            </a:r>
          </a:p>
          <a:p>
            <a:pPr marL="285750" indent="-285750">
              <a:buFont typeface="Arial" panose="020B0604020202020204" pitchFamily="34" charset="0"/>
              <a:buChar char="•"/>
            </a:pPr>
            <a:r>
              <a:rPr lang="en-US" sz="2000" dirty="0">
                <a:solidFill>
                  <a:srgbClr val="000000"/>
                </a:solidFill>
              </a:rPr>
              <a:t>Network control traffic is usually smooth and predictable – except in a change in a network (link adverts)</a:t>
            </a:r>
          </a:p>
          <a:p>
            <a:pPr marL="0" indent="0"/>
            <a:r>
              <a:rPr lang="en-US" sz="2400" dirty="0">
                <a:solidFill>
                  <a:srgbClr val="000000"/>
                </a:solidFill>
              </a:rPr>
              <a:t>Some TCP applications can consume a large portion of network capacity. </a:t>
            </a:r>
          </a:p>
          <a:p>
            <a:endParaRPr lang="en-GB" sz="2400" dirty="0"/>
          </a:p>
        </p:txBody>
      </p:sp>
      <p:sp>
        <p:nvSpPr>
          <p:cNvPr id="5" name="Rectangle 4"/>
          <p:cNvSpPr/>
          <p:nvPr/>
        </p:nvSpPr>
        <p:spPr>
          <a:xfrm>
            <a:off x="323528" y="4712033"/>
            <a:ext cx="7920880" cy="2000548"/>
          </a:xfrm>
          <a:prstGeom prst="rect">
            <a:avLst/>
          </a:prstGeom>
        </p:spPr>
        <p:txBody>
          <a:bodyPr wrap="square">
            <a:spAutoFit/>
          </a:bodyPr>
          <a:lstStyle/>
          <a:p>
            <a:pPr marL="342900" indent="-342900">
              <a:buFont typeface="Arial" panose="020B0604020202020204" pitchFamily="34" charset="0"/>
              <a:buChar char="•"/>
            </a:pPr>
            <a:r>
              <a:rPr lang="en-GB" sz="2400" dirty="0">
                <a:latin typeface="+mn-lt"/>
              </a:rPr>
              <a:t>Characteristics</a:t>
            </a:r>
          </a:p>
          <a:p>
            <a:pPr marL="800100" lvl="1" indent="-342900">
              <a:buFont typeface="Arial" panose="020B0604020202020204" pitchFamily="34" charset="0"/>
              <a:buChar char="•"/>
            </a:pPr>
            <a:r>
              <a:rPr lang="en-GB" sz="2000" dirty="0">
                <a:latin typeface="+mn-lt"/>
              </a:rPr>
              <a:t>Smooth/</a:t>
            </a:r>
            <a:r>
              <a:rPr lang="en-GB" sz="2000" dirty="0" err="1">
                <a:latin typeface="+mn-lt"/>
              </a:rPr>
              <a:t>bursty</a:t>
            </a:r>
            <a:endParaRPr lang="en-GB" sz="2000" dirty="0">
              <a:latin typeface="+mn-lt"/>
            </a:endParaRPr>
          </a:p>
          <a:p>
            <a:pPr marL="800100" lvl="1" indent="-342900">
              <a:buFont typeface="Arial" panose="020B0604020202020204" pitchFamily="34" charset="0"/>
              <a:buChar char="•"/>
            </a:pPr>
            <a:r>
              <a:rPr lang="en-GB" sz="2000" dirty="0">
                <a:latin typeface="+mn-lt"/>
              </a:rPr>
              <a:t>Benign/greedy (ftp can consume large amounts of BW)</a:t>
            </a:r>
          </a:p>
          <a:p>
            <a:pPr marL="800100" lvl="1" indent="-342900">
              <a:buFont typeface="Arial" panose="020B0604020202020204" pitchFamily="34" charset="0"/>
              <a:buChar char="•"/>
            </a:pPr>
            <a:r>
              <a:rPr lang="en-GB" sz="2000" dirty="0">
                <a:latin typeface="+mn-lt"/>
              </a:rPr>
              <a:t>Drop insensitive</a:t>
            </a:r>
          </a:p>
          <a:p>
            <a:pPr marL="800100" lvl="1" indent="-342900">
              <a:buFont typeface="Arial" panose="020B0604020202020204" pitchFamily="34" charset="0"/>
              <a:buChar char="•"/>
            </a:pPr>
            <a:r>
              <a:rPr lang="en-GB" sz="2000" dirty="0">
                <a:latin typeface="+mn-lt"/>
              </a:rPr>
              <a:t>Delay insensitive</a:t>
            </a:r>
          </a:p>
          <a:p>
            <a:pPr marL="800100" lvl="1" indent="-342900">
              <a:buFont typeface="Arial" panose="020B0604020202020204" pitchFamily="34" charset="0"/>
              <a:buChar char="•"/>
            </a:pPr>
            <a:r>
              <a:rPr lang="en-GB" sz="2000" dirty="0">
                <a:latin typeface="+mn-lt"/>
              </a:rPr>
              <a:t>TCP retransmits</a:t>
            </a:r>
          </a:p>
        </p:txBody>
      </p:sp>
    </p:spTree>
    <p:extLst>
      <p:ext uri="{BB962C8B-B14F-4D97-AF65-F5344CB8AC3E}">
        <p14:creationId xmlns:p14="http://schemas.microsoft.com/office/powerpoint/2010/main" val="3006467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836712"/>
            <a:ext cx="8345488" cy="975783"/>
          </a:xfrm>
        </p:spPr>
        <p:txBody>
          <a:bodyPr/>
          <a:lstStyle/>
          <a:p>
            <a:r>
              <a:rPr lang="en-US" dirty="0">
                <a:solidFill>
                  <a:schemeClr val="tx1"/>
                </a:solidFill>
              </a:rPr>
              <a:t>Data </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520" y="1772816"/>
            <a:ext cx="7913516" cy="1725189"/>
          </a:xfrm>
        </p:spPr>
        <p:txBody>
          <a:bodyPr/>
          <a:lstStyle/>
          <a:p>
            <a:pPr marL="0" indent="0" algn="l"/>
            <a:r>
              <a:rPr lang="en-US" sz="1600" dirty="0">
                <a:solidFill>
                  <a:srgbClr val="000000"/>
                </a:solidFill>
              </a:rPr>
              <a:t>Data traffic is relatively insensitive to drops and delays compared to voice and video. Quality of Experience or </a:t>
            </a:r>
            <a:r>
              <a:rPr lang="en-US" sz="1600" dirty="0" err="1">
                <a:solidFill>
                  <a:srgbClr val="000000"/>
                </a:solidFill>
              </a:rPr>
              <a:t>QoE</a:t>
            </a:r>
            <a:r>
              <a:rPr lang="en-US" sz="1600" dirty="0">
                <a:solidFill>
                  <a:srgbClr val="000000"/>
                </a:solidFill>
              </a:rPr>
              <a:t> is important to consider with data traffic.</a:t>
            </a:r>
          </a:p>
          <a:p>
            <a:pPr marL="285750" indent="-285750" algn="l">
              <a:buFont typeface="Arial" panose="020B0604020202020204" pitchFamily="34" charset="0"/>
              <a:buChar char="•"/>
            </a:pPr>
            <a:r>
              <a:rPr lang="en-US" sz="1600" dirty="0">
                <a:solidFill>
                  <a:srgbClr val="000000"/>
                </a:solidFill>
              </a:rPr>
              <a:t>Does the data come from an interactive application?</a:t>
            </a:r>
          </a:p>
          <a:p>
            <a:pPr marL="285750" indent="-285750" algn="l">
              <a:buFont typeface="Arial" panose="020B0604020202020204" pitchFamily="34" charset="0"/>
              <a:buChar char="•"/>
            </a:pPr>
            <a:r>
              <a:rPr lang="en-US" sz="1600" dirty="0">
                <a:solidFill>
                  <a:srgbClr val="000000"/>
                </a:solidFill>
              </a:rPr>
              <a:t>Is the data mission critical?</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2C02D9A9-C94F-4801-811B-94DF0B733E93}"/>
              </a:ext>
            </a:extLst>
          </p:cNvPr>
          <p:cNvGraphicFramePr>
            <a:graphicFrameLocks/>
          </p:cNvGraphicFramePr>
          <p:nvPr>
            <p:extLst>
              <p:ext uri="{D42A27DB-BD31-4B8C-83A1-F6EECF244321}">
                <p14:modId xmlns:p14="http://schemas.microsoft.com/office/powerpoint/2010/main" val="555432513"/>
              </p:ext>
            </p:extLst>
          </p:nvPr>
        </p:nvGraphicFramePr>
        <p:xfrm>
          <a:off x="508439" y="3657602"/>
          <a:ext cx="8280399" cy="2201333"/>
        </p:xfrm>
        <a:graphic>
          <a:graphicData uri="http://schemas.openxmlformats.org/drawingml/2006/table">
            <a:tbl>
              <a:tblPr firstRow="1" bandRow="1">
                <a:tableStyleId>{F5AB1C69-6EDB-4FF4-983F-18BD219EF322}</a:tableStyleId>
              </a:tblPr>
              <a:tblGrid>
                <a:gridCol w="1573025">
                  <a:extLst>
                    <a:ext uri="{9D8B030D-6E8A-4147-A177-3AD203B41FA5}">
                      <a16:colId xmlns:a16="http://schemas.microsoft.com/office/drawing/2014/main" val="3729139006"/>
                    </a:ext>
                  </a:extLst>
                </a:gridCol>
                <a:gridCol w="3373623">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494453">
                <a:tc>
                  <a:txBody>
                    <a:bodyPr/>
                    <a:lstStyle/>
                    <a:p>
                      <a:r>
                        <a:rPr lang="en-US" sz="1600" dirty="0">
                          <a:solidFill>
                            <a:schemeClr val="tx1"/>
                          </a:solidFill>
                        </a:rPr>
                        <a:t>Factor</a:t>
                      </a:r>
                    </a:p>
                  </a:txBody>
                  <a:tcPr marT="60960" marB="60960"/>
                </a:tc>
                <a:tc>
                  <a:txBody>
                    <a:bodyPr/>
                    <a:lstStyle/>
                    <a:p>
                      <a:r>
                        <a:rPr lang="en-US" sz="1600" dirty="0">
                          <a:solidFill>
                            <a:schemeClr val="tx1"/>
                          </a:solidFill>
                        </a:rPr>
                        <a:t>Mission Critical</a:t>
                      </a:r>
                    </a:p>
                  </a:txBody>
                  <a:tcPr marT="60960" marB="60960"/>
                </a:tc>
                <a:tc>
                  <a:txBody>
                    <a:bodyPr/>
                    <a:lstStyle/>
                    <a:p>
                      <a:r>
                        <a:rPr lang="en-US" sz="1600" dirty="0">
                          <a:solidFill>
                            <a:schemeClr val="tx1"/>
                          </a:solidFill>
                        </a:rPr>
                        <a:t>Not Mission  Critical</a:t>
                      </a:r>
                    </a:p>
                  </a:txBody>
                  <a:tcPr marT="60960" marB="60960"/>
                </a:tc>
                <a:extLst>
                  <a:ext uri="{0D108BD9-81ED-4DB2-BD59-A6C34878D82A}">
                    <a16:rowId xmlns:a16="http://schemas.microsoft.com/office/drawing/2014/main" val="2583676789"/>
                  </a:ext>
                </a:extLst>
              </a:tr>
              <a:tr h="609600">
                <a:tc>
                  <a:txBody>
                    <a:bodyPr/>
                    <a:lstStyle/>
                    <a:p>
                      <a:r>
                        <a:rPr lang="en-US" sz="1600" dirty="0">
                          <a:solidFill>
                            <a:schemeClr val="tx1"/>
                          </a:solidFill>
                        </a:rPr>
                        <a:t>Interactive</a:t>
                      </a:r>
                      <a:endParaRPr lang="en-US" sz="1600" b="1" dirty="0">
                        <a:solidFill>
                          <a:schemeClr val="tx1"/>
                        </a:solidFill>
                      </a:endParaRPr>
                    </a:p>
                  </a:txBody>
                  <a:tcPr marT="60960" marB="60960"/>
                </a:tc>
                <a:tc>
                  <a:txBody>
                    <a:bodyPr/>
                    <a:lstStyle/>
                    <a:p>
                      <a:r>
                        <a:rPr lang="en-US" sz="1600" dirty="0">
                          <a:solidFill>
                            <a:schemeClr val="tx1"/>
                          </a:solidFill>
                        </a:rPr>
                        <a:t>Prioritize for the lowest delay of all data traffic and strive for a 1 to 2 second response time.</a:t>
                      </a:r>
                    </a:p>
                  </a:txBody>
                  <a:tcPr marT="60960" marB="60960"/>
                </a:tc>
                <a:tc>
                  <a:txBody>
                    <a:bodyPr/>
                    <a:lstStyle/>
                    <a:p>
                      <a:r>
                        <a:rPr lang="en-US" sz="1600" dirty="0">
                          <a:solidFill>
                            <a:schemeClr val="tx1"/>
                          </a:solidFill>
                        </a:rPr>
                        <a:t>Applications could benefit from lower delay.</a:t>
                      </a:r>
                    </a:p>
                  </a:txBody>
                  <a:tcPr marT="60960" marB="60960"/>
                </a:tc>
                <a:extLst>
                  <a:ext uri="{0D108BD9-81ED-4DB2-BD59-A6C34878D82A}">
                    <a16:rowId xmlns:a16="http://schemas.microsoft.com/office/drawing/2014/main" val="3849654457"/>
                  </a:ext>
                </a:extLst>
              </a:tr>
              <a:tr h="853440">
                <a:tc>
                  <a:txBody>
                    <a:bodyPr/>
                    <a:lstStyle/>
                    <a:p>
                      <a:r>
                        <a:rPr lang="en-US" sz="1600" dirty="0">
                          <a:solidFill>
                            <a:schemeClr val="tx1"/>
                          </a:solidFill>
                        </a:rPr>
                        <a:t>Not interactive</a:t>
                      </a:r>
                      <a:endParaRPr lang="en-US" sz="1600" b="1" dirty="0">
                        <a:solidFill>
                          <a:schemeClr val="tx1"/>
                        </a:solidFill>
                      </a:endParaRPr>
                    </a:p>
                  </a:txBody>
                  <a:tcPr marT="60960" marB="60960"/>
                </a:tc>
                <a:tc>
                  <a:txBody>
                    <a:bodyPr/>
                    <a:lstStyle/>
                    <a:p>
                      <a:r>
                        <a:rPr lang="en-US" sz="1600" dirty="0">
                          <a:solidFill>
                            <a:schemeClr val="tx1"/>
                          </a:solidFill>
                        </a:rPr>
                        <a:t>Delay can vary greatly as long as the necessary minimum bandwidth is supplied.</a:t>
                      </a:r>
                    </a:p>
                  </a:txBody>
                  <a:tcPr marT="60960" marB="60960"/>
                </a:tc>
                <a:tc>
                  <a:txBody>
                    <a:bodyPr/>
                    <a:lstStyle/>
                    <a:p>
                      <a:r>
                        <a:rPr lang="en-US" sz="1600" dirty="0">
                          <a:solidFill>
                            <a:schemeClr val="tx1"/>
                          </a:solidFill>
                        </a:rPr>
                        <a:t>Gets any leftover bandwidth after all voice, video, and other data application needs are met.</a:t>
                      </a:r>
                    </a:p>
                  </a:txBody>
                  <a:tcPr marT="60960" marB="60960"/>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273783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solidFill>
                  <a:schemeClr val="accent5">
                    <a:lumMod val="40000"/>
                    <a:lumOff val="60000"/>
                  </a:schemeClr>
                </a:solidFill>
              </a:rPr>
              <a:t>Queuing Algorithms</a:t>
            </a:r>
          </a:p>
          <a:p>
            <a:endParaRPr lang="en-GB" dirty="0"/>
          </a:p>
        </p:txBody>
      </p:sp>
    </p:spTree>
    <p:custDataLst>
      <p:tags r:id="rId1"/>
    </p:custDataLst>
    <p:extLst>
      <p:ext uri="{BB962C8B-B14F-4D97-AF65-F5344CB8AC3E}">
        <p14:creationId xmlns:p14="http://schemas.microsoft.com/office/powerpoint/2010/main" val="3356927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57968" y="764704"/>
            <a:ext cx="8345488" cy="975783"/>
          </a:xfrm>
        </p:spPr>
        <p:txBody>
          <a:bodyPr/>
          <a:lstStyle/>
          <a:p>
            <a:r>
              <a:rPr lang="en-US" dirty="0">
                <a:solidFill>
                  <a:schemeClr val="tx1"/>
                </a:solidFill>
              </a:rPr>
              <a:t>First in First Out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73954" y="1700808"/>
            <a:ext cx="8158486" cy="2376264"/>
          </a:xfrm>
        </p:spPr>
        <p:txBody>
          <a:bodyPr/>
          <a:lstStyle/>
          <a:p>
            <a:pPr marL="285750" indent="-285750" algn="l">
              <a:buFont typeface="Arial" panose="020B0604020202020204" pitchFamily="34" charset="0"/>
              <a:buChar char="•"/>
            </a:pPr>
            <a:r>
              <a:rPr lang="en-US" dirty="0">
                <a:solidFill>
                  <a:srgbClr val="000000"/>
                </a:solidFill>
              </a:rPr>
              <a:t>First In First Out (FIFO) queuing buffers and forwards packets in the order of their arrival.</a:t>
            </a:r>
          </a:p>
          <a:p>
            <a:pPr marL="285750" indent="-285750" algn="l">
              <a:buFont typeface="Arial" panose="020B0604020202020204" pitchFamily="34" charset="0"/>
              <a:buChar char="•"/>
            </a:pPr>
            <a:r>
              <a:rPr lang="en-US" dirty="0">
                <a:solidFill>
                  <a:srgbClr val="000000"/>
                </a:solidFill>
              </a:rPr>
              <a:t>FIFO has no concept of priority or classes of traffic and consequently, makes no decision about packet priority.</a:t>
            </a:r>
          </a:p>
          <a:p>
            <a:pPr marL="358835" lvl="1" indent="-285750">
              <a:buFont typeface="Arial" panose="020B0604020202020204" pitchFamily="34" charset="0"/>
              <a:buChar char="•"/>
            </a:pPr>
            <a:r>
              <a:rPr lang="en-US" sz="2000" dirty="0">
                <a:solidFill>
                  <a:srgbClr val="000000"/>
                </a:solidFill>
              </a:rPr>
              <a:t>There is only one queue, and all packets are treated equally. </a:t>
            </a:r>
          </a:p>
          <a:p>
            <a:pPr marL="358835" lvl="1" indent="-285750">
              <a:buFont typeface="Arial" panose="020B0604020202020204" pitchFamily="34" charset="0"/>
              <a:buChar char="•"/>
            </a:pPr>
            <a:r>
              <a:rPr lang="en-US" sz="2000" dirty="0">
                <a:solidFill>
                  <a:srgbClr val="000000"/>
                </a:solidFill>
              </a:rPr>
              <a:t>Packets are sent out an interface in the order in which they arrive.</a:t>
            </a:r>
          </a:p>
        </p:txBody>
      </p:sp>
      <p:pic>
        <p:nvPicPr>
          <p:cNvPr id="2" name="Picture 1">
            <a:extLst>
              <a:ext uri="{FF2B5EF4-FFF2-40B4-BE49-F238E27FC236}">
                <a16:creationId xmlns:a16="http://schemas.microsoft.com/office/drawing/2014/main" id="{CB081BAF-76FA-4992-A3FF-D3567E53A9ED}"/>
              </a:ext>
            </a:extLst>
          </p:cNvPr>
          <p:cNvPicPr>
            <a:picLocks noChangeAspect="1"/>
          </p:cNvPicPr>
          <p:nvPr/>
        </p:nvPicPr>
        <p:blipFill>
          <a:blip r:embed="rId3"/>
          <a:stretch>
            <a:fillRect/>
          </a:stretch>
        </p:blipFill>
        <p:spPr>
          <a:xfrm>
            <a:off x="539552" y="3991903"/>
            <a:ext cx="5475193" cy="2860547"/>
          </a:xfrm>
          <a:prstGeom prst="rect">
            <a:avLst/>
          </a:prstGeom>
        </p:spPr>
      </p:pic>
      <p:sp>
        <p:nvSpPr>
          <p:cNvPr id="5" name="TextBox 4">
            <a:extLst>
              <a:ext uri="{FF2B5EF4-FFF2-40B4-BE49-F238E27FC236}">
                <a16:creationId xmlns:a16="http://schemas.microsoft.com/office/drawing/2014/main" id="{FE746EF9-7193-9F96-E5A9-5E335B513626}"/>
              </a:ext>
            </a:extLst>
          </p:cNvPr>
          <p:cNvSpPr txBox="1"/>
          <p:nvPr/>
        </p:nvSpPr>
        <p:spPr>
          <a:xfrm>
            <a:off x="6516216" y="4293096"/>
            <a:ext cx="2016224" cy="2031325"/>
          </a:xfrm>
          <a:prstGeom prst="rect">
            <a:avLst/>
          </a:prstGeom>
          <a:noFill/>
        </p:spPr>
        <p:txBody>
          <a:bodyPr wrap="square" rtlCol="0">
            <a:spAutoFit/>
          </a:bodyPr>
          <a:lstStyle/>
          <a:p>
            <a:r>
              <a:rPr lang="en-GB" dirty="0"/>
              <a:t>Traffic may be dropped when congestion happens – no consideration for important traffic (VOIP)</a:t>
            </a:r>
          </a:p>
        </p:txBody>
      </p:sp>
    </p:spTree>
    <p:extLst>
      <p:ext uri="{BB962C8B-B14F-4D97-AF65-F5344CB8AC3E}">
        <p14:creationId xmlns:p14="http://schemas.microsoft.com/office/powerpoint/2010/main" val="3313181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4944" y="725025"/>
            <a:ext cx="8345488" cy="975783"/>
          </a:xfrm>
        </p:spPr>
        <p:txBody>
          <a:bodyPr/>
          <a:lstStyle/>
          <a:p>
            <a:r>
              <a:rPr lang="en-US" dirty="0">
                <a:solidFill>
                  <a:schemeClr val="tx1"/>
                </a:solidFill>
              </a:rPr>
              <a:t>Weighted Fair Queuing (WFQ)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7543" y="1556793"/>
            <a:ext cx="8392263" cy="2664295"/>
          </a:xfrm>
        </p:spPr>
        <p:txBody>
          <a:bodyPr/>
          <a:lstStyle/>
          <a:p>
            <a:pPr marL="0" indent="0" algn="l"/>
            <a:r>
              <a:rPr lang="en-US" dirty="0">
                <a:solidFill>
                  <a:srgbClr val="000000"/>
                </a:solidFill>
              </a:rPr>
              <a:t>Provides fair bandwidth allocation to all network traffic. </a:t>
            </a:r>
          </a:p>
          <a:p>
            <a:pPr marL="285750" indent="-285750" algn="l">
              <a:buFont typeface="Arial" panose="020B0604020202020204" pitchFamily="34" charset="0"/>
              <a:buChar char="•"/>
            </a:pPr>
            <a:r>
              <a:rPr lang="en-US" dirty="0">
                <a:solidFill>
                  <a:srgbClr val="000000"/>
                </a:solidFill>
              </a:rPr>
              <a:t>WFQ applies priority to identified traffic, </a:t>
            </a:r>
            <a:r>
              <a:rPr lang="en-US" dirty="0">
                <a:solidFill>
                  <a:srgbClr val="FF0000"/>
                </a:solidFill>
              </a:rPr>
              <a:t>automatically</a:t>
            </a:r>
            <a:r>
              <a:rPr lang="en-US" dirty="0">
                <a:solidFill>
                  <a:srgbClr val="000000"/>
                </a:solidFill>
              </a:rPr>
              <a:t> classifies it into conversations or flows, and then determines how much bandwidth each flow is allowed relative to other flows.</a:t>
            </a:r>
          </a:p>
          <a:p>
            <a:pPr marL="285750" indent="-285750" algn="l">
              <a:buFont typeface="Arial" panose="020B0604020202020204" pitchFamily="34" charset="0"/>
              <a:buChar char="•"/>
            </a:pPr>
            <a:r>
              <a:rPr lang="en-GB" b="0" i="0" dirty="0">
                <a:solidFill>
                  <a:schemeClr val="tx1"/>
                </a:solidFill>
                <a:effectLst/>
              </a:rPr>
              <a:t>For example, we might assign bandwidth percentages of 10%, 30% and 60% to three different departments.</a:t>
            </a:r>
            <a:endParaRPr lang="en-US" dirty="0">
              <a:solidFill>
                <a:schemeClr val="tx1"/>
              </a:solidFill>
            </a:endParaRPr>
          </a:p>
          <a:p>
            <a:pPr marL="285750" indent="-285750" algn="l">
              <a:buFont typeface="Arial" panose="020B0604020202020204" pitchFamily="34" charset="0"/>
              <a:buChar char="•"/>
            </a:pPr>
            <a:endParaRPr lang="en-US" dirty="0">
              <a:solidFill>
                <a:srgbClr val="000000"/>
              </a:solidFill>
            </a:endParaRPr>
          </a:p>
        </p:txBody>
      </p:sp>
      <p:pic>
        <p:nvPicPr>
          <p:cNvPr id="5" name="Picture 4">
            <a:extLst>
              <a:ext uri="{FF2B5EF4-FFF2-40B4-BE49-F238E27FC236}">
                <a16:creationId xmlns:a16="http://schemas.microsoft.com/office/drawing/2014/main" id="{A73777F7-7346-4E18-806F-0CAE40BBA42F}"/>
              </a:ext>
            </a:extLst>
          </p:cNvPr>
          <p:cNvPicPr>
            <a:picLocks noChangeAspect="1"/>
          </p:cNvPicPr>
          <p:nvPr/>
        </p:nvPicPr>
        <p:blipFill>
          <a:blip r:embed="rId3"/>
          <a:stretch>
            <a:fillRect/>
          </a:stretch>
        </p:blipFill>
        <p:spPr>
          <a:xfrm>
            <a:off x="4287808" y="3645024"/>
            <a:ext cx="4572000" cy="3211042"/>
          </a:xfrm>
          <a:prstGeom prst="rect">
            <a:avLst/>
          </a:prstGeom>
        </p:spPr>
      </p:pic>
      <p:sp>
        <p:nvSpPr>
          <p:cNvPr id="2" name="Rectangle 1"/>
          <p:cNvSpPr/>
          <p:nvPr/>
        </p:nvSpPr>
        <p:spPr>
          <a:xfrm>
            <a:off x="91674" y="4037193"/>
            <a:ext cx="4572000" cy="2031325"/>
          </a:xfrm>
          <a:prstGeom prst="rect">
            <a:avLst/>
          </a:prstGeom>
        </p:spPr>
        <p:txBody>
          <a:bodyPr>
            <a:spAutoFit/>
          </a:bodyPr>
          <a:lstStyle/>
          <a:p>
            <a:pPr marL="285750" indent="-285750">
              <a:buFont typeface="Arial" panose="020B0604020202020204" pitchFamily="34" charset="0"/>
              <a:buChar char="•"/>
            </a:pPr>
            <a:r>
              <a:rPr lang="en-US" dirty="0">
                <a:solidFill>
                  <a:srgbClr val="000000"/>
                </a:solidFill>
              </a:rPr>
              <a:t>Classification can be based on source and destination IP addresses, MAC addresses, port numbers, protocol, and Type of Service (</a:t>
            </a:r>
            <a:r>
              <a:rPr lang="en-US" dirty="0" err="1">
                <a:solidFill>
                  <a:srgbClr val="000000"/>
                </a:solidFill>
              </a:rPr>
              <a:t>ToS</a:t>
            </a:r>
            <a:r>
              <a:rPr lang="en-US" dirty="0">
                <a:solidFill>
                  <a:srgbClr val="000000"/>
                </a:solidFill>
              </a:rPr>
              <a:t>) value.</a:t>
            </a:r>
          </a:p>
          <a:p>
            <a:pPr marL="285750" indent="-285750">
              <a:buFont typeface="Arial" panose="020B0604020202020204" pitchFamily="34" charset="0"/>
              <a:buChar char="•"/>
            </a:pPr>
            <a:r>
              <a:rPr lang="en-US" dirty="0">
                <a:solidFill>
                  <a:srgbClr val="000000"/>
                </a:solidFill>
              </a:rPr>
              <a:t>WFQ is not supported with tunneling and encryption</a:t>
            </a:r>
          </a:p>
          <a:p>
            <a:pPr marL="285750" indent="-285750">
              <a:buFont typeface="Arial" panose="020B0604020202020204" pitchFamily="34" charset="0"/>
              <a:buChar char="•"/>
            </a:pPr>
            <a:endParaRPr lang="en-US" dirty="0">
              <a:solidFill>
                <a:srgbClr val="000000"/>
              </a:solidFill>
            </a:endParaRPr>
          </a:p>
        </p:txBody>
      </p:sp>
      <p:sp>
        <p:nvSpPr>
          <p:cNvPr id="6" name="TextBox 5">
            <a:extLst>
              <a:ext uri="{FF2B5EF4-FFF2-40B4-BE49-F238E27FC236}">
                <a16:creationId xmlns:a16="http://schemas.microsoft.com/office/drawing/2014/main" id="{AA144186-4DFA-B019-E8E9-A2CA56FE3792}"/>
              </a:ext>
            </a:extLst>
          </p:cNvPr>
          <p:cNvSpPr txBox="1"/>
          <p:nvPr/>
        </p:nvSpPr>
        <p:spPr>
          <a:xfrm>
            <a:off x="284192" y="5891851"/>
            <a:ext cx="3639736" cy="646331"/>
          </a:xfrm>
          <a:prstGeom prst="rect">
            <a:avLst/>
          </a:prstGeom>
          <a:noFill/>
        </p:spPr>
        <p:txBody>
          <a:bodyPr wrap="square" rtlCol="0">
            <a:spAutoFit/>
          </a:bodyPr>
          <a:lstStyle/>
          <a:p>
            <a:r>
              <a:rPr lang="en-GB" dirty="0"/>
              <a:t>Low bandwidth flows given highest priority</a:t>
            </a:r>
          </a:p>
        </p:txBody>
      </p:sp>
    </p:spTree>
    <p:extLst>
      <p:ext uri="{BB962C8B-B14F-4D97-AF65-F5344CB8AC3E}">
        <p14:creationId xmlns:p14="http://schemas.microsoft.com/office/powerpoint/2010/main" val="103111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42936" y="941049"/>
            <a:ext cx="8345488" cy="975783"/>
          </a:xfrm>
        </p:spPr>
        <p:txBody>
          <a:bodyPr/>
          <a:lstStyle/>
          <a:p>
            <a:r>
              <a:rPr lang="en-US" dirty="0">
                <a:solidFill>
                  <a:schemeClr val="tx1"/>
                </a:solidFill>
              </a:rPr>
              <a:t>Class-Based Weighted Fair Queuing (CBWFQ)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3527" y="1916833"/>
            <a:ext cx="8489237" cy="2098932"/>
          </a:xfrm>
        </p:spPr>
        <p:txBody>
          <a:bodyPr/>
          <a:lstStyle/>
          <a:p>
            <a:pPr marL="0" indent="0" algn="l"/>
            <a:r>
              <a:rPr lang="en-US" dirty="0">
                <a:solidFill>
                  <a:srgbClr val="000000"/>
                </a:solidFill>
              </a:rPr>
              <a:t>Extends the standard WFQ functionality to provide support for </a:t>
            </a:r>
            <a:r>
              <a:rPr lang="en-US" dirty="0">
                <a:solidFill>
                  <a:srgbClr val="FF0000"/>
                </a:solidFill>
              </a:rPr>
              <a:t>user-defined traffic classes</a:t>
            </a:r>
            <a:r>
              <a:rPr lang="en-US" dirty="0">
                <a:solidFill>
                  <a:srgbClr val="000000"/>
                </a:solidFill>
              </a:rPr>
              <a:t>. </a:t>
            </a:r>
          </a:p>
          <a:p>
            <a:pPr marL="358835" lvl="1" indent="-285750">
              <a:buFont typeface="Arial" panose="020B0604020202020204" pitchFamily="34" charset="0"/>
              <a:buChar char="•"/>
            </a:pPr>
            <a:r>
              <a:rPr lang="en-US" sz="2000" dirty="0">
                <a:solidFill>
                  <a:srgbClr val="000000"/>
                </a:solidFill>
              </a:rPr>
              <a:t>Traffic classes are defined based on match criteria including protocols, access control lists (ACLs), and input interfaces. </a:t>
            </a:r>
          </a:p>
        </p:txBody>
      </p:sp>
      <p:pic>
        <p:nvPicPr>
          <p:cNvPr id="5" name="Picture 4">
            <a:extLst>
              <a:ext uri="{FF2B5EF4-FFF2-40B4-BE49-F238E27FC236}">
                <a16:creationId xmlns:a16="http://schemas.microsoft.com/office/drawing/2014/main" id="{3D94E8F5-828C-4DBB-9BE3-B10C2DB9A77D}"/>
              </a:ext>
            </a:extLst>
          </p:cNvPr>
          <p:cNvPicPr>
            <a:picLocks noChangeAspect="1"/>
          </p:cNvPicPr>
          <p:nvPr/>
        </p:nvPicPr>
        <p:blipFill>
          <a:blip r:embed="rId3"/>
          <a:stretch>
            <a:fillRect/>
          </a:stretch>
        </p:blipFill>
        <p:spPr>
          <a:xfrm>
            <a:off x="4055221" y="3789040"/>
            <a:ext cx="4888837" cy="2604063"/>
          </a:xfrm>
          <a:prstGeom prst="rect">
            <a:avLst/>
          </a:prstGeom>
        </p:spPr>
      </p:pic>
      <p:sp>
        <p:nvSpPr>
          <p:cNvPr id="2" name="Rectangle 1"/>
          <p:cNvSpPr/>
          <p:nvPr/>
        </p:nvSpPr>
        <p:spPr>
          <a:xfrm>
            <a:off x="323528" y="3356992"/>
            <a:ext cx="3744416" cy="1938992"/>
          </a:xfrm>
          <a:prstGeom prst="rect">
            <a:avLst/>
          </a:prstGeom>
        </p:spPr>
        <p:txBody>
          <a:bodyPr wrap="square">
            <a:spAutoFit/>
          </a:bodyPr>
          <a:lstStyle/>
          <a:p>
            <a:pPr marL="358835" lvl="1" indent="-285750">
              <a:buFont typeface="Arial" panose="020B0604020202020204" pitchFamily="34" charset="0"/>
              <a:buChar char="•"/>
            </a:pPr>
            <a:r>
              <a:rPr lang="en-US" sz="2000" dirty="0">
                <a:solidFill>
                  <a:srgbClr val="000000"/>
                </a:solidFill>
                <a:latin typeface="+mn-lt"/>
              </a:rPr>
              <a:t>A FIFO queue is reserved for each class</a:t>
            </a:r>
          </a:p>
          <a:p>
            <a:pPr marL="358835" lvl="1" indent="-285750">
              <a:buFont typeface="Arial" panose="020B0604020202020204" pitchFamily="34" charset="0"/>
              <a:buChar char="•"/>
            </a:pPr>
            <a:r>
              <a:rPr lang="en-US" sz="2000" dirty="0">
                <a:solidFill>
                  <a:srgbClr val="000000"/>
                </a:solidFill>
                <a:latin typeface="+mn-lt"/>
              </a:rPr>
              <a:t>A class can be assigned characteristics, such as </a:t>
            </a:r>
            <a:r>
              <a:rPr lang="en-US" sz="2000" dirty="0">
                <a:solidFill>
                  <a:srgbClr val="FF0000"/>
                </a:solidFill>
                <a:latin typeface="+mn-lt"/>
              </a:rPr>
              <a:t>bandwidth, </a:t>
            </a:r>
            <a:r>
              <a:rPr lang="en-US" sz="2000" dirty="0">
                <a:solidFill>
                  <a:srgbClr val="000000"/>
                </a:solidFill>
                <a:latin typeface="+mn-lt"/>
              </a:rPr>
              <a:t>weight, and maximum packet limit.</a:t>
            </a:r>
          </a:p>
        </p:txBody>
      </p:sp>
      <p:sp>
        <p:nvSpPr>
          <p:cNvPr id="6" name="TextBox 5">
            <a:extLst>
              <a:ext uri="{FF2B5EF4-FFF2-40B4-BE49-F238E27FC236}">
                <a16:creationId xmlns:a16="http://schemas.microsoft.com/office/drawing/2014/main" id="{C5BDC0D5-3B79-5F44-65C6-E38CC134B9A7}"/>
              </a:ext>
            </a:extLst>
          </p:cNvPr>
          <p:cNvSpPr txBox="1"/>
          <p:nvPr/>
        </p:nvSpPr>
        <p:spPr>
          <a:xfrm>
            <a:off x="323527" y="5486212"/>
            <a:ext cx="2304256" cy="1200329"/>
          </a:xfrm>
          <a:prstGeom prst="rect">
            <a:avLst/>
          </a:prstGeom>
          <a:noFill/>
        </p:spPr>
        <p:txBody>
          <a:bodyPr wrap="square" rtlCol="0">
            <a:spAutoFit/>
          </a:bodyPr>
          <a:lstStyle/>
          <a:p>
            <a:r>
              <a:rPr lang="en-GB" dirty="0">
                <a:solidFill>
                  <a:srgbClr val="FF0000"/>
                </a:solidFill>
              </a:rPr>
              <a:t>Guaranteed bandwidth delivered to class during congestion</a:t>
            </a:r>
          </a:p>
        </p:txBody>
      </p:sp>
      <p:cxnSp>
        <p:nvCxnSpPr>
          <p:cNvPr id="8" name="Straight Arrow Connector 7">
            <a:extLst>
              <a:ext uri="{FF2B5EF4-FFF2-40B4-BE49-F238E27FC236}">
                <a16:creationId xmlns:a16="http://schemas.microsoft.com/office/drawing/2014/main" id="{69EC13CB-739A-456E-F2BE-A9E799FE4033}"/>
              </a:ext>
            </a:extLst>
          </p:cNvPr>
          <p:cNvCxnSpPr>
            <a:cxnSpLocks/>
          </p:cNvCxnSpPr>
          <p:nvPr/>
        </p:nvCxnSpPr>
        <p:spPr>
          <a:xfrm flipV="1">
            <a:off x="539552" y="4869160"/>
            <a:ext cx="216024" cy="617052"/>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941181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764704"/>
            <a:ext cx="8165976" cy="975783"/>
          </a:xfrm>
        </p:spPr>
        <p:txBody>
          <a:bodyPr/>
          <a:lstStyle/>
          <a:p>
            <a:r>
              <a:rPr lang="en-US" dirty="0">
                <a:solidFill>
                  <a:schemeClr val="tx1"/>
                </a:solidFill>
              </a:rPr>
              <a:t>Low Latency Queuing (LLQ)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3" y="1772816"/>
            <a:ext cx="8172475" cy="4267219"/>
          </a:xfrm>
        </p:spPr>
        <p:txBody>
          <a:bodyPr/>
          <a:lstStyle/>
          <a:p>
            <a:pPr marL="0" indent="0" algn="l"/>
            <a:r>
              <a:rPr lang="en-US" dirty="0">
                <a:solidFill>
                  <a:srgbClr val="000000"/>
                </a:solidFill>
              </a:rPr>
              <a:t>The Low Latency Queuing (LLQ) feature brings strict priority queuing (PQ) to CBWFQ. </a:t>
            </a:r>
          </a:p>
          <a:p>
            <a:pPr marL="285750" indent="-285750" algn="l">
              <a:buFont typeface="Arial" panose="020B0604020202020204" pitchFamily="34" charset="0"/>
              <a:buChar char="•"/>
            </a:pPr>
            <a:r>
              <a:rPr lang="en-US" dirty="0">
                <a:solidFill>
                  <a:srgbClr val="000000"/>
                </a:solidFill>
              </a:rPr>
              <a:t>Strict PQ allows delay-sensitive packets such as voice to be sent before packets in other queues. </a:t>
            </a:r>
          </a:p>
        </p:txBody>
      </p:sp>
      <p:pic>
        <p:nvPicPr>
          <p:cNvPr id="5" name="Picture 4">
            <a:extLst>
              <a:ext uri="{FF2B5EF4-FFF2-40B4-BE49-F238E27FC236}">
                <a16:creationId xmlns:a16="http://schemas.microsoft.com/office/drawing/2014/main" id="{67EA435C-EA05-4A91-877D-72D56A48645D}"/>
              </a:ext>
            </a:extLst>
          </p:cNvPr>
          <p:cNvPicPr>
            <a:picLocks noChangeAspect="1"/>
          </p:cNvPicPr>
          <p:nvPr/>
        </p:nvPicPr>
        <p:blipFill>
          <a:blip r:embed="rId3"/>
          <a:stretch>
            <a:fillRect/>
          </a:stretch>
        </p:blipFill>
        <p:spPr>
          <a:xfrm>
            <a:off x="3672567" y="3197791"/>
            <a:ext cx="5471433" cy="3615585"/>
          </a:xfrm>
          <a:prstGeom prst="rect">
            <a:avLst/>
          </a:prstGeom>
        </p:spPr>
      </p:pic>
      <p:sp>
        <p:nvSpPr>
          <p:cNvPr id="2" name="Rectangle 1"/>
          <p:cNvSpPr/>
          <p:nvPr/>
        </p:nvSpPr>
        <p:spPr>
          <a:xfrm>
            <a:off x="395536" y="3068960"/>
            <a:ext cx="3096344" cy="1938992"/>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0000"/>
                </a:solidFill>
                <a:latin typeface="+mn-lt"/>
              </a:rPr>
              <a:t>LLQ allows delay-sensitive packets to be sent first giving delay-sensitive packets preferential treatment over other traffic.</a:t>
            </a:r>
          </a:p>
        </p:txBody>
      </p:sp>
    </p:spTree>
    <p:extLst>
      <p:ext uri="{BB962C8B-B14F-4D97-AF65-F5344CB8AC3E}">
        <p14:creationId xmlns:p14="http://schemas.microsoft.com/office/powerpoint/2010/main" val="2708272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err="1">
                <a:solidFill>
                  <a:schemeClr val="accent5">
                    <a:lumMod val="40000"/>
                    <a:lumOff val="60000"/>
                  </a:schemeClr>
                </a:solidFill>
              </a:rPr>
              <a:t>QoS</a:t>
            </a:r>
            <a:r>
              <a:rPr lang="en-US" dirty="0">
                <a:solidFill>
                  <a:schemeClr val="accent5">
                    <a:lumMod val="40000"/>
                    <a:lumOff val="60000"/>
                  </a:schemeClr>
                </a:solidFill>
              </a:rPr>
              <a:t> Models</a:t>
            </a:r>
          </a:p>
          <a:p>
            <a:endParaRPr lang="en-GB" dirty="0"/>
          </a:p>
        </p:txBody>
      </p:sp>
    </p:spTree>
    <p:custDataLst>
      <p:tags r:id="rId1"/>
    </p:custDataLst>
    <p:extLst>
      <p:ext uri="{BB962C8B-B14F-4D97-AF65-F5344CB8AC3E}">
        <p14:creationId xmlns:p14="http://schemas.microsoft.com/office/powerpoint/2010/main" val="1970954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52736"/>
            <a:ext cx="8345488" cy="975783"/>
          </a:xfrm>
        </p:spPr>
        <p:txBody>
          <a:bodyPr/>
          <a:lstStyle/>
          <a:p>
            <a:r>
              <a:rPr lang="en-US" dirty="0" err="1">
                <a:solidFill>
                  <a:schemeClr val="tx1"/>
                </a:solidFill>
              </a:rPr>
              <a:t>QoS</a:t>
            </a:r>
            <a:r>
              <a:rPr lang="en-US" dirty="0">
                <a:solidFill>
                  <a:schemeClr val="tx1"/>
                </a:solidFill>
              </a:rPr>
              <a:t> Models</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1969867912"/>
              </p:ext>
            </p:extLst>
          </p:nvPr>
        </p:nvGraphicFramePr>
        <p:xfrm>
          <a:off x="251520" y="2060848"/>
          <a:ext cx="8568952" cy="4635050"/>
        </p:xfrm>
        <a:graphic>
          <a:graphicData uri="http://schemas.openxmlformats.org/drawingml/2006/table">
            <a:tbl>
              <a:tblPr firstRow="1" bandRow="1">
                <a:tableStyleId>{F5AB1C69-6EDB-4FF4-983F-18BD219EF322}</a:tableStyleId>
              </a:tblPr>
              <a:tblGrid>
                <a:gridCol w="1588178">
                  <a:extLst>
                    <a:ext uri="{9D8B030D-6E8A-4147-A177-3AD203B41FA5}">
                      <a16:colId xmlns:a16="http://schemas.microsoft.com/office/drawing/2014/main" val="3729139006"/>
                    </a:ext>
                  </a:extLst>
                </a:gridCol>
                <a:gridCol w="6980774">
                  <a:extLst>
                    <a:ext uri="{9D8B030D-6E8A-4147-A177-3AD203B41FA5}">
                      <a16:colId xmlns:a16="http://schemas.microsoft.com/office/drawing/2014/main" val="2623022619"/>
                    </a:ext>
                  </a:extLst>
                </a:gridCol>
              </a:tblGrid>
              <a:tr h="515134">
                <a:tc>
                  <a:txBody>
                    <a:bodyPr/>
                    <a:lstStyle/>
                    <a:p>
                      <a:r>
                        <a:rPr lang="en-US" sz="1800" dirty="0">
                          <a:solidFill>
                            <a:schemeClr val="tx1"/>
                          </a:solidFill>
                        </a:rPr>
                        <a:t>Model</a:t>
                      </a:r>
                    </a:p>
                  </a:txBody>
                  <a:tcPr marT="60960" marB="60960"/>
                </a:tc>
                <a:tc>
                  <a:txBody>
                    <a:bodyPr/>
                    <a:lstStyle/>
                    <a:p>
                      <a:r>
                        <a:rPr lang="en-US" sz="1800" dirty="0">
                          <a:solidFill>
                            <a:schemeClr val="tx1"/>
                          </a:solidFill>
                        </a:rPr>
                        <a:t>Description</a:t>
                      </a:r>
                    </a:p>
                  </a:txBody>
                  <a:tcPr marT="60960" marB="60960"/>
                </a:tc>
                <a:extLst>
                  <a:ext uri="{0D108BD9-81ED-4DB2-BD59-A6C34878D82A}">
                    <a16:rowId xmlns:a16="http://schemas.microsoft.com/office/drawing/2014/main" val="2583676789"/>
                  </a:ext>
                </a:extLst>
              </a:tr>
              <a:tr h="858556">
                <a:tc>
                  <a:txBody>
                    <a:bodyPr/>
                    <a:lstStyle/>
                    <a:p>
                      <a:r>
                        <a:rPr lang="en-US" sz="1800" dirty="0">
                          <a:solidFill>
                            <a:schemeClr val="tx1"/>
                          </a:solidFill>
                        </a:rPr>
                        <a:t>Best-effort model</a:t>
                      </a:r>
                    </a:p>
                  </a:txBody>
                  <a:tcPr marT="60960" marB="60960"/>
                </a:tc>
                <a:tc>
                  <a:txBody>
                    <a:bodyPr/>
                    <a:lstStyle/>
                    <a:p>
                      <a:pPr marL="171450" indent="-171450">
                        <a:buFont typeface="Arial" panose="020B0604020202020204" pitchFamily="34" charset="0"/>
                        <a:buChar char="•"/>
                      </a:pPr>
                      <a:r>
                        <a:rPr lang="en-US" sz="1800" dirty="0">
                          <a:solidFill>
                            <a:schemeClr val="tx1"/>
                          </a:solidFill>
                        </a:rPr>
                        <a:t>Not an implementation as QoS is not explicitly configured.</a:t>
                      </a:r>
                    </a:p>
                    <a:p>
                      <a:pPr marL="171450" indent="-171450">
                        <a:buFont typeface="Arial" panose="020B0604020202020204" pitchFamily="34" charset="0"/>
                        <a:buChar char="•"/>
                      </a:pPr>
                      <a:r>
                        <a:rPr lang="en-US" sz="1800" dirty="0">
                          <a:solidFill>
                            <a:schemeClr val="tx1"/>
                          </a:solidFill>
                        </a:rPr>
                        <a:t>Use when QoS is not required.</a:t>
                      </a:r>
                    </a:p>
                  </a:txBody>
                  <a:tcPr marT="60960" marB="60960"/>
                </a:tc>
                <a:extLst>
                  <a:ext uri="{0D108BD9-81ED-4DB2-BD59-A6C34878D82A}">
                    <a16:rowId xmlns:a16="http://schemas.microsoft.com/office/drawing/2014/main" val="3849654457"/>
                  </a:ext>
                </a:extLst>
              </a:tr>
              <a:tr h="1888826">
                <a:tc>
                  <a:txBody>
                    <a:bodyPr/>
                    <a:lstStyle/>
                    <a:p>
                      <a:r>
                        <a:rPr lang="en-US" sz="1800" dirty="0">
                          <a:solidFill>
                            <a:schemeClr val="tx1"/>
                          </a:solidFill>
                        </a:rPr>
                        <a:t>Integrated services (</a:t>
                      </a:r>
                      <a:r>
                        <a:rPr lang="en-US" sz="1800" dirty="0" err="1">
                          <a:solidFill>
                            <a:schemeClr val="tx1"/>
                          </a:solidFill>
                        </a:rPr>
                        <a:t>IntServ</a:t>
                      </a:r>
                      <a:r>
                        <a:rPr lang="en-US" sz="1800" dirty="0">
                          <a:solidFill>
                            <a:schemeClr val="tx1"/>
                          </a:solidFill>
                        </a:rPr>
                        <a:t>)</a:t>
                      </a:r>
                    </a:p>
                  </a:txBody>
                  <a:tcPr marT="60960" marB="60960"/>
                </a:tc>
                <a:tc>
                  <a:txBody>
                    <a:bodyPr/>
                    <a:lstStyle/>
                    <a:p>
                      <a:pPr marL="171450" indent="-171450">
                        <a:buFont typeface="Arial" panose="020B0604020202020204" pitchFamily="34" charset="0"/>
                        <a:buChar char="•"/>
                      </a:pPr>
                      <a:r>
                        <a:rPr lang="en-US" sz="1800" dirty="0">
                          <a:solidFill>
                            <a:schemeClr val="tx1"/>
                          </a:solidFill>
                        </a:rPr>
                        <a:t>Provides very high QoS to IP packets with guaranteed delivery.</a:t>
                      </a:r>
                    </a:p>
                    <a:p>
                      <a:pPr marL="171450" indent="-171450">
                        <a:buFont typeface="Arial" panose="020B0604020202020204" pitchFamily="34" charset="0"/>
                        <a:buChar char="•"/>
                      </a:pPr>
                      <a:r>
                        <a:rPr lang="en-GB" b="0" i="0" dirty="0">
                          <a:solidFill>
                            <a:schemeClr val="tx1"/>
                          </a:solidFill>
                          <a:effectLst/>
                          <a:latin typeface="Arial" panose="020B0604020202020204" pitchFamily="34" charset="0"/>
                          <a:cs typeface="Arial" panose="020B0604020202020204" pitchFamily="34" charset="0"/>
                        </a:rPr>
                        <a:t>It’s a model based on flows, i.e., source and destination IP addresses and ports</a:t>
                      </a:r>
                      <a:r>
                        <a:rPr lang="en-US" sz="1800" dirty="0">
                          <a:solidFill>
                            <a:schemeClr val="tx1"/>
                          </a:solidFill>
                          <a:latin typeface="Arial" panose="020B0604020202020204" pitchFamily="34" charset="0"/>
                          <a:cs typeface="Arial" panose="020B0604020202020204" pitchFamily="34" charset="0"/>
                        </a:rPr>
                        <a:t>. </a:t>
                      </a:r>
                    </a:p>
                    <a:p>
                      <a:pPr marL="171450" indent="-171450">
                        <a:buFont typeface="Arial" panose="020B0604020202020204" pitchFamily="34" charset="0"/>
                        <a:buChar char="•"/>
                      </a:pPr>
                      <a:r>
                        <a:rPr lang="en-US" sz="1800" dirty="0">
                          <a:solidFill>
                            <a:schemeClr val="tx1"/>
                          </a:solidFill>
                          <a:latin typeface="Arial" panose="020B0604020202020204" pitchFamily="34" charset="0"/>
                          <a:cs typeface="Arial" panose="020B0604020202020204" pitchFamily="34" charset="0"/>
                        </a:rPr>
                        <a:t>Uses </a:t>
                      </a:r>
                      <a:r>
                        <a:rPr lang="en-US" sz="1800" dirty="0">
                          <a:solidFill>
                            <a:srgbClr val="FF0000"/>
                          </a:solidFill>
                          <a:latin typeface="Arial" panose="020B0604020202020204" pitchFamily="34" charset="0"/>
                          <a:cs typeface="Arial" panose="020B0604020202020204" pitchFamily="34" charset="0"/>
                        </a:rPr>
                        <a:t>R</a:t>
                      </a:r>
                      <a:r>
                        <a:rPr lang="en-US" sz="1800" dirty="0">
                          <a:solidFill>
                            <a:schemeClr val="tx1"/>
                          </a:solidFill>
                          <a:latin typeface="Arial" panose="020B0604020202020204" pitchFamily="34" charset="0"/>
                          <a:cs typeface="Arial" panose="020B0604020202020204" pitchFamily="34" charset="0"/>
                        </a:rPr>
                        <a:t>esource </a:t>
                      </a:r>
                      <a:r>
                        <a:rPr lang="en-US" sz="1800" dirty="0" err="1">
                          <a:solidFill>
                            <a:srgbClr val="FF0000"/>
                          </a:solidFill>
                          <a:latin typeface="Arial" panose="020B0604020202020204" pitchFamily="34" charset="0"/>
                          <a:cs typeface="Arial" panose="020B0604020202020204" pitchFamily="34" charset="0"/>
                        </a:rPr>
                        <a:t>R</a:t>
                      </a:r>
                      <a:r>
                        <a:rPr lang="en-US" sz="1800" dirty="0" err="1">
                          <a:solidFill>
                            <a:schemeClr val="tx1"/>
                          </a:solidFill>
                          <a:latin typeface="Arial" panose="020B0604020202020204" pitchFamily="34" charset="0"/>
                          <a:cs typeface="Arial" panose="020B0604020202020204" pitchFamily="34" charset="0"/>
                        </a:rPr>
                        <a:t>eser</a:t>
                      </a:r>
                      <a:r>
                        <a:rPr lang="en-US" sz="1800" dirty="0" err="1">
                          <a:solidFill>
                            <a:srgbClr val="FF0000"/>
                          </a:solidFill>
                          <a:latin typeface="Arial" panose="020B0604020202020204" pitchFamily="34" charset="0"/>
                          <a:cs typeface="Arial" panose="020B0604020202020204" pitchFamily="34" charset="0"/>
                        </a:rPr>
                        <a:t>V</a:t>
                      </a:r>
                      <a:r>
                        <a:rPr lang="en-US" sz="1800" dirty="0" err="1">
                          <a:solidFill>
                            <a:schemeClr val="tx1"/>
                          </a:solidFill>
                          <a:latin typeface="Arial" panose="020B0604020202020204" pitchFamily="34" charset="0"/>
                          <a:cs typeface="Arial" panose="020B0604020202020204" pitchFamily="34" charset="0"/>
                        </a:rPr>
                        <a:t>ation</a:t>
                      </a:r>
                      <a:r>
                        <a:rPr lang="en-US" sz="1800" dirty="0">
                          <a:solidFill>
                            <a:schemeClr val="tx1"/>
                          </a:solidFill>
                          <a:latin typeface="Arial" panose="020B0604020202020204" pitchFamily="34" charset="0"/>
                          <a:cs typeface="Arial" panose="020B0604020202020204" pitchFamily="34" charset="0"/>
                        </a:rPr>
                        <a:t> </a:t>
                      </a:r>
                      <a:r>
                        <a:rPr lang="en-US" sz="1800" dirty="0">
                          <a:solidFill>
                            <a:srgbClr val="FF0000"/>
                          </a:solidFill>
                          <a:latin typeface="Arial" panose="020B0604020202020204" pitchFamily="34" charset="0"/>
                          <a:cs typeface="Arial" panose="020B0604020202020204" pitchFamily="34" charset="0"/>
                        </a:rPr>
                        <a:t>P</a:t>
                      </a:r>
                      <a:r>
                        <a:rPr lang="en-US" sz="1800" dirty="0">
                          <a:solidFill>
                            <a:schemeClr val="tx1"/>
                          </a:solidFill>
                          <a:latin typeface="Arial" panose="020B0604020202020204" pitchFamily="34" charset="0"/>
                          <a:cs typeface="Arial" panose="020B0604020202020204" pitchFamily="34" charset="0"/>
                        </a:rPr>
                        <a:t>rotocol</a:t>
                      </a:r>
                    </a:p>
                    <a:p>
                      <a:pPr marL="171450" indent="-171450">
                        <a:buFont typeface="Arial" panose="020B0604020202020204" pitchFamily="34" charset="0"/>
                        <a:buChar char="•"/>
                      </a:pPr>
                      <a:r>
                        <a:rPr lang="en-GB" b="0" i="0" dirty="0">
                          <a:solidFill>
                            <a:schemeClr val="tx1"/>
                          </a:solidFill>
                          <a:effectLst/>
                          <a:latin typeface="Arial" panose="020B0604020202020204" pitchFamily="34" charset="0"/>
                          <a:cs typeface="Arial" panose="020B0604020202020204" pitchFamily="34" charset="0"/>
                        </a:rPr>
                        <a:t>Network devices keep track of all the flows traversing the nodes checking if new packets belong to an existing flow and if there are enough network resources available to accept the packet.</a:t>
                      </a:r>
                      <a:endParaRPr lang="en-US" sz="1800" dirty="0">
                        <a:solidFill>
                          <a:schemeClr val="tx1"/>
                        </a:solidFill>
                        <a:latin typeface="Arial" panose="020B0604020202020204" pitchFamily="34" charset="0"/>
                        <a:cs typeface="Arial" panose="020B0604020202020204" pitchFamily="34" charset="0"/>
                      </a:endParaRPr>
                    </a:p>
                  </a:txBody>
                  <a:tcPr marT="60960" marB="60960"/>
                </a:tc>
                <a:extLst>
                  <a:ext uri="{0D108BD9-81ED-4DB2-BD59-A6C34878D82A}">
                    <a16:rowId xmlns:a16="http://schemas.microsoft.com/office/drawing/2014/main" val="235735172"/>
                  </a:ext>
                </a:extLst>
              </a:tr>
              <a:tr h="1201980">
                <a:tc>
                  <a:txBody>
                    <a:bodyPr/>
                    <a:lstStyle/>
                    <a:p>
                      <a:r>
                        <a:rPr lang="en-US" sz="1800" dirty="0">
                          <a:solidFill>
                            <a:schemeClr val="tx1"/>
                          </a:solidFill>
                        </a:rPr>
                        <a:t>Differentiated services (</a:t>
                      </a:r>
                      <a:r>
                        <a:rPr lang="en-US" sz="1800" dirty="0" err="1">
                          <a:solidFill>
                            <a:schemeClr val="tx1"/>
                          </a:solidFill>
                        </a:rPr>
                        <a:t>DiffServ</a:t>
                      </a:r>
                      <a:r>
                        <a:rPr lang="en-US" sz="1800" dirty="0">
                          <a:solidFill>
                            <a:schemeClr val="tx1"/>
                          </a:solidFill>
                        </a:rPr>
                        <a:t>)</a:t>
                      </a:r>
                    </a:p>
                  </a:txBody>
                  <a:tcPr marT="60960" marB="60960"/>
                </a:tc>
                <a:tc>
                  <a:txBody>
                    <a:bodyPr/>
                    <a:lstStyle/>
                    <a:p>
                      <a:pPr marL="171450" indent="-171450">
                        <a:buFont typeface="Arial" panose="020B0604020202020204" pitchFamily="34" charset="0"/>
                        <a:buChar char="•"/>
                      </a:pPr>
                      <a:r>
                        <a:rPr lang="en-US" sz="1800" dirty="0">
                          <a:solidFill>
                            <a:schemeClr val="tx1"/>
                          </a:solidFill>
                        </a:rPr>
                        <a:t>Provides high scalability and flexibility in implementing QoS.</a:t>
                      </a:r>
                    </a:p>
                    <a:p>
                      <a:pPr marL="171450" indent="-171450">
                        <a:buFont typeface="Arial" panose="020B0604020202020204" pitchFamily="34" charset="0"/>
                        <a:buChar char="•"/>
                      </a:pPr>
                      <a:r>
                        <a:rPr lang="en-US" sz="1800" dirty="0">
                          <a:solidFill>
                            <a:schemeClr val="tx1"/>
                          </a:solidFill>
                        </a:rPr>
                        <a:t>Network devices recognize traffic classes and provide different levels of QoS to different traffic classes.</a:t>
                      </a:r>
                    </a:p>
                    <a:p>
                      <a:pPr marL="171450" indent="-171450">
                        <a:buFont typeface="Arial" panose="020B0604020202020204" pitchFamily="34" charset="0"/>
                        <a:buChar char="•"/>
                      </a:pPr>
                      <a:r>
                        <a:rPr lang="en-US" sz="1800" dirty="0">
                          <a:solidFill>
                            <a:schemeClr val="tx1"/>
                          </a:solidFill>
                        </a:rPr>
                        <a:t>Uses DS field in packet to set priority</a:t>
                      </a:r>
                    </a:p>
                  </a:txBody>
                  <a:tcPr marT="60960" marB="60960"/>
                </a:tc>
                <a:extLst>
                  <a:ext uri="{0D108BD9-81ED-4DB2-BD59-A6C34878D82A}">
                    <a16:rowId xmlns:a16="http://schemas.microsoft.com/office/drawing/2014/main" val="354468046"/>
                  </a:ext>
                </a:extLst>
              </a:tr>
            </a:tbl>
          </a:graphicData>
        </a:graphic>
      </p:graphicFrame>
    </p:spTree>
    <p:extLst>
      <p:ext uri="{BB962C8B-B14F-4D97-AF65-F5344CB8AC3E}">
        <p14:creationId xmlns:p14="http://schemas.microsoft.com/office/powerpoint/2010/main" val="25422577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692696"/>
            <a:ext cx="8172116" cy="975783"/>
          </a:xfrm>
        </p:spPr>
        <p:txBody>
          <a:bodyPr/>
          <a:lstStyle/>
          <a:p>
            <a:r>
              <a:rPr lang="en-US" dirty="0">
                <a:solidFill>
                  <a:schemeClr val="tx1"/>
                </a:solidFill>
              </a:rPr>
              <a:t>Best Effort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95536" y="1700808"/>
            <a:ext cx="7913516" cy="2177928"/>
          </a:xfrm>
        </p:spPr>
        <p:txBody>
          <a:bodyPr/>
          <a:lstStyle/>
          <a:p>
            <a:pPr marL="0" indent="0" algn="l"/>
            <a:r>
              <a:rPr lang="en-US" dirty="0">
                <a:solidFill>
                  <a:srgbClr val="000000"/>
                </a:solidFill>
              </a:rPr>
              <a:t>The basic design of the internet is best-effort packet delivery and provides no guarantees.</a:t>
            </a:r>
          </a:p>
          <a:p>
            <a:pPr marL="285750" indent="-285750" algn="l">
              <a:buFont typeface="Arial" panose="020B0604020202020204" pitchFamily="34" charset="0"/>
              <a:buChar char="•"/>
            </a:pPr>
            <a:r>
              <a:rPr lang="en-US" dirty="0">
                <a:solidFill>
                  <a:srgbClr val="000000"/>
                </a:solidFill>
              </a:rPr>
              <a:t>All network packets are treated in the same way</a:t>
            </a:r>
          </a:p>
          <a:p>
            <a:pPr marL="0" indent="0" algn="l"/>
            <a:r>
              <a:rPr lang="en-US"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533051726"/>
              </p:ext>
            </p:extLst>
          </p:nvPr>
        </p:nvGraphicFramePr>
        <p:xfrm>
          <a:off x="431973" y="3028528"/>
          <a:ext cx="8460507" cy="3352800"/>
        </p:xfrm>
        <a:graphic>
          <a:graphicData uri="http://schemas.openxmlformats.org/drawingml/2006/table">
            <a:tbl>
              <a:tblPr firstRow="1" bandRow="1">
                <a:tableStyleId>{F5AB1C69-6EDB-4FF4-983F-18BD219EF322}</a:tableStyleId>
              </a:tblPr>
              <a:tblGrid>
                <a:gridCol w="4020374">
                  <a:extLst>
                    <a:ext uri="{9D8B030D-6E8A-4147-A177-3AD203B41FA5}">
                      <a16:colId xmlns:a16="http://schemas.microsoft.com/office/drawing/2014/main" val="3729139006"/>
                    </a:ext>
                  </a:extLst>
                </a:gridCol>
                <a:gridCol w="4440133">
                  <a:extLst>
                    <a:ext uri="{9D8B030D-6E8A-4147-A177-3AD203B41FA5}">
                      <a16:colId xmlns:a16="http://schemas.microsoft.com/office/drawing/2014/main" val="2623022619"/>
                    </a:ext>
                  </a:extLst>
                </a:gridCol>
              </a:tblGrid>
              <a:tr h="365760">
                <a:tc>
                  <a:txBody>
                    <a:bodyPr/>
                    <a:lstStyle/>
                    <a:p>
                      <a:r>
                        <a:rPr lang="en-US" sz="2000" dirty="0">
                          <a:solidFill>
                            <a:schemeClr val="tx1"/>
                          </a:solidFill>
                        </a:rPr>
                        <a:t>Benefits</a:t>
                      </a:r>
                    </a:p>
                  </a:txBody>
                  <a:tcPr marT="60960" marB="60960"/>
                </a:tc>
                <a:tc>
                  <a:txBody>
                    <a:bodyPr/>
                    <a:lstStyle/>
                    <a:p>
                      <a:r>
                        <a:rPr lang="en-US" sz="2000" dirty="0">
                          <a:solidFill>
                            <a:schemeClr val="tx1"/>
                          </a:solidFill>
                        </a:rPr>
                        <a:t>Drawbacks</a:t>
                      </a:r>
                    </a:p>
                  </a:txBody>
                  <a:tcPr marT="60960" marB="60960"/>
                </a:tc>
                <a:extLst>
                  <a:ext uri="{0D108BD9-81ED-4DB2-BD59-A6C34878D82A}">
                    <a16:rowId xmlns:a16="http://schemas.microsoft.com/office/drawing/2014/main" val="2583676789"/>
                  </a:ext>
                </a:extLst>
              </a:tr>
              <a:tr h="365760">
                <a:tc>
                  <a:txBody>
                    <a:bodyPr/>
                    <a:lstStyle/>
                    <a:p>
                      <a:r>
                        <a:rPr lang="en-US" sz="2000" dirty="0">
                          <a:solidFill>
                            <a:schemeClr val="tx1"/>
                          </a:solidFill>
                        </a:rPr>
                        <a:t>The model is the most scalable.</a:t>
                      </a:r>
                    </a:p>
                  </a:txBody>
                  <a:tcPr marT="60960" marB="60960"/>
                </a:tc>
                <a:tc>
                  <a:txBody>
                    <a:bodyPr/>
                    <a:lstStyle/>
                    <a:p>
                      <a:pPr marL="0" indent="0">
                        <a:buFont typeface="Arial" panose="020B0604020202020204" pitchFamily="34" charset="0"/>
                        <a:buNone/>
                      </a:pPr>
                      <a:r>
                        <a:rPr lang="en-US" sz="2000" dirty="0">
                          <a:solidFill>
                            <a:schemeClr val="tx1"/>
                          </a:solidFill>
                        </a:rPr>
                        <a:t>There are no guarantees of delivery.</a:t>
                      </a:r>
                    </a:p>
                  </a:txBody>
                  <a:tcPr marT="60960" marB="60960"/>
                </a:tc>
                <a:extLst>
                  <a:ext uri="{0D108BD9-81ED-4DB2-BD59-A6C34878D82A}">
                    <a16:rowId xmlns:a16="http://schemas.microsoft.com/office/drawing/2014/main" val="3849654457"/>
                  </a:ext>
                </a:extLst>
              </a:tr>
              <a:tr h="609600">
                <a:tc>
                  <a:txBody>
                    <a:bodyPr/>
                    <a:lstStyle/>
                    <a:p>
                      <a:r>
                        <a:rPr lang="en-US" sz="2000" dirty="0">
                          <a:solidFill>
                            <a:schemeClr val="tx1"/>
                          </a:solidFill>
                        </a:rPr>
                        <a:t>Scalability is only limited by available bandwidth, in which case all traffic is equally affected.</a:t>
                      </a:r>
                    </a:p>
                  </a:txBody>
                  <a:tcPr marT="60960" marB="60960"/>
                </a:tc>
                <a:tc>
                  <a:txBody>
                    <a:bodyPr/>
                    <a:lstStyle/>
                    <a:p>
                      <a:pPr marL="0" indent="0">
                        <a:buFont typeface="Arial" panose="020B0604020202020204" pitchFamily="34" charset="0"/>
                        <a:buNone/>
                      </a:pPr>
                      <a:r>
                        <a:rPr lang="en-US" sz="2000" dirty="0">
                          <a:solidFill>
                            <a:schemeClr val="tx1"/>
                          </a:solidFill>
                        </a:rPr>
                        <a:t>Packets will arrive whenever they can and in any order possible, if they arrive at all.</a:t>
                      </a:r>
                    </a:p>
                  </a:txBody>
                  <a:tcPr marT="60960" marB="60960"/>
                </a:tc>
                <a:extLst>
                  <a:ext uri="{0D108BD9-81ED-4DB2-BD59-A6C34878D82A}">
                    <a16:rowId xmlns:a16="http://schemas.microsoft.com/office/drawing/2014/main" val="235735172"/>
                  </a:ext>
                </a:extLst>
              </a:tr>
              <a:tr h="448235">
                <a:tc>
                  <a:txBody>
                    <a:bodyPr/>
                    <a:lstStyle/>
                    <a:p>
                      <a:r>
                        <a:rPr lang="en-US" sz="2000" dirty="0">
                          <a:solidFill>
                            <a:schemeClr val="tx1"/>
                          </a:solidFill>
                        </a:rPr>
                        <a:t>No special QoS mechanisms are required.</a:t>
                      </a:r>
                    </a:p>
                  </a:txBody>
                  <a:tcPr marT="60960" marB="60960"/>
                </a:tc>
                <a:tc>
                  <a:txBody>
                    <a:bodyPr/>
                    <a:lstStyle/>
                    <a:p>
                      <a:pPr marL="0" indent="0">
                        <a:buFont typeface="Arial" panose="020B0604020202020204" pitchFamily="34" charset="0"/>
                        <a:buNone/>
                      </a:pPr>
                      <a:r>
                        <a:rPr lang="en-US" sz="2000" dirty="0">
                          <a:solidFill>
                            <a:schemeClr val="tx1"/>
                          </a:solidFill>
                        </a:rPr>
                        <a:t>No packets have preferential treatment.</a:t>
                      </a:r>
                    </a:p>
                  </a:txBody>
                  <a:tcPr marT="60960" marB="60960"/>
                </a:tc>
                <a:extLst>
                  <a:ext uri="{0D108BD9-81ED-4DB2-BD59-A6C34878D82A}">
                    <a16:rowId xmlns:a16="http://schemas.microsoft.com/office/drawing/2014/main" val="354468046"/>
                  </a:ext>
                </a:extLst>
              </a:tr>
              <a:tr h="448235">
                <a:tc>
                  <a:txBody>
                    <a:bodyPr/>
                    <a:lstStyle/>
                    <a:p>
                      <a:r>
                        <a:rPr lang="en-US" sz="2000" dirty="0">
                          <a:solidFill>
                            <a:schemeClr val="tx1"/>
                          </a:solidFill>
                        </a:rPr>
                        <a:t>It is the easiest and quickest model to deploy.</a:t>
                      </a:r>
                    </a:p>
                  </a:txBody>
                  <a:tcPr marT="60960" marB="60960"/>
                </a:tc>
                <a:tc>
                  <a:txBody>
                    <a:bodyPr/>
                    <a:lstStyle/>
                    <a:p>
                      <a:pPr marL="0" indent="0">
                        <a:buFont typeface="Arial" panose="020B0604020202020204" pitchFamily="34" charset="0"/>
                        <a:buNone/>
                      </a:pPr>
                      <a:r>
                        <a:rPr lang="en-US" sz="2000" dirty="0">
                          <a:solidFill>
                            <a:schemeClr val="tx1"/>
                          </a:solidFill>
                        </a:rPr>
                        <a:t>Critical data is treated the same as casual email is treated.</a:t>
                      </a:r>
                    </a:p>
                  </a:txBody>
                  <a:tcPr marT="60960" marB="60960"/>
                </a:tc>
                <a:extLst>
                  <a:ext uri="{0D108BD9-81ED-4DB2-BD59-A6C34878D82A}">
                    <a16:rowId xmlns:a16="http://schemas.microsoft.com/office/drawing/2014/main" val="1584404615"/>
                  </a:ext>
                </a:extLst>
              </a:tr>
            </a:tbl>
          </a:graphicData>
        </a:graphic>
      </p:graphicFrame>
    </p:spTree>
    <p:extLst>
      <p:ext uri="{BB962C8B-B14F-4D97-AF65-F5344CB8AC3E}">
        <p14:creationId xmlns:p14="http://schemas.microsoft.com/office/powerpoint/2010/main" val="2889924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0283" y="764704"/>
            <a:ext cx="8345488" cy="975783"/>
          </a:xfrm>
        </p:spPr>
        <p:txBody>
          <a:bodyPr/>
          <a:lstStyle/>
          <a:p>
            <a:r>
              <a:rPr lang="en-US" dirty="0">
                <a:solidFill>
                  <a:schemeClr val="tx1"/>
                </a:solidFill>
              </a:rPr>
              <a:t>Integrated Services</a:t>
            </a:r>
          </a:p>
        </p:txBody>
      </p:sp>
      <p:pic>
        <p:nvPicPr>
          <p:cNvPr id="2" name="Picture 1">
            <a:extLst>
              <a:ext uri="{FF2B5EF4-FFF2-40B4-BE49-F238E27FC236}">
                <a16:creationId xmlns:a16="http://schemas.microsoft.com/office/drawing/2014/main" id="{21B63E61-AB23-4788-8994-38BFAC02BF77}"/>
              </a:ext>
            </a:extLst>
          </p:cNvPr>
          <p:cNvPicPr>
            <a:picLocks noChangeAspect="1"/>
          </p:cNvPicPr>
          <p:nvPr/>
        </p:nvPicPr>
        <p:blipFill>
          <a:blip r:embed="rId3"/>
          <a:stretch>
            <a:fillRect/>
          </a:stretch>
        </p:blipFill>
        <p:spPr>
          <a:xfrm>
            <a:off x="4965287" y="548680"/>
            <a:ext cx="4178713" cy="3672408"/>
          </a:xfrm>
          <a:prstGeom prst="rect">
            <a:avLst/>
          </a:prstGeom>
        </p:spPr>
      </p:pic>
      <p:sp>
        <p:nvSpPr>
          <p:cNvPr id="6" name="Content Placeholder 3">
            <a:extLst>
              <a:ext uri="{FF2B5EF4-FFF2-40B4-BE49-F238E27FC236}">
                <a16:creationId xmlns:a16="http://schemas.microsoft.com/office/drawing/2014/main" id="{50693879-5816-3444-9D50-A12F1F37F5DE}"/>
              </a:ext>
            </a:extLst>
          </p:cNvPr>
          <p:cNvSpPr txBox="1">
            <a:spLocks/>
          </p:cNvSpPr>
          <p:nvPr/>
        </p:nvSpPr>
        <p:spPr bwMode="auto">
          <a:xfrm>
            <a:off x="323528" y="1412776"/>
            <a:ext cx="4968552" cy="3488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0" tIns="45710" rIns="91420" bIns="4571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ea typeface="+mn-ea"/>
                <a:cs typeface="CiscoSans ExtraLight"/>
              </a:defRPr>
            </a:lvl1pPr>
            <a:lvl2pPr marL="742913" indent="-285736" algn="l" rtl="0" eaLnBrk="0" fontAlgn="base" hangingPunct="0">
              <a:spcBef>
                <a:spcPct val="20000"/>
              </a:spcBef>
              <a:spcAft>
                <a:spcPct val="0"/>
              </a:spcAft>
              <a:buChar char="–"/>
              <a:defRPr sz="2800">
                <a:solidFill>
                  <a:schemeClr val="tx1"/>
                </a:solidFill>
                <a:latin typeface="+mn-lt"/>
              </a:defRPr>
            </a:lvl2pPr>
            <a:lvl3pPr marL="1142944" indent="-228588" algn="l" rtl="0" eaLnBrk="0" fontAlgn="base" hangingPunct="0">
              <a:spcBef>
                <a:spcPct val="20000"/>
              </a:spcBef>
              <a:spcAft>
                <a:spcPct val="0"/>
              </a:spcAft>
              <a:buChar char="•"/>
              <a:defRPr sz="2400">
                <a:solidFill>
                  <a:schemeClr val="tx1"/>
                </a:solidFill>
                <a:latin typeface="+mn-lt"/>
              </a:defRPr>
            </a:lvl3pPr>
            <a:lvl4pPr marL="1600120" indent="-228588" algn="l" rtl="0" eaLnBrk="0" fontAlgn="base" hangingPunct="0">
              <a:spcBef>
                <a:spcPct val="20000"/>
              </a:spcBef>
              <a:spcAft>
                <a:spcPct val="0"/>
              </a:spcAft>
              <a:buChar char="–"/>
              <a:defRPr sz="2000">
                <a:solidFill>
                  <a:schemeClr val="tx1"/>
                </a:solidFill>
                <a:latin typeface="+mn-lt"/>
              </a:defRPr>
            </a:lvl4pPr>
            <a:lvl5pPr marL="2057297" indent="-228588" algn="l" rtl="0" eaLnBrk="0" fontAlgn="base" hangingPunct="0">
              <a:spcBef>
                <a:spcPct val="20000"/>
              </a:spcBef>
              <a:spcAft>
                <a:spcPct val="0"/>
              </a:spcAft>
              <a:buChar char="»"/>
              <a:defRPr sz="2000">
                <a:solidFill>
                  <a:schemeClr val="tx1"/>
                </a:solidFill>
                <a:latin typeface="+mn-lt"/>
              </a:defRPr>
            </a:lvl5pPr>
            <a:lvl6pPr marL="2514474" indent="-228588" algn="l" rtl="0" fontAlgn="base">
              <a:spcBef>
                <a:spcPct val="20000"/>
              </a:spcBef>
              <a:spcAft>
                <a:spcPct val="0"/>
              </a:spcAft>
              <a:buChar char="»"/>
              <a:defRPr sz="2000">
                <a:solidFill>
                  <a:schemeClr val="tx1"/>
                </a:solidFill>
                <a:latin typeface="+mn-lt"/>
              </a:defRPr>
            </a:lvl6pPr>
            <a:lvl7pPr marL="2971652" indent="-228588" algn="l" rtl="0" fontAlgn="base">
              <a:spcBef>
                <a:spcPct val="20000"/>
              </a:spcBef>
              <a:spcAft>
                <a:spcPct val="0"/>
              </a:spcAft>
              <a:buChar char="»"/>
              <a:defRPr sz="2000">
                <a:solidFill>
                  <a:schemeClr val="tx1"/>
                </a:solidFill>
                <a:latin typeface="+mn-lt"/>
              </a:defRPr>
            </a:lvl7pPr>
            <a:lvl8pPr marL="3428829" indent="-228588" algn="l" rtl="0" fontAlgn="base">
              <a:spcBef>
                <a:spcPct val="20000"/>
              </a:spcBef>
              <a:spcAft>
                <a:spcPct val="0"/>
              </a:spcAft>
              <a:buChar char="»"/>
              <a:defRPr sz="2000">
                <a:solidFill>
                  <a:schemeClr val="tx1"/>
                </a:solidFill>
                <a:latin typeface="+mn-lt"/>
              </a:defRPr>
            </a:lvl8pPr>
            <a:lvl9pPr marL="3886006" indent="-228588" algn="l" rtl="0" fontAlgn="base">
              <a:spcBef>
                <a:spcPct val="20000"/>
              </a:spcBef>
              <a:spcAft>
                <a:spcPct val="0"/>
              </a:spcAft>
              <a:buChar char="»"/>
              <a:defRPr sz="2000">
                <a:solidFill>
                  <a:schemeClr val="tx1"/>
                </a:solidFill>
                <a:latin typeface="+mn-lt"/>
              </a:defRPr>
            </a:lvl9pPr>
          </a:lstStyle>
          <a:p>
            <a:pPr marL="285750" indent="-285750" algn="l">
              <a:buFont typeface="Arial" panose="020B0604020202020204" pitchFamily="34" charset="0"/>
              <a:buChar char="•"/>
            </a:pPr>
            <a:r>
              <a:rPr lang="en-US" sz="1700" kern="0" dirty="0">
                <a:solidFill>
                  <a:srgbClr val="000000"/>
                </a:solidFill>
              </a:rPr>
              <a:t>Explicitly provide QoS to individual application flows </a:t>
            </a:r>
          </a:p>
          <a:p>
            <a:pPr marL="285750" indent="-285750" algn="l">
              <a:buFont typeface="Arial" panose="020B0604020202020204" pitchFamily="34" charset="0"/>
              <a:buChar char="•"/>
            </a:pPr>
            <a:r>
              <a:rPr lang="en-US" sz="1700" kern="0" dirty="0">
                <a:solidFill>
                  <a:srgbClr val="000000"/>
                </a:solidFill>
              </a:rPr>
              <a:t>Uses resource reservation and admission-control mechanisms</a:t>
            </a:r>
          </a:p>
          <a:p>
            <a:pPr marL="285750" indent="-285750" algn="l">
              <a:buFont typeface="Arial" panose="020B0604020202020204" pitchFamily="34" charset="0"/>
              <a:buChar char="•"/>
            </a:pPr>
            <a:r>
              <a:rPr lang="en-US" sz="1700" kern="0" dirty="0">
                <a:solidFill>
                  <a:srgbClr val="000000"/>
                </a:solidFill>
              </a:rPr>
              <a:t>Uses a connection-oriented approach</a:t>
            </a:r>
          </a:p>
          <a:p>
            <a:pPr marL="285750" indent="-285750" algn="l">
              <a:buFont typeface="Arial" panose="020B0604020202020204" pitchFamily="34" charset="0"/>
              <a:buChar char="•"/>
            </a:pPr>
            <a:r>
              <a:rPr lang="en-US" sz="1700" kern="0" dirty="0">
                <a:solidFill>
                  <a:srgbClr val="000000"/>
                </a:solidFill>
              </a:rPr>
              <a:t>Admission control at the edge router</a:t>
            </a:r>
          </a:p>
          <a:p>
            <a:pPr marL="285750" indent="-285750" algn="l">
              <a:buFont typeface="Arial" panose="020B0604020202020204" pitchFamily="34" charset="0"/>
              <a:buChar char="•"/>
            </a:pPr>
            <a:r>
              <a:rPr lang="en-US" sz="1700" kern="0" dirty="0">
                <a:solidFill>
                  <a:srgbClr val="000000"/>
                </a:solidFill>
              </a:rPr>
              <a:t>Application informs the network of its traffic profile and requests a particular kind of service. </a:t>
            </a:r>
          </a:p>
          <a:p>
            <a:pPr marL="285750" indent="-285750" algn="l">
              <a:buFont typeface="Arial" panose="020B0604020202020204" pitchFamily="34" charset="0"/>
              <a:buChar char="•"/>
            </a:pPr>
            <a:r>
              <a:rPr lang="en-US" sz="1700" kern="0" dirty="0">
                <a:solidFill>
                  <a:srgbClr val="000000"/>
                </a:solidFill>
              </a:rPr>
              <a:t>Uses the Resource Reservation Protocol (RSVP) to signal the QoS needs of an application’s traffic along devices in the end-to-end path through the network. </a:t>
            </a:r>
          </a:p>
          <a:p>
            <a:pPr marL="285750" indent="-285750" algn="l">
              <a:buFont typeface="Arial" panose="020B0604020202020204" pitchFamily="34" charset="0"/>
              <a:buChar char="•"/>
            </a:pPr>
            <a:endParaRPr lang="en-US" sz="1700" kern="0" dirty="0">
              <a:solidFill>
                <a:srgbClr val="000000"/>
              </a:solidFill>
            </a:endParaRPr>
          </a:p>
        </p:txBody>
      </p:sp>
      <p:graphicFrame>
        <p:nvGraphicFramePr>
          <p:cNvPr id="7"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3403786038"/>
              </p:ext>
            </p:extLst>
          </p:nvPr>
        </p:nvGraphicFramePr>
        <p:xfrm>
          <a:off x="395536" y="5079922"/>
          <a:ext cx="8568952" cy="1706880"/>
        </p:xfrm>
        <a:graphic>
          <a:graphicData uri="http://schemas.openxmlformats.org/drawingml/2006/table">
            <a:tbl>
              <a:tblPr firstRow="1" bandRow="1">
                <a:tableStyleId>{F5AB1C69-6EDB-4FF4-983F-18BD219EF322}</a:tableStyleId>
              </a:tblPr>
              <a:tblGrid>
                <a:gridCol w="3906016">
                  <a:extLst>
                    <a:ext uri="{9D8B030D-6E8A-4147-A177-3AD203B41FA5}">
                      <a16:colId xmlns:a16="http://schemas.microsoft.com/office/drawing/2014/main" val="3729139006"/>
                    </a:ext>
                  </a:extLst>
                </a:gridCol>
                <a:gridCol w="4662936">
                  <a:extLst>
                    <a:ext uri="{9D8B030D-6E8A-4147-A177-3AD203B41FA5}">
                      <a16:colId xmlns:a16="http://schemas.microsoft.com/office/drawing/2014/main" val="2623022619"/>
                    </a:ext>
                  </a:extLst>
                </a:gridCol>
              </a:tblGrid>
              <a:tr h="333772">
                <a:tc>
                  <a:txBody>
                    <a:bodyPr/>
                    <a:lstStyle/>
                    <a:p>
                      <a:r>
                        <a:rPr lang="en-US" sz="1600" dirty="0">
                          <a:solidFill>
                            <a:schemeClr val="tx1"/>
                          </a:solidFill>
                        </a:rPr>
                        <a:t>Benefits</a:t>
                      </a:r>
                    </a:p>
                  </a:txBody>
                  <a:tcPr marT="60960" marB="60960"/>
                </a:tc>
                <a:tc>
                  <a:txBody>
                    <a:bodyPr/>
                    <a:lstStyle/>
                    <a:p>
                      <a:r>
                        <a:rPr lang="en-US" sz="1600" dirty="0">
                          <a:solidFill>
                            <a:schemeClr val="tx1"/>
                          </a:solidFill>
                        </a:rPr>
                        <a:t>Drawbacks</a:t>
                      </a:r>
                    </a:p>
                  </a:txBody>
                  <a:tcPr marT="60960" marB="60960"/>
                </a:tc>
                <a:extLst>
                  <a:ext uri="{0D108BD9-81ED-4DB2-BD59-A6C34878D82A}">
                    <a16:rowId xmlns:a16="http://schemas.microsoft.com/office/drawing/2014/main" val="2583676789"/>
                  </a:ext>
                </a:extLst>
              </a:tr>
              <a:tr h="1223830">
                <a:tc>
                  <a:txBody>
                    <a:bodyPr/>
                    <a:lstStyle/>
                    <a:p>
                      <a:pPr marL="171450" indent="-171450">
                        <a:buFont typeface="Arial" panose="020B0604020202020204" pitchFamily="34" charset="0"/>
                        <a:buChar char="•"/>
                      </a:pPr>
                      <a:r>
                        <a:rPr lang="en-US" sz="1600" dirty="0">
                          <a:solidFill>
                            <a:schemeClr val="tx1"/>
                          </a:solidFill>
                        </a:rPr>
                        <a:t>Explicit end-to-end resource admission control</a:t>
                      </a:r>
                    </a:p>
                    <a:p>
                      <a:pPr marL="171450" indent="-171450">
                        <a:buFont typeface="Arial" panose="020B0604020202020204" pitchFamily="34" charset="0"/>
                        <a:buChar char="•"/>
                      </a:pPr>
                      <a:r>
                        <a:rPr lang="en-US" sz="1600" dirty="0">
                          <a:solidFill>
                            <a:schemeClr val="tx1"/>
                          </a:solidFill>
                        </a:rPr>
                        <a:t>Per-request policy admission control</a:t>
                      </a:r>
                    </a:p>
                    <a:p>
                      <a:pPr marL="171450" indent="-171450">
                        <a:buFont typeface="Arial" panose="020B0604020202020204" pitchFamily="34" charset="0"/>
                        <a:buChar char="•"/>
                      </a:pPr>
                      <a:r>
                        <a:rPr lang="en-US" sz="1600" dirty="0">
                          <a:solidFill>
                            <a:schemeClr val="tx1"/>
                          </a:solidFill>
                        </a:rPr>
                        <a:t>Signaling of dynamic port numbers</a:t>
                      </a:r>
                    </a:p>
                  </a:txBody>
                  <a:tcPr marT="60960" marB="60960"/>
                </a:tc>
                <a:tc>
                  <a:txBody>
                    <a:bodyPr/>
                    <a:lstStyle/>
                    <a:p>
                      <a:pPr marL="171450" indent="-171450">
                        <a:buFont typeface="Arial" panose="020B0604020202020204" pitchFamily="34" charset="0"/>
                        <a:buChar char="•"/>
                      </a:pPr>
                      <a:r>
                        <a:rPr lang="en-US" sz="1600" dirty="0">
                          <a:solidFill>
                            <a:schemeClr val="tx1"/>
                          </a:solidFill>
                        </a:rPr>
                        <a:t>Resource intensive due to the stateful architecture requirement for continuous signaling.</a:t>
                      </a:r>
                    </a:p>
                    <a:p>
                      <a:pPr marL="171450" indent="-171450">
                        <a:buFont typeface="Arial" panose="020B0604020202020204" pitchFamily="34" charset="0"/>
                        <a:buChar char="•"/>
                      </a:pPr>
                      <a:r>
                        <a:rPr lang="en-US" sz="1600" dirty="0">
                          <a:solidFill>
                            <a:schemeClr val="tx1"/>
                          </a:solidFill>
                        </a:rPr>
                        <a:t>Flow-based approach not scalable to large implementations such as the internet.</a:t>
                      </a:r>
                    </a:p>
                  </a:txBody>
                  <a:tcPr marT="60960" marB="60960"/>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1421595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4268" y="1628800"/>
            <a:ext cx="5125804" cy="3600400"/>
          </a:xfrm>
        </p:spPr>
        <p:txBody>
          <a:bodyPr/>
          <a:lstStyle/>
          <a:p>
            <a:pPr marL="0" indent="0" algn="l"/>
            <a:r>
              <a:rPr lang="en-US" sz="1800" dirty="0">
                <a:solidFill>
                  <a:srgbClr val="000000"/>
                </a:solidFill>
              </a:rPr>
              <a:t>Simple and scalable mechanism for classifying and managing network traffic.</a:t>
            </a:r>
          </a:p>
          <a:p>
            <a:pPr marL="285750" indent="-285750" algn="l">
              <a:buFont typeface="Arial" panose="020B0604020202020204" pitchFamily="34" charset="0"/>
              <a:buChar char="•"/>
            </a:pPr>
            <a:r>
              <a:rPr lang="en-US" sz="1800" dirty="0">
                <a:solidFill>
                  <a:srgbClr val="000000"/>
                </a:solidFill>
              </a:rPr>
              <a:t>Is not an end-to-end QoS strategy because it cannot enforce end-to-end guarantees.</a:t>
            </a:r>
          </a:p>
          <a:p>
            <a:pPr marL="285750" indent="-285750" algn="l">
              <a:buFont typeface="Arial" panose="020B0604020202020204" pitchFamily="34" charset="0"/>
              <a:buChar char="•"/>
            </a:pPr>
            <a:r>
              <a:rPr lang="en-US" sz="1800" dirty="0">
                <a:solidFill>
                  <a:srgbClr val="000000"/>
                </a:solidFill>
              </a:rPr>
              <a:t>The router which classifies the flows into classes based on business requirements and provides the appropriate QoS policy for the classes. </a:t>
            </a:r>
          </a:p>
          <a:p>
            <a:pPr marL="285750" indent="-285750" algn="l">
              <a:buFont typeface="Arial" panose="020B0604020202020204" pitchFamily="34" charset="0"/>
              <a:buChar char="•"/>
            </a:pPr>
            <a:r>
              <a:rPr lang="en-US" sz="1800" dirty="0">
                <a:solidFill>
                  <a:srgbClr val="000000"/>
                </a:solidFill>
              </a:rPr>
              <a:t>Enforces and applies QoS mechanisms on a hop-by-hop basis</a:t>
            </a:r>
          </a:p>
          <a:p>
            <a:pPr marL="285750" indent="-285750" algn="l">
              <a:buFont typeface="Arial" panose="020B0604020202020204" pitchFamily="34" charset="0"/>
              <a:buChar char="•"/>
            </a:pPr>
            <a:r>
              <a:rPr lang="en-US" sz="1800" dirty="0">
                <a:solidFill>
                  <a:srgbClr val="000000"/>
                </a:solidFill>
              </a:rPr>
              <a:t>It is possible to choose many levels of service with </a:t>
            </a:r>
            <a:r>
              <a:rPr lang="en-US" sz="1800" dirty="0" err="1">
                <a:solidFill>
                  <a:srgbClr val="000000"/>
                </a:solidFill>
              </a:rPr>
              <a:t>DiffServ</a:t>
            </a:r>
            <a:r>
              <a:rPr lang="en-US" sz="1800" dirty="0">
                <a:solidFill>
                  <a:srgbClr val="000000"/>
                </a:solidFill>
              </a:rPr>
              <a:t>. </a:t>
            </a:r>
          </a:p>
          <a:p>
            <a:pPr marL="285750" indent="-285750" algn="l">
              <a:buFont typeface="Arial" panose="020B0604020202020204" pitchFamily="34" charset="0"/>
              <a:buChar char="•"/>
            </a:pPr>
            <a:endParaRPr lang="en-US" sz="1800" dirty="0">
              <a:solidFill>
                <a:srgbClr val="000000"/>
              </a:solidFill>
            </a:endParaRPr>
          </a:p>
        </p:txBody>
      </p:sp>
      <p:pic>
        <p:nvPicPr>
          <p:cNvPr id="2" name="Picture 1">
            <a:extLst>
              <a:ext uri="{FF2B5EF4-FFF2-40B4-BE49-F238E27FC236}">
                <a16:creationId xmlns:a16="http://schemas.microsoft.com/office/drawing/2014/main" id="{16249DE6-28AD-4568-AA12-A6208561B7E6}"/>
              </a:ext>
            </a:extLst>
          </p:cNvPr>
          <p:cNvPicPr>
            <a:picLocks noChangeAspect="1"/>
          </p:cNvPicPr>
          <p:nvPr/>
        </p:nvPicPr>
        <p:blipFill>
          <a:blip r:embed="rId3"/>
          <a:stretch>
            <a:fillRect/>
          </a:stretch>
        </p:blipFill>
        <p:spPr>
          <a:xfrm>
            <a:off x="5003972" y="1196752"/>
            <a:ext cx="4140028" cy="3447873"/>
          </a:xfrm>
          <a:prstGeom prst="rect">
            <a:avLst/>
          </a:prstGeom>
        </p:spPr>
      </p:pic>
      <p:sp>
        <p:nvSpPr>
          <p:cNvPr id="6" name="Title 2">
            <a:extLst>
              <a:ext uri="{FF2B5EF4-FFF2-40B4-BE49-F238E27FC236}">
                <a16:creationId xmlns:a16="http://schemas.microsoft.com/office/drawing/2014/main" id="{C02AA8F8-1E43-384B-8982-C0BB94049B5C}"/>
              </a:ext>
            </a:extLst>
          </p:cNvPr>
          <p:cNvSpPr>
            <a:spLocks noGrp="1"/>
          </p:cNvSpPr>
          <p:nvPr>
            <p:ph type="title"/>
          </p:nvPr>
        </p:nvSpPr>
        <p:spPr>
          <a:xfrm>
            <a:off x="437766" y="653017"/>
            <a:ext cx="8345488" cy="975783"/>
          </a:xfrm>
        </p:spPr>
        <p:txBody>
          <a:bodyPr/>
          <a:lstStyle/>
          <a:p>
            <a:r>
              <a:rPr lang="en-US" dirty="0">
                <a:solidFill>
                  <a:schemeClr val="tx1"/>
                </a:solidFill>
              </a:rPr>
              <a:t>Differentiated Services</a:t>
            </a:r>
          </a:p>
        </p:txBody>
      </p:sp>
      <p:graphicFrame>
        <p:nvGraphicFramePr>
          <p:cNvPr id="7" name="Content Placeholder 6">
            <a:extLst>
              <a:ext uri="{FF2B5EF4-FFF2-40B4-BE49-F238E27FC236}">
                <a16:creationId xmlns:a16="http://schemas.microsoft.com/office/drawing/2014/main" id="{E5D5D165-4B1A-47E2-808B-C427AC3757AF}"/>
              </a:ext>
            </a:extLst>
          </p:cNvPr>
          <p:cNvGraphicFramePr>
            <a:graphicFrameLocks/>
          </p:cNvGraphicFramePr>
          <p:nvPr>
            <p:extLst>
              <p:ext uri="{D42A27DB-BD31-4B8C-83A1-F6EECF244321}">
                <p14:modId xmlns:p14="http://schemas.microsoft.com/office/powerpoint/2010/main" val="3477116470"/>
              </p:ext>
            </p:extLst>
          </p:nvPr>
        </p:nvGraphicFramePr>
        <p:xfrm>
          <a:off x="467544" y="5244813"/>
          <a:ext cx="8352928" cy="1503732"/>
        </p:xfrm>
        <a:graphic>
          <a:graphicData uri="http://schemas.openxmlformats.org/drawingml/2006/table">
            <a:tbl>
              <a:tblPr firstRow="1" bandRow="1">
                <a:tableStyleId>{F5AB1C69-6EDB-4FF4-983F-18BD219EF322}</a:tableStyleId>
              </a:tblPr>
              <a:tblGrid>
                <a:gridCol w="3528392">
                  <a:extLst>
                    <a:ext uri="{9D8B030D-6E8A-4147-A177-3AD203B41FA5}">
                      <a16:colId xmlns:a16="http://schemas.microsoft.com/office/drawing/2014/main" val="3729139006"/>
                    </a:ext>
                  </a:extLst>
                </a:gridCol>
                <a:gridCol w="4824536">
                  <a:extLst>
                    <a:ext uri="{9D8B030D-6E8A-4147-A177-3AD203B41FA5}">
                      <a16:colId xmlns:a16="http://schemas.microsoft.com/office/drawing/2014/main" val="2623022619"/>
                    </a:ext>
                  </a:extLst>
                </a:gridCol>
              </a:tblGrid>
              <a:tr h="293825">
                <a:tc>
                  <a:txBody>
                    <a:bodyPr/>
                    <a:lstStyle/>
                    <a:p>
                      <a:r>
                        <a:rPr lang="en-US" sz="1800" dirty="0">
                          <a:solidFill>
                            <a:schemeClr val="tx1"/>
                          </a:solidFill>
                        </a:rPr>
                        <a:t>Benefits</a:t>
                      </a:r>
                    </a:p>
                  </a:txBody>
                  <a:tcPr marT="60960" marB="60960"/>
                </a:tc>
                <a:tc>
                  <a:txBody>
                    <a:bodyPr/>
                    <a:lstStyle/>
                    <a:p>
                      <a:r>
                        <a:rPr lang="en-US" sz="1800" dirty="0">
                          <a:solidFill>
                            <a:schemeClr val="tx1"/>
                          </a:solidFill>
                        </a:rPr>
                        <a:t>Drawbacks</a:t>
                      </a:r>
                    </a:p>
                  </a:txBody>
                  <a:tcPr marT="60960" marB="60960"/>
                </a:tc>
                <a:extLst>
                  <a:ext uri="{0D108BD9-81ED-4DB2-BD59-A6C34878D82A}">
                    <a16:rowId xmlns:a16="http://schemas.microsoft.com/office/drawing/2014/main" val="2583676789"/>
                  </a:ext>
                </a:extLst>
              </a:tr>
              <a:tr h="1107492">
                <a:tc>
                  <a:txBody>
                    <a:bodyPr/>
                    <a:lstStyle/>
                    <a:p>
                      <a:pPr marL="171450" indent="-171450">
                        <a:buFont typeface="Arial" panose="020B0604020202020204" pitchFamily="34" charset="0"/>
                        <a:buChar char="•"/>
                      </a:pPr>
                      <a:r>
                        <a:rPr lang="en-US" sz="1800" dirty="0">
                          <a:solidFill>
                            <a:schemeClr val="tx1"/>
                          </a:solidFill>
                        </a:rPr>
                        <a:t>Highly scalable</a:t>
                      </a:r>
                    </a:p>
                    <a:p>
                      <a:pPr marL="171450" indent="-171450">
                        <a:buFont typeface="Arial" panose="020B0604020202020204" pitchFamily="34" charset="0"/>
                        <a:buChar char="•"/>
                      </a:pPr>
                      <a:r>
                        <a:rPr lang="en-US" sz="1800" dirty="0">
                          <a:solidFill>
                            <a:schemeClr val="tx1"/>
                          </a:solidFill>
                        </a:rPr>
                        <a:t>Provides many different levels of quality</a:t>
                      </a:r>
                    </a:p>
                  </a:txBody>
                  <a:tcPr marT="60960" marB="60960"/>
                </a:tc>
                <a:tc>
                  <a:txBody>
                    <a:bodyPr/>
                    <a:lstStyle/>
                    <a:p>
                      <a:pPr marL="171450" indent="-171450">
                        <a:buFont typeface="Arial" panose="020B0604020202020204" pitchFamily="34" charset="0"/>
                        <a:buChar char="•"/>
                      </a:pPr>
                      <a:r>
                        <a:rPr lang="en-US" sz="1800" dirty="0">
                          <a:solidFill>
                            <a:schemeClr val="tx1"/>
                          </a:solidFill>
                        </a:rPr>
                        <a:t>No absolute guarantee of service quality</a:t>
                      </a:r>
                    </a:p>
                    <a:p>
                      <a:pPr marL="171450" indent="-171450">
                        <a:buFont typeface="Arial" panose="020B0604020202020204" pitchFamily="34" charset="0"/>
                        <a:buChar char="•"/>
                      </a:pPr>
                      <a:r>
                        <a:rPr lang="en-US" sz="1800" dirty="0">
                          <a:solidFill>
                            <a:schemeClr val="tx1"/>
                          </a:solidFill>
                        </a:rPr>
                        <a:t>Requires a set of complex mechanisms to work in concert throughout the network</a:t>
                      </a:r>
                    </a:p>
                  </a:txBody>
                  <a:tcPr marT="60960" marB="60960"/>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40559521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err="1">
                <a:solidFill>
                  <a:schemeClr val="accent5">
                    <a:lumMod val="40000"/>
                    <a:lumOff val="60000"/>
                  </a:schemeClr>
                </a:solidFill>
              </a:rPr>
              <a:t>QoS</a:t>
            </a:r>
            <a:r>
              <a:rPr lang="en-US" dirty="0">
                <a:solidFill>
                  <a:schemeClr val="accent5">
                    <a:lumMod val="40000"/>
                    <a:lumOff val="60000"/>
                  </a:schemeClr>
                </a:solidFill>
              </a:rPr>
              <a:t> Implementation Techniques</a:t>
            </a:r>
          </a:p>
          <a:p>
            <a:endParaRPr lang="en-GB" dirty="0"/>
          </a:p>
        </p:txBody>
      </p:sp>
    </p:spTree>
    <p:custDataLst>
      <p:tags r:id="rId1"/>
    </p:custDataLst>
    <p:extLst>
      <p:ext uri="{BB962C8B-B14F-4D97-AF65-F5344CB8AC3E}">
        <p14:creationId xmlns:p14="http://schemas.microsoft.com/office/powerpoint/2010/main" val="1486752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797033"/>
            <a:ext cx="8345488" cy="975783"/>
          </a:xfrm>
        </p:spPr>
        <p:txBody>
          <a:bodyPr/>
          <a:lstStyle/>
          <a:p>
            <a:r>
              <a:rPr lang="en-US" dirty="0" err="1">
                <a:solidFill>
                  <a:schemeClr val="tx1"/>
                </a:solidFill>
              </a:rPr>
              <a:t>QoS</a:t>
            </a:r>
            <a:r>
              <a:rPr lang="en-US" dirty="0">
                <a:solidFill>
                  <a:schemeClr val="tx1"/>
                </a:solidFill>
              </a:rPr>
              <a:t> Tools</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1618229162"/>
              </p:ext>
            </p:extLst>
          </p:nvPr>
        </p:nvGraphicFramePr>
        <p:xfrm>
          <a:off x="532338" y="1837619"/>
          <a:ext cx="8360142" cy="4183669"/>
        </p:xfrm>
        <a:graphic>
          <a:graphicData uri="http://schemas.openxmlformats.org/drawingml/2006/table">
            <a:tbl>
              <a:tblPr firstRow="1" bandRow="1">
                <a:tableStyleId>{F5AB1C69-6EDB-4FF4-983F-18BD219EF322}</a:tableStyleId>
              </a:tblPr>
              <a:tblGrid>
                <a:gridCol w="2474864">
                  <a:extLst>
                    <a:ext uri="{9D8B030D-6E8A-4147-A177-3AD203B41FA5}">
                      <a16:colId xmlns:a16="http://schemas.microsoft.com/office/drawing/2014/main" val="3729139006"/>
                    </a:ext>
                  </a:extLst>
                </a:gridCol>
                <a:gridCol w="5885278">
                  <a:extLst>
                    <a:ext uri="{9D8B030D-6E8A-4147-A177-3AD203B41FA5}">
                      <a16:colId xmlns:a16="http://schemas.microsoft.com/office/drawing/2014/main" val="2623022619"/>
                    </a:ext>
                  </a:extLst>
                </a:gridCol>
              </a:tblGrid>
              <a:tr h="406400">
                <a:tc>
                  <a:txBody>
                    <a:bodyPr/>
                    <a:lstStyle/>
                    <a:p>
                      <a:r>
                        <a:rPr lang="en-US" sz="2000" dirty="0">
                          <a:solidFill>
                            <a:schemeClr val="tx1"/>
                          </a:solidFill>
                        </a:rPr>
                        <a:t>QoS Tools</a:t>
                      </a:r>
                    </a:p>
                  </a:txBody>
                  <a:tcPr marT="60960" marB="60960"/>
                </a:tc>
                <a:tc>
                  <a:txBody>
                    <a:bodyPr/>
                    <a:lstStyle/>
                    <a:p>
                      <a:r>
                        <a:rPr lang="en-US" sz="2000" dirty="0">
                          <a:solidFill>
                            <a:schemeClr val="tx1"/>
                          </a:solidFill>
                        </a:rPr>
                        <a:t>Description</a:t>
                      </a:r>
                    </a:p>
                  </a:txBody>
                  <a:tcPr marT="60960" marB="60960"/>
                </a:tc>
                <a:extLst>
                  <a:ext uri="{0D108BD9-81ED-4DB2-BD59-A6C34878D82A}">
                    <a16:rowId xmlns:a16="http://schemas.microsoft.com/office/drawing/2014/main" val="2583676789"/>
                  </a:ext>
                </a:extLst>
              </a:tr>
              <a:tr h="840925">
                <a:tc>
                  <a:txBody>
                    <a:bodyPr/>
                    <a:lstStyle/>
                    <a:p>
                      <a:pPr marL="0" indent="0">
                        <a:buFont typeface="Arial" panose="020B0604020202020204" pitchFamily="34" charset="0"/>
                        <a:buNone/>
                      </a:pPr>
                      <a:r>
                        <a:rPr lang="en-US" sz="2000" dirty="0">
                          <a:solidFill>
                            <a:schemeClr val="tx1"/>
                          </a:solidFill>
                        </a:rPr>
                        <a:t>Classification and marking tools</a:t>
                      </a:r>
                    </a:p>
                  </a:txBody>
                  <a:tcPr marT="60960" marB="60960"/>
                </a:tc>
                <a:tc>
                  <a:txBody>
                    <a:bodyPr/>
                    <a:lstStyle/>
                    <a:p>
                      <a:pPr marL="171450" indent="-171450">
                        <a:buFont typeface="Arial" panose="020B0604020202020204" pitchFamily="34" charset="0"/>
                        <a:buChar char="•"/>
                      </a:pPr>
                      <a:r>
                        <a:rPr lang="en-US" sz="2000" dirty="0">
                          <a:solidFill>
                            <a:schemeClr val="tx1"/>
                          </a:solidFill>
                        </a:rPr>
                        <a:t>Sessions, or flows, are analyzed to determine what traffic class they belong to</a:t>
                      </a:r>
                      <a:r>
                        <a:rPr lang="en-US" sz="2000" baseline="0" dirty="0">
                          <a:solidFill>
                            <a:schemeClr val="tx1"/>
                          </a:solidFill>
                        </a:rPr>
                        <a:t> and then marked</a:t>
                      </a:r>
                      <a:endParaRPr lang="en-US" sz="2000" dirty="0">
                        <a:solidFill>
                          <a:schemeClr val="tx1"/>
                        </a:solidFill>
                      </a:endParaRPr>
                    </a:p>
                  </a:txBody>
                  <a:tcPr marT="60960" marB="60960"/>
                </a:tc>
                <a:extLst>
                  <a:ext uri="{0D108BD9-81ED-4DB2-BD59-A6C34878D82A}">
                    <a16:rowId xmlns:a16="http://schemas.microsoft.com/office/drawing/2014/main" val="3849654457"/>
                  </a:ext>
                </a:extLst>
              </a:tr>
              <a:tr h="1656184">
                <a:tc>
                  <a:txBody>
                    <a:bodyPr/>
                    <a:lstStyle/>
                    <a:p>
                      <a:pPr marL="0" indent="0">
                        <a:buFont typeface="Arial" panose="020B0604020202020204" pitchFamily="34" charset="0"/>
                        <a:buNone/>
                      </a:pPr>
                      <a:r>
                        <a:rPr lang="en-US" sz="2000" dirty="0">
                          <a:solidFill>
                            <a:schemeClr val="tx1"/>
                          </a:solidFill>
                        </a:rPr>
                        <a:t>Congestion avoidance tools</a:t>
                      </a:r>
                    </a:p>
                  </a:txBody>
                  <a:tcPr marT="60960" marB="60960"/>
                </a:tc>
                <a:tc>
                  <a:txBody>
                    <a:bodyPr/>
                    <a:lstStyle/>
                    <a:p>
                      <a:pPr marL="171450" indent="-171450">
                        <a:buFont typeface="Arial" panose="020B0604020202020204" pitchFamily="34" charset="0"/>
                        <a:buChar char="•"/>
                      </a:pPr>
                      <a:r>
                        <a:rPr lang="en-US" sz="2000" dirty="0">
                          <a:solidFill>
                            <a:schemeClr val="tx1"/>
                          </a:solidFill>
                        </a:rPr>
                        <a:t>Traffic classes are allotted portions of network resources, as defined by the QoS policy.</a:t>
                      </a:r>
                    </a:p>
                    <a:p>
                      <a:pPr marL="171450" indent="-171450">
                        <a:buFont typeface="Arial" panose="020B0604020202020204" pitchFamily="34" charset="0"/>
                        <a:buChar char="•"/>
                      </a:pPr>
                      <a:r>
                        <a:rPr lang="en-US" sz="2000" dirty="0">
                          <a:solidFill>
                            <a:schemeClr val="tx1"/>
                          </a:solidFill>
                        </a:rPr>
                        <a:t>The QoS policy also identifies how some traffic may be selectively dropped, delayed, or re-marked to avoid congestion.</a:t>
                      </a:r>
                    </a:p>
                  </a:txBody>
                  <a:tcPr marT="60960" marB="60960"/>
                </a:tc>
                <a:extLst>
                  <a:ext uri="{0D108BD9-81ED-4DB2-BD59-A6C34878D82A}">
                    <a16:rowId xmlns:a16="http://schemas.microsoft.com/office/drawing/2014/main" val="1615639436"/>
                  </a:ext>
                </a:extLst>
              </a:tr>
              <a:tr h="1259840">
                <a:tc>
                  <a:txBody>
                    <a:bodyPr/>
                    <a:lstStyle/>
                    <a:p>
                      <a:pPr marL="0" indent="0">
                        <a:buFont typeface="Arial" panose="020B0604020202020204" pitchFamily="34" charset="0"/>
                        <a:buNone/>
                      </a:pPr>
                      <a:r>
                        <a:rPr lang="en-US" sz="2000" dirty="0">
                          <a:solidFill>
                            <a:schemeClr val="tx1"/>
                          </a:solidFill>
                        </a:rPr>
                        <a:t>Congestion management tools</a:t>
                      </a:r>
                    </a:p>
                  </a:txBody>
                  <a:tcPr marT="60960" marB="60960"/>
                </a:tc>
                <a:tc>
                  <a:txBody>
                    <a:bodyPr/>
                    <a:lstStyle/>
                    <a:p>
                      <a:pPr marL="171450" indent="-171450">
                        <a:buFont typeface="Arial" panose="020B0604020202020204" pitchFamily="34" charset="0"/>
                        <a:buChar char="•"/>
                      </a:pPr>
                      <a:r>
                        <a:rPr lang="en-US" sz="2000" dirty="0">
                          <a:solidFill>
                            <a:schemeClr val="tx1"/>
                          </a:solidFill>
                        </a:rPr>
                        <a:t>When traffic exceeds available network resources, traffic is queued to await availability of resources.</a:t>
                      </a:r>
                    </a:p>
                  </a:txBody>
                  <a:tcPr marT="60960" marB="60960"/>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389336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980728"/>
            <a:ext cx="8345488" cy="975783"/>
          </a:xfrm>
        </p:spPr>
        <p:txBody>
          <a:bodyPr/>
          <a:lstStyle/>
          <a:p>
            <a:r>
              <a:rPr lang="en-US" dirty="0" err="1">
                <a:solidFill>
                  <a:schemeClr val="tx1"/>
                </a:solidFill>
              </a:rPr>
              <a:t>QoS</a:t>
            </a:r>
            <a:r>
              <a:rPr lang="en-US" dirty="0">
                <a:solidFill>
                  <a:schemeClr val="tx1"/>
                </a:solidFill>
              </a:rPr>
              <a:t> Tools</a:t>
            </a:r>
          </a:p>
        </p:txBody>
      </p:sp>
      <p:sp>
        <p:nvSpPr>
          <p:cNvPr id="6" name="Rectangle 5">
            <a:extLst>
              <a:ext uri="{FF2B5EF4-FFF2-40B4-BE49-F238E27FC236}">
                <a16:creationId xmlns:a16="http://schemas.microsoft.com/office/drawing/2014/main" id="{F441D26B-B5D4-4183-86F2-E2817AEFACA9}"/>
              </a:ext>
            </a:extLst>
          </p:cNvPr>
          <p:cNvSpPr/>
          <p:nvPr/>
        </p:nvSpPr>
        <p:spPr>
          <a:xfrm>
            <a:off x="1691680" y="5948276"/>
            <a:ext cx="5976664" cy="461665"/>
          </a:xfrm>
          <a:prstGeom prst="rect">
            <a:avLst/>
          </a:prstGeom>
        </p:spPr>
        <p:txBody>
          <a:bodyPr wrap="square">
            <a:spAutoFit/>
          </a:bodyPr>
          <a:lstStyle/>
          <a:p>
            <a:r>
              <a:rPr lang="en-US" sz="1200" b="1" dirty="0"/>
              <a:t>Note</a:t>
            </a:r>
            <a:r>
              <a:rPr lang="en-US" sz="1200" dirty="0"/>
              <a:t>: Classification and marking can be done on ingress or egress, whereas other QoS actions such queuing and shaping are usually done on egress.</a:t>
            </a:r>
          </a:p>
        </p:txBody>
      </p:sp>
      <p:pic>
        <p:nvPicPr>
          <p:cNvPr id="2" name="Picture 1">
            <a:extLst>
              <a:ext uri="{FF2B5EF4-FFF2-40B4-BE49-F238E27FC236}">
                <a16:creationId xmlns:a16="http://schemas.microsoft.com/office/drawing/2014/main" id="{DA5A77B4-DD31-45EF-81C3-3E142EC2AA7A}"/>
              </a:ext>
            </a:extLst>
          </p:cNvPr>
          <p:cNvPicPr>
            <a:picLocks noChangeAspect="1"/>
          </p:cNvPicPr>
          <p:nvPr/>
        </p:nvPicPr>
        <p:blipFill>
          <a:blip r:embed="rId3"/>
          <a:stretch>
            <a:fillRect/>
          </a:stretch>
        </p:blipFill>
        <p:spPr>
          <a:xfrm>
            <a:off x="1043608" y="1927142"/>
            <a:ext cx="7631005" cy="3790302"/>
          </a:xfrm>
          <a:prstGeom prst="rect">
            <a:avLst/>
          </a:prstGeom>
        </p:spPr>
      </p:pic>
    </p:spTree>
    <p:extLst>
      <p:ext uri="{BB962C8B-B14F-4D97-AF65-F5344CB8AC3E}">
        <p14:creationId xmlns:p14="http://schemas.microsoft.com/office/powerpoint/2010/main" val="16149208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6553" y="764704"/>
            <a:ext cx="8345488" cy="975783"/>
          </a:xfrm>
        </p:spPr>
        <p:txBody>
          <a:bodyPr/>
          <a:lstStyle/>
          <a:p>
            <a:r>
              <a:rPr lang="en-US" dirty="0">
                <a:solidFill>
                  <a:schemeClr val="tx1"/>
                </a:solidFill>
              </a:rPr>
              <a:t>Classification and Marking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1772816"/>
            <a:ext cx="7913516" cy="2983405"/>
          </a:xfrm>
        </p:spPr>
        <p:txBody>
          <a:bodyPr/>
          <a:lstStyle/>
          <a:p>
            <a:pPr marL="0" indent="0" algn="l"/>
            <a:r>
              <a:rPr lang="en-US" sz="1600" dirty="0">
                <a:solidFill>
                  <a:srgbClr val="000000"/>
                </a:solidFill>
              </a:rPr>
              <a:t>Before a packet can have a QoS policy applied to it, the packet has to be classified.</a:t>
            </a:r>
          </a:p>
          <a:p>
            <a:pPr marL="0" indent="0" algn="l"/>
            <a:r>
              <a:rPr lang="en-US" sz="1600" dirty="0">
                <a:solidFill>
                  <a:srgbClr val="000000"/>
                </a:solidFill>
              </a:rPr>
              <a:t>Classification determines the class of traffic to which packets or frames belong. Only after traffic is marked can policies be applied to it.</a:t>
            </a:r>
          </a:p>
          <a:p>
            <a:pPr marL="0" indent="0" algn="l"/>
            <a:r>
              <a:rPr lang="en-US" sz="1600" dirty="0">
                <a:solidFill>
                  <a:srgbClr val="000000"/>
                </a:solidFill>
              </a:rPr>
              <a:t>How a packet is classified depends on the QoS implementation. </a:t>
            </a:r>
          </a:p>
          <a:p>
            <a:pPr marL="358835" lvl="1" indent="-285750">
              <a:buFont typeface="Arial" panose="020B0604020202020204" pitchFamily="34" charset="0"/>
              <a:buChar char="•"/>
            </a:pPr>
            <a:r>
              <a:rPr lang="en-US" sz="1600" dirty="0">
                <a:solidFill>
                  <a:srgbClr val="000000"/>
                </a:solidFill>
              </a:rPr>
              <a:t>Methods of classifying traffic flows at Layer 2 and 3 include using interfaces, ACLs, and class maps. </a:t>
            </a:r>
          </a:p>
          <a:p>
            <a:pPr marL="358835" lvl="1" indent="-285750">
              <a:buFont typeface="Arial" panose="020B0604020202020204" pitchFamily="34" charset="0"/>
              <a:buChar char="•"/>
            </a:pPr>
            <a:r>
              <a:rPr lang="en-US" sz="1600" dirty="0">
                <a:solidFill>
                  <a:srgbClr val="000000"/>
                </a:solidFill>
              </a:rPr>
              <a:t>Traffic can also be classified at Layers 4 to 7 using </a:t>
            </a:r>
            <a:r>
              <a:rPr lang="en-US" sz="1600" b="1" dirty="0">
                <a:solidFill>
                  <a:srgbClr val="000000"/>
                </a:solidFill>
              </a:rPr>
              <a:t>Network Based Application Recognition (NBAR).</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3063391583"/>
              </p:ext>
            </p:extLst>
          </p:nvPr>
        </p:nvGraphicFramePr>
        <p:xfrm>
          <a:off x="532338" y="4131136"/>
          <a:ext cx="8079325" cy="2682240"/>
        </p:xfrm>
        <a:graphic>
          <a:graphicData uri="http://schemas.openxmlformats.org/drawingml/2006/table">
            <a:tbl>
              <a:tblPr firstRow="1" bandRow="1">
                <a:tableStyleId>{F5AB1C69-6EDB-4FF4-983F-18BD219EF322}</a:tableStyleId>
              </a:tblPr>
              <a:tblGrid>
                <a:gridCol w="2321395">
                  <a:extLst>
                    <a:ext uri="{9D8B030D-6E8A-4147-A177-3AD203B41FA5}">
                      <a16:colId xmlns:a16="http://schemas.microsoft.com/office/drawing/2014/main" val="3729139006"/>
                    </a:ext>
                  </a:extLst>
                </a:gridCol>
                <a:gridCol w="854171">
                  <a:extLst>
                    <a:ext uri="{9D8B030D-6E8A-4147-A177-3AD203B41FA5}">
                      <a16:colId xmlns:a16="http://schemas.microsoft.com/office/drawing/2014/main" val="1365117144"/>
                    </a:ext>
                  </a:extLst>
                </a:gridCol>
                <a:gridCol w="3657539">
                  <a:extLst>
                    <a:ext uri="{9D8B030D-6E8A-4147-A177-3AD203B41FA5}">
                      <a16:colId xmlns:a16="http://schemas.microsoft.com/office/drawing/2014/main" val="261006758"/>
                    </a:ext>
                  </a:extLst>
                </a:gridCol>
                <a:gridCol w="1246220">
                  <a:extLst>
                    <a:ext uri="{9D8B030D-6E8A-4147-A177-3AD203B41FA5}">
                      <a16:colId xmlns:a16="http://schemas.microsoft.com/office/drawing/2014/main" val="2623022619"/>
                    </a:ext>
                  </a:extLst>
                </a:gridCol>
              </a:tblGrid>
              <a:tr h="335736">
                <a:tc>
                  <a:txBody>
                    <a:bodyPr/>
                    <a:lstStyle/>
                    <a:p>
                      <a:r>
                        <a:rPr lang="en-US" sz="1600" dirty="0">
                          <a:solidFill>
                            <a:schemeClr val="tx1"/>
                          </a:solidFill>
                        </a:rPr>
                        <a:t>QoS Tools</a:t>
                      </a:r>
                    </a:p>
                  </a:txBody>
                  <a:tcPr marT="60960" marB="60960"/>
                </a:tc>
                <a:tc>
                  <a:txBody>
                    <a:bodyPr/>
                    <a:lstStyle/>
                    <a:p>
                      <a:r>
                        <a:rPr lang="en-US" sz="1600" dirty="0">
                          <a:solidFill>
                            <a:schemeClr val="tx1"/>
                          </a:solidFill>
                        </a:rPr>
                        <a:t>Layer</a:t>
                      </a:r>
                    </a:p>
                  </a:txBody>
                  <a:tcPr marT="60960" marB="60960"/>
                </a:tc>
                <a:tc>
                  <a:txBody>
                    <a:bodyPr/>
                    <a:lstStyle/>
                    <a:p>
                      <a:r>
                        <a:rPr lang="en-US" sz="1600" dirty="0">
                          <a:solidFill>
                            <a:schemeClr val="tx1"/>
                          </a:solidFill>
                        </a:rPr>
                        <a:t>Marking Field</a:t>
                      </a:r>
                    </a:p>
                  </a:txBody>
                  <a:tcPr marT="60960" marB="60960"/>
                </a:tc>
                <a:tc>
                  <a:txBody>
                    <a:bodyPr/>
                    <a:lstStyle/>
                    <a:p>
                      <a:r>
                        <a:rPr lang="en-US" sz="1600" dirty="0">
                          <a:solidFill>
                            <a:schemeClr val="tx1"/>
                          </a:solidFill>
                        </a:rPr>
                        <a:t>Bits</a:t>
                      </a:r>
                    </a:p>
                  </a:txBody>
                  <a:tcPr marT="60960" marB="60960"/>
                </a:tc>
                <a:extLst>
                  <a:ext uri="{0D108BD9-81ED-4DB2-BD59-A6C34878D82A}">
                    <a16:rowId xmlns:a16="http://schemas.microsoft.com/office/drawing/2014/main" val="2583676789"/>
                  </a:ext>
                </a:extLst>
              </a:tr>
              <a:tr h="559559">
                <a:tc>
                  <a:txBody>
                    <a:bodyPr/>
                    <a:lstStyle/>
                    <a:p>
                      <a:pPr marL="0" indent="0">
                        <a:buFont typeface="Arial" panose="020B0604020202020204" pitchFamily="34" charset="0"/>
                        <a:buNone/>
                      </a:pPr>
                      <a:r>
                        <a:rPr lang="en-US" sz="1600" dirty="0">
                          <a:solidFill>
                            <a:schemeClr val="tx1"/>
                          </a:solidFill>
                        </a:rPr>
                        <a:t>Ethernet (802.1q, 802.1p)</a:t>
                      </a:r>
                    </a:p>
                  </a:txBody>
                  <a:tcPr marT="60960" marB="60960"/>
                </a:tc>
                <a:tc>
                  <a:txBody>
                    <a:bodyPr/>
                    <a:lstStyle/>
                    <a:p>
                      <a:pPr marL="0" indent="0">
                        <a:buFont typeface="Arial" panose="020B0604020202020204" pitchFamily="34" charset="0"/>
                        <a:buNone/>
                      </a:pPr>
                      <a:r>
                        <a:rPr lang="en-US" sz="1600" dirty="0">
                          <a:solidFill>
                            <a:schemeClr val="tx1"/>
                          </a:solidFill>
                        </a:rPr>
                        <a:t>2</a:t>
                      </a:r>
                    </a:p>
                  </a:txBody>
                  <a:tcPr marT="60960" marB="60960"/>
                </a:tc>
                <a:tc>
                  <a:txBody>
                    <a:bodyPr/>
                    <a:lstStyle/>
                    <a:p>
                      <a:pPr marL="0" indent="0">
                        <a:buFont typeface="Arial" panose="020B0604020202020204" pitchFamily="34" charset="0"/>
                        <a:buNone/>
                      </a:pPr>
                      <a:r>
                        <a:rPr lang="en-US" sz="1600" dirty="0">
                          <a:solidFill>
                            <a:schemeClr val="tx1"/>
                          </a:solidFill>
                        </a:rPr>
                        <a:t>Class of Service (</a:t>
                      </a:r>
                      <a:r>
                        <a:rPr lang="en-US" sz="1600" dirty="0" err="1">
                          <a:solidFill>
                            <a:schemeClr val="tx1"/>
                          </a:solidFill>
                        </a:rPr>
                        <a:t>CoS</a:t>
                      </a:r>
                      <a:r>
                        <a:rPr lang="en-US" sz="1600" dirty="0">
                          <a:solidFill>
                            <a:schemeClr val="tx1"/>
                          </a:solidFill>
                        </a:rPr>
                        <a:t>)</a:t>
                      </a:r>
                    </a:p>
                  </a:txBody>
                  <a:tcPr marT="60960" marB="60960"/>
                </a:tc>
                <a:tc>
                  <a:txBody>
                    <a:bodyPr/>
                    <a:lstStyle/>
                    <a:p>
                      <a:pPr marL="0" indent="0">
                        <a:buFont typeface="Arial" panose="020B0604020202020204" pitchFamily="34" charset="0"/>
                        <a:buNone/>
                      </a:pPr>
                      <a:r>
                        <a:rPr lang="en-US" sz="1600" dirty="0">
                          <a:solidFill>
                            <a:schemeClr val="tx1"/>
                          </a:solidFill>
                        </a:rPr>
                        <a:t>3</a:t>
                      </a:r>
                    </a:p>
                  </a:txBody>
                  <a:tcPr marT="60960" marB="60960"/>
                </a:tc>
                <a:extLst>
                  <a:ext uri="{0D108BD9-81ED-4DB2-BD59-A6C34878D82A}">
                    <a16:rowId xmlns:a16="http://schemas.microsoft.com/office/drawing/2014/main" val="3849654457"/>
                  </a:ext>
                </a:extLst>
              </a:tr>
              <a:tr h="335736">
                <a:tc>
                  <a:txBody>
                    <a:bodyPr/>
                    <a:lstStyle/>
                    <a:p>
                      <a:pPr marL="0" indent="0">
                        <a:buFont typeface="Arial" panose="020B0604020202020204" pitchFamily="34" charset="0"/>
                        <a:buNone/>
                      </a:pPr>
                      <a:r>
                        <a:rPr lang="en-US" sz="1600" dirty="0">
                          <a:solidFill>
                            <a:schemeClr val="tx1"/>
                          </a:solidFill>
                        </a:rPr>
                        <a:t>802.11 (Wi-Fi)</a:t>
                      </a:r>
                    </a:p>
                  </a:txBody>
                  <a:tcPr marT="60960" marB="60960"/>
                </a:tc>
                <a:tc>
                  <a:txBody>
                    <a:bodyPr/>
                    <a:lstStyle/>
                    <a:p>
                      <a:pPr marL="0" indent="0">
                        <a:buFont typeface="Arial" panose="020B0604020202020204" pitchFamily="34" charset="0"/>
                        <a:buNone/>
                      </a:pPr>
                      <a:r>
                        <a:rPr lang="en-US" sz="1600" dirty="0">
                          <a:solidFill>
                            <a:schemeClr val="tx1"/>
                          </a:solidFill>
                        </a:rPr>
                        <a:t>2</a:t>
                      </a:r>
                    </a:p>
                  </a:txBody>
                  <a:tcPr marT="60960" marB="60960"/>
                </a:tc>
                <a:tc>
                  <a:txBody>
                    <a:bodyPr/>
                    <a:lstStyle/>
                    <a:p>
                      <a:pPr marL="0" indent="0">
                        <a:buFont typeface="Arial" panose="020B0604020202020204" pitchFamily="34" charset="0"/>
                        <a:buNone/>
                      </a:pPr>
                      <a:r>
                        <a:rPr lang="en-US" sz="1600" dirty="0">
                          <a:solidFill>
                            <a:schemeClr val="tx1"/>
                          </a:solidFill>
                        </a:rPr>
                        <a:t>Wi-Fi Traffic Identifier (TID)</a:t>
                      </a:r>
                    </a:p>
                  </a:txBody>
                  <a:tcPr marT="60960" marB="60960"/>
                </a:tc>
                <a:tc>
                  <a:txBody>
                    <a:bodyPr/>
                    <a:lstStyle/>
                    <a:p>
                      <a:pPr marL="0" indent="0">
                        <a:buFont typeface="Arial" panose="020B0604020202020204" pitchFamily="34" charset="0"/>
                        <a:buNone/>
                      </a:pPr>
                      <a:r>
                        <a:rPr lang="en-US" sz="1600" dirty="0">
                          <a:solidFill>
                            <a:schemeClr val="tx1"/>
                          </a:solidFill>
                        </a:rPr>
                        <a:t>3</a:t>
                      </a:r>
                    </a:p>
                  </a:txBody>
                  <a:tcPr marT="60960" marB="60960"/>
                </a:tc>
                <a:extLst>
                  <a:ext uri="{0D108BD9-81ED-4DB2-BD59-A6C34878D82A}">
                    <a16:rowId xmlns:a16="http://schemas.microsoft.com/office/drawing/2014/main" val="3964114329"/>
                  </a:ext>
                </a:extLst>
              </a:tr>
              <a:tr h="335736">
                <a:tc>
                  <a:txBody>
                    <a:bodyPr/>
                    <a:lstStyle/>
                    <a:p>
                      <a:pPr marL="0" indent="0">
                        <a:buFont typeface="Arial" panose="020B0604020202020204" pitchFamily="34" charset="0"/>
                        <a:buNone/>
                      </a:pPr>
                      <a:r>
                        <a:rPr lang="en-US" sz="1600" dirty="0">
                          <a:solidFill>
                            <a:schemeClr val="tx1"/>
                          </a:solidFill>
                        </a:rPr>
                        <a:t>MPLS</a:t>
                      </a:r>
                    </a:p>
                  </a:txBody>
                  <a:tcPr marT="60960" marB="60960"/>
                </a:tc>
                <a:tc>
                  <a:txBody>
                    <a:bodyPr/>
                    <a:lstStyle/>
                    <a:p>
                      <a:pPr marL="0" indent="0">
                        <a:buFont typeface="Arial" panose="020B0604020202020204" pitchFamily="34" charset="0"/>
                        <a:buNone/>
                      </a:pPr>
                      <a:r>
                        <a:rPr lang="en-US" sz="1600" dirty="0">
                          <a:solidFill>
                            <a:schemeClr val="tx1"/>
                          </a:solidFill>
                        </a:rPr>
                        <a:t>2</a:t>
                      </a:r>
                    </a:p>
                  </a:txBody>
                  <a:tcPr marT="60960" marB="60960"/>
                </a:tc>
                <a:tc>
                  <a:txBody>
                    <a:bodyPr/>
                    <a:lstStyle/>
                    <a:p>
                      <a:pPr marL="0" indent="0">
                        <a:buFont typeface="Arial" panose="020B0604020202020204" pitchFamily="34" charset="0"/>
                        <a:buNone/>
                      </a:pPr>
                      <a:r>
                        <a:rPr lang="en-US" sz="1600" dirty="0">
                          <a:solidFill>
                            <a:schemeClr val="tx1"/>
                          </a:solidFill>
                        </a:rPr>
                        <a:t>Experimental (EXP)</a:t>
                      </a:r>
                    </a:p>
                  </a:txBody>
                  <a:tcPr marT="60960" marB="60960"/>
                </a:tc>
                <a:tc>
                  <a:txBody>
                    <a:bodyPr/>
                    <a:lstStyle/>
                    <a:p>
                      <a:pPr marL="0" indent="0">
                        <a:buFont typeface="Arial" panose="020B0604020202020204" pitchFamily="34" charset="0"/>
                        <a:buNone/>
                      </a:pPr>
                      <a:r>
                        <a:rPr lang="en-US" sz="1600" dirty="0">
                          <a:solidFill>
                            <a:schemeClr val="tx1"/>
                          </a:solidFill>
                        </a:rPr>
                        <a:t>3</a:t>
                      </a:r>
                    </a:p>
                  </a:txBody>
                  <a:tcPr marT="60960" marB="60960"/>
                </a:tc>
                <a:extLst>
                  <a:ext uri="{0D108BD9-81ED-4DB2-BD59-A6C34878D82A}">
                    <a16:rowId xmlns:a16="http://schemas.microsoft.com/office/drawing/2014/main" val="1828286215"/>
                  </a:ext>
                </a:extLst>
              </a:tr>
              <a:tr h="335736">
                <a:tc>
                  <a:txBody>
                    <a:bodyPr/>
                    <a:lstStyle/>
                    <a:p>
                      <a:pPr marL="0" indent="0">
                        <a:buFont typeface="Arial" panose="020B0604020202020204" pitchFamily="34" charset="0"/>
                        <a:buNone/>
                      </a:pPr>
                      <a:r>
                        <a:rPr lang="en-US" sz="1600" dirty="0">
                          <a:solidFill>
                            <a:schemeClr val="tx1"/>
                          </a:solidFill>
                        </a:rPr>
                        <a:t>IPv4 and IPv6</a:t>
                      </a:r>
                    </a:p>
                  </a:txBody>
                  <a:tcPr marT="60960" marB="60960"/>
                </a:tc>
                <a:tc>
                  <a:txBody>
                    <a:bodyPr/>
                    <a:lstStyle/>
                    <a:p>
                      <a:pPr marL="0" indent="0">
                        <a:buFont typeface="Arial" panose="020B0604020202020204" pitchFamily="34" charset="0"/>
                        <a:buNone/>
                      </a:pPr>
                      <a:r>
                        <a:rPr lang="en-US" sz="1600" dirty="0">
                          <a:solidFill>
                            <a:schemeClr val="tx1"/>
                          </a:solidFill>
                        </a:rPr>
                        <a:t>3</a:t>
                      </a:r>
                    </a:p>
                  </a:txBody>
                  <a:tcPr marT="60960" marB="60960"/>
                </a:tc>
                <a:tc>
                  <a:txBody>
                    <a:bodyPr/>
                    <a:lstStyle/>
                    <a:p>
                      <a:pPr marL="0" indent="0">
                        <a:buFont typeface="Arial" panose="020B0604020202020204" pitchFamily="34" charset="0"/>
                        <a:buNone/>
                      </a:pPr>
                      <a:r>
                        <a:rPr lang="en-US" sz="1600" dirty="0">
                          <a:solidFill>
                            <a:schemeClr val="tx1"/>
                          </a:solidFill>
                        </a:rPr>
                        <a:t>IP Precedence (IPP)</a:t>
                      </a:r>
                    </a:p>
                  </a:txBody>
                  <a:tcPr marT="60960" marB="60960"/>
                </a:tc>
                <a:tc>
                  <a:txBody>
                    <a:bodyPr/>
                    <a:lstStyle/>
                    <a:p>
                      <a:pPr marL="0" indent="0">
                        <a:buFont typeface="Arial" panose="020B0604020202020204" pitchFamily="34" charset="0"/>
                        <a:buNone/>
                      </a:pPr>
                      <a:r>
                        <a:rPr lang="en-US" sz="1600" dirty="0">
                          <a:solidFill>
                            <a:schemeClr val="tx1"/>
                          </a:solidFill>
                        </a:rPr>
                        <a:t>3</a:t>
                      </a:r>
                    </a:p>
                  </a:txBody>
                  <a:tcPr marT="60960" marB="60960"/>
                </a:tc>
                <a:extLst>
                  <a:ext uri="{0D108BD9-81ED-4DB2-BD59-A6C34878D82A}">
                    <a16:rowId xmlns:a16="http://schemas.microsoft.com/office/drawing/2014/main" val="1615639436"/>
                  </a:ext>
                </a:extLst>
              </a:tr>
              <a:tr h="559559">
                <a:tc>
                  <a:txBody>
                    <a:bodyPr/>
                    <a:lstStyle/>
                    <a:p>
                      <a:pPr marL="0" indent="0">
                        <a:buFont typeface="Arial" panose="020B0604020202020204" pitchFamily="34" charset="0"/>
                        <a:buNone/>
                      </a:pPr>
                      <a:r>
                        <a:rPr lang="en-US" sz="1600" dirty="0">
                          <a:solidFill>
                            <a:schemeClr val="tx1"/>
                          </a:solidFill>
                        </a:rPr>
                        <a:t>IPv4 and IPv6</a:t>
                      </a:r>
                    </a:p>
                  </a:txBody>
                  <a:tcPr marT="60960" marB="60960"/>
                </a:tc>
                <a:tc>
                  <a:txBody>
                    <a:bodyPr/>
                    <a:lstStyle/>
                    <a:p>
                      <a:pPr marL="0" indent="0">
                        <a:buFont typeface="Arial" panose="020B0604020202020204" pitchFamily="34" charset="0"/>
                        <a:buNone/>
                      </a:pPr>
                      <a:r>
                        <a:rPr lang="en-US" sz="1600" dirty="0">
                          <a:solidFill>
                            <a:schemeClr val="tx1"/>
                          </a:solidFill>
                        </a:rPr>
                        <a:t>3</a:t>
                      </a:r>
                    </a:p>
                  </a:txBody>
                  <a:tcPr marT="60960" marB="60960"/>
                </a:tc>
                <a:tc>
                  <a:txBody>
                    <a:bodyPr/>
                    <a:lstStyle/>
                    <a:p>
                      <a:pPr marL="0" indent="0">
                        <a:buFont typeface="Arial" panose="020B0604020202020204" pitchFamily="34" charset="0"/>
                        <a:buNone/>
                      </a:pPr>
                      <a:r>
                        <a:rPr lang="en-US" sz="1600" dirty="0">
                          <a:solidFill>
                            <a:schemeClr val="tx1"/>
                          </a:solidFill>
                        </a:rPr>
                        <a:t>Differentiated Services Code Point (DSCP)</a:t>
                      </a:r>
                    </a:p>
                  </a:txBody>
                  <a:tcPr marT="60960" marB="60960"/>
                </a:tc>
                <a:tc>
                  <a:txBody>
                    <a:bodyPr/>
                    <a:lstStyle/>
                    <a:p>
                      <a:pPr marL="0" indent="0">
                        <a:buFont typeface="Arial" panose="020B0604020202020204" pitchFamily="34" charset="0"/>
                        <a:buNone/>
                      </a:pPr>
                      <a:r>
                        <a:rPr lang="en-US" sz="1600" dirty="0">
                          <a:solidFill>
                            <a:schemeClr val="tx1"/>
                          </a:solidFill>
                        </a:rPr>
                        <a:t>6</a:t>
                      </a:r>
                    </a:p>
                  </a:txBody>
                  <a:tcPr marT="60960" marB="60960"/>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694248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836712"/>
            <a:ext cx="8345488" cy="975783"/>
          </a:xfrm>
        </p:spPr>
        <p:txBody>
          <a:bodyPr/>
          <a:lstStyle/>
          <a:p>
            <a:r>
              <a:rPr lang="en-US" dirty="0">
                <a:solidFill>
                  <a:schemeClr val="tx1"/>
                </a:solidFill>
              </a:rPr>
              <a:t>Marking at Layer 2</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3528" y="1700808"/>
            <a:ext cx="7913516" cy="1292087"/>
          </a:xfrm>
        </p:spPr>
        <p:txBody>
          <a:bodyPr/>
          <a:lstStyle/>
          <a:p>
            <a:pPr marL="0" indent="0" algn="l"/>
            <a:r>
              <a:rPr lang="en-US" sz="1600" dirty="0">
                <a:solidFill>
                  <a:srgbClr val="000000"/>
                </a:solidFill>
              </a:rPr>
              <a:t>802.1Q is the IEEE standard that supports VLAN tagging at Layer 2 on Ethernet networks. When 802.1Q is implemented, two fields are inserted into the Ethernet frame following the source MAC address field.</a:t>
            </a:r>
          </a:p>
        </p:txBody>
      </p:sp>
      <p:pic>
        <p:nvPicPr>
          <p:cNvPr id="2" name="Picture 1">
            <a:extLst>
              <a:ext uri="{FF2B5EF4-FFF2-40B4-BE49-F238E27FC236}">
                <a16:creationId xmlns:a16="http://schemas.microsoft.com/office/drawing/2014/main" id="{8FF899A7-218D-42C9-BD80-E38CDA324536}"/>
              </a:ext>
            </a:extLst>
          </p:cNvPr>
          <p:cNvPicPr>
            <a:picLocks noChangeAspect="1"/>
          </p:cNvPicPr>
          <p:nvPr/>
        </p:nvPicPr>
        <p:blipFill>
          <a:blip r:embed="rId3"/>
          <a:stretch>
            <a:fillRect/>
          </a:stretch>
        </p:blipFill>
        <p:spPr>
          <a:xfrm>
            <a:off x="1630458" y="3109052"/>
            <a:ext cx="5516545" cy="3416292"/>
          </a:xfrm>
          <a:prstGeom prst="rect">
            <a:avLst/>
          </a:prstGeom>
        </p:spPr>
      </p:pic>
      <p:sp>
        <p:nvSpPr>
          <p:cNvPr id="5" name="TextBox 4">
            <a:extLst>
              <a:ext uri="{FF2B5EF4-FFF2-40B4-BE49-F238E27FC236}">
                <a16:creationId xmlns:a16="http://schemas.microsoft.com/office/drawing/2014/main" id="{ECC82D77-A18C-F37A-5792-1DC53567B45E}"/>
              </a:ext>
            </a:extLst>
          </p:cNvPr>
          <p:cNvSpPr txBox="1"/>
          <p:nvPr/>
        </p:nvSpPr>
        <p:spPr>
          <a:xfrm>
            <a:off x="6300192" y="6237312"/>
            <a:ext cx="2550698" cy="369332"/>
          </a:xfrm>
          <a:prstGeom prst="rect">
            <a:avLst/>
          </a:prstGeom>
          <a:noFill/>
        </p:spPr>
        <p:txBody>
          <a:bodyPr wrap="none" rtlCol="0">
            <a:spAutoFit/>
          </a:bodyPr>
          <a:lstStyle/>
          <a:p>
            <a:r>
              <a:rPr lang="en-GB" dirty="0"/>
              <a:t>CIS = </a:t>
            </a:r>
            <a:r>
              <a:rPr lang="en-GB" dirty="0">
                <a:solidFill>
                  <a:srgbClr val="FF0000"/>
                </a:solidFill>
              </a:rPr>
              <a:t>C</a:t>
            </a:r>
            <a:r>
              <a:rPr lang="en-GB" dirty="0"/>
              <a:t>lass </a:t>
            </a:r>
            <a:r>
              <a:rPr lang="en-GB" dirty="0">
                <a:solidFill>
                  <a:srgbClr val="FF0000"/>
                </a:solidFill>
              </a:rPr>
              <a:t>O</a:t>
            </a:r>
            <a:r>
              <a:rPr lang="en-GB" dirty="0"/>
              <a:t>f </a:t>
            </a:r>
            <a:r>
              <a:rPr lang="en-GB" dirty="0">
                <a:solidFill>
                  <a:srgbClr val="FF0000"/>
                </a:solidFill>
              </a:rPr>
              <a:t>S</a:t>
            </a:r>
            <a:r>
              <a:rPr lang="en-GB" dirty="0"/>
              <a:t>ervice</a:t>
            </a:r>
          </a:p>
        </p:txBody>
      </p:sp>
    </p:spTree>
    <p:extLst>
      <p:ext uri="{BB962C8B-B14F-4D97-AF65-F5344CB8AC3E}">
        <p14:creationId xmlns:p14="http://schemas.microsoft.com/office/powerpoint/2010/main" val="4219644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7844" y="853632"/>
            <a:ext cx="8345488" cy="975783"/>
          </a:xfrm>
        </p:spPr>
        <p:txBody>
          <a:bodyPr/>
          <a:lstStyle/>
          <a:p>
            <a:r>
              <a:rPr lang="en-US" dirty="0">
                <a:solidFill>
                  <a:schemeClr val="tx1"/>
                </a:solidFill>
              </a:rPr>
              <a:t>Marking at Layer 3</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1844824"/>
            <a:ext cx="3918964" cy="3474103"/>
          </a:xfrm>
        </p:spPr>
        <p:txBody>
          <a:bodyPr/>
          <a:lstStyle/>
          <a:p>
            <a:pPr marL="0" indent="0" algn="l"/>
            <a:r>
              <a:rPr lang="en-US" sz="2400" dirty="0">
                <a:solidFill>
                  <a:srgbClr val="000000"/>
                </a:solidFill>
              </a:rPr>
              <a:t>IPv4 and IPv6 specify an 8-bit field in their packet headers to mark packets. </a:t>
            </a:r>
          </a:p>
          <a:p>
            <a:pPr marL="0" indent="0" algn="l"/>
            <a:endParaRPr lang="en-US" sz="2400" dirty="0">
              <a:solidFill>
                <a:srgbClr val="000000"/>
              </a:solidFill>
            </a:endParaRPr>
          </a:p>
          <a:p>
            <a:pPr marL="0" indent="0" algn="l"/>
            <a:r>
              <a:rPr lang="en-US" sz="2400" dirty="0">
                <a:solidFill>
                  <a:srgbClr val="000000"/>
                </a:solidFill>
              </a:rPr>
              <a:t>Both IPv4 and IPv6 support an 8-bit field for marking: the Type of Service (</a:t>
            </a:r>
            <a:r>
              <a:rPr lang="en-US" sz="2400" dirty="0" err="1">
                <a:solidFill>
                  <a:srgbClr val="000000"/>
                </a:solidFill>
              </a:rPr>
              <a:t>ToS</a:t>
            </a:r>
            <a:r>
              <a:rPr lang="en-US" sz="2400" dirty="0">
                <a:solidFill>
                  <a:srgbClr val="000000"/>
                </a:solidFill>
              </a:rPr>
              <a:t>) field for IPv4 and the Traffic Class field for IPv6.</a:t>
            </a:r>
          </a:p>
        </p:txBody>
      </p:sp>
      <p:pic>
        <p:nvPicPr>
          <p:cNvPr id="5" name="Picture 4">
            <a:extLst>
              <a:ext uri="{FF2B5EF4-FFF2-40B4-BE49-F238E27FC236}">
                <a16:creationId xmlns:a16="http://schemas.microsoft.com/office/drawing/2014/main" id="{7F245769-3C09-466A-880E-731105C8A530}"/>
              </a:ext>
            </a:extLst>
          </p:cNvPr>
          <p:cNvPicPr>
            <a:picLocks noChangeAspect="1"/>
          </p:cNvPicPr>
          <p:nvPr/>
        </p:nvPicPr>
        <p:blipFill>
          <a:blip r:embed="rId3"/>
          <a:stretch>
            <a:fillRect/>
          </a:stretch>
        </p:blipFill>
        <p:spPr>
          <a:xfrm>
            <a:off x="4572000" y="1916832"/>
            <a:ext cx="4163096" cy="3977403"/>
          </a:xfrm>
          <a:prstGeom prst="rect">
            <a:avLst/>
          </a:prstGeom>
        </p:spPr>
      </p:pic>
    </p:spTree>
    <p:extLst>
      <p:ext uri="{BB962C8B-B14F-4D97-AF65-F5344CB8AC3E}">
        <p14:creationId xmlns:p14="http://schemas.microsoft.com/office/powerpoint/2010/main" val="33153446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4820" y="980728"/>
            <a:ext cx="8345488" cy="975783"/>
          </a:xfrm>
        </p:spPr>
        <p:txBody>
          <a:bodyPr/>
          <a:lstStyle/>
          <a:p>
            <a:r>
              <a:rPr lang="en-US" dirty="0">
                <a:solidFill>
                  <a:schemeClr val="tx1"/>
                </a:solidFill>
              </a:rPr>
              <a:t>Type of Service and Traffic Class Field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62980" y="1988840"/>
            <a:ext cx="4730087" cy="4267934"/>
          </a:xfrm>
        </p:spPr>
        <p:txBody>
          <a:bodyPr/>
          <a:lstStyle/>
          <a:p>
            <a:pPr marL="0" indent="0" algn="l"/>
            <a:r>
              <a:rPr lang="en-US" sz="1800" dirty="0">
                <a:solidFill>
                  <a:srgbClr val="000000"/>
                </a:solidFill>
              </a:rPr>
              <a:t>The Type of Service (IPv4) and Traffic Class (IPv6) carry the packet marking as assigned by the QoS classification tools.</a:t>
            </a:r>
          </a:p>
          <a:p>
            <a:pPr marL="285750" indent="-285750" algn="l">
              <a:buFont typeface="Arial" panose="020B0604020202020204" pitchFamily="34" charset="0"/>
              <a:buChar char="•"/>
            </a:pPr>
            <a:r>
              <a:rPr lang="en-US" sz="1800" dirty="0">
                <a:solidFill>
                  <a:srgbClr val="000000"/>
                </a:solidFill>
              </a:rPr>
              <a:t>RFC 791 specified the 3-bit IP Precedence (IPP) field to be used for QoS markings.</a:t>
            </a:r>
          </a:p>
          <a:p>
            <a:pPr marL="285750" indent="-285750" algn="l">
              <a:buFont typeface="Arial" panose="020B0604020202020204" pitchFamily="34" charset="0"/>
              <a:buChar char="•"/>
            </a:pPr>
            <a:r>
              <a:rPr lang="en-US" sz="1800" dirty="0">
                <a:solidFill>
                  <a:srgbClr val="000000"/>
                </a:solidFill>
              </a:rPr>
              <a:t>RFC 791 and redefines the </a:t>
            </a:r>
            <a:r>
              <a:rPr lang="en-US" sz="1800" dirty="0" err="1">
                <a:solidFill>
                  <a:srgbClr val="000000"/>
                </a:solidFill>
              </a:rPr>
              <a:t>ToS</a:t>
            </a:r>
            <a:r>
              <a:rPr lang="en-US" sz="1800" dirty="0">
                <a:solidFill>
                  <a:srgbClr val="000000"/>
                </a:solidFill>
              </a:rPr>
              <a:t> field by renaming and extending the IPP field to 6 bits called the Differentiated Services Code Point (DSCP) field, these six bits offer a maximum of 64 possible classes of service.</a:t>
            </a:r>
          </a:p>
          <a:p>
            <a:pPr marL="285750" indent="-285750" algn="l">
              <a:buFont typeface="Arial" panose="020B0604020202020204" pitchFamily="34" charset="0"/>
              <a:buChar char="•"/>
            </a:pPr>
            <a:r>
              <a:rPr lang="en-US" sz="1800" dirty="0">
                <a:solidFill>
                  <a:srgbClr val="000000"/>
                </a:solidFill>
              </a:rPr>
              <a:t>The remaining two IP Extended Congestion Notification (ECN) bits can be used by ECN-aware routers to mark packets instead of dropping them. </a:t>
            </a:r>
          </a:p>
        </p:txBody>
      </p:sp>
      <p:pic>
        <p:nvPicPr>
          <p:cNvPr id="2" name="Picture 1">
            <a:extLst>
              <a:ext uri="{FF2B5EF4-FFF2-40B4-BE49-F238E27FC236}">
                <a16:creationId xmlns:a16="http://schemas.microsoft.com/office/drawing/2014/main" id="{69420156-C31E-4926-BAB0-5107E8C36F12}"/>
              </a:ext>
            </a:extLst>
          </p:cNvPr>
          <p:cNvPicPr>
            <a:picLocks noChangeAspect="1"/>
          </p:cNvPicPr>
          <p:nvPr/>
        </p:nvPicPr>
        <p:blipFill>
          <a:blip r:embed="rId3"/>
          <a:stretch>
            <a:fillRect/>
          </a:stretch>
        </p:blipFill>
        <p:spPr>
          <a:xfrm>
            <a:off x="4793067" y="1799144"/>
            <a:ext cx="4287955" cy="3519785"/>
          </a:xfrm>
          <a:prstGeom prst="rect">
            <a:avLst/>
          </a:prstGeom>
        </p:spPr>
      </p:pic>
      <p:sp>
        <p:nvSpPr>
          <p:cNvPr id="6" name="TextBox 5">
            <a:extLst>
              <a:ext uri="{FF2B5EF4-FFF2-40B4-BE49-F238E27FC236}">
                <a16:creationId xmlns:a16="http://schemas.microsoft.com/office/drawing/2014/main" id="{E9271CBF-FA21-3D3A-98F1-DE2EB9E34B68}"/>
              </a:ext>
            </a:extLst>
          </p:cNvPr>
          <p:cNvSpPr txBox="1"/>
          <p:nvPr/>
        </p:nvSpPr>
        <p:spPr>
          <a:xfrm>
            <a:off x="6012160" y="5430415"/>
            <a:ext cx="3131840" cy="1200329"/>
          </a:xfrm>
          <a:prstGeom prst="rect">
            <a:avLst/>
          </a:prstGeom>
          <a:noFill/>
        </p:spPr>
        <p:txBody>
          <a:bodyPr wrap="square" rtlCol="0">
            <a:spAutoFit/>
          </a:bodyPr>
          <a:lstStyle/>
          <a:p>
            <a:r>
              <a:rPr lang="en-US" sz="1800" dirty="0">
                <a:solidFill>
                  <a:srgbClr val="000000"/>
                </a:solidFill>
              </a:rPr>
              <a:t>Informs receiver to throttle back download by using TCP to signal sender </a:t>
            </a:r>
          </a:p>
          <a:p>
            <a:endParaRPr lang="en-GB" dirty="0"/>
          </a:p>
        </p:txBody>
      </p:sp>
      <p:cxnSp>
        <p:nvCxnSpPr>
          <p:cNvPr id="8" name="Straight Arrow Connector 7">
            <a:extLst>
              <a:ext uri="{FF2B5EF4-FFF2-40B4-BE49-F238E27FC236}">
                <a16:creationId xmlns:a16="http://schemas.microsoft.com/office/drawing/2014/main" id="{B7E8FD93-DFF3-4749-C0F2-698AFFF92CFF}"/>
              </a:ext>
            </a:extLst>
          </p:cNvPr>
          <p:cNvCxnSpPr/>
          <p:nvPr/>
        </p:nvCxnSpPr>
        <p:spPr>
          <a:xfrm flipH="1" flipV="1">
            <a:off x="6948264" y="4889924"/>
            <a:ext cx="288032" cy="5553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316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32159" y="653017"/>
            <a:ext cx="8345488" cy="975783"/>
          </a:xfrm>
        </p:spPr>
        <p:txBody>
          <a:bodyPr/>
          <a:lstStyle/>
          <a:p>
            <a:r>
              <a:rPr lang="en-US" dirty="0">
                <a:solidFill>
                  <a:schemeClr val="tx1"/>
                </a:solidFill>
              </a:rPr>
              <a:t>DSCP Values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95536" y="1750247"/>
            <a:ext cx="3816424" cy="4199033"/>
          </a:xfrm>
        </p:spPr>
        <p:txBody>
          <a:bodyPr/>
          <a:lstStyle/>
          <a:p>
            <a:pPr marL="0" indent="0" algn="l"/>
            <a:r>
              <a:rPr lang="en-US" sz="1600" dirty="0">
                <a:solidFill>
                  <a:srgbClr val="000000"/>
                </a:solidFill>
              </a:rPr>
              <a:t>The 64 DSCP values are organized into three categories:</a:t>
            </a:r>
          </a:p>
          <a:p>
            <a:pPr marL="285750" indent="-285750" algn="l">
              <a:buFont typeface="Arial" panose="020B0604020202020204" pitchFamily="34" charset="0"/>
              <a:buChar char="•"/>
            </a:pPr>
            <a:r>
              <a:rPr lang="en-US" sz="1600" b="1" dirty="0">
                <a:solidFill>
                  <a:srgbClr val="000000"/>
                </a:solidFill>
              </a:rPr>
              <a:t>Best-Effort (BE)</a:t>
            </a:r>
            <a:r>
              <a:rPr lang="en-US" sz="1600" dirty="0">
                <a:solidFill>
                  <a:srgbClr val="000000"/>
                </a:solidFill>
              </a:rPr>
              <a:t> - This is the default for all IP packets. The DSCP value is 0. </a:t>
            </a:r>
          </a:p>
          <a:p>
            <a:pPr marL="285750" indent="-285750" algn="l">
              <a:buFont typeface="Arial" panose="020B0604020202020204" pitchFamily="34" charset="0"/>
              <a:buChar char="•"/>
            </a:pPr>
            <a:r>
              <a:rPr lang="en-US" sz="1600" b="1" dirty="0">
                <a:solidFill>
                  <a:srgbClr val="000000"/>
                </a:solidFill>
              </a:rPr>
              <a:t>Expedited Forwarding (EF)</a:t>
            </a:r>
            <a:r>
              <a:rPr lang="en-US" sz="1600" dirty="0">
                <a:solidFill>
                  <a:srgbClr val="000000"/>
                </a:solidFill>
              </a:rPr>
              <a:t> - decimal value 46 (binary </a:t>
            </a:r>
            <a:r>
              <a:rPr lang="en-US" sz="1600" b="1" dirty="0">
                <a:solidFill>
                  <a:srgbClr val="000000"/>
                </a:solidFill>
              </a:rPr>
              <a:t>101</a:t>
            </a:r>
            <a:r>
              <a:rPr lang="en-US" sz="1600" dirty="0">
                <a:solidFill>
                  <a:srgbClr val="000000"/>
                </a:solidFill>
              </a:rPr>
              <a:t>110). The first 3 bits (101) map directly to the Layer 2 </a:t>
            </a:r>
            <a:r>
              <a:rPr lang="en-US" sz="1600" dirty="0" err="1">
                <a:solidFill>
                  <a:srgbClr val="000000"/>
                </a:solidFill>
              </a:rPr>
              <a:t>CoS</a:t>
            </a:r>
            <a:r>
              <a:rPr lang="en-US" sz="1600" dirty="0">
                <a:solidFill>
                  <a:srgbClr val="000000"/>
                </a:solidFill>
              </a:rPr>
              <a:t> value 5 used for voice traffic. At Layer 3, it is recommended that EF only be used to mark voice packets.</a:t>
            </a:r>
          </a:p>
          <a:p>
            <a:pPr marL="285750" indent="-285750" algn="l">
              <a:buFont typeface="Arial" panose="020B0604020202020204" pitchFamily="34" charset="0"/>
              <a:buChar char="•"/>
            </a:pPr>
            <a:r>
              <a:rPr lang="en-US" sz="1600" b="1" dirty="0">
                <a:solidFill>
                  <a:srgbClr val="000000"/>
                </a:solidFill>
              </a:rPr>
              <a:t>Assured Forwarding (AF)</a:t>
            </a:r>
            <a:r>
              <a:rPr lang="en-US" sz="1600" dirty="0">
                <a:solidFill>
                  <a:srgbClr val="000000"/>
                </a:solidFill>
              </a:rPr>
              <a:t> - use the 5 most significant DSCP bits to indicate queues and drop preference. </a:t>
            </a:r>
          </a:p>
        </p:txBody>
      </p:sp>
      <p:pic>
        <p:nvPicPr>
          <p:cNvPr id="5" name="Picture 4">
            <a:extLst>
              <a:ext uri="{FF2B5EF4-FFF2-40B4-BE49-F238E27FC236}">
                <a16:creationId xmlns:a16="http://schemas.microsoft.com/office/drawing/2014/main" id="{5A46BC22-ACD9-44F2-837A-75E108C84861}"/>
              </a:ext>
            </a:extLst>
          </p:cNvPr>
          <p:cNvPicPr>
            <a:picLocks noChangeAspect="1"/>
          </p:cNvPicPr>
          <p:nvPr/>
        </p:nvPicPr>
        <p:blipFill>
          <a:blip r:embed="rId3"/>
          <a:stretch>
            <a:fillRect/>
          </a:stretch>
        </p:blipFill>
        <p:spPr>
          <a:xfrm>
            <a:off x="4283967" y="969176"/>
            <a:ext cx="4730231" cy="4406133"/>
          </a:xfrm>
          <a:prstGeom prst="rect">
            <a:avLst/>
          </a:prstGeom>
        </p:spPr>
      </p:pic>
      <p:sp>
        <p:nvSpPr>
          <p:cNvPr id="2" name="Rectangle 1"/>
          <p:cNvSpPr/>
          <p:nvPr/>
        </p:nvSpPr>
        <p:spPr>
          <a:xfrm>
            <a:off x="3923928" y="5375309"/>
            <a:ext cx="4824536" cy="1077218"/>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mn-lt"/>
              </a:rPr>
              <a:t>The first 3 most significant bits of the DSCP field and indicate the class.</a:t>
            </a:r>
          </a:p>
          <a:p>
            <a:pPr marL="285750" indent="-285750">
              <a:buFont typeface="Arial" panose="020B0604020202020204" pitchFamily="34" charset="0"/>
              <a:buChar char="•"/>
            </a:pPr>
            <a:r>
              <a:rPr lang="en-US" sz="1600" dirty="0">
                <a:solidFill>
                  <a:srgbClr val="000000"/>
                </a:solidFill>
                <a:latin typeface="+mn-lt"/>
              </a:rPr>
              <a:t>Map directly to the 3 bits of the </a:t>
            </a:r>
            <a:r>
              <a:rPr lang="en-US" sz="1600" dirty="0" err="1">
                <a:solidFill>
                  <a:srgbClr val="000000"/>
                </a:solidFill>
                <a:latin typeface="+mn-lt"/>
              </a:rPr>
              <a:t>CoS</a:t>
            </a:r>
            <a:r>
              <a:rPr lang="en-US" sz="1600" dirty="0">
                <a:solidFill>
                  <a:srgbClr val="000000"/>
                </a:solidFill>
                <a:latin typeface="+mn-lt"/>
              </a:rPr>
              <a:t> field and the IPP field to maintain compatibility</a:t>
            </a:r>
          </a:p>
        </p:txBody>
      </p:sp>
    </p:spTree>
    <p:extLst>
      <p:ext uri="{BB962C8B-B14F-4D97-AF65-F5344CB8AC3E}">
        <p14:creationId xmlns:p14="http://schemas.microsoft.com/office/powerpoint/2010/main" val="3898163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836712"/>
            <a:ext cx="8244880" cy="975783"/>
          </a:xfrm>
        </p:spPr>
        <p:txBody>
          <a:bodyPr/>
          <a:lstStyle/>
          <a:p>
            <a:r>
              <a:rPr lang="en-US" dirty="0">
                <a:solidFill>
                  <a:schemeClr val="tx1"/>
                </a:solidFill>
              </a:rPr>
              <a:t>Trust Boundaries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512" y="1556792"/>
            <a:ext cx="8280920" cy="2302311"/>
          </a:xfrm>
        </p:spPr>
        <p:txBody>
          <a:bodyPr/>
          <a:lstStyle/>
          <a:p>
            <a:pPr marL="0" indent="0" algn="l"/>
            <a:r>
              <a:rPr lang="en-US" sz="1600" dirty="0">
                <a:solidFill>
                  <a:srgbClr val="000000"/>
                </a:solidFill>
              </a:rPr>
              <a:t>Traffic should be classified and marked as close to its source as technically and administratively feasible. This defines the trust boundary.</a:t>
            </a:r>
          </a:p>
          <a:p>
            <a:pPr marL="342900" indent="-342900" algn="l">
              <a:buFont typeface="+mj-lt"/>
              <a:buAutoNum type="arabicPeriod"/>
            </a:pPr>
            <a:r>
              <a:rPr lang="en-US" sz="1400" dirty="0">
                <a:solidFill>
                  <a:srgbClr val="000000"/>
                </a:solidFill>
              </a:rPr>
              <a:t>Trusted endpoints have the capabilities and intelligence to mark application traffic to the appropriate Layer 2 </a:t>
            </a:r>
            <a:r>
              <a:rPr lang="en-US" sz="1400" dirty="0" err="1">
                <a:solidFill>
                  <a:srgbClr val="000000"/>
                </a:solidFill>
              </a:rPr>
              <a:t>CoS</a:t>
            </a:r>
            <a:r>
              <a:rPr lang="en-US" sz="1400" dirty="0">
                <a:solidFill>
                  <a:srgbClr val="000000"/>
                </a:solidFill>
              </a:rPr>
              <a:t> and/or Layer 3 DSCP values. </a:t>
            </a:r>
          </a:p>
          <a:p>
            <a:pPr marL="342900" indent="-342900" algn="l">
              <a:buFont typeface="+mj-lt"/>
              <a:buAutoNum type="arabicPeriod"/>
            </a:pPr>
            <a:r>
              <a:rPr lang="en-US" sz="1400" dirty="0">
                <a:solidFill>
                  <a:srgbClr val="000000"/>
                </a:solidFill>
              </a:rPr>
              <a:t>Secure endpoints can have traffic marked at the Layer 2 switch.</a:t>
            </a:r>
          </a:p>
          <a:p>
            <a:pPr marL="342900" indent="-342900" algn="l">
              <a:buFont typeface="+mj-lt"/>
              <a:buAutoNum type="arabicPeriod"/>
            </a:pPr>
            <a:r>
              <a:rPr lang="en-US" sz="1400" dirty="0">
                <a:solidFill>
                  <a:srgbClr val="000000"/>
                </a:solidFill>
              </a:rPr>
              <a:t>Traffic can also be marked at Layer 3 switches / routers.</a:t>
            </a:r>
          </a:p>
          <a:p>
            <a:pPr marL="0" indent="0" algn="l"/>
            <a:endParaRPr lang="en-US" sz="1400" dirty="0">
              <a:solidFill>
                <a:srgbClr val="000000"/>
              </a:solidFill>
            </a:endParaRPr>
          </a:p>
        </p:txBody>
      </p:sp>
      <p:pic>
        <p:nvPicPr>
          <p:cNvPr id="2" name="Picture 1">
            <a:extLst>
              <a:ext uri="{FF2B5EF4-FFF2-40B4-BE49-F238E27FC236}">
                <a16:creationId xmlns:a16="http://schemas.microsoft.com/office/drawing/2014/main" id="{0B7A6DA1-C9EC-4D2F-95FA-C12AF53BE6A5}"/>
              </a:ext>
            </a:extLst>
          </p:cNvPr>
          <p:cNvPicPr>
            <a:picLocks noChangeAspect="1"/>
          </p:cNvPicPr>
          <p:nvPr/>
        </p:nvPicPr>
        <p:blipFill>
          <a:blip r:embed="rId3"/>
          <a:stretch>
            <a:fillRect/>
          </a:stretch>
        </p:blipFill>
        <p:spPr>
          <a:xfrm>
            <a:off x="1431506" y="3335215"/>
            <a:ext cx="5385498" cy="3059333"/>
          </a:xfrm>
          <a:prstGeom prst="rect">
            <a:avLst/>
          </a:prstGeom>
        </p:spPr>
      </p:pic>
    </p:spTree>
    <p:extLst>
      <p:ext uri="{BB962C8B-B14F-4D97-AF65-F5344CB8AC3E}">
        <p14:creationId xmlns:p14="http://schemas.microsoft.com/office/powerpoint/2010/main" val="3652857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980728"/>
            <a:ext cx="8424863" cy="576064"/>
          </a:xfrm>
        </p:spPr>
        <p:txBody>
          <a:bodyPr/>
          <a:lstStyle/>
          <a:p>
            <a:r>
              <a:rPr lang="en-US" dirty="0">
                <a:solidFill>
                  <a:schemeClr val="tx1"/>
                </a:solidFill>
              </a:rPr>
              <a:t>Congestion Avoidance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7544" y="1844825"/>
            <a:ext cx="8424863" cy="2304256"/>
          </a:xfrm>
        </p:spPr>
        <p:txBody>
          <a:bodyPr/>
          <a:lstStyle/>
          <a:p>
            <a:pPr marL="0" indent="0" algn="l"/>
            <a:r>
              <a:rPr lang="en-US" sz="1800" dirty="0">
                <a:solidFill>
                  <a:srgbClr val="000000"/>
                </a:solidFill>
              </a:rPr>
              <a:t>Tools to monitor traffic to anticipate and avoid congestion at common bottlenecks</a:t>
            </a:r>
          </a:p>
          <a:p>
            <a:pPr marL="0" indent="0" algn="l"/>
            <a:r>
              <a:rPr lang="en-US" sz="1800" dirty="0">
                <a:solidFill>
                  <a:srgbClr val="000000"/>
                </a:solidFill>
              </a:rPr>
              <a:t>monitor the average depth of the queue, When the maximum threshold is passed, all packets are dropped.</a:t>
            </a:r>
          </a:p>
          <a:p>
            <a:pPr marL="0" indent="0" algn="l"/>
            <a:r>
              <a:rPr lang="en-US" sz="1800" dirty="0">
                <a:solidFill>
                  <a:srgbClr val="000000"/>
                </a:solidFill>
              </a:rPr>
              <a:t>Some congestion avoidance techniques provide preferential treatment for which packets get dropped.</a:t>
            </a:r>
          </a:p>
        </p:txBody>
      </p:sp>
      <p:pic>
        <p:nvPicPr>
          <p:cNvPr id="3074" name="Picture 2" descr="https://learning.oreilly.com/library/view/enterprise-networking-security/9780136634171/graphics/09fig2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3933056"/>
            <a:ext cx="428625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9588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4944" y="653017"/>
            <a:ext cx="8345488" cy="975783"/>
          </a:xfrm>
        </p:spPr>
        <p:txBody>
          <a:bodyPr/>
          <a:lstStyle/>
          <a:p>
            <a:r>
              <a:rPr lang="en-US" dirty="0">
                <a:solidFill>
                  <a:schemeClr val="tx1"/>
                </a:solidFill>
              </a:rPr>
              <a:t>Shaping and Policing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539552" y="1556792"/>
            <a:ext cx="8189514" cy="2466765"/>
          </a:xfrm>
        </p:spPr>
        <p:txBody>
          <a:bodyPr/>
          <a:lstStyle/>
          <a:p>
            <a:pPr marL="0" indent="0" algn="l"/>
            <a:r>
              <a:rPr lang="en-US" sz="1800" dirty="0">
                <a:solidFill>
                  <a:srgbClr val="000000"/>
                </a:solidFill>
              </a:rPr>
              <a:t>Mechanisms provided to prevent congestion.</a:t>
            </a:r>
          </a:p>
          <a:p>
            <a:pPr marL="285750" indent="-285750" algn="l">
              <a:buFont typeface="Arial" panose="020B0604020202020204" pitchFamily="34" charset="0"/>
              <a:buChar char="•"/>
            </a:pPr>
            <a:r>
              <a:rPr lang="en-US" sz="1800" dirty="0">
                <a:solidFill>
                  <a:srgbClr val="000000"/>
                </a:solidFill>
              </a:rPr>
              <a:t>Traffic shaping retains excess packets in a queue and then schedules the excess for later transmission over increments of time. Traffic shaping results in a smoothed packet output rate.</a:t>
            </a:r>
          </a:p>
          <a:p>
            <a:pPr marL="285750" indent="-285750" algn="l">
              <a:buFont typeface="Arial" panose="020B0604020202020204" pitchFamily="34" charset="0"/>
              <a:buChar char="•"/>
            </a:pPr>
            <a:r>
              <a:rPr lang="en-US" sz="1800" dirty="0">
                <a:solidFill>
                  <a:srgbClr val="FF0000"/>
                </a:solidFill>
              </a:rPr>
              <a:t>Shaping is an outbound concept</a:t>
            </a:r>
            <a:r>
              <a:rPr lang="en-US" sz="1800" dirty="0">
                <a:solidFill>
                  <a:srgbClr val="000000"/>
                </a:solidFill>
              </a:rPr>
              <a:t>; packets going out an interface get queued and can be shaped. In contrast, </a:t>
            </a:r>
            <a:r>
              <a:rPr lang="en-US" sz="1800" dirty="0">
                <a:solidFill>
                  <a:srgbClr val="FF0000"/>
                </a:solidFill>
              </a:rPr>
              <a:t>policing is applied to inbound </a:t>
            </a:r>
            <a:r>
              <a:rPr lang="en-US" sz="1800" dirty="0">
                <a:solidFill>
                  <a:srgbClr val="000000"/>
                </a:solidFill>
              </a:rPr>
              <a:t>traffic on an interface. </a:t>
            </a:r>
          </a:p>
        </p:txBody>
      </p:sp>
      <p:pic>
        <p:nvPicPr>
          <p:cNvPr id="2" name="Picture 1">
            <a:extLst>
              <a:ext uri="{FF2B5EF4-FFF2-40B4-BE49-F238E27FC236}">
                <a16:creationId xmlns:a16="http://schemas.microsoft.com/office/drawing/2014/main" id="{66776984-25F0-4E63-AD8B-EB12EBCC4CF8}"/>
              </a:ext>
            </a:extLst>
          </p:cNvPr>
          <p:cNvPicPr>
            <a:picLocks noChangeAspect="1"/>
          </p:cNvPicPr>
          <p:nvPr/>
        </p:nvPicPr>
        <p:blipFill>
          <a:blip r:embed="rId3"/>
          <a:stretch>
            <a:fillRect/>
          </a:stretch>
        </p:blipFill>
        <p:spPr>
          <a:xfrm>
            <a:off x="1342415" y="4087452"/>
            <a:ext cx="5850483" cy="2751389"/>
          </a:xfrm>
          <a:prstGeom prst="rect">
            <a:avLst/>
          </a:prstGeom>
        </p:spPr>
      </p:pic>
    </p:spTree>
    <p:extLst>
      <p:ext uri="{BB962C8B-B14F-4D97-AF65-F5344CB8AC3E}">
        <p14:creationId xmlns:p14="http://schemas.microsoft.com/office/powerpoint/2010/main" val="1133521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548680"/>
            <a:ext cx="8345488" cy="975783"/>
          </a:xfrm>
        </p:spPr>
        <p:txBody>
          <a:bodyPr/>
          <a:lstStyle/>
          <a:p>
            <a:br>
              <a:rPr lang="en-US" dirty="0">
                <a:solidFill>
                  <a:schemeClr val="tx1"/>
                </a:solidFill>
              </a:rPr>
            </a:br>
            <a:r>
              <a:rPr lang="en-US" dirty="0">
                <a:solidFill>
                  <a:schemeClr val="tx1"/>
                </a:solidFill>
              </a:rPr>
              <a:t>Shaping and Policing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1772816"/>
            <a:ext cx="8189514" cy="1344314"/>
          </a:xfrm>
        </p:spPr>
        <p:txBody>
          <a:bodyPr/>
          <a:lstStyle/>
          <a:p>
            <a:pPr marL="0" indent="0" algn="l"/>
            <a:r>
              <a:rPr lang="en-US" sz="1800" dirty="0">
                <a:solidFill>
                  <a:srgbClr val="000000"/>
                </a:solidFill>
              </a:rPr>
              <a:t>Policing is applied to inbound traffic on an interface. Policing is commonly implemented by service providers to enforce a contracted customer information rate (CIR). However, the service provider may also allow bursting over the CIR if the service provider’s network is not currently experiencing congestion.</a:t>
            </a:r>
          </a:p>
        </p:txBody>
      </p:sp>
      <p:pic>
        <p:nvPicPr>
          <p:cNvPr id="2" name="Picture 1">
            <a:extLst>
              <a:ext uri="{FF2B5EF4-FFF2-40B4-BE49-F238E27FC236}">
                <a16:creationId xmlns:a16="http://schemas.microsoft.com/office/drawing/2014/main" id="{5896CE43-5070-4D90-ACD6-8B2F8A2EB830}"/>
              </a:ext>
            </a:extLst>
          </p:cNvPr>
          <p:cNvPicPr>
            <a:picLocks noChangeAspect="1"/>
          </p:cNvPicPr>
          <p:nvPr/>
        </p:nvPicPr>
        <p:blipFill>
          <a:blip r:embed="rId3"/>
          <a:stretch>
            <a:fillRect/>
          </a:stretch>
        </p:blipFill>
        <p:spPr>
          <a:xfrm>
            <a:off x="1431658" y="3429001"/>
            <a:ext cx="5987742" cy="2811724"/>
          </a:xfrm>
          <a:prstGeom prst="rect">
            <a:avLst/>
          </a:prstGeom>
        </p:spPr>
      </p:pic>
      <p:sp>
        <p:nvSpPr>
          <p:cNvPr id="5" name="TextBox 4">
            <a:extLst>
              <a:ext uri="{FF2B5EF4-FFF2-40B4-BE49-F238E27FC236}">
                <a16:creationId xmlns:a16="http://schemas.microsoft.com/office/drawing/2014/main" id="{6B0D3335-364B-C83C-4E6E-AEB19255E477}"/>
              </a:ext>
            </a:extLst>
          </p:cNvPr>
          <p:cNvSpPr txBox="1"/>
          <p:nvPr/>
        </p:nvSpPr>
        <p:spPr>
          <a:xfrm>
            <a:off x="7703840" y="3905434"/>
            <a:ext cx="1440160" cy="2308324"/>
          </a:xfrm>
          <a:prstGeom prst="rect">
            <a:avLst/>
          </a:prstGeom>
          <a:noFill/>
        </p:spPr>
        <p:txBody>
          <a:bodyPr wrap="square" rtlCol="0">
            <a:spAutoFit/>
          </a:bodyPr>
          <a:lstStyle/>
          <a:p>
            <a:r>
              <a:rPr lang="en-GB" dirty="0"/>
              <a:t>Isp will throttle your traffic to the rate you have a contract with them for</a:t>
            </a:r>
          </a:p>
        </p:txBody>
      </p:sp>
      <p:cxnSp>
        <p:nvCxnSpPr>
          <p:cNvPr id="7" name="Straight Arrow Connector 6">
            <a:extLst>
              <a:ext uri="{FF2B5EF4-FFF2-40B4-BE49-F238E27FC236}">
                <a16:creationId xmlns:a16="http://schemas.microsoft.com/office/drawing/2014/main" id="{8F0CABAB-FA02-BA4F-A2AF-BAF89E63A691}"/>
              </a:ext>
            </a:extLst>
          </p:cNvPr>
          <p:cNvCxnSpPr/>
          <p:nvPr/>
        </p:nvCxnSpPr>
        <p:spPr>
          <a:xfrm flipH="1">
            <a:off x="7164288" y="4365104"/>
            <a:ext cx="548054" cy="144016"/>
          </a:xfrm>
          <a:prstGeom prst="straightConnector1">
            <a:avLst/>
          </a:prstGeom>
          <a:ln w="2540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11767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idx="4294967295"/>
          </p:nvPr>
        </p:nvSpPr>
        <p:spPr>
          <a:xfrm>
            <a:off x="2627784" y="3429000"/>
            <a:ext cx="3208588" cy="799051"/>
          </a:xfrm>
          <a:prstGeom prst="rect">
            <a:avLst/>
          </a:prstGeom>
        </p:spPr>
        <p:txBody>
          <a:bodyPr vert="horz" wrap="square" lIns="0" tIns="31474" rIns="0" bIns="0" rtlCol="0">
            <a:spAutoFit/>
          </a:bodyPr>
          <a:lstStyle/>
          <a:p>
            <a:pPr marL="25179">
              <a:spcBef>
                <a:spcPts val="248"/>
              </a:spcBef>
            </a:pPr>
            <a:r>
              <a:rPr sz="4900" spc="20" dirty="0"/>
              <a:t>Questions?</a:t>
            </a:r>
            <a:endParaRPr sz="4900" dirty="0"/>
          </a:p>
        </p:txBody>
      </p:sp>
    </p:spTree>
    <p:extLst>
      <p:ext uri="{BB962C8B-B14F-4D97-AF65-F5344CB8AC3E}">
        <p14:creationId xmlns:p14="http://schemas.microsoft.com/office/powerpoint/2010/main" val="16211047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uow2">
  <a:themeElements>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ow2">
      <a:majorFont>
        <a:latin typeface="Rockwel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ow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ow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ow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ow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ow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ow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ow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ow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ow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ow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ow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uow2</Template>
  <TotalTime>40309</TotalTime>
  <Words>8315</Words>
  <Application>Microsoft Office PowerPoint</Application>
  <PresentationFormat>On-screen Show (4:3)</PresentationFormat>
  <Paragraphs>408</Paragraphs>
  <Slides>38</Slides>
  <Notes>38</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CiscoSans-Light</vt:lpstr>
      <vt:lpstr>Helvetica</vt:lpstr>
      <vt:lpstr>Rockwell</vt:lpstr>
      <vt:lpstr>uow2</vt:lpstr>
      <vt:lpstr>Quality of Service (QoS) Concepts</vt:lpstr>
      <vt:lpstr>In this session</vt:lpstr>
      <vt:lpstr>PowerPoint Presentation</vt:lpstr>
      <vt:lpstr>The Purpose of QoS</vt:lpstr>
      <vt:lpstr>Prioritizing Traffic</vt:lpstr>
      <vt:lpstr> Bandwidth, Congestion, Delay, and Jitter</vt:lpstr>
      <vt:lpstr>Causes of delay</vt:lpstr>
      <vt:lpstr> Packet Loss</vt:lpstr>
      <vt:lpstr>Packet Loss</vt:lpstr>
      <vt:lpstr>PowerPoint Presentation</vt:lpstr>
      <vt:lpstr>Network Traffic Trends</vt:lpstr>
      <vt:lpstr>Voice</vt:lpstr>
      <vt:lpstr>Video</vt:lpstr>
      <vt:lpstr>Data</vt:lpstr>
      <vt:lpstr>Data </vt:lpstr>
      <vt:lpstr>PowerPoint Presentation</vt:lpstr>
      <vt:lpstr>First in First Out</vt:lpstr>
      <vt:lpstr>Weighted Fair Queuing (WFQ)</vt:lpstr>
      <vt:lpstr>Class-Based Weighted Fair Queuing (CBWFQ)</vt:lpstr>
      <vt:lpstr>Low Latency Queuing (LLQ)</vt:lpstr>
      <vt:lpstr>PowerPoint Presentation</vt:lpstr>
      <vt:lpstr>QoS Models</vt:lpstr>
      <vt:lpstr>Best Effort</vt:lpstr>
      <vt:lpstr>Integrated Services</vt:lpstr>
      <vt:lpstr>Differentiated Services</vt:lpstr>
      <vt:lpstr>PowerPoint Presentation</vt:lpstr>
      <vt:lpstr>QoS Tools</vt:lpstr>
      <vt:lpstr>QoS Tools</vt:lpstr>
      <vt:lpstr>Classification and Marking</vt:lpstr>
      <vt:lpstr>Marking at Layer 2</vt:lpstr>
      <vt:lpstr>Marking at Layer 3</vt:lpstr>
      <vt:lpstr>Type of Service and Traffic Class Field</vt:lpstr>
      <vt:lpstr>DSCP Values</vt:lpstr>
      <vt:lpstr>Trust Boundaries</vt:lpstr>
      <vt:lpstr>Congestion Avoidance</vt:lpstr>
      <vt:lpstr>Shaping and Policing</vt:lpstr>
      <vt:lpstr> Shaping and Policing</vt:lpstr>
      <vt:lpstr>Questions?</vt:lpstr>
    </vt:vector>
  </TitlesOfParts>
  <Company>University of Wolverhampton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Mbarushimana, Consolee</dc:creator>
  <cp:lastModifiedBy>Coulson, Ian M. (Dr)</cp:lastModifiedBy>
  <cp:revision>536</cp:revision>
  <cp:lastPrinted>2024-02-14T13:40:56Z</cp:lastPrinted>
  <dcterms:created xsi:type="dcterms:W3CDTF">2009-12-02T13:43:23Z</dcterms:created>
  <dcterms:modified xsi:type="dcterms:W3CDTF">2025-02-13T09:48:32Z</dcterms:modified>
</cp:coreProperties>
</file>