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333" r:id="rId2"/>
    <p:sldId id="334" r:id="rId3"/>
    <p:sldId id="326" r:id="rId4"/>
    <p:sldId id="328" r:id="rId5"/>
    <p:sldId id="299" r:id="rId6"/>
    <p:sldId id="284" r:id="rId7"/>
    <p:sldId id="285" r:id="rId8"/>
    <p:sldId id="288" r:id="rId9"/>
    <p:sldId id="289" r:id="rId10"/>
    <p:sldId id="290" r:id="rId11"/>
    <p:sldId id="291" r:id="rId12"/>
    <p:sldId id="385" r:id="rId13"/>
    <p:sldId id="292" r:id="rId14"/>
    <p:sldId id="386" r:id="rId15"/>
    <p:sldId id="387" r:id="rId16"/>
    <p:sldId id="293" r:id="rId17"/>
    <p:sldId id="294" r:id="rId18"/>
    <p:sldId id="303" r:id="rId19"/>
    <p:sldId id="304" r:id="rId20"/>
    <p:sldId id="301" r:id="rId21"/>
    <p:sldId id="331" r:id="rId22"/>
    <p:sldId id="305" r:id="rId23"/>
    <p:sldId id="308" r:id="rId24"/>
    <p:sldId id="309" r:id="rId25"/>
    <p:sldId id="332" r:id="rId26"/>
    <p:sldId id="311" r:id="rId27"/>
    <p:sldId id="310" r:id="rId28"/>
    <p:sldId id="319" r:id="rId29"/>
    <p:sldId id="320" r:id="rId30"/>
    <p:sldId id="329" r:id="rId31"/>
    <p:sldId id="335" r:id="rId32"/>
    <p:sldId id="330" r:id="rId33"/>
  </p:sldIdLst>
  <p:sldSz cx="9144000" cy="6858000" type="screen4x3"/>
  <p:notesSz cx="6797675" cy="9926638"/>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93" autoAdjust="0"/>
    <p:restoredTop sz="71684" autoAdjust="0"/>
  </p:normalViewPr>
  <p:slideViewPr>
    <p:cSldViewPr>
      <p:cViewPr varScale="1">
        <p:scale>
          <a:sx n="81" d="100"/>
          <a:sy n="81" d="100"/>
        </p:scale>
        <p:origin x="2154" y="96"/>
      </p:cViewPr>
      <p:guideLst>
        <p:guide orient="horz" pos="2160"/>
        <p:guide pos="2880"/>
      </p:guideLst>
    </p:cSldViewPr>
  </p:slideViewPr>
  <p:notesTextViewPr>
    <p:cViewPr>
      <p:scale>
        <a:sx n="100" d="100"/>
        <a:sy n="100" d="100"/>
      </p:scale>
      <p:origin x="0" y="0"/>
    </p:cViewPr>
  </p:notesTextViewPr>
  <p:notesViewPr>
    <p:cSldViewPr>
      <p:cViewPr varScale="1">
        <p:scale>
          <a:sx n="88" d="100"/>
          <a:sy n="88" d="100"/>
        </p:scale>
        <p:origin x="-3822" y="-12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8C462A-817F-483C-826A-F2E72BF96BB7}"/>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GB"/>
          </a:p>
        </p:txBody>
      </p:sp>
      <p:sp>
        <p:nvSpPr>
          <p:cNvPr id="3" name="Date Placeholder 2">
            <a:extLst>
              <a:ext uri="{FF2B5EF4-FFF2-40B4-BE49-F238E27FC236}">
                <a16:creationId xmlns:a16="http://schemas.microsoft.com/office/drawing/2014/main" id="{F8B16443-EE99-431E-B8C1-062DD61F5363}"/>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eaLnBrk="1" hangingPunct="1">
              <a:defRPr sz="1200">
                <a:latin typeface="Arial" charset="0"/>
              </a:defRPr>
            </a:lvl1pPr>
          </a:lstStyle>
          <a:p>
            <a:pPr>
              <a:defRPr/>
            </a:pPr>
            <a:fld id="{F40D11DF-8923-402A-B7DC-3D16C338A559}" type="datetimeFigureOut">
              <a:rPr lang="en-GB"/>
              <a:pPr>
                <a:defRPr/>
              </a:pPr>
              <a:t>29/01/2025</a:t>
            </a:fld>
            <a:endParaRPr lang="en-GB"/>
          </a:p>
        </p:txBody>
      </p:sp>
      <p:sp>
        <p:nvSpPr>
          <p:cNvPr id="4" name="Slide Image Placeholder 3">
            <a:extLst>
              <a:ext uri="{FF2B5EF4-FFF2-40B4-BE49-F238E27FC236}">
                <a16:creationId xmlns:a16="http://schemas.microsoft.com/office/drawing/2014/main" id="{5658B0E6-0CF3-480C-B4AE-E816DDF5DBE8}"/>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ABFE2429-AA8C-4B71-9EAC-CED729C47E5F}"/>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813D1129-169B-4C55-B603-2B68C2F30F22}"/>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GB"/>
          </a:p>
        </p:txBody>
      </p:sp>
      <p:sp>
        <p:nvSpPr>
          <p:cNvPr id="7" name="Slide Number Placeholder 6">
            <a:extLst>
              <a:ext uri="{FF2B5EF4-FFF2-40B4-BE49-F238E27FC236}">
                <a16:creationId xmlns:a16="http://schemas.microsoft.com/office/drawing/2014/main" id="{81698249-A59C-4DA2-9D31-F1832BECB9E6}"/>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0823691-DDA7-427B-B26C-8998AEB920D0}"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howtogeek.com/132348/dont-have-a-false-sense-of-security-5-insecure-ways-to-secure-your-wi-fi/"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www.bbc.com/news/technology-23665490"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DC1F7903-CBF1-4EE0-B5EE-19E8DAF90B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69C5DC7F-E0C8-4703-8EBE-95085AF5B6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a:t>Unicast  is an individual address for a particular host</a:t>
            </a:r>
          </a:p>
          <a:p>
            <a:r>
              <a:rPr lang="en-GB" altLang="en-US"/>
              <a:t>Anycast is used where  there may be multiple devices but which replicate the same job. Several of the DNS root servers use a router-based anycast implementation, which is really a shared unicast addressing scheme. (While there are only thirteen authoritative root server names, the total number of actual servers is considerably larger, and they are spread all over the globe.) The same IP address is assigned to multiple interfaces, and then multiple routing tables entries are needed to move everything along.</a:t>
            </a:r>
          </a:p>
          <a:p>
            <a:endParaRPr lang="en-GB" altLang="en-US"/>
          </a:p>
          <a:p>
            <a:r>
              <a:rPr lang="en-GB" altLang="en-US"/>
              <a:t>Multicast – a packet sent to a group of nodes that need to receive it.  E.g. you may want to send a video to a group of PCs those the users can watch it.  Not every PC needs to view it so it routed to those with the one multicast address.</a:t>
            </a:r>
          </a:p>
        </p:txBody>
      </p:sp>
      <p:sp>
        <p:nvSpPr>
          <p:cNvPr id="17412" name="Slide Number Placeholder 3">
            <a:extLst>
              <a:ext uri="{FF2B5EF4-FFF2-40B4-BE49-F238E27FC236}">
                <a16:creationId xmlns:a16="http://schemas.microsoft.com/office/drawing/2014/main" id="{FEB04F43-FB2A-4868-87F9-F9769D8E7F3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66AE2F3-8CEC-46DB-9064-F1885F3FBACB}" type="slidenum">
              <a:rPr lang="en-GB" altLang="en-US" smtClean="0">
                <a:latin typeface="Arial" panose="020B0604020202020204" pitchFamily="34" charset="0"/>
              </a:rPr>
              <a:pPr>
                <a:spcBef>
                  <a:spcPct val="0"/>
                </a:spcBef>
              </a:pPr>
              <a:t>13</a:t>
            </a:fld>
            <a:endParaRPr lang="en-GB"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946C7EA-460D-4321-A9B6-C5A569896A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AB2FB560-B21B-4DF9-87BE-B70D10689C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080B64DD-529F-4AD5-B7F2-6648CA89CCE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04E121-D304-4C9B-BCCC-9EBFB4B5B8F1}" type="slidenum">
              <a:rPr lang="en-GB" altLang="en-US" smtClean="0">
                <a:latin typeface="Arial" panose="020B0604020202020204" pitchFamily="34" charset="0"/>
              </a:rPr>
              <a:pPr>
                <a:spcBef>
                  <a:spcPct val="0"/>
                </a:spcBef>
              </a:pPr>
              <a:t>16</a:t>
            </a:fld>
            <a:endParaRPr lang="en-GB"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EF402413-5308-42D4-BA5F-98ED17C2D7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EFBB109A-D206-4FA5-8C00-768402F05B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b="1"/>
              <a:t>MAC Address Filtering</a:t>
            </a:r>
            <a:r>
              <a:rPr lang="en-GB" altLang="en-US"/>
              <a:t>: Networks can use </a:t>
            </a:r>
            <a:r>
              <a:rPr lang="en-GB" altLang="en-US" u="sng">
                <a:hlinkClick r:id="rId3"/>
              </a:rPr>
              <a:t>MAC address filtering</a:t>
            </a:r>
            <a:r>
              <a:rPr lang="en-GB" altLang="en-US"/>
              <a:t>, only allowing devices with specific MAC addresses to connect to a network. This isn’t a great security tool because people can spoof their MAC addresses.</a:t>
            </a:r>
          </a:p>
          <a:p>
            <a:r>
              <a:rPr lang="en-GB" altLang="en-US" b="1"/>
              <a:t>MAC Authentication</a:t>
            </a:r>
            <a:r>
              <a:rPr lang="en-GB" altLang="en-US"/>
              <a:t>: Some Internet service providers may require authentication with a MAC address and only allow a device with that MAC address to connect to the Internet. You may need to change your router or computer’s MAC address to connect.</a:t>
            </a:r>
          </a:p>
          <a:p>
            <a:r>
              <a:rPr lang="en-GB" altLang="en-US" b="1"/>
              <a:t>Device Identification</a:t>
            </a:r>
            <a:r>
              <a:rPr lang="en-GB" altLang="en-US"/>
              <a:t>: Many airport Wi-Fi networks and other public Wi-Fi networks use a device’s MAC address to identify it. For example, an airport Wi-Fi network might offer a free 30 minutes and then ban your MAC address from receiving more Wi-Fi. Change your MAC address and you could get more Wi-Fi. (Free, limited Wi-Fi may also be tracked using browser cookies or an account system.)</a:t>
            </a:r>
          </a:p>
          <a:p>
            <a:r>
              <a:rPr lang="en-GB" altLang="en-US" b="1"/>
              <a:t>Device Tracking</a:t>
            </a:r>
            <a:r>
              <a:rPr lang="en-GB" altLang="en-US"/>
              <a:t>: Because they’re unique, MAC addresses can be used to track you. When you walk around, your smartphone scans for nearby Wi-Fi networks and broadcasts its MAC address. A company named Renew London used trash bins in the city of London to </a:t>
            </a:r>
            <a:r>
              <a:rPr lang="en-GB" altLang="en-US" u="sng">
                <a:hlinkClick r:id="rId4"/>
              </a:rPr>
              <a:t>track people’s movements around the city</a:t>
            </a:r>
            <a:r>
              <a:rPr lang="en-GB" altLang="en-US"/>
              <a:t> based on their MAC addresses. Apple’s iOS 8 will use a random MAC address each time it scans for nearby Wi-Fi networks to prevent this sort of tracking.</a:t>
            </a:r>
          </a:p>
          <a:p>
            <a:endParaRPr lang="en-GB" altLang="en-US"/>
          </a:p>
          <a:p>
            <a:r>
              <a:rPr lang="en-GB" altLang="en-US"/>
              <a:t>when the NIC card is made In it’s MAC address the 7</a:t>
            </a:r>
            <a:r>
              <a:rPr lang="en-GB" altLang="en-US" baseline="30000"/>
              <a:t>th</a:t>
            </a:r>
            <a:r>
              <a:rPr lang="en-GB" altLang="en-US"/>
              <a:t> bit is always set to 0 </a:t>
            </a:r>
          </a:p>
          <a:p>
            <a:r>
              <a:rPr lang="en-GB" altLang="en-US"/>
              <a:t>It is possible to change the MAC address in software (locally administered) In this case the 7</a:t>
            </a:r>
            <a:r>
              <a:rPr lang="en-GB" altLang="en-US" baseline="30000"/>
              <a:t>th</a:t>
            </a:r>
            <a:r>
              <a:rPr lang="en-GB" altLang="en-US"/>
              <a:t> most significant bit is set 1. </a:t>
            </a:r>
          </a:p>
          <a:p>
            <a:endParaRPr lang="en-GB" altLang="en-US"/>
          </a:p>
          <a:p>
            <a:r>
              <a:rPr lang="en-GB" altLang="en-US"/>
              <a:t>In EUI-64 this seventh bit is flipped when creating the IPV6 address</a:t>
            </a:r>
          </a:p>
          <a:p>
            <a:endParaRPr lang="en-GB" altLang="en-US"/>
          </a:p>
          <a:p>
            <a:r>
              <a:rPr lang="en-GB" altLang="en-US"/>
              <a:t>Windows, Linux, Mac allow you to set a MAC address.  (in windows its via the properties for the network card)</a:t>
            </a:r>
          </a:p>
          <a:p>
            <a:endParaRPr lang="en-GB" altLang="en-US"/>
          </a:p>
          <a:p>
            <a:endParaRPr lang="en-GB" altLang="en-US"/>
          </a:p>
        </p:txBody>
      </p:sp>
      <p:sp>
        <p:nvSpPr>
          <p:cNvPr id="27652" name="Slide Number Placeholder 3">
            <a:extLst>
              <a:ext uri="{FF2B5EF4-FFF2-40B4-BE49-F238E27FC236}">
                <a16:creationId xmlns:a16="http://schemas.microsoft.com/office/drawing/2014/main" id="{3BC3C261-B168-4ACB-B7BF-1B20452469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19F2485-8176-4989-826C-09F2A43137B1}" type="slidenum">
              <a:rPr lang="en-GB" altLang="en-US" smtClean="0">
                <a:latin typeface="Arial" panose="020B0604020202020204" pitchFamily="34" charset="0"/>
              </a:rPr>
              <a:pPr>
                <a:spcBef>
                  <a:spcPct val="0"/>
                </a:spcBef>
              </a:pPr>
              <a:t>21</a:t>
            </a:fld>
            <a:endParaRPr lang="en-GB"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5258583C-0F28-406E-AE8E-9E24DDAB8E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F3365438-688F-4E94-8D74-8B40FBEAE5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9700" name="Slide Number Placeholder 3">
            <a:extLst>
              <a:ext uri="{FF2B5EF4-FFF2-40B4-BE49-F238E27FC236}">
                <a16:creationId xmlns:a16="http://schemas.microsoft.com/office/drawing/2014/main" id="{96D7A4EA-1C81-4D2A-A18C-79402D6391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FCF2C8E-2988-43B3-9ADA-9BCCECCAA478}" type="slidenum">
              <a:rPr lang="en-GB" altLang="en-US" smtClean="0">
                <a:latin typeface="Arial" panose="020B0604020202020204" pitchFamily="34" charset="0"/>
              </a:rPr>
              <a:pPr>
                <a:spcBef>
                  <a:spcPct val="0"/>
                </a:spcBef>
              </a:pPr>
              <a:t>22</a:t>
            </a:fld>
            <a:endParaRPr lang="en-GB"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687AAB35-69F4-477C-BF81-0F6D052338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3C16F1D4-8C3C-4511-9BE6-9D30E3D1D3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sz="1800"/>
              <a:t>Without ECN, switches respond to network congestion by dropping TCP/IP packets. Dropped packets signal the network that congestion is occurring. Devices on the IP network respond to TCP packet drops by reducing the packet transmission rate in order to allow the congestion to clear. However, the packet drop method of congestion notification and management has some disadvantages. For example, packets are dropped and must be retransmitted. And bursty traffic can cause the network to reduce the transmission rate too much, resulting in inefficient bandwidth utilization.</a:t>
            </a:r>
          </a:p>
          <a:p>
            <a:r>
              <a:rPr lang="en-GB" altLang="en-US" sz="1800"/>
              <a:t>Instead of dropping packets to signal network congestion, ECN marks packets to signal network congestion, without dropping the packets. For ECN to work, all of the switches in the path between two ECN-enabled end</a:t>
            </a:r>
          </a:p>
          <a:p>
            <a:endParaRPr lang="en-GB" altLang="en-US" sz="1800"/>
          </a:p>
          <a:p>
            <a:r>
              <a:rPr lang="en-US" altLang="en-US"/>
              <a:t>A flow is a sequence of packets that are sent from a particular source to a particular, unicast or multicast, destination. The source also requires special handling by the intervening routers. The nature of the special handling might be conveyed to the routers by a control protocol. The control protocol can be a resource reservation protocol. The special handling also might be conveyed by information within the flow's packets, for example, in a hop-by-hop option.</a:t>
            </a:r>
          </a:p>
          <a:p>
            <a:r>
              <a:rPr lang="en-US" altLang="en-US"/>
              <a:t>Active flows from a source to a destination can be multiple. Active flows can also contain traffic that is not associated with any flow. The combination of a source address and a nonzero flow label uniquely identifies a flow. Packets that do not belong to a flow carry a flow label of zero.</a:t>
            </a:r>
          </a:p>
          <a:p>
            <a:r>
              <a:rPr lang="en-US" altLang="en-US"/>
              <a:t>The flow's source node assigns a flow label to a flow. New flow labels must be chosen randomly, in a “pseudo” manner. New flow labels must also be chosen uniformly from the range 1 to FFFFF hex. This random allocation makes any set of bits within the flow label field suitable for use as a hash key by routers. The routers can use the hash key to look up the state that is associated with the flow.</a:t>
            </a:r>
          </a:p>
          <a:p>
            <a:r>
              <a:rPr lang="en-GB" altLang="en-US" sz="1800"/>
              <a:t>points must have ECN enabled. ECN is negotiated during the establishment of the TCP connection between the endpoints.</a:t>
            </a:r>
          </a:p>
        </p:txBody>
      </p:sp>
      <p:sp>
        <p:nvSpPr>
          <p:cNvPr id="31748" name="Slide Number Placeholder 3">
            <a:extLst>
              <a:ext uri="{FF2B5EF4-FFF2-40B4-BE49-F238E27FC236}">
                <a16:creationId xmlns:a16="http://schemas.microsoft.com/office/drawing/2014/main" id="{C466B11C-6E8A-42A6-AF4F-5F2D86D717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55913AD-C348-498E-B89D-7FB5FCFE83EA}" type="slidenum">
              <a:rPr lang="en-GB" altLang="en-US" smtClean="0">
                <a:latin typeface="Arial" panose="020B0604020202020204" pitchFamily="34" charset="0"/>
              </a:rPr>
              <a:pPr>
                <a:spcBef>
                  <a:spcPct val="0"/>
                </a:spcBef>
              </a:pPr>
              <a:t>23</a:t>
            </a:fld>
            <a:endParaRPr lang="en-GB"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EA5B23E1-5603-4BE6-9E79-5D53D5386D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DE114A20-175F-4584-8F67-F28DC7F54A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3796" name="Slide Number Placeholder 3">
            <a:extLst>
              <a:ext uri="{FF2B5EF4-FFF2-40B4-BE49-F238E27FC236}">
                <a16:creationId xmlns:a16="http://schemas.microsoft.com/office/drawing/2014/main" id="{D7535979-F70C-4BE6-A643-AC9369CB5C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2024076-86A3-47C3-8E89-BD90D2DC93AD}" type="slidenum">
              <a:rPr lang="en-GB" altLang="en-US" smtClean="0">
                <a:latin typeface="Arial" panose="020B0604020202020204" pitchFamily="34" charset="0"/>
              </a:rPr>
              <a:pPr>
                <a:spcBef>
                  <a:spcPct val="0"/>
                </a:spcBef>
              </a:pPr>
              <a:t>24</a:t>
            </a:fld>
            <a:endParaRPr lang="en-GB"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83384DC6-888C-4540-B0C2-A9C4448D18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3352DA6B-70E7-4C19-88A0-A8D7EF10E4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a:t>The inter-domain routing space is constructed using two components: address prefixes and AS numbers , which are used as domain identifiers. Every prefix has an originating domain, known as the “origin AS” from which reachability for the prefix is propagated across the inter-domain space. </a:t>
            </a:r>
          </a:p>
          <a:p>
            <a:r>
              <a:rPr lang="en-GB" altLang="en-US"/>
              <a:t>As the routing advertisement is propagated across the inter-domain space each prefix accumulates an associated “AS Path”. As a prefix advertisement transits each domain, the domain effectively “signs” the prefix advertisement by having its AS number prepended to the AS Path associated with the address prefix. At any point in the network the AS path describes a sequence of connected domains which forms a path from the current point to the originating domain. This is shown in Figure 1, where AS 1 originates an advertisement for the address prefix 192.0.2.0/24. At AS 5, the AS will receive two BGP advertisements for this prefix. One will have the AS Path (4,2,1), while the other will have the AS Path (3,1). The AS Path is a sequence of AS number values. The left-most number is the AS number of the adjacent Autonomous System from which the address prefix advertisement was received. The sequence of numbers indicates the sequence of Autonomous Systems though which this update was propagated. The right-most, or final AS number is the AS number of the Autonomous System that originated the address prefix advertisement, or “OriginAS”.</a:t>
            </a:r>
          </a:p>
          <a:p>
            <a:endParaRPr lang="en-GB" altLang="en-US"/>
          </a:p>
          <a:p>
            <a:r>
              <a:rPr lang="en-GB" altLang="en-US" b="1"/>
              <a:t>BGP Path Selection Criteria</a:t>
            </a:r>
          </a:p>
          <a:p>
            <a:r>
              <a:rPr lang="en-GB" altLang="en-US"/>
              <a:t>BGP tries to narrow its path selection down to one best path; it does not load balance by default. To do so, it examines the path attributes of any loop-free, synchronized (if synchronization is enabled) routes with a reachable next-hop in the following order:</a:t>
            </a:r>
          </a:p>
          <a:p>
            <a:r>
              <a:rPr lang="en-GB" altLang="en-US"/>
              <a:t>Choose the route with the highest weight.</a:t>
            </a:r>
          </a:p>
          <a:p>
            <a:r>
              <a:rPr lang="en-GB" altLang="en-US"/>
              <a:t>If weight is not set, choose the route with the highest local preference.</a:t>
            </a:r>
          </a:p>
          <a:p>
            <a:r>
              <a:rPr lang="en-GB" altLang="en-US"/>
              <a:t>Choose routes that this router originated.</a:t>
            </a:r>
          </a:p>
          <a:p>
            <a:r>
              <a:rPr lang="en-GB" altLang="en-US"/>
              <a:t>Choose the path with the shortest Autonomous System path.</a:t>
            </a:r>
          </a:p>
          <a:p>
            <a:r>
              <a:rPr lang="en-GB" altLang="en-US"/>
              <a:t>Choose the path with the lowest origin code (i is lowest, e is next, ? is last).</a:t>
            </a:r>
          </a:p>
          <a:p>
            <a:r>
              <a:rPr lang="en-GB" altLang="en-US"/>
              <a:t>Choose the route with the lowest MED, if the same Autonomous System advertises the possible routes.</a:t>
            </a:r>
          </a:p>
          <a:p>
            <a:r>
              <a:rPr lang="en-GB" altLang="en-US"/>
              <a:t>Choose an EBGP route over an IBGP route.</a:t>
            </a:r>
          </a:p>
          <a:p>
            <a:r>
              <a:rPr lang="en-GB" altLang="en-US"/>
              <a:t>Choose the route through the nearest IGP neighbor as determined by the lowest IGP metric.</a:t>
            </a:r>
          </a:p>
          <a:p>
            <a:r>
              <a:rPr lang="en-GB" altLang="en-US"/>
              <a:t>Choose the oldest route</a:t>
            </a:r>
          </a:p>
          <a:p>
            <a:r>
              <a:rPr lang="en-GB" altLang="en-US"/>
              <a:t>Choose a path through the neighbor with the lowest router ID.</a:t>
            </a:r>
          </a:p>
          <a:p>
            <a:r>
              <a:rPr lang="en-GB" altLang="en-US"/>
              <a:t>Choose a path through the neighbor with the lowest IP address.</a:t>
            </a:r>
          </a:p>
          <a:p>
            <a:endParaRPr lang="en-GB" altLang="en-US"/>
          </a:p>
          <a:p>
            <a:endParaRPr lang="en-GB" altLang="en-US"/>
          </a:p>
        </p:txBody>
      </p:sp>
      <p:sp>
        <p:nvSpPr>
          <p:cNvPr id="40964" name="Slide Number Placeholder 3">
            <a:extLst>
              <a:ext uri="{FF2B5EF4-FFF2-40B4-BE49-F238E27FC236}">
                <a16:creationId xmlns:a16="http://schemas.microsoft.com/office/drawing/2014/main" id="{85C54933-8973-49BE-BF5A-6D9DFBADB2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8CDF6E6-3FD7-428C-81C2-2B1DA1DC9B73}" type="slidenum">
              <a:rPr lang="en-GB" altLang="en-US" smtClean="0">
                <a:latin typeface="Arial" panose="020B0604020202020204" pitchFamily="34" charset="0"/>
              </a:rPr>
              <a:pPr>
                <a:spcBef>
                  <a:spcPct val="0"/>
                </a:spcBef>
              </a:pPr>
              <a:t>30</a:t>
            </a:fld>
            <a:endParaRPr lang="en-GB"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EE5B5988-CDA0-4CB8-9BC3-736F7235A5CA}"/>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3C318C5F-E705-4A88-91B0-43B560517B52}"/>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0" name="Rectangle 2"/>
          <p:cNvSpPr>
            <a:spLocks noGrp="1" noChangeArrowheads="1"/>
          </p:cNvSpPr>
          <p:nvPr>
            <p:ph type="ctrTitle"/>
          </p:nvPr>
        </p:nvSpPr>
        <p:spPr>
          <a:xfrm>
            <a:off x="914400" y="1524000"/>
            <a:ext cx="7623175" cy="1752600"/>
          </a:xfrm>
        </p:spPr>
        <p:txBody>
          <a:bodyPr/>
          <a:lstStyle>
            <a:lvl1pPr>
              <a:defRPr sz="5000"/>
            </a:lvl1pPr>
          </a:lstStyle>
          <a:p>
            <a:pPr lvl="0"/>
            <a:r>
              <a:rPr lang="en-GB" altLang="en-US" noProof="0"/>
              <a:t>Click to edit Master title style</a:t>
            </a:r>
          </a:p>
        </p:txBody>
      </p:sp>
      <p:sp>
        <p:nvSpPr>
          <p:cNvPr id="2765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pPr lvl="0"/>
            <a:r>
              <a:rPr lang="en-GB" altLang="en-US" noProof="0"/>
              <a:t>Click to edit Master subtitle style</a:t>
            </a:r>
          </a:p>
        </p:txBody>
      </p:sp>
      <p:sp>
        <p:nvSpPr>
          <p:cNvPr id="6" name="Rectangle 4">
            <a:extLst>
              <a:ext uri="{FF2B5EF4-FFF2-40B4-BE49-F238E27FC236}">
                <a16:creationId xmlns:a16="http://schemas.microsoft.com/office/drawing/2014/main" id="{5AF615E3-3DD5-4218-A3CE-29A6F479178A}"/>
              </a:ext>
            </a:extLst>
          </p:cNvPr>
          <p:cNvSpPr>
            <a:spLocks noGrp="1" noChangeArrowheads="1"/>
          </p:cNvSpPr>
          <p:nvPr>
            <p:ph type="dt" sz="half" idx="10"/>
          </p:nvPr>
        </p:nvSpPr>
        <p:spPr/>
        <p:txBody>
          <a:bodyPr/>
          <a:lstStyle>
            <a:lvl1pPr>
              <a:defRPr/>
            </a:lvl1pPr>
          </a:lstStyle>
          <a:p>
            <a:pPr>
              <a:defRPr/>
            </a:pPr>
            <a:endParaRPr lang="en-GB" altLang="en-US"/>
          </a:p>
        </p:txBody>
      </p:sp>
      <p:sp>
        <p:nvSpPr>
          <p:cNvPr id="7" name="Rectangle 5">
            <a:extLst>
              <a:ext uri="{FF2B5EF4-FFF2-40B4-BE49-F238E27FC236}">
                <a16:creationId xmlns:a16="http://schemas.microsoft.com/office/drawing/2014/main" id="{9C9B6BA4-9D92-447C-AAB3-7165FE788428}"/>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GB" altLang="en-US"/>
          </a:p>
        </p:txBody>
      </p:sp>
      <p:sp>
        <p:nvSpPr>
          <p:cNvPr id="8" name="Rectangle 6">
            <a:extLst>
              <a:ext uri="{FF2B5EF4-FFF2-40B4-BE49-F238E27FC236}">
                <a16:creationId xmlns:a16="http://schemas.microsoft.com/office/drawing/2014/main" id="{DC408F27-2A06-4742-A555-4E3E8EC3B9DD}"/>
              </a:ext>
            </a:extLst>
          </p:cNvPr>
          <p:cNvSpPr>
            <a:spLocks noGrp="1" noChangeArrowheads="1"/>
          </p:cNvSpPr>
          <p:nvPr>
            <p:ph type="sldNum" sz="quarter" idx="12"/>
          </p:nvPr>
        </p:nvSpPr>
        <p:spPr/>
        <p:txBody>
          <a:bodyPr/>
          <a:lstStyle>
            <a:lvl1pPr>
              <a:defRPr/>
            </a:lvl1pPr>
          </a:lstStyle>
          <a:p>
            <a:pPr>
              <a:defRPr/>
            </a:pPr>
            <a:fld id="{7336BD56-3FA2-40F9-BA83-35DA3D8339A5}" type="slidenum">
              <a:rPr lang="en-GB" altLang="en-US"/>
              <a:pPr>
                <a:defRPr/>
              </a:pPr>
              <a:t>‹#›</a:t>
            </a:fld>
            <a:endParaRPr lang="en-GB" altLang="en-US"/>
          </a:p>
        </p:txBody>
      </p:sp>
    </p:spTree>
    <p:extLst>
      <p:ext uri="{BB962C8B-B14F-4D97-AF65-F5344CB8AC3E}">
        <p14:creationId xmlns:p14="http://schemas.microsoft.com/office/powerpoint/2010/main" val="740837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3435876B-BFFE-4EB8-8DBD-12E7FE2FB875}"/>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5">
            <a:extLst>
              <a:ext uri="{FF2B5EF4-FFF2-40B4-BE49-F238E27FC236}">
                <a16:creationId xmlns:a16="http://schemas.microsoft.com/office/drawing/2014/main" id="{5AC67395-E19F-4E05-A828-AD5677B975D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269D19CD-38BA-4D56-9AAE-D9E87D8E3CE1}"/>
              </a:ext>
            </a:extLst>
          </p:cNvPr>
          <p:cNvSpPr>
            <a:spLocks noGrp="1" noChangeArrowheads="1"/>
          </p:cNvSpPr>
          <p:nvPr>
            <p:ph type="sldNum" sz="quarter" idx="12"/>
          </p:nvPr>
        </p:nvSpPr>
        <p:spPr>
          <a:ln/>
        </p:spPr>
        <p:txBody>
          <a:bodyPr/>
          <a:lstStyle>
            <a:lvl1pPr>
              <a:defRPr/>
            </a:lvl1pPr>
          </a:lstStyle>
          <a:p>
            <a:pPr>
              <a:defRPr/>
            </a:pPr>
            <a:fld id="{96313336-98A1-443C-8B21-1C3C84D8D66B}" type="slidenum">
              <a:rPr lang="en-GB" altLang="en-US"/>
              <a:pPr>
                <a:defRPr/>
              </a:pPr>
              <a:t>‹#›</a:t>
            </a:fld>
            <a:endParaRPr lang="en-GB" altLang="en-US"/>
          </a:p>
        </p:txBody>
      </p:sp>
    </p:spTree>
    <p:extLst>
      <p:ext uri="{BB962C8B-B14F-4D97-AF65-F5344CB8AC3E}">
        <p14:creationId xmlns:p14="http://schemas.microsoft.com/office/powerpoint/2010/main" val="2808273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6D858BE-4534-48F3-A175-30DB8DB1197F}"/>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5">
            <a:extLst>
              <a:ext uri="{FF2B5EF4-FFF2-40B4-BE49-F238E27FC236}">
                <a16:creationId xmlns:a16="http://schemas.microsoft.com/office/drawing/2014/main" id="{21862CBE-E293-4800-961C-E579D43E0FFA}"/>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EC4BDE79-0922-4C75-87E8-AA691B86D696}"/>
              </a:ext>
            </a:extLst>
          </p:cNvPr>
          <p:cNvSpPr>
            <a:spLocks noGrp="1" noChangeArrowheads="1"/>
          </p:cNvSpPr>
          <p:nvPr>
            <p:ph type="sldNum" sz="quarter" idx="12"/>
          </p:nvPr>
        </p:nvSpPr>
        <p:spPr>
          <a:ln/>
        </p:spPr>
        <p:txBody>
          <a:bodyPr/>
          <a:lstStyle>
            <a:lvl1pPr>
              <a:defRPr/>
            </a:lvl1pPr>
          </a:lstStyle>
          <a:p>
            <a:pPr>
              <a:defRPr/>
            </a:pPr>
            <a:fld id="{AB2E8720-7BD8-4E9B-9E91-9433A8BFC972}" type="slidenum">
              <a:rPr lang="en-GB" altLang="en-US"/>
              <a:pPr>
                <a:defRPr/>
              </a:pPr>
              <a:t>‹#›</a:t>
            </a:fld>
            <a:endParaRPr lang="en-GB" altLang="en-US"/>
          </a:p>
        </p:txBody>
      </p:sp>
    </p:spTree>
    <p:extLst>
      <p:ext uri="{BB962C8B-B14F-4D97-AF65-F5344CB8AC3E}">
        <p14:creationId xmlns:p14="http://schemas.microsoft.com/office/powerpoint/2010/main" val="920491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06A9BD65-5238-4D2C-B16D-3CA9101E6085}"/>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5">
            <a:extLst>
              <a:ext uri="{FF2B5EF4-FFF2-40B4-BE49-F238E27FC236}">
                <a16:creationId xmlns:a16="http://schemas.microsoft.com/office/drawing/2014/main" id="{8581C6D9-0A3F-48FD-9DAA-90B6F146BAA1}"/>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6">
            <a:extLst>
              <a:ext uri="{FF2B5EF4-FFF2-40B4-BE49-F238E27FC236}">
                <a16:creationId xmlns:a16="http://schemas.microsoft.com/office/drawing/2014/main" id="{D4ACBCA0-D8C3-42FE-AB3A-A07446886E47}"/>
              </a:ext>
            </a:extLst>
          </p:cNvPr>
          <p:cNvSpPr>
            <a:spLocks noGrp="1" noChangeArrowheads="1"/>
          </p:cNvSpPr>
          <p:nvPr>
            <p:ph type="sldNum" sz="quarter" idx="12"/>
          </p:nvPr>
        </p:nvSpPr>
        <p:spPr>
          <a:ln/>
        </p:spPr>
        <p:txBody>
          <a:bodyPr/>
          <a:lstStyle>
            <a:lvl1pPr>
              <a:defRPr/>
            </a:lvl1pPr>
          </a:lstStyle>
          <a:p>
            <a:pPr>
              <a:defRPr/>
            </a:pPr>
            <a:fld id="{2E14DD2D-B194-41B9-B9A7-E3337EE117DC}" type="slidenum">
              <a:rPr lang="en-GB" altLang="en-US"/>
              <a:pPr>
                <a:defRPr/>
              </a:pPr>
              <a:t>‹#›</a:t>
            </a:fld>
            <a:endParaRPr lang="en-GB" altLang="en-US"/>
          </a:p>
        </p:txBody>
      </p:sp>
    </p:spTree>
    <p:extLst>
      <p:ext uri="{BB962C8B-B14F-4D97-AF65-F5344CB8AC3E}">
        <p14:creationId xmlns:p14="http://schemas.microsoft.com/office/powerpoint/2010/main" val="329380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7C70D453-8510-41A5-9203-C46767BB1CB7}"/>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8" name="Rectangle 5">
            <a:extLst>
              <a:ext uri="{FF2B5EF4-FFF2-40B4-BE49-F238E27FC236}">
                <a16:creationId xmlns:a16="http://schemas.microsoft.com/office/drawing/2014/main" id="{63B0FDF6-B1F6-4FE6-A66C-6B05684DE252}"/>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9" name="Rectangle 6">
            <a:extLst>
              <a:ext uri="{FF2B5EF4-FFF2-40B4-BE49-F238E27FC236}">
                <a16:creationId xmlns:a16="http://schemas.microsoft.com/office/drawing/2014/main" id="{14C3BA08-64CF-4EA9-ACC9-E0E5C953E83E}"/>
              </a:ext>
            </a:extLst>
          </p:cNvPr>
          <p:cNvSpPr>
            <a:spLocks noGrp="1" noChangeArrowheads="1"/>
          </p:cNvSpPr>
          <p:nvPr>
            <p:ph type="sldNum" sz="quarter" idx="12"/>
          </p:nvPr>
        </p:nvSpPr>
        <p:spPr>
          <a:ln/>
        </p:spPr>
        <p:txBody>
          <a:bodyPr/>
          <a:lstStyle>
            <a:lvl1pPr>
              <a:defRPr/>
            </a:lvl1pPr>
          </a:lstStyle>
          <a:p>
            <a:pPr>
              <a:defRPr/>
            </a:pPr>
            <a:fld id="{F5D5D4BB-9B17-4E48-A8CD-F20E2489B33D}" type="slidenum">
              <a:rPr lang="en-GB" altLang="en-US"/>
              <a:pPr>
                <a:defRPr/>
              </a:pPr>
              <a:t>‹#›</a:t>
            </a:fld>
            <a:endParaRPr lang="en-GB" altLang="en-US"/>
          </a:p>
        </p:txBody>
      </p:sp>
    </p:spTree>
    <p:extLst>
      <p:ext uri="{BB962C8B-B14F-4D97-AF65-F5344CB8AC3E}">
        <p14:creationId xmlns:p14="http://schemas.microsoft.com/office/powerpoint/2010/main" val="2963753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7AD815AB-43D8-4712-A2D7-EED34A8BB8C7}"/>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4" name="Rectangle 5">
            <a:extLst>
              <a:ext uri="{FF2B5EF4-FFF2-40B4-BE49-F238E27FC236}">
                <a16:creationId xmlns:a16="http://schemas.microsoft.com/office/drawing/2014/main" id="{97D010A0-E639-4FFA-94C0-3F0245ED37D5}"/>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66CE6489-9037-4B5A-A3EE-8550904B95FA}"/>
              </a:ext>
            </a:extLst>
          </p:cNvPr>
          <p:cNvSpPr>
            <a:spLocks noGrp="1" noChangeArrowheads="1"/>
          </p:cNvSpPr>
          <p:nvPr>
            <p:ph type="sldNum" sz="quarter" idx="12"/>
          </p:nvPr>
        </p:nvSpPr>
        <p:spPr>
          <a:ln/>
        </p:spPr>
        <p:txBody>
          <a:bodyPr/>
          <a:lstStyle>
            <a:lvl1pPr>
              <a:defRPr/>
            </a:lvl1pPr>
          </a:lstStyle>
          <a:p>
            <a:pPr>
              <a:defRPr/>
            </a:pPr>
            <a:fld id="{86106563-8F19-427D-A741-34094A346150}" type="slidenum">
              <a:rPr lang="en-GB" altLang="en-US"/>
              <a:pPr>
                <a:defRPr/>
              </a:pPr>
              <a:t>‹#›</a:t>
            </a:fld>
            <a:endParaRPr lang="en-GB" altLang="en-US"/>
          </a:p>
        </p:txBody>
      </p:sp>
    </p:spTree>
    <p:extLst>
      <p:ext uri="{BB962C8B-B14F-4D97-AF65-F5344CB8AC3E}">
        <p14:creationId xmlns:p14="http://schemas.microsoft.com/office/powerpoint/2010/main" val="2562006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65D9209-1001-4B32-B7F7-DC31BAAA98EA}"/>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3" name="Rectangle 5">
            <a:extLst>
              <a:ext uri="{FF2B5EF4-FFF2-40B4-BE49-F238E27FC236}">
                <a16:creationId xmlns:a16="http://schemas.microsoft.com/office/drawing/2014/main" id="{8053D279-8A0F-4402-9515-9B98427A648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4" name="Rectangle 6">
            <a:extLst>
              <a:ext uri="{FF2B5EF4-FFF2-40B4-BE49-F238E27FC236}">
                <a16:creationId xmlns:a16="http://schemas.microsoft.com/office/drawing/2014/main" id="{70410D92-8C8D-430F-BCA1-EB60D55E55BE}"/>
              </a:ext>
            </a:extLst>
          </p:cNvPr>
          <p:cNvSpPr>
            <a:spLocks noGrp="1" noChangeArrowheads="1"/>
          </p:cNvSpPr>
          <p:nvPr>
            <p:ph type="sldNum" sz="quarter" idx="12"/>
          </p:nvPr>
        </p:nvSpPr>
        <p:spPr>
          <a:ln/>
        </p:spPr>
        <p:txBody>
          <a:bodyPr/>
          <a:lstStyle>
            <a:lvl1pPr>
              <a:defRPr/>
            </a:lvl1pPr>
          </a:lstStyle>
          <a:p>
            <a:pPr>
              <a:defRPr/>
            </a:pPr>
            <a:fld id="{E772748E-39DD-4231-BFFB-B7A9878A39A5}" type="slidenum">
              <a:rPr lang="en-GB" altLang="en-US"/>
              <a:pPr>
                <a:defRPr/>
              </a:pPr>
              <a:t>‹#›</a:t>
            </a:fld>
            <a:endParaRPr lang="en-GB" altLang="en-US"/>
          </a:p>
        </p:txBody>
      </p:sp>
    </p:spTree>
    <p:extLst>
      <p:ext uri="{BB962C8B-B14F-4D97-AF65-F5344CB8AC3E}">
        <p14:creationId xmlns:p14="http://schemas.microsoft.com/office/powerpoint/2010/main" val="241481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2AD1356-515F-4DEA-8FCA-6E7599921F4F}"/>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5">
            <a:extLst>
              <a:ext uri="{FF2B5EF4-FFF2-40B4-BE49-F238E27FC236}">
                <a16:creationId xmlns:a16="http://schemas.microsoft.com/office/drawing/2014/main" id="{878CB47B-34A6-4EDE-8036-F6C5244327D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6">
            <a:extLst>
              <a:ext uri="{FF2B5EF4-FFF2-40B4-BE49-F238E27FC236}">
                <a16:creationId xmlns:a16="http://schemas.microsoft.com/office/drawing/2014/main" id="{370C32CF-3996-4863-BBEA-21ADECE37F2E}"/>
              </a:ext>
            </a:extLst>
          </p:cNvPr>
          <p:cNvSpPr>
            <a:spLocks noGrp="1" noChangeArrowheads="1"/>
          </p:cNvSpPr>
          <p:nvPr>
            <p:ph type="sldNum" sz="quarter" idx="12"/>
          </p:nvPr>
        </p:nvSpPr>
        <p:spPr>
          <a:ln/>
        </p:spPr>
        <p:txBody>
          <a:bodyPr/>
          <a:lstStyle>
            <a:lvl1pPr>
              <a:defRPr/>
            </a:lvl1pPr>
          </a:lstStyle>
          <a:p>
            <a:pPr>
              <a:defRPr/>
            </a:pPr>
            <a:fld id="{E600B8FE-9CAA-4DE0-BDDC-CCC7D3D1727D}" type="slidenum">
              <a:rPr lang="en-GB" altLang="en-US"/>
              <a:pPr>
                <a:defRPr/>
              </a:pPr>
              <a:t>‹#›</a:t>
            </a:fld>
            <a:endParaRPr lang="en-GB" altLang="en-US"/>
          </a:p>
        </p:txBody>
      </p:sp>
    </p:spTree>
    <p:extLst>
      <p:ext uri="{BB962C8B-B14F-4D97-AF65-F5344CB8AC3E}">
        <p14:creationId xmlns:p14="http://schemas.microsoft.com/office/powerpoint/2010/main" val="4053503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BF32F74-8054-4E5C-BE67-6136835886FA}"/>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5">
            <a:extLst>
              <a:ext uri="{FF2B5EF4-FFF2-40B4-BE49-F238E27FC236}">
                <a16:creationId xmlns:a16="http://schemas.microsoft.com/office/drawing/2014/main" id="{FE4FFF25-1F3C-4908-ADE9-B04522784CF5}"/>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6">
            <a:extLst>
              <a:ext uri="{FF2B5EF4-FFF2-40B4-BE49-F238E27FC236}">
                <a16:creationId xmlns:a16="http://schemas.microsoft.com/office/drawing/2014/main" id="{8F4F8E9D-D889-44F9-BBC0-7D6FC7C13A05}"/>
              </a:ext>
            </a:extLst>
          </p:cNvPr>
          <p:cNvSpPr>
            <a:spLocks noGrp="1" noChangeArrowheads="1"/>
          </p:cNvSpPr>
          <p:nvPr>
            <p:ph type="sldNum" sz="quarter" idx="12"/>
          </p:nvPr>
        </p:nvSpPr>
        <p:spPr>
          <a:ln/>
        </p:spPr>
        <p:txBody>
          <a:bodyPr/>
          <a:lstStyle>
            <a:lvl1pPr>
              <a:defRPr/>
            </a:lvl1pPr>
          </a:lstStyle>
          <a:p>
            <a:pPr>
              <a:defRPr/>
            </a:pPr>
            <a:fld id="{6B4D0F79-06A6-439B-B2C8-D77A45823AAC}" type="slidenum">
              <a:rPr lang="en-GB" altLang="en-US"/>
              <a:pPr>
                <a:defRPr/>
              </a:pPr>
              <a:t>‹#›</a:t>
            </a:fld>
            <a:endParaRPr lang="en-GB" altLang="en-US"/>
          </a:p>
        </p:txBody>
      </p:sp>
    </p:spTree>
    <p:extLst>
      <p:ext uri="{BB962C8B-B14F-4D97-AF65-F5344CB8AC3E}">
        <p14:creationId xmlns:p14="http://schemas.microsoft.com/office/powerpoint/2010/main" val="2522696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AA6E29FE-26E6-49CA-8023-3CD3648414F8}"/>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5">
            <a:extLst>
              <a:ext uri="{FF2B5EF4-FFF2-40B4-BE49-F238E27FC236}">
                <a16:creationId xmlns:a16="http://schemas.microsoft.com/office/drawing/2014/main" id="{A1EA3883-535B-479E-88E3-6982175995F8}"/>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232FFF94-9F27-4AB3-8515-EADE1C64185E}"/>
              </a:ext>
            </a:extLst>
          </p:cNvPr>
          <p:cNvSpPr>
            <a:spLocks noGrp="1" noChangeArrowheads="1"/>
          </p:cNvSpPr>
          <p:nvPr>
            <p:ph type="sldNum" sz="quarter" idx="12"/>
          </p:nvPr>
        </p:nvSpPr>
        <p:spPr>
          <a:ln/>
        </p:spPr>
        <p:txBody>
          <a:bodyPr/>
          <a:lstStyle>
            <a:lvl1pPr>
              <a:defRPr/>
            </a:lvl1pPr>
          </a:lstStyle>
          <a:p>
            <a:pPr>
              <a:defRPr/>
            </a:pPr>
            <a:fld id="{06CCA056-DFE8-4F12-A735-2B71409DAECA}" type="slidenum">
              <a:rPr lang="en-GB" altLang="en-US"/>
              <a:pPr>
                <a:defRPr/>
              </a:pPr>
              <a:t>‹#›</a:t>
            </a:fld>
            <a:endParaRPr lang="en-GB" altLang="en-US"/>
          </a:p>
        </p:txBody>
      </p:sp>
    </p:spTree>
    <p:extLst>
      <p:ext uri="{BB962C8B-B14F-4D97-AF65-F5344CB8AC3E}">
        <p14:creationId xmlns:p14="http://schemas.microsoft.com/office/powerpoint/2010/main" val="3982533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1AA61181-D324-410C-B743-0AE04840EB56}"/>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5">
            <a:extLst>
              <a:ext uri="{FF2B5EF4-FFF2-40B4-BE49-F238E27FC236}">
                <a16:creationId xmlns:a16="http://schemas.microsoft.com/office/drawing/2014/main" id="{26B1B900-94B5-4838-9999-5D676C9B291B}"/>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514B28A0-3F42-40DB-BB6E-902A5AE59725}"/>
              </a:ext>
            </a:extLst>
          </p:cNvPr>
          <p:cNvSpPr>
            <a:spLocks noGrp="1" noChangeArrowheads="1"/>
          </p:cNvSpPr>
          <p:nvPr>
            <p:ph type="sldNum" sz="quarter" idx="12"/>
          </p:nvPr>
        </p:nvSpPr>
        <p:spPr>
          <a:ln/>
        </p:spPr>
        <p:txBody>
          <a:bodyPr/>
          <a:lstStyle>
            <a:lvl1pPr>
              <a:defRPr/>
            </a:lvl1pPr>
          </a:lstStyle>
          <a:p>
            <a:pPr>
              <a:defRPr/>
            </a:pPr>
            <a:fld id="{5FD72F5E-95BB-4787-9C91-A9883FE01EE1}" type="slidenum">
              <a:rPr lang="en-GB" altLang="en-US"/>
              <a:pPr>
                <a:defRPr/>
              </a:pPr>
              <a:t>‹#›</a:t>
            </a:fld>
            <a:endParaRPr lang="en-GB" altLang="en-US"/>
          </a:p>
        </p:txBody>
      </p:sp>
    </p:spTree>
    <p:extLst>
      <p:ext uri="{BB962C8B-B14F-4D97-AF65-F5344CB8AC3E}">
        <p14:creationId xmlns:p14="http://schemas.microsoft.com/office/powerpoint/2010/main" val="3511501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FD8D0C30-ABF7-4A6B-ABA0-CEE3BD63D515}"/>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5">
            <a:extLst>
              <a:ext uri="{FF2B5EF4-FFF2-40B4-BE49-F238E27FC236}">
                <a16:creationId xmlns:a16="http://schemas.microsoft.com/office/drawing/2014/main" id="{618A7E50-676A-48FF-B6DA-615A65B441F9}"/>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6">
            <a:extLst>
              <a:ext uri="{FF2B5EF4-FFF2-40B4-BE49-F238E27FC236}">
                <a16:creationId xmlns:a16="http://schemas.microsoft.com/office/drawing/2014/main" id="{EF7F4FEF-3372-400F-91B9-7B7BEC50080F}"/>
              </a:ext>
            </a:extLst>
          </p:cNvPr>
          <p:cNvSpPr>
            <a:spLocks noGrp="1" noChangeArrowheads="1"/>
          </p:cNvSpPr>
          <p:nvPr>
            <p:ph type="sldNum" sz="quarter" idx="12"/>
          </p:nvPr>
        </p:nvSpPr>
        <p:spPr>
          <a:ln/>
        </p:spPr>
        <p:txBody>
          <a:bodyPr/>
          <a:lstStyle>
            <a:lvl1pPr>
              <a:defRPr/>
            </a:lvl1pPr>
          </a:lstStyle>
          <a:p>
            <a:pPr>
              <a:defRPr/>
            </a:pPr>
            <a:fld id="{9BFFD069-40F7-45F4-A170-36C57C043C44}" type="slidenum">
              <a:rPr lang="en-GB" altLang="en-US"/>
              <a:pPr>
                <a:defRPr/>
              </a:pPr>
              <a:t>‹#›</a:t>
            </a:fld>
            <a:endParaRPr lang="en-GB" altLang="en-US"/>
          </a:p>
        </p:txBody>
      </p:sp>
    </p:spTree>
    <p:extLst>
      <p:ext uri="{BB962C8B-B14F-4D97-AF65-F5344CB8AC3E}">
        <p14:creationId xmlns:p14="http://schemas.microsoft.com/office/powerpoint/2010/main" val="961952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32D10D3-F92B-4529-ACE3-69814230CAB0}"/>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D608A95D-B466-47FA-89AA-35749443AB4A}"/>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6628" name="Rectangle 4">
            <a:extLst>
              <a:ext uri="{FF2B5EF4-FFF2-40B4-BE49-F238E27FC236}">
                <a16:creationId xmlns:a16="http://schemas.microsoft.com/office/drawing/2014/main" id="{165D0523-7C86-47EE-9382-E82212CB4503}"/>
              </a:ext>
            </a:extLst>
          </p:cNvPr>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mj-lt"/>
              </a:defRPr>
            </a:lvl1pPr>
          </a:lstStyle>
          <a:p>
            <a:pPr>
              <a:defRPr/>
            </a:pPr>
            <a:endParaRPr lang="en-GB" altLang="en-US"/>
          </a:p>
        </p:txBody>
      </p:sp>
      <p:sp>
        <p:nvSpPr>
          <p:cNvPr id="26629" name="Rectangle 5">
            <a:extLst>
              <a:ext uri="{FF2B5EF4-FFF2-40B4-BE49-F238E27FC236}">
                <a16:creationId xmlns:a16="http://schemas.microsoft.com/office/drawing/2014/main" id="{039F992D-4193-4233-81D3-177F9CC15042}"/>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200">
                <a:latin typeface="+mj-lt"/>
              </a:defRPr>
            </a:lvl1pPr>
          </a:lstStyle>
          <a:p>
            <a:pPr>
              <a:defRPr/>
            </a:pPr>
            <a:endParaRPr lang="en-GB" altLang="en-US"/>
          </a:p>
        </p:txBody>
      </p:sp>
      <p:sp>
        <p:nvSpPr>
          <p:cNvPr id="26630" name="Rectangle 6">
            <a:extLst>
              <a:ext uri="{FF2B5EF4-FFF2-40B4-BE49-F238E27FC236}">
                <a16:creationId xmlns:a16="http://schemas.microsoft.com/office/drawing/2014/main" id="{7E7F273C-F1BC-4ADB-A9EE-EC1B51872904}"/>
              </a:ext>
            </a:extLst>
          </p:cNvPr>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4B446489-D897-4F63-B3C0-8557ED33A7B7}" type="slidenum">
              <a:rPr lang="en-GB" altLang="en-US"/>
              <a:pPr>
                <a:defRPr/>
              </a:pPr>
              <a:t>‹#›</a:t>
            </a:fld>
            <a:endParaRPr lang="en-GB" altLang="en-US"/>
          </a:p>
        </p:txBody>
      </p:sp>
      <p:sp>
        <p:nvSpPr>
          <p:cNvPr id="1031" name="Freeform 7">
            <a:extLst>
              <a:ext uri="{FF2B5EF4-FFF2-40B4-BE49-F238E27FC236}">
                <a16:creationId xmlns:a16="http://schemas.microsoft.com/office/drawing/2014/main" id="{E04C4660-AA58-4F70-9C92-D9A8188DC9F1}"/>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92DADA8E-D773-4D89-A407-53B7247310F6}"/>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56"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internetexchangemap.co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CCE80086-AF59-4223-976E-B96F4B8331DB}"/>
              </a:ext>
            </a:extLst>
          </p:cNvPr>
          <p:cNvSpPr>
            <a:spLocks noGrp="1" noChangeArrowheads="1"/>
          </p:cNvSpPr>
          <p:nvPr>
            <p:ph type="ctrTitle"/>
          </p:nvPr>
        </p:nvSpPr>
        <p:spPr/>
        <p:txBody>
          <a:bodyPr/>
          <a:lstStyle/>
          <a:p>
            <a:r>
              <a:rPr lang="en-GB" altLang="en-US"/>
              <a:t>IPv6</a:t>
            </a:r>
          </a:p>
        </p:txBody>
      </p:sp>
      <p:sp>
        <p:nvSpPr>
          <p:cNvPr id="4099" name="Subtitle 2">
            <a:extLst>
              <a:ext uri="{FF2B5EF4-FFF2-40B4-BE49-F238E27FC236}">
                <a16:creationId xmlns:a16="http://schemas.microsoft.com/office/drawing/2014/main" id="{96E50101-EADD-491F-B73A-D324E5C02AF1}"/>
              </a:ext>
            </a:extLst>
          </p:cNvPr>
          <p:cNvSpPr>
            <a:spLocks noGrp="1" noChangeArrowheads="1"/>
          </p:cNvSpPr>
          <p:nvPr>
            <p:ph type="subTitle" idx="1"/>
          </p:nvPr>
        </p:nvSpPr>
        <p:spPr/>
        <p:txBody>
          <a:bodyPr/>
          <a:lstStyle/>
          <a:p>
            <a:r>
              <a:rPr lang="en-GB" altLang="en-US"/>
              <a:t>6CS029 Advanced Networking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B0FD7DE-CAB2-41F2-8C36-EAAC74F9D48F}"/>
              </a:ext>
            </a:extLst>
          </p:cNvPr>
          <p:cNvSpPr>
            <a:spLocks noGrp="1" noChangeArrowheads="1"/>
          </p:cNvSpPr>
          <p:nvPr>
            <p:ph type="title"/>
          </p:nvPr>
        </p:nvSpPr>
        <p:spPr/>
        <p:txBody>
          <a:bodyPr/>
          <a:lstStyle/>
          <a:p>
            <a:r>
              <a:rPr lang="en-US" altLang="en-US"/>
              <a:t>Objectives of todays lecture</a:t>
            </a:r>
            <a:endParaRPr lang="en-GB" altLang="en-US"/>
          </a:p>
        </p:txBody>
      </p:sp>
      <p:sp>
        <p:nvSpPr>
          <p:cNvPr id="5123" name="Content Placeholder 2">
            <a:extLst>
              <a:ext uri="{FF2B5EF4-FFF2-40B4-BE49-F238E27FC236}">
                <a16:creationId xmlns:a16="http://schemas.microsoft.com/office/drawing/2014/main" id="{7BF161F3-1A51-4369-AE42-92ED7B374B30}"/>
              </a:ext>
            </a:extLst>
          </p:cNvPr>
          <p:cNvSpPr>
            <a:spLocks noGrp="1" noChangeArrowheads="1"/>
          </p:cNvSpPr>
          <p:nvPr>
            <p:ph idx="1"/>
          </p:nvPr>
        </p:nvSpPr>
        <p:spPr/>
        <p:txBody>
          <a:bodyPr/>
          <a:lstStyle/>
          <a:p>
            <a:r>
              <a:rPr lang="en-US" altLang="en-US"/>
              <a:t>Brief look at the need for IPV6</a:t>
            </a:r>
          </a:p>
          <a:p>
            <a:r>
              <a:rPr lang="en-US" altLang="en-US"/>
              <a:t>Structure of addresses</a:t>
            </a:r>
          </a:p>
          <a:p>
            <a:r>
              <a:rPr lang="en-US" altLang="en-US"/>
              <a:t>Scope of Addresses</a:t>
            </a:r>
          </a:p>
          <a:p>
            <a:r>
              <a:rPr lang="en-US" altLang="en-US"/>
              <a:t>Autonomous Systems</a:t>
            </a:r>
            <a:endParaRPr lang="en-GB"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7289BA82-665E-4B4B-AB53-0770D377E72E}"/>
              </a:ext>
            </a:extLst>
          </p:cNvPr>
          <p:cNvSpPr>
            <a:spLocks noGrp="1" noChangeArrowheads="1"/>
          </p:cNvSpPr>
          <p:nvPr>
            <p:ph type="title"/>
          </p:nvPr>
        </p:nvSpPr>
        <p:spPr/>
        <p:txBody>
          <a:bodyPr/>
          <a:lstStyle/>
          <a:p>
            <a:r>
              <a:rPr lang="en-GB" altLang="en-US"/>
              <a:t>Confused picture</a:t>
            </a:r>
          </a:p>
        </p:txBody>
      </p:sp>
      <p:sp>
        <p:nvSpPr>
          <p:cNvPr id="3" name="Content Placeholder 2">
            <a:extLst>
              <a:ext uri="{FF2B5EF4-FFF2-40B4-BE49-F238E27FC236}">
                <a16:creationId xmlns:a16="http://schemas.microsoft.com/office/drawing/2014/main" id="{23945585-AD6C-4363-9890-D98AAFCFC836}"/>
              </a:ext>
            </a:extLst>
          </p:cNvPr>
          <p:cNvSpPr>
            <a:spLocks noGrp="1"/>
          </p:cNvSpPr>
          <p:nvPr>
            <p:ph idx="1"/>
          </p:nvPr>
        </p:nvSpPr>
        <p:spPr>
          <a:xfrm>
            <a:off x="457200" y="1163638"/>
            <a:ext cx="8229600" cy="4530725"/>
          </a:xfrm>
        </p:spPr>
        <p:txBody>
          <a:bodyPr/>
          <a:lstStyle/>
          <a:p>
            <a:pPr>
              <a:defRPr/>
            </a:pPr>
            <a:r>
              <a:rPr lang="en-GB" dirty="0">
                <a:solidFill>
                  <a:srgbClr val="FF0000"/>
                </a:solidFill>
              </a:rPr>
              <a:t>64% of IPV4 address scope was allocated to North America and only 7% to Asia.</a:t>
            </a:r>
          </a:p>
          <a:p>
            <a:pPr>
              <a:defRPr/>
            </a:pPr>
            <a:r>
              <a:rPr lang="en-GB" dirty="0">
                <a:solidFill>
                  <a:srgbClr val="0070C0"/>
                </a:solidFill>
              </a:rPr>
              <a:t>Until several years ago Stanford University had more IPV4 address space than all of China</a:t>
            </a:r>
          </a:p>
          <a:p>
            <a:pPr>
              <a:defRPr/>
            </a:pPr>
            <a:r>
              <a:rPr lang="en-GB" dirty="0">
                <a:solidFill>
                  <a:schemeClr val="tx2">
                    <a:lumMod val="75000"/>
                  </a:schemeClr>
                </a:solidFill>
              </a:rPr>
              <a:t>70% of the largest American Companies use NAT in their Networks</a:t>
            </a:r>
          </a:p>
          <a:p>
            <a:pPr>
              <a:defRPr/>
            </a:pPr>
            <a:r>
              <a:rPr lang="en-GB" dirty="0"/>
              <a:t>Electronic device manufacturing concentrated in far east – huge interest in IPV6 from these areas as they want to continue selling their products and services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B2179BB-E2A5-434D-9222-250BBC0FFDC0}"/>
              </a:ext>
            </a:extLst>
          </p:cNvPr>
          <p:cNvSpPr>
            <a:spLocks noGrp="1" noChangeArrowheads="1"/>
          </p:cNvSpPr>
          <p:nvPr>
            <p:ph type="title"/>
          </p:nvPr>
        </p:nvSpPr>
        <p:spPr/>
        <p:txBody>
          <a:bodyPr/>
          <a:lstStyle/>
          <a:p>
            <a:pPr eaLnBrk="1" hangingPunct="1"/>
            <a:r>
              <a:rPr lang="en-GB" altLang="en-US"/>
              <a:t>IPv6</a:t>
            </a:r>
          </a:p>
        </p:txBody>
      </p:sp>
      <p:sp>
        <p:nvSpPr>
          <p:cNvPr id="7171" name="Rectangle 3">
            <a:extLst>
              <a:ext uri="{FF2B5EF4-FFF2-40B4-BE49-F238E27FC236}">
                <a16:creationId xmlns:a16="http://schemas.microsoft.com/office/drawing/2014/main" id="{F6BA670E-D18D-49AF-B94A-533CBC37C254}"/>
              </a:ext>
            </a:extLst>
          </p:cNvPr>
          <p:cNvSpPr>
            <a:spLocks noGrp="1" noChangeArrowheads="1"/>
          </p:cNvSpPr>
          <p:nvPr>
            <p:ph type="body" idx="1"/>
          </p:nvPr>
        </p:nvSpPr>
        <p:spPr>
          <a:xfrm>
            <a:off x="539750" y="2017713"/>
            <a:ext cx="8415338" cy="4114800"/>
          </a:xfrm>
        </p:spPr>
        <p:txBody>
          <a:bodyPr/>
          <a:lstStyle/>
          <a:p>
            <a:pPr eaLnBrk="1" hangingPunct="1"/>
            <a:r>
              <a:rPr lang="en-GB" altLang="en-US" sz="2600"/>
              <a:t>Routers etc being produced now are IPV6 compliant</a:t>
            </a:r>
          </a:p>
          <a:p>
            <a:pPr eaLnBrk="1" hangingPunct="1"/>
            <a:r>
              <a:rPr lang="en-GB" altLang="en-US" sz="2600"/>
              <a:t>Been slow take up of this mostly because of another technique called </a:t>
            </a:r>
            <a:r>
              <a:rPr lang="en-GB" altLang="en-US" sz="2600">
                <a:solidFill>
                  <a:srgbClr val="0000CC"/>
                </a:solidFill>
              </a:rPr>
              <a:t>Network Address  Translation</a:t>
            </a:r>
          </a:p>
          <a:p>
            <a:pPr eaLnBrk="1" hangingPunct="1"/>
            <a:r>
              <a:rPr lang="en-GB" altLang="en-US" sz="2600"/>
              <a:t>Until IPv6 completely supplants IPv4, a number of so-called </a:t>
            </a:r>
            <a:r>
              <a:rPr lang="en-GB" altLang="en-US" sz="2600" i="1"/>
              <a:t>transition mechanisms</a:t>
            </a:r>
            <a:r>
              <a:rPr lang="en-GB" altLang="en-US" sz="2600"/>
              <a:t> are needed to enable IPv6-only hosts to reach IPv4 services and to allow isolated IPv6 hosts and networks to reach the IPv6 Internet over the IPv4 infrastructure </a:t>
            </a:r>
          </a:p>
          <a:p>
            <a:pPr eaLnBrk="1" hangingPunct="1"/>
            <a:endParaRPr lang="en-GB" altLang="en-US" sz="2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10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fade">
                                      <p:cBhvr>
                                        <p:cTn id="12" dur="1000"/>
                                        <p:tgtEl>
                                          <p:spTgt spid="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fade">
                                      <p:cBhvr>
                                        <p:cTn id="17" dur="1000"/>
                                        <p:tgtEl>
                                          <p:spTgt spid="7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a:extLst>
              <a:ext uri="{FF2B5EF4-FFF2-40B4-BE49-F238E27FC236}">
                <a16:creationId xmlns:a16="http://schemas.microsoft.com/office/drawing/2014/main" id="{2B7D6B91-F9F1-4B29-8FA6-3D4A398D5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341438"/>
            <a:ext cx="741045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TextBox 6">
            <a:extLst>
              <a:ext uri="{FF2B5EF4-FFF2-40B4-BE49-F238E27FC236}">
                <a16:creationId xmlns:a16="http://schemas.microsoft.com/office/drawing/2014/main" id="{B380508B-7028-4D8D-93F6-7BBBDF4324C1}"/>
              </a:ext>
            </a:extLst>
          </p:cNvPr>
          <p:cNvSpPr txBox="1">
            <a:spLocks noChangeArrowheads="1"/>
          </p:cNvSpPr>
          <p:nvPr/>
        </p:nvSpPr>
        <p:spPr bwMode="auto">
          <a:xfrm>
            <a:off x="1258888" y="333375"/>
            <a:ext cx="57435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2400"/>
              <a:t>IP addressing scheme based on 128 bits</a:t>
            </a:r>
          </a:p>
          <a:p>
            <a:pPr eaLnBrk="1" hangingPunct="1">
              <a:spcBef>
                <a:spcPct val="0"/>
              </a:spcBef>
              <a:buClrTx/>
              <a:buSzTx/>
              <a:buFontTx/>
              <a:buNone/>
            </a:pPr>
            <a:endParaRPr lang="en-GB"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F9BB25D-5DAC-4EB9-B0F9-EADE654E981B}"/>
              </a:ext>
            </a:extLst>
          </p:cNvPr>
          <p:cNvSpPr>
            <a:spLocks noGrp="1" noChangeArrowheads="1"/>
          </p:cNvSpPr>
          <p:nvPr>
            <p:ph type="title"/>
          </p:nvPr>
        </p:nvSpPr>
        <p:spPr>
          <a:xfrm>
            <a:off x="323850" y="188913"/>
            <a:ext cx="6511925" cy="1143000"/>
          </a:xfrm>
        </p:spPr>
        <p:txBody>
          <a:bodyPr/>
          <a:lstStyle/>
          <a:p>
            <a:pPr eaLnBrk="1" hangingPunct="1"/>
            <a:r>
              <a:rPr lang="en-GB" altLang="en-US"/>
              <a:t>What is IPV6</a:t>
            </a:r>
          </a:p>
        </p:txBody>
      </p:sp>
      <p:sp>
        <p:nvSpPr>
          <p:cNvPr id="9219" name="Content Placeholder 2">
            <a:extLst>
              <a:ext uri="{FF2B5EF4-FFF2-40B4-BE49-F238E27FC236}">
                <a16:creationId xmlns:a16="http://schemas.microsoft.com/office/drawing/2014/main" id="{F5070EC0-0546-4A40-97F1-7FD57137416A}"/>
              </a:ext>
            </a:extLst>
          </p:cNvPr>
          <p:cNvSpPr>
            <a:spLocks noGrp="1" noChangeArrowheads="1"/>
          </p:cNvSpPr>
          <p:nvPr>
            <p:ph sz="quarter" idx="4294967295"/>
          </p:nvPr>
        </p:nvSpPr>
        <p:spPr>
          <a:xfrm>
            <a:off x="250825" y="1412875"/>
            <a:ext cx="8137525" cy="4843463"/>
          </a:xfrm>
        </p:spPr>
        <p:txBody>
          <a:bodyPr/>
          <a:lstStyle/>
          <a:p>
            <a:pPr eaLnBrk="1" hangingPunct="1"/>
            <a:r>
              <a:rPr lang="en-GB" altLang="en-US"/>
              <a:t>IP addressing scheme based on 128 bits</a:t>
            </a:r>
          </a:p>
          <a:p>
            <a:pPr eaLnBrk="1" hangingPunct="1">
              <a:buFont typeface="Arial" panose="020B0604020202020204" pitchFamily="34" charset="0"/>
              <a:buChar char="•"/>
            </a:pPr>
            <a:r>
              <a:rPr lang="fr-FR" altLang="en-US" sz="2000" b="1">
                <a:solidFill>
                  <a:srgbClr val="0070C0"/>
                </a:solidFill>
                <a:latin typeface="Verdana" panose="020B0604030504040204" pitchFamily="34" charset="0"/>
              </a:rPr>
              <a:t>Fixes many of the shortcomings of IPv4</a:t>
            </a:r>
          </a:p>
          <a:p>
            <a:pPr lvl="1" eaLnBrk="1" hangingPunct="1">
              <a:buFont typeface="Arial" panose="020B0604020202020204" pitchFamily="34" charset="0"/>
              <a:buChar char="•"/>
            </a:pPr>
            <a:r>
              <a:rPr lang="fr-FR" altLang="en-US" b="1">
                <a:solidFill>
                  <a:srgbClr val="0070C0"/>
                </a:solidFill>
                <a:latin typeface="Verdana" panose="020B0604030504040204" pitchFamily="34" charset="0"/>
              </a:rPr>
              <a:t> More efficient routing</a:t>
            </a:r>
          </a:p>
          <a:p>
            <a:pPr lvl="1" eaLnBrk="1" hangingPunct="1">
              <a:buFont typeface="Arial" panose="020B0604020202020204" pitchFamily="34" charset="0"/>
              <a:buChar char="•"/>
            </a:pPr>
            <a:r>
              <a:rPr lang="fr-FR" altLang="en-US" b="1">
                <a:solidFill>
                  <a:srgbClr val="0070C0"/>
                </a:solidFill>
                <a:latin typeface="Verdana" panose="020B0604030504040204" pitchFamily="34" charset="0"/>
              </a:rPr>
              <a:t> More efficient packet processing</a:t>
            </a:r>
          </a:p>
          <a:p>
            <a:pPr lvl="1" eaLnBrk="1" hangingPunct="1">
              <a:buFont typeface="Arial" panose="020B0604020202020204" pitchFamily="34" charset="0"/>
              <a:buChar char="•"/>
            </a:pPr>
            <a:r>
              <a:rPr lang="fr-FR" altLang="en-US" b="1">
                <a:solidFill>
                  <a:srgbClr val="0070C0"/>
                </a:solidFill>
                <a:latin typeface="Verdana" panose="020B0604030504040204" pitchFamily="34" charset="0"/>
              </a:rPr>
              <a:t> Directed data flows</a:t>
            </a:r>
          </a:p>
          <a:p>
            <a:pPr lvl="1" eaLnBrk="1" hangingPunct="1">
              <a:buFont typeface="Arial" panose="020B0604020202020204" pitchFamily="34" charset="0"/>
              <a:buChar char="•"/>
            </a:pPr>
            <a:r>
              <a:rPr lang="fr-FR" altLang="en-US" b="1">
                <a:solidFill>
                  <a:srgbClr val="0070C0"/>
                </a:solidFill>
                <a:latin typeface="Verdana" panose="020B0604030504040204" pitchFamily="34" charset="0"/>
              </a:rPr>
              <a:t> Simplified network configuration</a:t>
            </a:r>
          </a:p>
          <a:p>
            <a:pPr lvl="1" eaLnBrk="1" hangingPunct="1">
              <a:buFont typeface="Arial" panose="020B0604020202020204" pitchFamily="34" charset="0"/>
              <a:buChar char="•"/>
            </a:pPr>
            <a:r>
              <a:rPr lang="fr-FR" altLang="en-US" b="1">
                <a:solidFill>
                  <a:srgbClr val="0070C0"/>
                </a:solidFill>
                <a:latin typeface="Verdana" panose="020B0604030504040204" pitchFamily="34" charset="0"/>
              </a:rPr>
              <a:t> No more NAT</a:t>
            </a:r>
          </a:p>
          <a:p>
            <a:pPr lvl="1" eaLnBrk="1" hangingPunct="1">
              <a:buFont typeface="Arial" panose="020B0604020202020204" pitchFamily="34" charset="0"/>
              <a:buChar char="•"/>
            </a:pPr>
            <a:r>
              <a:rPr lang="fr-FR" altLang="en-US" b="1">
                <a:solidFill>
                  <a:srgbClr val="0070C0"/>
                </a:solidFill>
                <a:latin typeface="Verdana" panose="020B0604030504040204" pitchFamily="34" charset="0"/>
              </a:rPr>
              <a:t> Security built 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fade">
                                      <p:cBhvr>
                                        <p:cTn id="12" dur="500"/>
                                        <p:tgtEl>
                                          <p:spTgt spid="9219">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fade">
                                      <p:cBhvr>
                                        <p:cTn id="15" dur="500"/>
                                        <p:tgtEl>
                                          <p:spTgt spid="9219">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219">
                                            <p:txEl>
                                              <p:pRg st="3" end="3"/>
                                            </p:txEl>
                                          </p:spTgt>
                                        </p:tgtEl>
                                        <p:attrNameLst>
                                          <p:attrName>style.visibility</p:attrName>
                                        </p:attrNameLst>
                                      </p:cBhvr>
                                      <p:to>
                                        <p:strVal val="visible"/>
                                      </p:to>
                                    </p:set>
                                    <p:animEffect transition="in" filter="fade">
                                      <p:cBhvr>
                                        <p:cTn id="18" dur="500"/>
                                        <p:tgtEl>
                                          <p:spTgt spid="9219">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219">
                                            <p:txEl>
                                              <p:pRg st="4" end="4"/>
                                            </p:txEl>
                                          </p:spTgt>
                                        </p:tgtEl>
                                        <p:attrNameLst>
                                          <p:attrName>style.visibility</p:attrName>
                                        </p:attrNameLst>
                                      </p:cBhvr>
                                      <p:to>
                                        <p:strVal val="visible"/>
                                      </p:to>
                                    </p:set>
                                    <p:animEffect transition="in" filter="fade">
                                      <p:cBhvr>
                                        <p:cTn id="21" dur="500"/>
                                        <p:tgtEl>
                                          <p:spTgt spid="9219">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219">
                                            <p:txEl>
                                              <p:pRg st="5" end="5"/>
                                            </p:txEl>
                                          </p:spTgt>
                                        </p:tgtEl>
                                        <p:attrNameLst>
                                          <p:attrName>style.visibility</p:attrName>
                                        </p:attrNameLst>
                                      </p:cBhvr>
                                      <p:to>
                                        <p:strVal val="visible"/>
                                      </p:to>
                                    </p:set>
                                    <p:animEffect transition="in" filter="fade">
                                      <p:cBhvr>
                                        <p:cTn id="24" dur="500"/>
                                        <p:tgtEl>
                                          <p:spTgt spid="9219">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9219">
                                            <p:txEl>
                                              <p:pRg st="6" end="6"/>
                                            </p:txEl>
                                          </p:spTgt>
                                        </p:tgtEl>
                                        <p:attrNameLst>
                                          <p:attrName>style.visibility</p:attrName>
                                        </p:attrNameLst>
                                      </p:cBhvr>
                                      <p:to>
                                        <p:strVal val="visible"/>
                                      </p:to>
                                    </p:set>
                                    <p:animEffect transition="in" filter="fade">
                                      <p:cBhvr>
                                        <p:cTn id="27" dur="500"/>
                                        <p:tgtEl>
                                          <p:spTgt spid="9219">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9219">
                                            <p:txEl>
                                              <p:pRg st="7" end="7"/>
                                            </p:txEl>
                                          </p:spTgt>
                                        </p:tgtEl>
                                        <p:attrNameLst>
                                          <p:attrName>style.visibility</p:attrName>
                                        </p:attrNameLst>
                                      </p:cBhvr>
                                      <p:to>
                                        <p:strVal val="visible"/>
                                      </p:to>
                                    </p:set>
                                    <p:animEffect transition="in" filter="fade">
                                      <p:cBhvr>
                                        <p:cTn id="30" dur="500"/>
                                        <p:tgtEl>
                                          <p:spTgt spid="92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FDEA2F2-2CDC-4904-85EE-9B7C74E008DD}"/>
              </a:ext>
            </a:extLst>
          </p:cNvPr>
          <p:cNvSpPr>
            <a:spLocks noGrp="1" noChangeArrowheads="1"/>
          </p:cNvSpPr>
          <p:nvPr>
            <p:ph type="title"/>
          </p:nvPr>
        </p:nvSpPr>
        <p:spPr>
          <a:xfrm>
            <a:off x="539750" y="620713"/>
            <a:ext cx="6872288" cy="1143000"/>
          </a:xfrm>
        </p:spPr>
        <p:txBody>
          <a:bodyPr/>
          <a:lstStyle/>
          <a:p>
            <a:pPr eaLnBrk="1" hangingPunct="1"/>
            <a:r>
              <a:rPr lang="en-GB" altLang="en-US" sz="3200"/>
              <a:t>How will this change affect me</a:t>
            </a:r>
          </a:p>
        </p:txBody>
      </p:sp>
      <p:sp>
        <p:nvSpPr>
          <p:cNvPr id="10243" name="Content Placeholder 2">
            <a:extLst>
              <a:ext uri="{FF2B5EF4-FFF2-40B4-BE49-F238E27FC236}">
                <a16:creationId xmlns:a16="http://schemas.microsoft.com/office/drawing/2014/main" id="{9558EA30-855C-4822-B339-6D3E8FE64D36}"/>
              </a:ext>
            </a:extLst>
          </p:cNvPr>
          <p:cNvSpPr>
            <a:spLocks noGrp="1" noChangeArrowheads="1"/>
          </p:cNvSpPr>
          <p:nvPr>
            <p:ph sz="quarter" idx="4294967295"/>
          </p:nvPr>
        </p:nvSpPr>
        <p:spPr>
          <a:xfrm>
            <a:off x="539750" y="1192213"/>
            <a:ext cx="8353425" cy="3473450"/>
          </a:xfrm>
        </p:spPr>
        <p:txBody>
          <a:bodyPr/>
          <a:lstStyle/>
          <a:p>
            <a:pPr eaLnBrk="1" fontAlgn="t" hangingPunct="1"/>
            <a:r>
              <a:rPr lang="en-GB" altLang="en-US" sz="2000"/>
              <a:t>Initially it won’t have a major impact on your life. Most operating systems actually support IPv6, including Mac OS X 10.2 and Windows XP SP 1. </a:t>
            </a:r>
          </a:p>
          <a:p>
            <a:pPr eaLnBrk="1" fontAlgn="t" hangingPunct="1"/>
            <a:r>
              <a:rPr lang="en-GB" altLang="en-US" sz="2000"/>
              <a:t>However, </a:t>
            </a:r>
            <a:r>
              <a:rPr lang="en-GB" altLang="en-US" sz="2000">
                <a:solidFill>
                  <a:srgbClr val="0000CC"/>
                </a:solidFill>
              </a:rPr>
              <a:t>many network equipment do not support it as they may well be legacy equipment, </a:t>
            </a:r>
            <a:r>
              <a:rPr lang="en-GB" altLang="en-US" sz="2000"/>
              <a:t>making a connection between a device with an IPv6 address to a router or server that only supports IPv4 impossible.</a:t>
            </a:r>
          </a:p>
          <a:p>
            <a:pPr eaLnBrk="1" fontAlgn="t" hangingPunct="1"/>
            <a:r>
              <a:rPr lang="en-GB" altLang="en-US"/>
              <a:t>If the switch to IPv6 is not made by the industry, it could also mean things like:</a:t>
            </a:r>
          </a:p>
          <a:p>
            <a:pPr lvl="1" eaLnBrk="1" fontAlgn="t" hangingPunct="1"/>
            <a:r>
              <a:rPr lang="en-GB" altLang="en-US"/>
              <a:t>Your favourite web programmes will slow down.</a:t>
            </a:r>
          </a:p>
          <a:p>
            <a:pPr lvl="1" eaLnBrk="1" fontAlgn="t" hangingPunct="1"/>
            <a:r>
              <a:rPr lang="en-GB" altLang="en-US"/>
              <a:t>Computers will have a harder time communicating with each other, making the ability to offer services like Skype difficult.</a:t>
            </a:r>
          </a:p>
          <a:p>
            <a:pPr eaLnBrk="1" fontAlgn="t" hangingPunct="1"/>
            <a:endParaRPr lang="en-GB" altLang="en-US"/>
          </a:p>
          <a:p>
            <a:pPr eaLnBrk="1" hangingPunct="1"/>
            <a:endParaRPr lang="en-GB"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9"/>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9"/>
                                          </p:stCondLst>
                                        </p:cTn>
                                        <p:tgtEl>
                                          <p:spTgt spid="10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9"/>
                                          </p:stCondLst>
                                        </p:cTn>
                                        <p:tgtEl>
                                          <p:spTgt spid="10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9"/>
                                          </p:stCondLst>
                                        </p:cTn>
                                        <p:tgtEl>
                                          <p:spTgt spid="102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9"/>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4E1F-6519-49D2-8786-2AF963B6B721}"/>
              </a:ext>
            </a:extLst>
          </p:cNvPr>
          <p:cNvSpPr>
            <a:spLocks noGrp="1"/>
          </p:cNvSpPr>
          <p:nvPr>
            <p:ph type="title"/>
          </p:nvPr>
        </p:nvSpPr>
        <p:spPr>
          <a:xfrm>
            <a:off x="323850" y="404813"/>
            <a:ext cx="8064500" cy="1143000"/>
          </a:xfrm>
        </p:spPr>
        <p:txBody>
          <a:bodyPr/>
          <a:lstStyle/>
          <a:p>
            <a:pPr eaLnBrk="1" hangingPunct="1">
              <a:defRPr/>
            </a:pPr>
            <a:r>
              <a:rPr lang="en-GB" sz="3200" dirty="0">
                <a:solidFill>
                  <a:schemeClr val="accent4">
                    <a:lumMod val="75000"/>
                  </a:schemeClr>
                </a:solidFill>
              </a:rPr>
              <a:t>What does an IPV6 address look like</a:t>
            </a:r>
          </a:p>
        </p:txBody>
      </p:sp>
      <p:sp>
        <p:nvSpPr>
          <p:cNvPr id="3" name="Content Placeholder 2">
            <a:extLst>
              <a:ext uri="{FF2B5EF4-FFF2-40B4-BE49-F238E27FC236}">
                <a16:creationId xmlns:a16="http://schemas.microsoft.com/office/drawing/2014/main" id="{D73D6CC3-3823-4092-86B0-DEB912DD112A}"/>
              </a:ext>
            </a:extLst>
          </p:cNvPr>
          <p:cNvSpPr>
            <a:spLocks noGrp="1"/>
          </p:cNvSpPr>
          <p:nvPr>
            <p:ph sz="quarter" idx="4294967295"/>
          </p:nvPr>
        </p:nvSpPr>
        <p:spPr>
          <a:xfrm>
            <a:off x="971550" y="1700213"/>
            <a:ext cx="7056438" cy="4195762"/>
          </a:xfrm>
        </p:spPr>
        <p:txBody>
          <a:bodyPr>
            <a:normAutofit/>
          </a:bodyPr>
          <a:lstStyle/>
          <a:p>
            <a:pPr eaLnBrk="1" hangingPunct="1">
              <a:defRPr/>
            </a:pPr>
            <a:r>
              <a:rPr lang="en-US" sz="2000" b="1" dirty="0">
                <a:solidFill>
                  <a:schemeClr val="tx1">
                    <a:lumMod val="95000"/>
                    <a:lumOff val="5000"/>
                  </a:schemeClr>
                </a:solidFill>
                <a:latin typeface="Verdana" pitchFamily="34" charset="0"/>
              </a:rPr>
              <a:t>Eight groups of four hexadecimal digits separated by colons:</a:t>
            </a:r>
          </a:p>
          <a:p>
            <a:pPr eaLnBrk="1" hangingPunct="1">
              <a:defRPr/>
            </a:pPr>
            <a:endParaRPr lang="en-US" sz="2000" b="1" dirty="0">
              <a:solidFill>
                <a:schemeClr val="tx1">
                  <a:lumMod val="95000"/>
                  <a:lumOff val="5000"/>
                </a:schemeClr>
              </a:solidFill>
              <a:latin typeface="Verdana" pitchFamily="34" charset="0"/>
            </a:endParaRPr>
          </a:p>
          <a:p>
            <a:pPr eaLnBrk="1" hangingPunct="1">
              <a:defRPr/>
            </a:pPr>
            <a:r>
              <a:rPr lang="en-US" sz="2000" b="1" dirty="0">
                <a:solidFill>
                  <a:schemeClr val="tx1">
                    <a:lumMod val="95000"/>
                    <a:lumOff val="5000"/>
                  </a:schemeClr>
                </a:solidFill>
                <a:latin typeface="Verdana" pitchFamily="34" charset="0"/>
              </a:rPr>
              <a:t>2604:b200:85a3:0000:0000:8a2e:0370:7334</a:t>
            </a:r>
          </a:p>
          <a:p>
            <a:pPr eaLnBrk="1" hangingPunct="1">
              <a:defRPr/>
            </a:pPr>
            <a:endParaRPr lang="en-US" sz="2000" b="1" dirty="0">
              <a:solidFill>
                <a:schemeClr val="tx1">
                  <a:lumMod val="95000"/>
                  <a:lumOff val="5000"/>
                </a:schemeClr>
              </a:solidFill>
              <a:latin typeface="Verdana" pitchFamily="34" charset="0"/>
            </a:endParaRPr>
          </a:p>
          <a:p>
            <a:pPr eaLnBrk="1" hangingPunct="1">
              <a:buFont typeface="Arial" charset="0"/>
              <a:buChar char="•"/>
              <a:defRPr/>
            </a:pPr>
            <a:r>
              <a:rPr lang="en-US" sz="2000" dirty="0">
                <a:solidFill>
                  <a:schemeClr val="tx1">
                    <a:lumMod val="95000"/>
                    <a:lumOff val="5000"/>
                  </a:schemeClr>
                </a:solidFill>
              </a:rPr>
              <a:t> The hexadecimal digits are case-insensitive.</a:t>
            </a:r>
          </a:p>
          <a:p>
            <a:pPr eaLnBrk="1" hangingPunct="1">
              <a:buFont typeface="Arial" charset="0"/>
              <a:buChar char="•"/>
              <a:defRPr/>
            </a:pPr>
            <a:r>
              <a:rPr lang="en-US" sz="2000" dirty="0">
                <a:solidFill>
                  <a:schemeClr val="tx1">
                    <a:lumMod val="95000"/>
                    <a:lumOff val="5000"/>
                  </a:schemeClr>
                </a:solidFill>
              </a:rPr>
              <a:t> An IPv6 address can be abbreviated with the following rules:</a:t>
            </a:r>
          </a:p>
          <a:p>
            <a:pPr lvl="1" eaLnBrk="1" hangingPunct="1">
              <a:buFont typeface="Arial" charset="0"/>
              <a:buChar char="•"/>
              <a:defRPr/>
            </a:pPr>
            <a:r>
              <a:rPr lang="en-US" dirty="0">
                <a:solidFill>
                  <a:schemeClr val="tx1">
                    <a:lumMod val="95000"/>
                    <a:lumOff val="5000"/>
                  </a:schemeClr>
                </a:solidFill>
              </a:rPr>
              <a:t> Omit leading zeroes in a 16-bit value.</a:t>
            </a:r>
          </a:p>
          <a:p>
            <a:pPr lvl="1" eaLnBrk="1" hangingPunct="1">
              <a:buFont typeface="Arial" charset="0"/>
              <a:buChar char="•"/>
              <a:defRPr/>
            </a:pPr>
            <a:r>
              <a:rPr lang="en-US" dirty="0">
                <a:solidFill>
                  <a:schemeClr val="tx1">
                    <a:lumMod val="95000"/>
                    <a:lumOff val="5000"/>
                  </a:schemeClr>
                </a:solidFill>
              </a:rPr>
              <a:t> Replace one group of consecutive zeroes by a double colon.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FE86270B-20BC-4F44-BEB3-CFFA9F3EC95A}"/>
              </a:ext>
            </a:extLst>
          </p:cNvPr>
          <p:cNvSpPr>
            <a:spLocks noGrp="1" noChangeArrowheads="1"/>
          </p:cNvSpPr>
          <p:nvPr>
            <p:ph type="title"/>
          </p:nvPr>
        </p:nvSpPr>
        <p:spPr>
          <a:xfrm>
            <a:off x="250825" y="115888"/>
            <a:ext cx="6513513" cy="1143000"/>
          </a:xfrm>
        </p:spPr>
        <p:txBody>
          <a:bodyPr/>
          <a:lstStyle/>
          <a:p>
            <a:pPr eaLnBrk="1" hangingPunct="1"/>
            <a:r>
              <a:rPr lang="en-GB" altLang="en-US"/>
              <a:t>Address example</a:t>
            </a:r>
          </a:p>
        </p:txBody>
      </p:sp>
      <p:sp>
        <p:nvSpPr>
          <p:cNvPr id="3" name="Content Placeholder 2">
            <a:extLst>
              <a:ext uri="{FF2B5EF4-FFF2-40B4-BE49-F238E27FC236}">
                <a16:creationId xmlns:a16="http://schemas.microsoft.com/office/drawing/2014/main" id="{53FE53FC-F5B1-4262-BC03-4D2EC46FFEDC}"/>
              </a:ext>
            </a:extLst>
          </p:cNvPr>
          <p:cNvSpPr>
            <a:spLocks noGrp="1"/>
          </p:cNvSpPr>
          <p:nvPr>
            <p:ph sz="quarter" idx="4294967295"/>
          </p:nvPr>
        </p:nvSpPr>
        <p:spPr>
          <a:xfrm>
            <a:off x="468313" y="1341438"/>
            <a:ext cx="8207375" cy="4986337"/>
          </a:xfrm>
        </p:spPr>
        <p:txBody>
          <a:bodyPr>
            <a:normAutofit lnSpcReduction="10000"/>
          </a:bodyPr>
          <a:lstStyle/>
          <a:p>
            <a:pPr eaLnBrk="1" hangingPunct="1">
              <a:lnSpc>
                <a:spcPct val="80000"/>
              </a:lnSpc>
              <a:defRPr/>
            </a:pPr>
            <a:r>
              <a:rPr lang="en-AU" sz="2400" dirty="0"/>
              <a:t>FEDC:BA98:7654:3210:0000:0000:0000:0089</a:t>
            </a:r>
          </a:p>
          <a:p>
            <a:pPr eaLnBrk="1" hangingPunct="1">
              <a:lnSpc>
                <a:spcPct val="80000"/>
              </a:lnSpc>
              <a:defRPr/>
            </a:pPr>
            <a:r>
              <a:rPr lang="en-AU" sz="2400" dirty="0"/>
              <a:t>The </a:t>
            </a:r>
            <a:r>
              <a:rPr lang="en-AU" sz="2400" dirty="0">
                <a:solidFill>
                  <a:srgbClr val="FF0000"/>
                </a:solidFill>
              </a:rPr>
              <a:t>:</a:t>
            </a:r>
            <a:r>
              <a:rPr lang="en-AU" sz="2400" dirty="0"/>
              <a:t> breaks the 32 digit </a:t>
            </a:r>
            <a:r>
              <a:rPr lang="en-AU" sz="2400" dirty="0" err="1"/>
              <a:t>hexadec</a:t>
            </a:r>
            <a:r>
              <a:rPr lang="en-AU" sz="2400" dirty="0"/>
              <a:t> number into chunks of 4 digits</a:t>
            </a:r>
          </a:p>
          <a:p>
            <a:pPr eaLnBrk="1" hangingPunct="1">
              <a:lnSpc>
                <a:spcPct val="80000"/>
              </a:lnSpc>
              <a:defRPr/>
            </a:pPr>
            <a:r>
              <a:rPr lang="en-AU" sz="2400" dirty="0"/>
              <a:t>The convention allows for the </a:t>
            </a:r>
            <a:r>
              <a:rPr lang="en-AU" sz="2400" dirty="0">
                <a:solidFill>
                  <a:srgbClr val="FF0000"/>
                </a:solidFill>
              </a:rPr>
              <a:t>leading</a:t>
            </a:r>
            <a:r>
              <a:rPr lang="en-AU" sz="2400" dirty="0"/>
              <a:t> digits of 0 in a chunk of 4 to be omitted</a:t>
            </a:r>
          </a:p>
          <a:p>
            <a:pPr algn="ctr" eaLnBrk="1" hangingPunct="1">
              <a:lnSpc>
                <a:spcPct val="80000"/>
              </a:lnSpc>
              <a:defRPr/>
            </a:pPr>
            <a:r>
              <a:rPr lang="en-AU" sz="1800" dirty="0"/>
              <a:t>FEDC:BA98:7654:3210:0000:0000:0000:0089</a:t>
            </a:r>
          </a:p>
          <a:p>
            <a:pPr lvl="1" algn="ctr" eaLnBrk="1" hangingPunct="1">
              <a:lnSpc>
                <a:spcPct val="80000"/>
              </a:lnSpc>
              <a:defRPr/>
            </a:pPr>
            <a:r>
              <a:rPr lang="en-AU" dirty="0"/>
              <a:t>Becomes</a:t>
            </a:r>
          </a:p>
          <a:p>
            <a:pPr algn="ctr" eaLnBrk="1" hangingPunct="1">
              <a:lnSpc>
                <a:spcPct val="80000"/>
              </a:lnSpc>
              <a:defRPr/>
            </a:pPr>
            <a:r>
              <a:rPr lang="en-AU" sz="2000" dirty="0"/>
              <a:t>FEDC:BA98:7654:3210:0:0:0:89</a:t>
            </a:r>
          </a:p>
          <a:p>
            <a:pPr marL="45720" indent="0" eaLnBrk="1" hangingPunct="1">
              <a:lnSpc>
                <a:spcPct val="80000"/>
              </a:lnSpc>
              <a:buFont typeface="Wingdings" panose="05000000000000000000" pitchFamily="2" charset="2"/>
              <a:buNone/>
              <a:defRPr/>
            </a:pPr>
            <a:endParaRPr lang="en-AU" dirty="0"/>
          </a:p>
          <a:p>
            <a:pPr eaLnBrk="1" hangingPunct="1">
              <a:lnSpc>
                <a:spcPct val="80000"/>
              </a:lnSpc>
              <a:defRPr/>
            </a:pPr>
            <a:r>
              <a:rPr lang="en-AU" sz="2400" dirty="0"/>
              <a:t>Also the convention allows that if in one or more of the groups of 4 digits are all zeroes, then they can be omitted</a:t>
            </a:r>
          </a:p>
          <a:p>
            <a:pPr eaLnBrk="1" hangingPunct="1">
              <a:lnSpc>
                <a:spcPct val="80000"/>
              </a:lnSpc>
              <a:defRPr/>
            </a:pPr>
            <a:r>
              <a:rPr lang="en-AU" sz="2400" dirty="0"/>
              <a:t>FEDC:BA98:7654:3210</a:t>
            </a:r>
            <a:r>
              <a:rPr lang="en-AU" sz="2400" dirty="0">
                <a:solidFill>
                  <a:srgbClr val="FF0000"/>
                </a:solidFill>
              </a:rPr>
              <a:t>::</a:t>
            </a:r>
            <a:r>
              <a:rPr lang="en-AU" sz="2400" dirty="0"/>
              <a:t>89 </a:t>
            </a:r>
          </a:p>
          <a:p>
            <a:pPr eaLnBrk="1" hangingPunct="1">
              <a:lnSpc>
                <a:spcPct val="80000"/>
              </a:lnSpc>
              <a:defRPr/>
            </a:pPr>
            <a:r>
              <a:rPr lang="en-AU" sz="2400" dirty="0"/>
              <a:t>here we only have 5 of the 8 groups of </a:t>
            </a:r>
            <a:r>
              <a:rPr lang="en-AU" sz="2400" dirty="0" err="1"/>
              <a:t>hexadec</a:t>
            </a:r>
            <a:r>
              <a:rPr lang="en-AU" sz="2400" dirty="0"/>
              <a:t> digits and the </a:t>
            </a:r>
            <a:r>
              <a:rPr lang="en-AU" sz="2400" dirty="0">
                <a:solidFill>
                  <a:srgbClr val="FF0000"/>
                </a:solidFill>
              </a:rPr>
              <a:t>:: means that they should exist in this location.</a:t>
            </a:r>
            <a:endParaRPr lang="en-AU"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9934008A-5F2C-413A-A934-485468D6D6DC}"/>
              </a:ext>
            </a:extLst>
          </p:cNvPr>
          <p:cNvSpPr>
            <a:spLocks noGrp="1" noChangeArrowheads="1"/>
          </p:cNvSpPr>
          <p:nvPr>
            <p:ph type="title"/>
          </p:nvPr>
        </p:nvSpPr>
        <p:spPr>
          <a:xfrm>
            <a:off x="971550" y="476250"/>
            <a:ext cx="6511925" cy="1143000"/>
          </a:xfrm>
        </p:spPr>
        <p:txBody>
          <a:bodyPr/>
          <a:lstStyle/>
          <a:p>
            <a:pPr eaLnBrk="1" hangingPunct="1"/>
            <a:r>
              <a:rPr lang="en-GB" altLang="en-US"/>
              <a:t>Address examples</a:t>
            </a:r>
          </a:p>
        </p:txBody>
      </p:sp>
      <p:sp>
        <p:nvSpPr>
          <p:cNvPr id="3" name="Content Placeholder 2">
            <a:extLst>
              <a:ext uri="{FF2B5EF4-FFF2-40B4-BE49-F238E27FC236}">
                <a16:creationId xmlns:a16="http://schemas.microsoft.com/office/drawing/2014/main" id="{9FAA149F-5442-421F-87F9-264A4F4A44E4}"/>
              </a:ext>
            </a:extLst>
          </p:cNvPr>
          <p:cNvSpPr>
            <a:spLocks noGrp="1"/>
          </p:cNvSpPr>
          <p:nvPr>
            <p:ph sz="quarter" idx="4294967295"/>
          </p:nvPr>
        </p:nvSpPr>
        <p:spPr>
          <a:xfrm>
            <a:off x="323850" y="2205038"/>
            <a:ext cx="8351838" cy="3475037"/>
          </a:xfrm>
        </p:spPr>
        <p:txBody>
          <a:bodyPr/>
          <a:lstStyle/>
          <a:p>
            <a:pPr eaLnBrk="1" hangingPunct="1">
              <a:defRPr/>
            </a:pPr>
            <a:r>
              <a:rPr lang="en-US" sz="2400" b="1" dirty="0">
                <a:latin typeface="Verdana" pitchFamily="34" charset="0"/>
              </a:rPr>
              <a:t>2604:0000:0000:0000:8A2E:0000:0000:7334</a:t>
            </a:r>
          </a:p>
          <a:p>
            <a:pPr eaLnBrk="1" hangingPunct="1">
              <a:defRPr/>
            </a:pPr>
            <a:r>
              <a:rPr lang="en-GB" dirty="0"/>
              <a:t>Cannot be expressed as </a:t>
            </a:r>
          </a:p>
          <a:p>
            <a:pPr eaLnBrk="1" hangingPunct="1">
              <a:defRPr/>
            </a:pPr>
            <a:r>
              <a:rPr lang="en-US" sz="2000" b="1" dirty="0">
                <a:latin typeface="Verdana" pitchFamily="34" charset="0"/>
              </a:rPr>
              <a:t>2604</a:t>
            </a:r>
            <a:r>
              <a:rPr lang="en-US" sz="2000" b="1" dirty="0">
                <a:solidFill>
                  <a:srgbClr val="FF0000"/>
                </a:solidFill>
                <a:latin typeface="Verdana" pitchFamily="34" charset="0"/>
              </a:rPr>
              <a:t>::</a:t>
            </a:r>
            <a:r>
              <a:rPr lang="en-US" sz="2000" b="1" dirty="0">
                <a:latin typeface="Verdana" pitchFamily="34" charset="0"/>
              </a:rPr>
              <a:t>8A2E</a:t>
            </a:r>
            <a:r>
              <a:rPr lang="en-US" sz="2000" b="1" dirty="0">
                <a:solidFill>
                  <a:srgbClr val="FF0000"/>
                </a:solidFill>
                <a:latin typeface="Verdana" pitchFamily="34" charset="0"/>
              </a:rPr>
              <a:t>::</a:t>
            </a:r>
            <a:r>
              <a:rPr lang="en-US" sz="2000" b="1" dirty="0">
                <a:latin typeface="Verdana" pitchFamily="34" charset="0"/>
              </a:rPr>
              <a:t>7334</a:t>
            </a:r>
          </a:p>
          <a:p>
            <a:pPr eaLnBrk="1" hangingPunct="1">
              <a:defRPr/>
            </a:pPr>
            <a:r>
              <a:rPr lang="en-US" sz="2000" b="1" dirty="0">
                <a:latin typeface="Verdana" pitchFamily="34" charset="0"/>
              </a:rPr>
              <a:t>Why?</a:t>
            </a:r>
          </a:p>
          <a:p>
            <a:pPr eaLnBrk="1" hangingPunct="1">
              <a:defRPr/>
            </a:pPr>
            <a:r>
              <a:rPr lang="en-US" sz="2000" b="1" dirty="0">
                <a:latin typeface="Verdana" pitchFamily="34" charset="0"/>
              </a:rPr>
              <a:t>How would you do it?</a:t>
            </a:r>
          </a:p>
          <a:p>
            <a:pPr eaLnBrk="1" hangingPunct="1">
              <a:defRPr/>
            </a:pPr>
            <a:r>
              <a:rPr lang="en-US" sz="2000" b="1" dirty="0">
                <a:latin typeface="Verdana" pitchFamily="34" charset="0"/>
              </a:rPr>
              <a:t>2604</a:t>
            </a:r>
            <a:r>
              <a:rPr lang="en-US" sz="2000" b="1" dirty="0">
                <a:solidFill>
                  <a:srgbClr val="FF0000"/>
                </a:solidFill>
                <a:latin typeface="Verdana" pitchFamily="34" charset="0"/>
              </a:rPr>
              <a:t>::</a:t>
            </a:r>
            <a:r>
              <a:rPr lang="en-US" sz="2000" b="1" dirty="0">
                <a:latin typeface="Verdana" pitchFamily="34" charset="0"/>
              </a:rPr>
              <a:t>8A2E:0:0:7334 </a:t>
            </a:r>
          </a:p>
          <a:p>
            <a:pPr marL="45720" indent="0" eaLnBrk="1" hangingPunct="1">
              <a:buFont typeface="Wingdings" panose="05000000000000000000" pitchFamily="2" charset="2"/>
              <a:buNone/>
              <a:defRPr/>
            </a:pPr>
            <a:r>
              <a:rPr lang="en-US" sz="2000" b="1" dirty="0">
                <a:latin typeface="Verdana" pitchFamily="34" charset="0"/>
              </a:rPr>
              <a:t>What would </a:t>
            </a:r>
          </a:p>
          <a:p>
            <a:pPr marL="45720" indent="0" eaLnBrk="1" hangingPunct="1">
              <a:buFont typeface="Wingdings" panose="05000000000000000000" pitchFamily="2" charset="2"/>
              <a:buNone/>
              <a:defRPr/>
            </a:pPr>
            <a:r>
              <a:rPr lang="en-US" sz="2000" dirty="0">
                <a:solidFill>
                  <a:schemeClr val="accent1">
                    <a:lumMod val="75000"/>
                  </a:schemeClr>
                </a:solidFill>
              </a:rPr>
              <a:t>fe80 : 0000 : 0000 : 0000 : 0202 : b3ff : fe1e : 8329 </a:t>
            </a:r>
            <a:r>
              <a:rPr lang="en-US" sz="2000" dirty="0"/>
              <a:t>be expressed as?</a:t>
            </a:r>
          </a:p>
          <a:p>
            <a:pPr marL="45720" indent="0" eaLnBrk="1" hangingPunct="1">
              <a:buFont typeface="Wingdings" panose="05000000000000000000" pitchFamily="2" charset="2"/>
              <a:buNone/>
              <a:defRPr/>
            </a:pPr>
            <a:endParaRPr lang="en-US" sz="2000" b="1" dirty="0">
              <a:latin typeface="Verdana" pitchFamily="34" charset="0"/>
            </a:endParaRPr>
          </a:p>
          <a:p>
            <a:pPr eaLnBrk="1" hangingPunct="1">
              <a:defRPr/>
            </a:pPr>
            <a:endParaRPr lang="en-US" sz="2000" b="1" dirty="0">
              <a:latin typeface="Verdana" pitchFamily="34" charset="0"/>
            </a:endParaRPr>
          </a:p>
          <a:p>
            <a:pPr eaLnBrk="1" hangingPunct="1">
              <a:defRPr/>
            </a:pPr>
            <a:endParaRPr lang="en-US" sz="2000" b="1" dirty="0">
              <a:latin typeface="Verdana" pitchFamily="34" charset="0"/>
            </a:endParaRPr>
          </a:p>
          <a:p>
            <a:pPr eaLnBrk="1" hangingPunct="1">
              <a:defRPr/>
            </a:pP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AA4CC92-8E33-4B4B-A02A-4C65CF8CBB72}"/>
              </a:ext>
            </a:extLst>
          </p:cNvPr>
          <p:cNvSpPr>
            <a:spLocks noGrp="1" noChangeArrowheads="1"/>
          </p:cNvSpPr>
          <p:nvPr>
            <p:ph type="title"/>
          </p:nvPr>
        </p:nvSpPr>
        <p:spPr>
          <a:xfrm>
            <a:off x="179388" y="115888"/>
            <a:ext cx="8713787" cy="1143000"/>
          </a:xfrm>
        </p:spPr>
        <p:txBody>
          <a:bodyPr/>
          <a:lstStyle/>
          <a:p>
            <a:pPr eaLnBrk="1" hangingPunct="1"/>
            <a:r>
              <a:rPr lang="en-GB" altLang="en-US"/>
              <a:t>IPV6 address – format basics</a:t>
            </a:r>
            <a:br>
              <a:rPr lang="en-GB" altLang="en-US"/>
            </a:br>
            <a:endParaRPr lang="en-GB" altLang="en-US"/>
          </a:p>
        </p:txBody>
      </p:sp>
      <p:sp>
        <p:nvSpPr>
          <p:cNvPr id="14339" name="Content Placeholder 2">
            <a:extLst>
              <a:ext uri="{FF2B5EF4-FFF2-40B4-BE49-F238E27FC236}">
                <a16:creationId xmlns:a16="http://schemas.microsoft.com/office/drawing/2014/main" id="{69CC134A-1ECE-4EB8-883E-45C8AB8DF5F5}"/>
              </a:ext>
            </a:extLst>
          </p:cNvPr>
          <p:cNvSpPr>
            <a:spLocks noGrp="1" noChangeArrowheads="1"/>
          </p:cNvSpPr>
          <p:nvPr>
            <p:ph sz="quarter" idx="4294967295"/>
          </p:nvPr>
        </p:nvSpPr>
        <p:spPr>
          <a:xfrm>
            <a:off x="468313" y="1196975"/>
            <a:ext cx="8135937" cy="4968875"/>
          </a:xfrm>
        </p:spPr>
        <p:txBody>
          <a:bodyPr/>
          <a:lstStyle/>
          <a:p>
            <a:pPr eaLnBrk="1" hangingPunct="1"/>
            <a:r>
              <a:rPr lang="en-GB" altLang="en-US">
                <a:solidFill>
                  <a:srgbClr val="1003BD"/>
                </a:solidFill>
              </a:rPr>
              <a:t>2001:acbd:1234:a1b2</a:t>
            </a:r>
            <a:r>
              <a:rPr lang="en-GB" altLang="en-US"/>
              <a:t>:0000:0000:0000:0001/64</a:t>
            </a:r>
            <a:br>
              <a:rPr lang="en-GB" altLang="en-US"/>
            </a:br>
            <a:endParaRPr lang="en-GB" altLang="en-US"/>
          </a:p>
          <a:p>
            <a:pPr eaLnBrk="1" hangingPunct="1"/>
            <a:r>
              <a:rPr lang="en-GB" altLang="en-US"/>
              <a:t>The first sixty four bits </a:t>
            </a:r>
            <a:r>
              <a:rPr lang="en-GB" altLang="en-US">
                <a:solidFill>
                  <a:srgbClr val="1003BD"/>
                </a:solidFill>
              </a:rPr>
              <a:t>(blue) </a:t>
            </a:r>
            <a:r>
              <a:rPr lang="en-GB" altLang="en-US"/>
              <a:t>are network bits, the remaining ones are the host's interface identifier (host bits). </a:t>
            </a:r>
          </a:p>
          <a:p>
            <a:pPr eaLnBrk="1" hangingPunct="1"/>
            <a:r>
              <a:rPr lang="en-GB" altLang="en-US"/>
              <a:t>The network portion is going to be given to us either by the ISP or by the registry (ARIN in the US, RIPE in Europe etc.) if we're a big organization. </a:t>
            </a:r>
          </a:p>
          <a:p>
            <a:pPr eaLnBrk="1" hangingPunct="1"/>
            <a:endParaRPr lang="en-GB"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1524A62-7A72-4584-B6B5-8401BA53AB78}"/>
              </a:ext>
            </a:extLst>
          </p:cNvPr>
          <p:cNvSpPr>
            <a:spLocks noGrp="1" noChangeArrowheads="1"/>
          </p:cNvSpPr>
          <p:nvPr>
            <p:ph type="title"/>
          </p:nvPr>
        </p:nvSpPr>
        <p:spPr>
          <a:xfrm>
            <a:off x="477838" y="1196975"/>
            <a:ext cx="8229600" cy="1139825"/>
          </a:xfrm>
        </p:spPr>
        <p:txBody>
          <a:bodyPr/>
          <a:lstStyle/>
          <a:p>
            <a:r>
              <a:rPr lang="en-GB" altLang="en-US" sz="3200"/>
              <a:t>Aggregatable global unicast addresses - equivalent to an IPV4 address</a:t>
            </a:r>
            <a:br>
              <a:rPr lang="en-GB" altLang="en-US" sz="3200"/>
            </a:br>
            <a:endParaRPr lang="en-GB" altLang="en-US" sz="3200"/>
          </a:p>
        </p:txBody>
      </p:sp>
      <p:pic>
        <p:nvPicPr>
          <p:cNvPr id="15363" name="Picture 2">
            <a:extLst>
              <a:ext uri="{FF2B5EF4-FFF2-40B4-BE49-F238E27FC236}">
                <a16:creationId xmlns:a16="http://schemas.microsoft.com/office/drawing/2014/main" id="{E0B086F3-A65A-481D-A550-E20491F47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88" y="2124075"/>
            <a:ext cx="82010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4">
            <a:extLst>
              <a:ext uri="{FF2B5EF4-FFF2-40B4-BE49-F238E27FC236}">
                <a16:creationId xmlns:a16="http://schemas.microsoft.com/office/drawing/2014/main" id="{3F40CE67-5A2F-42EC-9A28-11EF836F4BBD}"/>
              </a:ext>
            </a:extLst>
          </p:cNvPr>
          <p:cNvSpPr txBox="1">
            <a:spLocks noChangeArrowheads="1"/>
          </p:cNvSpPr>
          <p:nvPr/>
        </p:nvSpPr>
        <p:spPr bwMode="auto">
          <a:xfrm>
            <a:off x="476250" y="3851275"/>
            <a:ext cx="2303463"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All AGUs have the first 3 bits set to this</a:t>
            </a:r>
          </a:p>
          <a:p>
            <a:pPr eaLnBrk="1" hangingPunct="1">
              <a:spcBef>
                <a:spcPct val="0"/>
              </a:spcBef>
              <a:buClrTx/>
              <a:buSzTx/>
              <a:buFontTx/>
              <a:buNone/>
            </a:pPr>
            <a:r>
              <a:rPr lang="en-GB" altLang="en-US" sz="1800" b="1">
                <a:solidFill>
                  <a:srgbClr val="00B050"/>
                </a:solidFill>
              </a:rPr>
              <a:t>First digit will always be a 2</a:t>
            </a:r>
          </a:p>
        </p:txBody>
      </p:sp>
      <p:sp>
        <p:nvSpPr>
          <p:cNvPr id="15365" name="TextBox 5">
            <a:extLst>
              <a:ext uri="{FF2B5EF4-FFF2-40B4-BE49-F238E27FC236}">
                <a16:creationId xmlns:a16="http://schemas.microsoft.com/office/drawing/2014/main" id="{0755AC54-A71A-40C7-9972-3F34F9AA4864}"/>
              </a:ext>
            </a:extLst>
          </p:cNvPr>
          <p:cNvSpPr txBox="1">
            <a:spLocks noChangeArrowheads="1"/>
          </p:cNvSpPr>
          <p:nvPr/>
        </p:nvSpPr>
        <p:spPr bwMode="auto">
          <a:xfrm>
            <a:off x="152400" y="5508625"/>
            <a:ext cx="55927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solidFill>
                  <a:srgbClr val="FF0000"/>
                </a:solidFill>
              </a:rPr>
              <a:t>Top Level Aggregation Identifier  </a:t>
            </a:r>
            <a:r>
              <a:rPr lang="en-GB" altLang="en-US" sz="1800"/>
              <a:t>given</a:t>
            </a:r>
          </a:p>
          <a:p>
            <a:pPr eaLnBrk="1" hangingPunct="1">
              <a:spcBef>
                <a:spcPct val="0"/>
              </a:spcBef>
              <a:buClrTx/>
              <a:buSzTx/>
              <a:buFontTx/>
              <a:buNone/>
            </a:pPr>
            <a:r>
              <a:rPr lang="en-GB" altLang="en-US" sz="1800"/>
              <a:t>Out to the worlds largest ISPs.- more efficient routing</a:t>
            </a:r>
          </a:p>
        </p:txBody>
      </p:sp>
      <p:cxnSp>
        <p:nvCxnSpPr>
          <p:cNvPr id="8" name="Straight Arrow Connector 7">
            <a:extLst>
              <a:ext uri="{FF2B5EF4-FFF2-40B4-BE49-F238E27FC236}">
                <a16:creationId xmlns:a16="http://schemas.microsoft.com/office/drawing/2014/main" id="{D6BD8A8D-DAEC-4C4A-A41F-5030143F9C4B}"/>
              </a:ext>
            </a:extLst>
          </p:cNvPr>
          <p:cNvCxnSpPr/>
          <p:nvPr/>
        </p:nvCxnSpPr>
        <p:spPr>
          <a:xfrm flipV="1">
            <a:off x="1052513" y="3419475"/>
            <a:ext cx="142875" cy="431800"/>
          </a:xfrm>
          <a:prstGeom prst="straightConnector1">
            <a:avLst/>
          </a:prstGeom>
          <a:ln w="444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4718BC-FD05-44B5-8146-2F190C832D04}"/>
              </a:ext>
            </a:extLst>
          </p:cNvPr>
          <p:cNvCxnSpPr/>
          <p:nvPr/>
        </p:nvCxnSpPr>
        <p:spPr>
          <a:xfrm flipH="1" flipV="1">
            <a:off x="2563813" y="3419475"/>
            <a:ext cx="144462" cy="2089150"/>
          </a:xfrm>
          <a:prstGeom prst="straightConnector1">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368" name="TextBox 10">
            <a:extLst>
              <a:ext uri="{FF2B5EF4-FFF2-40B4-BE49-F238E27FC236}">
                <a16:creationId xmlns:a16="http://schemas.microsoft.com/office/drawing/2014/main" id="{14D6B316-71C6-4B08-9EF6-82236B33D1E3}"/>
              </a:ext>
            </a:extLst>
          </p:cNvPr>
          <p:cNvSpPr txBox="1">
            <a:spLocks noChangeArrowheads="1"/>
          </p:cNvSpPr>
          <p:nvPr/>
        </p:nvSpPr>
        <p:spPr bwMode="auto">
          <a:xfrm>
            <a:off x="3211513" y="4500563"/>
            <a:ext cx="3744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solidFill>
                  <a:srgbClr val="0000CC"/>
                </a:solidFill>
              </a:rPr>
              <a:t>Next Level AID </a:t>
            </a:r>
            <a:r>
              <a:rPr lang="en-GB" altLang="en-US" sz="1800"/>
              <a:t>Used to identify a specific customer site</a:t>
            </a:r>
          </a:p>
        </p:txBody>
      </p:sp>
      <p:cxnSp>
        <p:nvCxnSpPr>
          <p:cNvPr id="13" name="Straight Arrow Connector 12">
            <a:extLst>
              <a:ext uri="{FF2B5EF4-FFF2-40B4-BE49-F238E27FC236}">
                <a16:creationId xmlns:a16="http://schemas.microsoft.com/office/drawing/2014/main" id="{F086AFEC-710A-4D1D-9B68-511C793CDBFE}"/>
              </a:ext>
            </a:extLst>
          </p:cNvPr>
          <p:cNvCxnSpPr/>
          <p:nvPr/>
        </p:nvCxnSpPr>
        <p:spPr>
          <a:xfrm flipV="1">
            <a:off x="4292600" y="3419475"/>
            <a:ext cx="144463" cy="1081088"/>
          </a:xfrm>
          <a:prstGeom prst="straightConnector1">
            <a:avLst/>
          </a:prstGeom>
          <a:ln w="412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1B10D45-C76B-44AD-8F67-F19465F61FBC}"/>
              </a:ext>
            </a:extLst>
          </p:cNvPr>
          <p:cNvSpPr txBox="1"/>
          <p:nvPr/>
        </p:nvSpPr>
        <p:spPr>
          <a:xfrm>
            <a:off x="2132013" y="6372225"/>
            <a:ext cx="6575425" cy="369888"/>
          </a:xfrm>
          <a:prstGeom prst="rect">
            <a:avLst/>
          </a:prstGeom>
          <a:noFill/>
        </p:spPr>
        <p:txBody>
          <a:bodyPr wrap="none">
            <a:spAutoFit/>
          </a:bodyPr>
          <a:lstStyle/>
          <a:p>
            <a:pPr>
              <a:defRPr/>
            </a:pPr>
            <a:r>
              <a:rPr lang="en-GB" b="1" dirty="0">
                <a:solidFill>
                  <a:schemeClr val="accent2">
                    <a:lumMod val="75000"/>
                  </a:schemeClr>
                </a:solidFill>
                <a:latin typeface="Arial" charset="0"/>
              </a:rPr>
              <a:t>Site Level AID </a:t>
            </a:r>
            <a:r>
              <a:rPr lang="en-GB" dirty="0">
                <a:latin typeface="Arial" charset="0"/>
              </a:rPr>
              <a:t>Used within the customer site to form subnets  </a:t>
            </a:r>
          </a:p>
        </p:txBody>
      </p:sp>
      <p:cxnSp>
        <p:nvCxnSpPr>
          <p:cNvPr id="19" name="Straight Arrow Connector 18">
            <a:extLst>
              <a:ext uri="{FF2B5EF4-FFF2-40B4-BE49-F238E27FC236}">
                <a16:creationId xmlns:a16="http://schemas.microsoft.com/office/drawing/2014/main" id="{06781114-A644-4CB1-A372-278F21A4F5AC}"/>
              </a:ext>
            </a:extLst>
          </p:cNvPr>
          <p:cNvCxnSpPr>
            <a:cxnSpLocks/>
          </p:cNvCxnSpPr>
          <p:nvPr/>
        </p:nvCxnSpPr>
        <p:spPr>
          <a:xfrm flipH="1" flipV="1">
            <a:off x="5654675" y="3281363"/>
            <a:ext cx="506413" cy="3136900"/>
          </a:xfrm>
          <a:prstGeom prst="straightConnector1">
            <a:avLst/>
          </a:prstGeom>
          <a:ln w="412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85B7DB74-33D7-4A94-AAAA-D37DE729D811}"/>
              </a:ext>
            </a:extLst>
          </p:cNvPr>
          <p:cNvSpPr>
            <a:spLocks noGrp="1" noChangeArrowheads="1"/>
          </p:cNvSpPr>
          <p:nvPr>
            <p:ph type="title"/>
          </p:nvPr>
        </p:nvSpPr>
        <p:spPr>
          <a:xfrm>
            <a:off x="539750" y="260350"/>
            <a:ext cx="7405688" cy="1143000"/>
          </a:xfrm>
        </p:spPr>
        <p:txBody>
          <a:bodyPr/>
          <a:lstStyle/>
          <a:p>
            <a:pPr eaLnBrk="1" hangingPunct="1"/>
            <a:r>
              <a:rPr lang="en-GB" altLang="en-US"/>
              <a:t>Types of IPV6 addresses</a:t>
            </a:r>
          </a:p>
        </p:txBody>
      </p:sp>
      <p:sp>
        <p:nvSpPr>
          <p:cNvPr id="16387" name="Content Placeholder 2">
            <a:extLst>
              <a:ext uri="{FF2B5EF4-FFF2-40B4-BE49-F238E27FC236}">
                <a16:creationId xmlns:a16="http://schemas.microsoft.com/office/drawing/2014/main" id="{6C5F6AC2-ABE3-4313-91DB-48580CC12566}"/>
              </a:ext>
            </a:extLst>
          </p:cNvPr>
          <p:cNvSpPr>
            <a:spLocks noGrp="1" noChangeArrowheads="1"/>
          </p:cNvSpPr>
          <p:nvPr>
            <p:ph sz="quarter" idx="4294967295"/>
          </p:nvPr>
        </p:nvSpPr>
        <p:spPr>
          <a:xfrm>
            <a:off x="323850" y="1125538"/>
            <a:ext cx="8064500" cy="5300662"/>
          </a:xfrm>
        </p:spPr>
        <p:txBody>
          <a:bodyPr/>
          <a:lstStyle/>
          <a:p>
            <a:pPr eaLnBrk="1" hangingPunct="1"/>
            <a:r>
              <a:rPr lang="en-GB" altLang="en-US"/>
              <a:t>There are 3 major types of IPV6 addresses</a:t>
            </a:r>
          </a:p>
          <a:p>
            <a:pPr lvl="1" eaLnBrk="1" hangingPunct="1"/>
            <a:r>
              <a:rPr lang="en-GB" altLang="en-US">
                <a:solidFill>
                  <a:srgbClr val="FF0000"/>
                </a:solidFill>
              </a:rPr>
              <a:t>Unicast</a:t>
            </a:r>
            <a:r>
              <a:rPr lang="en-GB" altLang="en-US"/>
              <a:t> – an  address for a single node (PC, server, printer etc.).  A packet that is sent to a unicast address is delivered to the interface identified by that address</a:t>
            </a:r>
          </a:p>
        </p:txBody>
      </p:sp>
      <p:sp>
        <p:nvSpPr>
          <p:cNvPr id="16388" name="Rectangle 3">
            <a:extLst>
              <a:ext uri="{FF2B5EF4-FFF2-40B4-BE49-F238E27FC236}">
                <a16:creationId xmlns:a16="http://schemas.microsoft.com/office/drawing/2014/main" id="{41E5DA3F-8E86-48A6-B50D-868E2963FCA5}"/>
              </a:ext>
            </a:extLst>
          </p:cNvPr>
          <p:cNvSpPr>
            <a:spLocks noChangeArrowheads="1"/>
          </p:cNvSpPr>
          <p:nvPr/>
        </p:nvSpPr>
        <p:spPr bwMode="auto">
          <a:xfrm>
            <a:off x="1187450" y="2781300"/>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pic>
        <p:nvPicPr>
          <p:cNvPr id="16389" name="Picture 1">
            <a:extLst>
              <a:ext uri="{FF2B5EF4-FFF2-40B4-BE49-F238E27FC236}">
                <a16:creationId xmlns:a16="http://schemas.microsoft.com/office/drawing/2014/main" id="{EB4FD706-6781-4D19-AC25-CBDE871CB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3992563"/>
            <a:ext cx="23812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B61F69E-AB23-4EDD-9F8D-CA1840E050F8}"/>
              </a:ext>
            </a:extLst>
          </p:cNvPr>
          <p:cNvSpPr>
            <a:spLocks noGrp="1" noChangeArrowheads="1"/>
          </p:cNvSpPr>
          <p:nvPr>
            <p:ph type="title"/>
          </p:nvPr>
        </p:nvSpPr>
        <p:spPr/>
        <p:txBody>
          <a:bodyPr/>
          <a:lstStyle/>
          <a:p>
            <a:endParaRPr lang="en-US" altLang="en-US"/>
          </a:p>
        </p:txBody>
      </p:sp>
      <p:sp>
        <p:nvSpPr>
          <p:cNvPr id="18435" name="Content Placeholder 2">
            <a:extLst>
              <a:ext uri="{FF2B5EF4-FFF2-40B4-BE49-F238E27FC236}">
                <a16:creationId xmlns:a16="http://schemas.microsoft.com/office/drawing/2014/main" id="{7791263E-339E-40A4-B563-8F468166CF2B}"/>
              </a:ext>
            </a:extLst>
          </p:cNvPr>
          <p:cNvSpPr>
            <a:spLocks noGrp="1" noChangeArrowheads="1"/>
          </p:cNvSpPr>
          <p:nvPr>
            <p:ph idx="1"/>
          </p:nvPr>
        </p:nvSpPr>
        <p:spPr>
          <a:xfrm>
            <a:off x="457200" y="1600200"/>
            <a:ext cx="8229600" cy="2765425"/>
          </a:xfrm>
        </p:spPr>
        <p:txBody>
          <a:bodyPr/>
          <a:lstStyle/>
          <a:p>
            <a:pPr lvl="1" eaLnBrk="1" hangingPunct="1"/>
            <a:r>
              <a:rPr lang="en-GB" altLang="en-US">
                <a:solidFill>
                  <a:srgbClr val="FF0000"/>
                </a:solidFill>
              </a:rPr>
              <a:t>Anycast</a:t>
            </a:r>
            <a:r>
              <a:rPr lang="en-GB" altLang="en-US"/>
              <a:t> – an address for a set of interfaces that typically belong to different nodes. </a:t>
            </a:r>
            <a:r>
              <a:rPr lang="en-GB" altLang="en-US" b="1"/>
              <a:t>Anycast</a:t>
            </a:r>
            <a:r>
              <a:rPr lang="en-GB" altLang="en-US"/>
              <a:t> addressing routes datagrams to a single member of a group of potential receivers that are all identified by the same destination address. This is a </a:t>
            </a:r>
            <a:r>
              <a:rPr lang="en-GB" altLang="en-US" i="1"/>
              <a:t>one-to-one-of-many</a:t>
            </a:r>
            <a:r>
              <a:rPr lang="en-GB" altLang="en-US"/>
              <a:t> association.</a:t>
            </a:r>
          </a:p>
        </p:txBody>
      </p:sp>
      <p:sp>
        <p:nvSpPr>
          <p:cNvPr id="18436" name="TextBox 4">
            <a:extLst>
              <a:ext uri="{FF2B5EF4-FFF2-40B4-BE49-F238E27FC236}">
                <a16:creationId xmlns:a16="http://schemas.microsoft.com/office/drawing/2014/main" id="{5036D8D0-9C82-4E54-871C-4438DBA79359}"/>
              </a:ext>
            </a:extLst>
          </p:cNvPr>
          <p:cNvSpPr txBox="1">
            <a:spLocks noChangeArrowheads="1"/>
          </p:cNvSpPr>
          <p:nvPr/>
        </p:nvSpPr>
        <p:spPr bwMode="auto">
          <a:xfrm>
            <a:off x="2286000" y="14462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r>
              <a:rPr lang="en-GB" altLang="en-US"/>
              <a:t>e</a:t>
            </a:r>
          </a:p>
        </p:txBody>
      </p:sp>
      <p:pic>
        <p:nvPicPr>
          <p:cNvPr id="18437" name="Picture 6">
            <a:extLst>
              <a:ext uri="{FF2B5EF4-FFF2-40B4-BE49-F238E27FC236}">
                <a16:creationId xmlns:a16="http://schemas.microsoft.com/office/drawing/2014/main" id="{0981F674-7D37-4768-86A1-BC1EC06086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4246563"/>
            <a:ext cx="23812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CC8D6E5-3C33-4C5C-B10A-5607D1391DF5}"/>
              </a:ext>
            </a:extLst>
          </p:cNvPr>
          <p:cNvSpPr>
            <a:spLocks noGrp="1" noChangeArrowheads="1"/>
          </p:cNvSpPr>
          <p:nvPr>
            <p:ph type="title"/>
          </p:nvPr>
        </p:nvSpPr>
        <p:spPr/>
        <p:txBody>
          <a:bodyPr/>
          <a:lstStyle/>
          <a:p>
            <a:endParaRPr lang="en-US" altLang="en-US"/>
          </a:p>
        </p:txBody>
      </p:sp>
      <p:sp>
        <p:nvSpPr>
          <p:cNvPr id="19459" name="Content Placeholder 2">
            <a:extLst>
              <a:ext uri="{FF2B5EF4-FFF2-40B4-BE49-F238E27FC236}">
                <a16:creationId xmlns:a16="http://schemas.microsoft.com/office/drawing/2014/main" id="{4C9BEB29-48F8-4FEE-BBD2-3054FBF428A5}"/>
              </a:ext>
            </a:extLst>
          </p:cNvPr>
          <p:cNvSpPr>
            <a:spLocks noGrp="1" noChangeArrowheads="1"/>
          </p:cNvSpPr>
          <p:nvPr>
            <p:ph idx="1"/>
          </p:nvPr>
        </p:nvSpPr>
        <p:spPr>
          <a:xfrm>
            <a:off x="457200" y="1600200"/>
            <a:ext cx="8229600" cy="2765425"/>
          </a:xfrm>
        </p:spPr>
        <p:txBody>
          <a:bodyPr/>
          <a:lstStyle/>
          <a:p>
            <a:r>
              <a:rPr lang="en-GB" altLang="en-US">
                <a:solidFill>
                  <a:srgbClr val="FF0000"/>
                </a:solidFill>
              </a:rPr>
              <a:t>Multicast</a:t>
            </a:r>
            <a:r>
              <a:rPr lang="en-GB" altLang="en-US"/>
              <a:t>—An address for a set of interfaces in a given scope that typically belong to different nodes. A packet sent to a multicast address is delivered to all interfaces identified by the multicast address in a given scop</a:t>
            </a:r>
          </a:p>
          <a:p>
            <a:endParaRPr lang="en-GB" altLang="en-US"/>
          </a:p>
        </p:txBody>
      </p:sp>
      <p:pic>
        <p:nvPicPr>
          <p:cNvPr id="19460" name="Picture 5">
            <a:extLst>
              <a:ext uri="{FF2B5EF4-FFF2-40B4-BE49-F238E27FC236}">
                <a16:creationId xmlns:a16="http://schemas.microsoft.com/office/drawing/2014/main" id="{AE92566D-A0F5-4D8C-8582-02635886A6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4341813"/>
            <a:ext cx="23812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0B0B486D-04A7-4130-AF2B-C22C23F88CEC}"/>
              </a:ext>
            </a:extLst>
          </p:cNvPr>
          <p:cNvSpPr>
            <a:spLocks noGrp="1" noChangeArrowheads="1"/>
          </p:cNvSpPr>
          <p:nvPr>
            <p:ph type="title"/>
          </p:nvPr>
        </p:nvSpPr>
        <p:spPr>
          <a:xfrm>
            <a:off x="0" y="404813"/>
            <a:ext cx="6511925" cy="1143000"/>
          </a:xfrm>
        </p:spPr>
        <p:txBody>
          <a:bodyPr/>
          <a:lstStyle/>
          <a:p>
            <a:pPr eaLnBrk="1" hangingPunct="1"/>
            <a:r>
              <a:rPr lang="en-GB" altLang="en-US"/>
              <a:t>Address scope</a:t>
            </a:r>
          </a:p>
        </p:txBody>
      </p:sp>
      <p:sp>
        <p:nvSpPr>
          <p:cNvPr id="20483" name="Content Placeholder 3">
            <a:extLst>
              <a:ext uri="{FF2B5EF4-FFF2-40B4-BE49-F238E27FC236}">
                <a16:creationId xmlns:a16="http://schemas.microsoft.com/office/drawing/2014/main" id="{C3496AD7-675B-419C-8517-F58CEF41DA43}"/>
              </a:ext>
            </a:extLst>
          </p:cNvPr>
          <p:cNvSpPr>
            <a:spLocks noGrp="1" noChangeArrowheads="1"/>
          </p:cNvSpPr>
          <p:nvPr>
            <p:ph sz="quarter" idx="4294967295"/>
          </p:nvPr>
        </p:nvSpPr>
        <p:spPr>
          <a:xfrm>
            <a:off x="3851275" y="1700213"/>
            <a:ext cx="4824413" cy="4897437"/>
          </a:xfrm>
        </p:spPr>
        <p:txBody>
          <a:bodyPr/>
          <a:lstStyle/>
          <a:p>
            <a:pPr eaLnBrk="1" hangingPunct="1"/>
            <a:r>
              <a:rPr lang="en-GB" altLang="en-US"/>
              <a:t>Every IPv6 address has a "scope",</a:t>
            </a:r>
            <a:r>
              <a:rPr lang="en-GB" altLang="en-US" baseline="30000"/>
              <a:t> </a:t>
            </a:r>
            <a:r>
              <a:rPr lang="en-GB" altLang="en-US"/>
              <a:t>which specifies in which part of the network it is valid.</a:t>
            </a:r>
          </a:p>
          <a:p>
            <a:pPr eaLnBrk="1" hangingPunct="1"/>
            <a:endParaRPr lang="en-GB" altLang="en-US"/>
          </a:p>
          <a:p>
            <a:pPr eaLnBrk="1" hangingPunct="1"/>
            <a:endParaRPr lang="en-GB" altLang="en-US"/>
          </a:p>
        </p:txBody>
      </p:sp>
      <p:pic>
        <p:nvPicPr>
          <p:cNvPr id="20484" name="Picture 2">
            <a:extLst>
              <a:ext uri="{FF2B5EF4-FFF2-40B4-BE49-F238E27FC236}">
                <a16:creationId xmlns:a16="http://schemas.microsoft.com/office/drawing/2014/main" id="{9EEB79A6-B097-4834-925E-B203D8D79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509713"/>
            <a:ext cx="32766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4">
            <a:extLst>
              <a:ext uri="{FF2B5EF4-FFF2-40B4-BE49-F238E27FC236}">
                <a16:creationId xmlns:a16="http://schemas.microsoft.com/office/drawing/2014/main" id="{25DA2D99-2CEA-4F69-8679-53EA82BEF17B}"/>
              </a:ext>
            </a:extLst>
          </p:cNvPr>
          <p:cNvSpPr txBox="1">
            <a:spLocks noChangeArrowheads="1"/>
          </p:cNvSpPr>
          <p:nvPr/>
        </p:nvSpPr>
        <p:spPr bwMode="auto">
          <a:xfrm>
            <a:off x="250825" y="3284538"/>
            <a:ext cx="29527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Another aspect of IPv6 addressing is the concept of address scopes.</a:t>
            </a:r>
          </a:p>
          <a:p>
            <a:pPr eaLnBrk="1" hangingPunct="1">
              <a:spcBef>
                <a:spcPct val="0"/>
              </a:spcBef>
              <a:buClrTx/>
              <a:buSzTx/>
              <a:buFontTx/>
              <a:buNone/>
            </a:pPr>
            <a:r>
              <a:rPr lang="en-GB" altLang="en-US" sz="1800"/>
              <a:t>Figure 1 represents the scopes that an IPv6 address can have.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354E5A45-65EA-4933-8571-D46BC8E94F9D}"/>
              </a:ext>
            </a:extLst>
          </p:cNvPr>
          <p:cNvSpPr>
            <a:spLocks noGrp="1" noChangeArrowheads="1"/>
          </p:cNvSpPr>
          <p:nvPr>
            <p:ph sz="quarter" idx="4294967295"/>
          </p:nvPr>
        </p:nvSpPr>
        <p:spPr>
          <a:xfrm>
            <a:off x="684213" y="404813"/>
            <a:ext cx="4464050" cy="4176712"/>
          </a:xfrm>
        </p:spPr>
        <p:txBody>
          <a:bodyPr/>
          <a:lstStyle/>
          <a:p>
            <a:pPr eaLnBrk="1" hangingPunct="1"/>
            <a:r>
              <a:rPr lang="en-GB" altLang="en-US" sz="2400">
                <a:solidFill>
                  <a:srgbClr val="FF0000"/>
                </a:solidFill>
              </a:rPr>
              <a:t>A link-local address  -</a:t>
            </a:r>
          </a:p>
          <a:p>
            <a:pPr lvl="1" eaLnBrk="1" hangingPunct="1"/>
            <a:r>
              <a:rPr lang="en-GB" altLang="en-US" sz="2000"/>
              <a:t>is used for communications on a single link</a:t>
            </a:r>
          </a:p>
          <a:p>
            <a:pPr lvl="1" eaLnBrk="1" hangingPunct="1"/>
            <a:r>
              <a:rPr lang="en-GB" altLang="en-US" sz="2000"/>
              <a:t> packets that have a link-local source or destination address are not forwarded by a router off that link.</a:t>
            </a:r>
          </a:p>
          <a:p>
            <a:pPr lvl="1" eaLnBrk="1" hangingPunct="1"/>
            <a:r>
              <a:rPr lang="en-GB" altLang="en-US" sz="2000"/>
              <a:t> only have meaning on that link. </a:t>
            </a:r>
          </a:p>
          <a:p>
            <a:pPr lvl="1" eaLnBrk="1" hangingPunct="1"/>
            <a:r>
              <a:rPr lang="en-GB" altLang="en-US" sz="2000"/>
              <a:t> can be identified as starting with the </a:t>
            </a:r>
            <a:r>
              <a:rPr lang="en-GB" altLang="en-US" sz="2000">
                <a:solidFill>
                  <a:srgbClr val="FF0000"/>
                </a:solidFill>
              </a:rPr>
              <a:t>FE80::/10 prefix.</a:t>
            </a:r>
          </a:p>
          <a:p>
            <a:pPr eaLnBrk="1" hangingPunct="1"/>
            <a:r>
              <a:rPr lang="en-GB" altLang="en-US" sz="2400"/>
              <a:t>an identical address might exist on another link, so the address is not routable off its link. </a:t>
            </a:r>
          </a:p>
        </p:txBody>
      </p:sp>
      <p:sp>
        <p:nvSpPr>
          <p:cNvPr id="2" name="Oval 1">
            <a:extLst>
              <a:ext uri="{FF2B5EF4-FFF2-40B4-BE49-F238E27FC236}">
                <a16:creationId xmlns:a16="http://schemas.microsoft.com/office/drawing/2014/main" id="{11E735EB-5D6D-416A-8C1C-F05847DC677D}"/>
              </a:ext>
            </a:extLst>
          </p:cNvPr>
          <p:cNvSpPr/>
          <p:nvPr/>
        </p:nvSpPr>
        <p:spPr>
          <a:xfrm>
            <a:off x="6659563" y="2205038"/>
            <a:ext cx="1152525" cy="7921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GB" dirty="0"/>
              <a:t>router</a:t>
            </a:r>
          </a:p>
        </p:txBody>
      </p:sp>
      <p:sp>
        <p:nvSpPr>
          <p:cNvPr id="22532" name="computr1">
            <a:extLst>
              <a:ext uri="{FF2B5EF4-FFF2-40B4-BE49-F238E27FC236}">
                <a16:creationId xmlns:a16="http://schemas.microsoft.com/office/drawing/2014/main" id="{1FA817B0-544B-44C2-9B57-987EFC8D53E3}"/>
              </a:ext>
            </a:extLst>
          </p:cNvPr>
          <p:cNvSpPr>
            <a:spLocks noEditPoints="1" noChangeArrowheads="1"/>
          </p:cNvSpPr>
          <p:nvPr/>
        </p:nvSpPr>
        <p:spPr bwMode="auto">
          <a:xfrm>
            <a:off x="5651500" y="4292600"/>
            <a:ext cx="288925" cy="288925"/>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22533" name="computr1">
            <a:extLst>
              <a:ext uri="{FF2B5EF4-FFF2-40B4-BE49-F238E27FC236}">
                <a16:creationId xmlns:a16="http://schemas.microsoft.com/office/drawing/2014/main" id="{7112A365-97C8-473D-9B1E-FBCBE6828755}"/>
              </a:ext>
            </a:extLst>
          </p:cNvPr>
          <p:cNvSpPr>
            <a:spLocks noEditPoints="1" noChangeArrowheads="1"/>
          </p:cNvSpPr>
          <p:nvPr/>
        </p:nvSpPr>
        <p:spPr bwMode="auto">
          <a:xfrm>
            <a:off x="6313488" y="4351338"/>
            <a:ext cx="287337" cy="288925"/>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22534" name="computr1">
            <a:extLst>
              <a:ext uri="{FF2B5EF4-FFF2-40B4-BE49-F238E27FC236}">
                <a16:creationId xmlns:a16="http://schemas.microsoft.com/office/drawing/2014/main" id="{B2CC3F41-40B8-4CC2-87B8-34A846742E63}"/>
              </a:ext>
            </a:extLst>
          </p:cNvPr>
          <p:cNvSpPr>
            <a:spLocks noEditPoints="1" noChangeArrowheads="1"/>
          </p:cNvSpPr>
          <p:nvPr/>
        </p:nvSpPr>
        <p:spPr bwMode="auto">
          <a:xfrm>
            <a:off x="7667625" y="4208463"/>
            <a:ext cx="288925" cy="287337"/>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22535" name="computr1">
            <a:extLst>
              <a:ext uri="{FF2B5EF4-FFF2-40B4-BE49-F238E27FC236}">
                <a16:creationId xmlns:a16="http://schemas.microsoft.com/office/drawing/2014/main" id="{7B41EAAF-CA48-48A8-93E2-0052315F5D21}"/>
              </a:ext>
            </a:extLst>
          </p:cNvPr>
          <p:cNvSpPr>
            <a:spLocks noEditPoints="1" noChangeArrowheads="1"/>
          </p:cNvSpPr>
          <p:nvPr/>
        </p:nvSpPr>
        <p:spPr bwMode="auto">
          <a:xfrm>
            <a:off x="8101013" y="4206875"/>
            <a:ext cx="287337" cy="287338"/>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5" name="Rectangle 4">
            <a:extLst>
              <a:ext uri="{FF2B5EF4-FFF2-40B4-BE49-F238E27FC236}">
                <a16:creationId xmlns:a16="http://schemas.microsoft.com/office/drawing/2014/main" id="{4AC6D66C-8036-4E27-87BD-07E715F88439}"/>
              </a:ext>
            </a:extLst>
          </p:cNvPr>
          <p:cNvSpPr/>
          <p:nvPr/>
        </p:nvSpPr>
        <p:spPr>
          <a:xfrm>
            <a:off x="7727950" y="3627438"/>
            <a:ext cx="660400" cy="21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GB" sz="1100" dirty="0"/>
              <a:t>Switch</a:t>
            </a:r>
          </a:p>
        </p:txBody>
      </p:sp>
      <p:sp>
        <p:nvSpPr>
          <p:cNvPr id="10" name="Rectangle 9">
            <a:extLst>
              <a:ext uri="{FF2B5EF4-FFF2-40B4-BE49-F238E27FC236}">
                <a16:creationId xmlns:a16="http://schemas.microsoft.com/office/drawing/2014/main" id="{B48F8EAF-79FE-44C9-ABEB-6A09588E7B6C}"/>
              </a:ext>
            </a:extLst>
          </p:cNvPr>
          <p:cNvSpPr/>
          <p:nvPr/>
        </p:nvSpPr>
        <p:spPr>
          <a:xfrm>
            <a:off x="5813425" y="3608388"/>
            <a:ext cx="661988" cy="21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GB" sz="1100" dirty="0"/>
              <a:t>Switch</a:t>
            </a:r>
          </a:p>
        </p:txBody>
      </p:sp>
      <p:cxnSp>
        <p:nvCxnSpPr>
          <p:cNvPr id="11" name="Straight Connector 10">
            <a:extLst>
              <a:ext uri="{FF2B5EF4-FFF2-40B4-BE49-F238E27FC236}">
                <a16:creationId xmlns:a16="http://schemas.microsoft.com/office/drawing/2014/main" id="{7A23554B-6B27-4AB4-9E5C-0BC6EE19E3DD}"/>
              </a:ext>
            </a:extLst>
          </p:cNvPr>
          <p:cNvCxnSpPr>
            <a:stCxn id="22532" idx="1"/>
          </p:cNvCxnSpPr>
          <p:nvPr/>
        </p:nvCxnSpPr>
        <p:spPr>
          <a:xfrm flipV="1">
            <a:off x="5795963" y="3824288"/>
            <a:ext cx="144462" cy="468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E16F39-482C-43B1-A963-C59438ABFEBD}"/>
              </a:ext>
            </a:extLst>
          </p:cNvPr>
          <p:cNvCxnSpPr>
            <a:stCxn id="22533" idx="1"/>
          </p:cNvCxnSpPr>
          <p:nvPr/>
        </p:nvCxnSpPr>
        <p:spPr>
          <a:xfrm flipH="1" flipV="1">
            <a:off x="6313488" y="3824288"/>
            <a:ext cx="142875" cy="527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8011EF4-C5F4-452E-A9EE-D5ECBBF12A2E}"/>
              </a:ext>
            </a:extLst>
          </p:cNvPr>
          <p:cNvCxnSpPr>
            <a:stCxn id="22534" idx="2"/>
          </p:cNvCxnSpPr>
          <p:nvPr/>
        </p:nvCxnSpPr>
        <p:spPr>
          <a:xfrm flipV="1">
            <a:off x="7696200" y="3843338"/>
            <a:ext cx="188913" cy="365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9D2901-90F6-4B2D-A5F1-3CA20C508F74}"/>
              </a:ext>
            </a:extLst>
          </p:cNvPr>
          <p:cNvCxnSpPr>
            <a:stCxn id="22535" idx="1"/>
            <a:endCxn id="5" idx="2"/>
          </p:cNvCxnSpPr>
          <p:nvPr/>
        </p:nvCxnSpPr>
        <p:spPr>
          <a:xfrm flipH="1" flipV="1">
            <a:off x="8058150" y="3843338"/>
            <a:ext cx="185738" cy="363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1EA4896-FC26-4844-B81A-3AD63E719B40}"/>
              </a:ext>
            </a:extLst>
          </p:cNvPr>
          <p:cNvCxnSpPr>
            <a:stCxn id="10" idx="0"/>
          </p:cNvCxnSpPr>
          <p:nvPr/>
        </p:nvCxnSpPr>
        <p:spPr>
          <a:xfrm flipV="1">
            <a:off x="6143625" y="2997200"/>
            <a:ext cx="804863" cy="611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7CCC152-49EE-442E-9062-6E0859E45D00}"/>
              </a:ext>
            </a:extLst>
          </p:cNvPr>
          <p:cNvCxnSpPr>
            <a:stCxn id="5" idx="0"/>
          </p:cNvCxnSpPr>
          <p:nvPr/>
        </p:nvCxnSpPr>
        <p:spPr>
          <a:xfrm flipH="1" flipV="1">
            <a:off x="7524750" y="2997200"/>
            <a:ext cx="533400" cy="630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902" name="Straight Arrow Connector 37901">
            <a:extLst>
              <a:ext uri="{FF2B5EF4-FFF2-40B4-BE49-F238E27FC236}">
                <a16:creationId xmlns:a16="http://schemas.microsoft.com/office/drawing/2014/main" id="{1CF33AF2-2DCD-4199-945E-2AF2FB9E19DF}"/>
              </a:ext>
            </a:extLst>
          </p:cNvPr>
          <p:cNvCxnSpPr/>
          <p:nvPr/>
        </p:nvCxnSpPr>
        <p:spPr>
          <a:xfrm flipV="1">
            <a:off x="5975350" y="2881313"/>
            <a:ext cx="684213" cy="6191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906" name="Straight Arrow Connector 37905">
            <a:extLst>
              <a:ext uri="{FF2B5EF4-FFF2-40B4-BE49-F238E27FC236}">
                <a16:creationId xmlns:a16="http://schemas.microsoft.com/office/drawing/2014/main" id="{9BA0755C-371B-4379-AFD3-83B468648DA1}"/>
              </a:ext>
            </a:extLst>
          </p:cNvPr>
          <p:cNvCxnSpPr/>
          <p:nvPr/>
        </p:nvCxnSpPr>
        <p:spPr>
          <a:xfrm>
            <a:off x="7727950" y="2881313"/>
            <a:ext cx="515938" cy="54768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908" name="Straight Connector 37907">
            <a:extLst>
              <a:ext uri="{FF2B5EF4-FFF2-40B4-BE49-F238E27FC236}">
                <a16:creationId xmlns:a16="http://schemas.microsoft.com/office/drawing/2014/main" id="{A608394A-1B5B-4044-8C4D-5163ED80A2AB}"/>
              </a:ext>
            </a:extLst>
          </p:cNvPr>
          <p:cNvCxnSpPr/>
          <p:nvPr/>
        </p:nvCxnSpPr>
        <p:spPr>
          <a:xfrm>
            <a:off x="6253163" y="3119438"/>
            <a:ext cx="347662" cy="34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911" name="Straight Connector 37910">
            <a:extLst>
              <a:ext uri="{FF2B5EF4-FFF2-40B4-BE49-F238E27FC236}">
                <a16:creationId xmlns:a16="http://schemas.microsoft.com/office/drawing/2014/main" id="{02BDA5DE-E289-4CCB-9967-486ECEC8A857}"/>
              </a:ext>
            </a:extLst>
          </p:cNvPr>
          <p:cNvCxnSpPr/>
          <p:nvPr/>
        </p:nvCxnSpPr>
        <p:spPr>
          <a:xfrm>
            <a:off x="6318250" y="2997200"/>
            <a:ext cx="138113" cy="3063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A51CD64-7B59-418B-9A2C-E0AC86E27B78}"/>
              </a:ext>
            </a:extLst>
          </p:cNvPr>
          <p:cNvCxnSpPr/>
          <p:nvPr/>
        </p:nvCxnSpPr>
        <p:spPr>
          <a:xfrm flipV="1">
            <a:off x="7834313" y="2997200"/>
            <a:ext cx="317500" cy="269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88A705A-163B-423C-B873-9A10D14B469B}"/>
              </a:ext>
            </a:extLst>
          </p:cNvPr>
          <p:cNvCxnSpPr/>
          <p:nvPr/>
        </p:nvCxnSpPr>
        <p:spPr>
          <a:xfrm>
            <a:off x="7789863" y="3119438"/>
            <a:ext cx="361950" cy="71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26BC5B0-F614-4FA2-8DE4-F41DA460607D}"/>
              </a:ext>
            </a:extLst>
          </p:cNvPr>
          <p:cNvSpPr>
            <a:spLocks noGrp="1" noChangeArrowheads="1"/>
          </p:cNvSpPr>
          <p:nvPr>
            <p:ph type="title"/>
          </p:nvPr>
        </p:nvSpPr>
        <p:spPr/>
        <p:txBody>
          <a:bodyPr/>
          <a:lstStyle/>
          <a:p>
            <a:r>
              <a:rPr lang="en-GB" altLang="en-US"/>
              <a:t>Link-local</a:t>
            </a:r>
          </a:p>
        </p:txBody>
      </p:sp>
      <p:sp>
        <p:nvSpPr>
          <p:cNvPr id="23555" name="Content Placeholder 2">
            <a:extLst>
              <a:ext uri="{FF2B5EF4-FFF2-40B4-BE49-F238E27FC236}">
                <a16:creationId xmlns:a16="http://schemas.microsoft.com/office/drawing/2014/main" id="{3ADDEAC8-B972-4220-8556-DB02357CCA0F}"/>
              </a:ext>
            </a:extLst>
          </p:cNvPr>
          <p:cNvSpPr>
            <a:spLocks noGrp="1" noChangeArrowheads="1"/>
          </p:cNvSpPr>
          <p:nvPr>
            <p:ph idx="1"/>
          </p:nvPr>
        </p:nvSpPr>
        <p:spPr>
          <a:xfrm>
            <a:off x="468313" y="3068638"/>
            <a:ext cx="8229600" cy="3197225"/>
          </a:xfrm>
        </p:spPr>
        <p:txBody>
          <a:bodyPr/>
          <a:lstStyle/>
          <a:p>
            <a:pPr eaLnBrk="1" hangingPunct="1"/>
            <a:r>
              <a:rPr lang="en-GB" altLang="en-US" sz="3200"/>
              <a:t>All IPv6 interfaces have a link-local address assigned to them.</a:t>
            </a:r>
          </a:p>
          <a:p>
            <a:pPr eaLnBrk="1" hangingPunct="1"/>
            <a:r>
              <a:rPr lang="en-GB" altLang="en-US" sz="3200"/>
              <a:t>Locally generated as there may not be a DHCP server so it’s mandatory to have one so communications can happen on that link</a:t>
            </a:r>
          </a:p>
          <a:p>
            <a:endParaRPr lang="en-GB" altLang="en-US"/>
          </a:p>
        </p:txBody>
      </p:sp>
      <p:pic>
        <p:nvPicPr>
          <p:cNvPr id="23556" name="Picture 2">
            <a:extLst>
              <a:ext uri="{FF2B5EF4-FFF2-40B4-BE49-F238E27FC236}">
                <a16:creationId xmlns:a16="http://schemas.microsoft.com/office/drawing/2014/main" id="{B0C3D91D-48B7-4FF6-9790-B1C54C67F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052513"/>
            <a:ext cx="77152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37E4BC3-1AE5-424B-A94C-A5B1923BB6DF}"/>
              </a:ext>
            </a:extLst>
          </p:cNvPr>
          <p:cNvSpPr txBox="1"/>
          <p:nvPr/>
        </p:nvSpPr>
        <p:spPr>
          <a:xfrm>
            <a:off x="3779838" y="2060575"/>
            <a:ext cx="1878012" cy="369888"/>
          </a:xfrm>
          <a:prstGeom prst="rect">
            <a:avLst/>
          </a:prstGeom>
          <a:noFill/>
        </p:spPr>
        <p:txBody>
          <a:bodyPr wrap="none">
            <a:spAutoFit/>
          </a:bodyPr>
          <a:lstStyle/>
          <a:p>
            <a:pPr eaLnBrk="1" hangingPunct="1">
              <a:defRPr/>
            </a:pPr>
            <a:r>
              <a:rPr lang="en-GB" b="1" dirty="0">
                <a:solidFill>
                  <a:schemeClr val="accent6">
                    <a:lumMod val="60000"/>
                    <a:lumOff val="40000"/>
                  </a:schemeClr>
                </a:solidFill>
                <a:latin typeface="Arial" charset="0"/>
              </a:rPr>
              <a:t>Can be left as 0</a:t>
            </a:r>
          </a:p>
        </p:txBody>
      </p:sp>
      <p:cxnSp>
        <p:nvCxnSpPr>
          <p:cNvPr id="8" name="Straight Arrow Connector 7">
            <a:extLst>
              <a:ext uri="{FF2B5EF4-FFF2-40B4-BE49-F238E27FC236}">
                <a16:creationId xmlns:a16="http://schemas.microsoft.com/office/drawing/2014/main" id="{1AED9950-49F9-4A90-B41D-588CFCBCDB80}"/>
              </a:ext>
            </a:extLst>
          </p:cNvPr>
          <p:cNvCxnSpPr>
            <a:stCxn id="6" idx="0"/>
          </p:cNvCxnSpPr>
          <p:nvPr/>
        </p:nvCxnSpPr>
        <p:spPr>
          <a:xfrm flipH="1" flipV="1">
            <a:off x="4067175" y="1484313"/>
            <a:ext cx="650875" cy="576262"/>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2DBCD1FA-4106-41D9-9981-5E68DBE689BC}"/>
              </a:ext>
            </a:extLst>
          </p:cNvPr>
          <p:cNvSpPr>
            <a:spLocks noGrp="1" noChangeArrowheads="1"/>
          </p:cNvSpPr>
          <p:nvPr>
            <p:ph type="title"/>
          </p:nvPr>
        </p:nvSpPr>
        <p:spPr/>
        <p:txBody>
          <a:bodyPr/>
          <a:lstStyle/>
          <a:p>
            <a:r>
              <a:rPr lang="en-GB" altLang="en-US"/>
              <a:t>64 bit Interface ID </a:t>
            </a:r>
          </a:p>
        </p:txBody>
      </p:sp>
      <p:sp>
        <p:nvSpPr>
          <p:cNvPr id="24579" name="Content Placeholder 2">
            <a:extLst>
              <a:ext uri="{FF2B5EF4-FFF2-40B4-BE49-F238E27FC236}">
                <a16:creationId xmlns:a16="http://schemas.microsoft.com/office/drawing/2014/main" id="{C5E65340-FF90-4FA7-A46C-8493EA5EB497}"/>
              </a:ext>
            </a:extLst>
          </p:cNvPr>
          <p:cNvSpPr>
            <a:spLocks noGrp="1" noChangeArrowheads="1"/>
          </p:cNvSpPr>
          <p:nvPr>
            <p:ph idx="1"/>
          </p:nvPr>
        </p:nvSpPr>
        <p:spPr/>
        <p:txBody>
          <a:bodyPr/>
          <a:lstStyle/>
          <a:p>
            <a:r>
              <a:rPr lang="en-GB" altLang="en-US"/>
              <a:t>This can come from</a:t>
            </a:r>
          </a:p>
          <a:p>
            <a:pPr lvl="1"/>
            <a:r>
              <a:rPr lang="en-GB" altLang="en-US"/>
              <a:t>A DHCP server</a:t>
            </a:r>
          </a:p>
          <a:p>
            <a:pPr lvl="1"/>
            <a:r>
              <a:rPr lang="en-GB" altLang="en-US">
                <a:solidFill>
                  <a:srgbClr val="FF0000"/>
                </a:solidFill>
              </a:rPr>
              <a:t>Be derived from the 48 bit MAC address which is unique using EUI-64</a:t>
            </a:r>
          </a:p>
          <a:p>
            <a:pPr lvl="1"/>
            <a:r>
              <a:rPr lang="en-GB" altLang="en-US"/>
              <a:t>Come from a randomly generated number</a:t>
            </a:r>
          </a:p>
          <a:p>
            <a:pPr lvl="1"/>
            <a:r>
              <a:rPr lang="en-GB" altLang="en-US"/>
              <a:t>Manually configured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C201AA01-132A-49ED-874B-D0190FE7CA45}"/>
              </a:ext>
            </a:extLst>
          </p:cNvPr>
          <p:cNvSpPr>
            <a:spLocks noGrp="1" noChangeArrowheads="1"/>
          </p:cNvSpPr>
          <p:nvPr>
            <p:ph type="title"/>
          </p:nvPr>
        </p:nvSpPr>
        <p:spPr/>
        <p:txBody>
          <a:bodyPr/>
          <a:lstStyle/>
          <a:p>
            <a:r>
              <a:rPr lang="en-GB" altLang="en-US"/>
              <a:t>Unique Local addresses</a:t>
            </a:r>
            <a:br>
              <a:rPr lang="en-GB" altLang="en-US"/>
            </a:br>
            <a:endParaRPr lang="en-GB" altLang="en-US"/>
          </a:p>
        </p:txBody>
      </p:sp>
      <p:sp>
        <p:nvSpPr>
          <p:cNvPr id="25603" name="Content Placeholder 2">
            <a:extLst>
              <a:ext uri="{FF2B5EF4-FFF2-40B4-BE49-F238E27FC236}">
                <a16:creationId xmlns:a16="http://schemas.microsoft.com/office/drawing/2014/main" id="{CFABAA88-D988-49CC-B814-20BB5100B5B1}"/>
              </a:ext>
            </a:extLst>
          </p:cNvPr>
          <p:cNvSpPr>
            <a:spLocks noGrp="1" noChangeArrowheads="1"/>
          </p:cNvSpPr>
          <p:nvPr>
            <p:ph idx="1"/>
          </p:nvPr>
        </p:nvSpPr>
        <p:spPr>
          <a:xfrm>
            <a:off x="323850" y="1125538"/>
            <a:ext cx="4824413" cy="2276475"/>
          </a:xfrm>
        </p:spPr>
        <p:txBody>
          <a:bodyPr/>
          <a:lstStyle/>
          <a:p>
            <a:r>
              <a:rPr lang="en-GB" altLang="en-US" sz="2800"/>
              <a:t>Equivalent to the NAT addresses used in IPV4</a:t>
            </a:r>
          </a:p>
          <a:p>
            <a:r>
              <a:rPr lang="en-GB" altLang="en-US"/>
              <a:t>IPv6 Unique Local addresses are routable inside of a company's multiple sites.</a:t>
            </a:r>
          </a:p>
          <a:p>
            <a:r>
              <a:rPr lang="en-GB" altLang="en-US"/>
              <a:t>FC00::/7 or FD00::/7</a:t>
            </a:r>
          </a:p>
          <a:p>
            <a:pPr eaLnBrk="1" hangingPunct="1">
              <a:spcBef>
                <a:spcPct val="0"/>
              </a:spcBef>
              <a:buClrTx/>
              <a:buSzTx/>
              <a:buFont typeface="Arial" panose="020B0604020202020204" pitchFamily="34" charset="0"/>
              <a:buChar char="•"/>
            </a:pPr>
            <a:r>
              <a:rPr lang="en-GB" altLang="en-US" sz="2800"/>
              <a:t>Used  for</a:t>
            </a:r>
          </a:p>
          <a:p>
            <a:pPr lvl="1" eaLnBrk="1" hangingPunct="1">
              <a:spcBef>
                <a:spcPct val="0"/>
              </a:spcBef>
              <a:buClrTx/>
              <a:buSzTx/>
              <a:buFont typeface="Arial" panose="020B0604020202020204" pitchFamily="34" charset="0"/>
              <a:buChar char="•"/>
            </a:pPr>
            <a:r>
              <a:rPr lang="en-GB" altLang="en-US" sz="2800"/>
              <a:t>Local communications</a:t>
            </a:r>
          </a:p>
          <a:p>
            <a:pPr lvl="1" eaLnBrk="1" hangingPunct="1">
              <a:spcBef>
                <a:spcPct val="0"/>
              </a:spcBef>
              <a:buClrTx/>
              <a:buSzTx/>
              <a:buFont typeface="Arial" panose="020B0604020202020204" pitchFamily="34" charset="0"/>
              <a:buChar char="•"/>
            </a:pPr>
            <a:r>
              <a:rPr lang="en-GB" altLang="en-US" sz="2800"/>
              <a:t>Inter-site VPNs</a:t>
            </a:r>
          </a:p>
          <a:p>
            <a:pPr lvl="1" eaLnBrk="1" hangingPunct="1">
              <a:spcBef>
                <a:spcPct val="0"/>
              </a:spcBef>
              <a:buClrTx/>
              <a:buSzTx/>
              <a:buFont typeface="Arial" panose="020B0604020202020204" pitchFamily="34" charset="0"/>
              <a:buChar char="•"/>
            </a:pPr>
            <a:r>
              <a:rPr lang="en-GB" altLang="en-US" sz="2800"/>
              <a:t>Not routable on the Internet</a:t>
            </a:r>
          </a:p>
          <a:p>
            <a:endParaRPr lang="en-GB" altLang="en-US"/>
          </a:p>
        </p:txBody>
      </p:sp>
      <p:grpSp>
        <p:nvGrpSpPr>
          <p:cNvPr id="25604" name="Group 4">
            <a:extLst>
              <a:ext uri="{FF2B5EF4-FFF2-40B4-BE49-F238E27FC236}">
                <a16:creationId xmlns:a16="http://schemas.microsoft.com/office/drawing/2014/main" id="{44BCFB54-C1C3-4744-80A8-EC165A19B3D0}"/>
              </a:ext>
            </a:extLst>
          </p:cNvPr>
          <p:cNvGrpSpPr>
            <a:grpSpLocks/>
          </p:cNvGrpSpPr>
          <p:nvPr/>
        </p:nvGrpSpPr>
        <p:grpSpPr bwMode="auto">
          <a:xfrm>
            <a:off x="5580063" y="1412875"/>
            <a:ext cx="2736850" cy="2435225"/>
            <a:chOff x="5651500" y="2205038"/>
            <a:chExt cx="2736850" cy="2435225"/>
          </a:xfrm>
        </p:grpSpPr>
        <p:sp>
          <p:nvSpPr>
            <p:cNvPr id="6" name="Oval 5">
              <a:extLst>
                <a:ext uri="{FF2B5EF4-FFF2-40B4-BE49-F238E27FC236}">
                  <a16:creationId xmlns:a16="http://schemas.microsoft.com/office/drawing/2014/main" id="{C590C462-D676-4624-A5D0-E32F1775CEDE}"/>
                </a:ext>
              </a:extLst>
            </p:cNvPr>
            <p:cNvSpPr/>
            <p:nvPr/>
          </p:nvSpPr>
          <p:spPr>
            <a:xfrm>
              <a:off x="6659562" y="2205038"/>
              <a:ext cx="1152525" cy="792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GB" dirty="0"/>
                <a:t>router</a:t>
              </a:r>
            </a:p>
          </p:txBody>
        </p:sp>
        <p:sp>
          <p:nvSpPr>
            <p:cNvPr id="25606" name="computr1">
              <a:extLst>
                <a:ext uri="{FF2B5EF4-FFF2-40B4-BE49-F238E27FC236}">
                  <a16:creationId xmlns:a16="http://schemas.microsoft.com/office/drawing/2014/main" id="{4CE1AD55-8DB7-4C77-B1C3-8E3A8FC0021F}"/>
                </a:ext>
              </a:extLst>
            </p:cNvPr>
            <p:cNvSpPr>
              <a:spLocks noEditPoints="1" noChangeArrowheads="1"/>
            </p:cNvSpPr>
            <p:nvPr/>
          </p:nvSpPr>
          <p:spPr bwMode="auto">
            <a:xfrm>
              <a:off x="5651500" y="4292600"/>
              <a:ext cx="288925" cy="288925"/>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25607" name="computr1">
              <a:extLst>
                <a:ext uri="{FF2B5EF4-FFF2-40B4-BE49-F238E27FC236}">
                  <a16:creationId xmlns:a16="http://schemas.microsoft.com/office/drawing/2014/main" id="{8925262D-109E-4868-8036-47EB6B26CBAC}"/>
                </a:ext>
              </a:extLst>
            </p:cNvPr>
            <p:cNvSpPr>
              <a:spLocks noEditPoints="1" noChangeArrowheads="1"/>
            </p:cNvSpPr>
            <p:nvPr/>
          </p:nvSpPr>
          <p:spPr bwMode="auto">
            <a:xfrm>
              <a:off x="6313488" y="4351338"/>
              <a:ext cx="287337" cy="288925"/>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25608" name="computr1">
              <a:extLst>
                <a:ext uri="{FF2B5EF4-FFF2-40B4-BE49-F238E27FC236}">
                  <a16:creationId xmlns:a16="http://schemas.microsoft.com/office/drawing/2014/main" id="{A78109E2-9EDE-47A3-BD51-D275EEB55198}"/>
                </a:ext>
              </a:extLst>
            </p:cNvPr>
            <p:cNvSpPr>
              <a:spLocks noEditPoints="1" noChangeArrowheads="1"/>
            </p:cNvSpPr>
            <p:nvPr/>
          </p:nvSpPr>
          <p:spPr bwMode="auto">
            <a:xfrm>
              <a:off x="7667625" y="4208463"/>
              <a:ext cx="288925" cy="287337"/>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25609" name="computr1">
              <a:extLst>
                <a:ext uri="{FF2B5EF4-FFF2-40B4-BE49-F238E27FC236}">
                  <a16:creationId xmlns:a16="http://schemas.microsoft.com/office/drawing/2014/main" id="{7D2AF71F-D41D-4E93-8CF9-642C57A903F5}"/>
                </a:ext>
              </a:extLst>
            </p:cNvPr>
            <p:cNvSpPr>
              <a:spLocks noEditPoints="1" noChangeArrowheads="1"/>
            </p:cNvSpPr>
            <p:nvPr/>
          </p:nvSpPr>
          <p:spPr bwMode="auto">
            <a:xfrm>
              <a:off x="8101013" y="4206875"/>
              <a:ext cx="287337" cy="287338"/>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en-US"/>
            </a:p>
          </p:txBody>
        </p:sp>
        <p:sp>
          <p:nvSpPr>
            <p:cNvPr id="11" name="Rectangle 10">
              <a:extLst>
                <a:ext uri="{FF2B5EF4-FFF2-40B4-BE49-F238E27FC236}">
                  <a16:creationId xmlns:a16="http://schemas.microsoft.com/office/drawing/2014/main" id="{14567A91-6C26-4340-8565-D6BA72CAECDA}"/>
                </a:ext>
              </a:extLst>
            </p:cNvPr>
            <p:cNvSpPr/>
            <p:nvPr/>
          </p:nvSpPr>
          <p:spPr>
            <a:xfrm>
              <a:off x="7727950" y="3627438"/>
              <a:ext cx="660400" cy="21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GB" sz="1100" dirty="0"/>
                <a:t>Switch</a:t>
              </a:r>
            </a:p>
          </p:txBody>
        </p:sp>
        <p:sp>
          <p:nvSpPr>
            <p:cNvPr id="12" name="Rectangle 11">
              <a:extLst>
                <a:ext uri="{FF2B5EF4-FFF2-40B4-BE49-F238E27FC236}">
                  <a16:creationId xmlns:a16="http://schemas.microsoft.com/office/drawing/2014/main" id="{FD78F631-89D8-451A-86DF-43C2A4DE4225}"/>
                </a:ext>
              </a:extLst>
            </p:cNvPr>
            <p:cNvSpPr/>
            <p:nvPr/>
          </p:nvSpPr>
          <p:spPr>
            <a:xfrm>
              <a:off x="5813425" y="3608388"/>
              <a:ext cx="661987" cy="21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GB" sz="1100" dirty="0"/>
                <a:t>Switch</a:t>
              </a:r>
            </a:p>
          </p:txBody>
        </p:sp>
        <p:cxnSp>
          <p:nvCxnSpPr>
            <p:cNvPr id="13" name="Straight Connector 12">
              <a:extLst>
                <a:ext uri="{FF2B5EF4-FFF2-40B4-BE49-F238E27FC236}">
                  <a16:creationId xmlns:a16="http://schemas.microsoft.com/office/drawing/2014/main" id="{85B12F78-F3D3-40E4-8773-18453F9ACA5E}"/>
                </a:ext>
              </a:extLst>
            </p:cNvPr>
            <p:cNvCxnSpPr>
              <a:stCxn id="25606" idx="1"/>
            </p:cNvCxnSpPr>
            <p:nvPr/>
          </p:nvCxnSpPr>
          <p:spPr>
            <a:xfrm flipV="1">
              <a:off x="5795962" y="3824288"/>
              <a:ext cx="144463" cy="468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8A5F1B5-3E97-4FA8-84FE-279460CF46A0}"/>
                </a:ext>
              </a:extLst>
            </p:cNvPr>
            <p:cNvCxnSpPr>
              <a:stCxn id="25607" idx="1"/>
            </p:cNvCxnSpPr>
            <p:nvPr/>
          </p:nvCxnSpPr>
          <p:spPr>
            <a:xfrm flipH="1" flipV="1">
              <a:off x="6313487" y="3824288"/>
              <a:ext cx="142875" cy="527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9E742F6-1555-4290-9086-4B570EA9F2D0}"/>
                </a:ext>
              </a:extLst>
            </p:cNvPr>
            <p:cNvCxnSpPr>
              <a:stCxn id="25608" idx="2"/>
            </p:cNvCxnSpPr>
            <p:nvPr/>
          </p:nvCxnSpPr>
          <p:spPr>
            <a:xfrm flipV="1">
              <a:off x="7696200" y="3843338"/>
              <a:ext cx="188912" cy="365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69FDEA-1C75-4782-AF64-B2F79A9998CA}"/>
                </a:ext>
              </a:extLst>
            </p:cNvPr>
            <p:cNvCxnSpPr>
              <a:stCxn id="25609" idx="1"/>
              <a:endCxn id="11" idx="2"/>
            </p:cNvCxnSpPr>
            <p:nvPr/>
          </p:nvCxnSpPr>
          <p:spPr>
            <a:xfrm flipH="1" flipV="1">
              <a:off x="8058150" y="3843338"/>
              <a:ext cx="185737" cy="363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23A6A36-702D-47FA-8A4F-2076FE842660}"/>
                </a:ext>
              </a:extLst>
            </p:cNvPr>
            <p:cNvCxnSpPr>
              <a:stCxn id="12" idx="0"/>
            </p:cNvCxnSpPr>
            <p:nvPr/>
          </p:nvCxnSpPr>
          <p:spPr>
            <a:xfrm flipV="1">
              <a:off x="6143625" y="2997201"/>
              <a:ext cx="804862" cy="611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F5C0921-DB62-4F53-BF2A-D87052547EB1}"/>
                </a:ext>
              </a:extLst>
            </p:cNvPr>
            <p:cNvCxnSpPr>
              <a:stCxn id="11" idx="0"/>
            </p:cNvCxnSpPr>
            <p:nvPr/>
          </p:nvCxnSpPr>
          <p:spPr>
            <a:xfrm flipH="1" flipV="1">
              <a:off x="7524750" y="2997201"/>
              <a:ext cx="533400" cy="630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AB7AEBB-A06C-42A1-A9B5-BB129E9AC3FD}"/>
                </a:ext>
              </a:extLst>
            </p:cNvPr>
            <p:cNvCxnSpPr/>
            <p:nvPr/>
          </p:nvCxnSpPr>
          <p:spPr>
            <a:xfrm flipV="1">
              <a:off x="5975350" y="2881313"/>
              <a:ext cx="684212" cy="6191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C2170CD-C60B-4387-BD2A-F7DA36F32DB3}"/>
                </a:ext>
              </a:extLst>
            </p:cNvPr>
            <p:cNvCxnSpPr/>
            <p:nvPr/>
          </p:nvCxnSpPr>
          <p:spPr>
            <a:xfrm>
              <a:off x="7727950" y="2881313"/>
              <a:ext cx="515937" cy="5476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7D830B5-1DD6-4EE2-99F5-A3F2C834CC75}"/>
              </a:ext>
            </a:extLst>
          </p:cNvPr>
          <p:cNvSpPr>
            <a:spLocks noGrp="1" noChangeArrowheads="1"/>
          </p:cNvSpPr>
          <p:nvPr>
            <p:ph type="title"/>
          </p:nvPr>
        </p:nvSpPr>
        <p:spPr/>
        <p:txBody>
          <a:bodyPr/>
          <a:lstStyle/>
          <a:p>
            <a:r>
              <a:rPr lang="en-GB" altLang="en-US"/>
              <a:t>EUI-64</a:t>
            </a:r>
          </a:p>
        </p:txBody>
      </p:sp>
      <p:pic>
        <p:nvPicPr>
          <p:cNvPr id="26627" name="Picture 2" descr="IPv6 MAC address vs Interface ID">
            <a:extLst>
              <a:ext uri="{FF2B5EF4-FFF2-40B4-BE49-F238E27FC236}">
                <a16:creationId xmlns:a16="http://schemas.microsoft.com/office/drawing/2014/main" id="{514B7865-FA3A-40A4-B308-0CFEB69CC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981075"/>
            <a:ext cx="2447925"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Box 11">
            <a:extLst>
              <a:ext uri="{FF2B5EF4-FFF2-40B4-BE49-F238E27FC236}">
                <a16:creationId xmlns:a16="http://schemas.microsoft.com/office/drawing/2014/main" id="{637CEBDD-A15D-4204-840E-8947406B9E39}"/>
              </a:ext>
            </a:extLst>
          </p:cNvPr>
          <p:cNvSpPr txBox="1">
            <a:spLocks noChangeArrowheads="1"/>
          </p:cNvSpPr>
          <p:nvPr/>
        </p:nvSpPr>
        <p:spPr bwMode="auto">
          <a:xfrm>
            <a:off x="684213" y="4076700"/>
            <a:ext cx="7737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The 7</a:t>
            </a:r>
            <a:r>
              <a:rPr lang="en-GB" altLang="en-US" sz="1800" baseline="30000"/>
              <a:t>th</a:t>
            </a:r>
            <a:r>
              <a:rPr lang="en-GB" altLang="en-US" sz="1800"/>
              <a:t> most Significant  bit is  then flipped ( 0 becomes 1  and visa versa)</a:t>
            </a:r>
          </a:p>
        </p:txBody>
      </p:sp>
      <p:pic>
        <p:nvPicPr>
          <p:cNvPr id="26629" name="Picture 6">
            <a:extLst>
              <a:ext uri="{FF2B5EF4-FFF2-40B4-BE49-F238E27FC236}">
                <a16:creationId xmlns:a16="http://schemas.microsoft.com/office/drawing/2014/main" id="{7E17CE13-EDB3-4735-AB3E-1A35064478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7713" y="1703388"/>
            <a:ext cx="427672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30" name="Group 15">
            <a:extLst>
              <a:ext uri="{FF2B5EF4-FFF2-40B4-BE49-F238E27FC236}">
                <a16:creationId xmlns:a16="http://schemas.microsoft.com/office/drawing/2014/main" id="{A7BA3273-7639-4A52-B1A2-426454005D2C}"/>
              </a:ext>
            </a:extLst>
          </p:cNvPr>
          <p:cNvGrpSpPr>
            <a:grpSpLocks/>
          </p:cNvGrpSpPr>
          <p:nvPr/>
        </p:nvGrpSpPr>
        <p:grpSpPr bwMode="auto">
          <a:xfrm>
            <a:off x="4572000" y="981075"/>
            <a:ext cx="3744913" cy="2087563"/>
            <a:chOff x="4572000" y="980728"/>
            <a:chExt cx="3744416" cy="2088232"/>
          </a:xfrm>
        </p:grpSpPr>
        <p:sp>
          <p:nvSpPr>
            <p:cNvPr id="26633" name="TextBox 8">
              <a:extLst>
                <a:ext uri="{FF2B5EF4-FFF2-40B4-BE49-F238E27FC236}">
                  <a16:creationId xmlns:a16="http://schemas.microsoft.com/office/drawing/2014/main" id="{6032FAD0-3AC4-4307-B088-2C663D5F4AA8}"/>
                </a:ext>
              </a:extLst>
            </p:cNvPr>
            <p:cNvSpPr txBox="1">
              <a:spLocks noChangeArrowheads="1"/>
            </p:cNvSpPr>
            <p:nvPr/>
          </p:nvSpPr>
          <p:spPr bwMode="auto">
            <a:xfrm>
              <a:off x="4572000" y="980728"/>
              <a:ext cx="37444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MAC address split in two and FFFE inserted to make it 64 bit</a:t>
              </a:r>
            </a:p>
          </p:txBody>
        </p:sp>
        <p:cxnSp>
          <p:nvCxnSpPr>
            <p:cNvPr id="11" name="Straight Arrow Connector 10">
              <a:extLst>
                <a:ext uri="{FF2B5EF4-FFF2-40B4-BE49-F238E27FC236}">
                  <a16:creationId xmlns:a16="http://schemas.microsoft.com/office/drawing/2014/main" id="{C207087A-9BA7-489F-811C-68B359D5970B}"/>
                </a:ext>
              </a:extLst>
            </p:cNvPr>
            <p:cNvCxnSpPr/>
            <p:nvPr/>
          </p:nvCxnSpPr>
          <p:spPr>
            <a:xfrm>
              <a:off x="6011672" y="1627048"/>
              <a:ext cx="612694" cy="144191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pic>
        <p:nvPicPr>
          <p:cNvPr id="26631" name="Picture 7">
            <a:extLst>
              <a:ext uri="{FF2B5EF4-FFF2-40B4-BE49-F238E27FC236}">
                <a16:creationId xmlns:a16="http://schemas.microsoft.com/office/drawing/2014/main" id="{4628446E-CACE-4209-99A5-12FE6E51E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475163"/>
            <a:ext cx="3705225"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17">
            <a:extLst>
              <a:ext uri="{FF2B5EF4-FFF2-40B4-BE49-F238E27FC236}">
                <a16:creationId xmlns:a16="http://schemas.microsoft.com/office/drawing/2014/main" id="{1D6CB42F-78B7-4DBD-8FD6-0675867C09E1}"/>
              </a:ext>
            </a:extLst>
          </p:cNvPr>
          <p:cNvSpPr/>
          <p:nvPr/>
        </p:nvSpPr>
        <p:spPr>
          <a:xfrm>
            <a:off x="3276600" y="4475163"/>
            <a:ext cx="4248150" cy="12573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58F6AC9C-4A92-47F6-B67B-B7F0B0C26B10}"/>
              </a:ext>
            </a:extLst>
          </p:cNvPr>
          <p:cNvSpPr>
            <a:spLocks noGrp="1" noChangeArrowheads="1"/>
          </p:cNvSpPr>
          <p:nvPr>
            <p:ph type="title"/>
          </p:nvPr>
        </p:nvSpPr>
        <p:spPr/>
        <p:txBody>
          <a:bodyPr/>
          <a:lstStyle/>
          <a:p>
            <a:r>
              <a:rPr lang="en-GB" altLang="en-US"/>
              <a:t>Comparison of Packet header</a:t>
            </a:r>
          </a:p>
        </p:txBody>
      </p:sp>
      <p:pic>
        <p:nvPicPr>
          <p:cNvPr id="28675" name="Picture 2">
            <a:extLst>
              <a:ext uri="{FF2B5EF4-FFF2-40B4-BE49-F238E27FC236}">
                <a16:creationId xmlns:a16="http://schemas.microsoft.com/office/drawing/2014/main" id="{347896BC-0D3F-4352-A053-D5A6728F5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081088"/>
            <a:ext cx="8429625"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a:extLst>
              <a:ext uri="{FF2B5EF4-FFF2-40B4-BE49-F238E27FC236}">
                <a16:creationId xmlns:a16="http://schemas.microsoft.com/office/drawing/2014/main" id="{0A8673CE-09AC-4D5D-BB4C-649164590D16}"/>
              </a:ext>
            </a:extLst>
          </p:cNvPr>
          <p:cNvGrpSpPr>
            <a:grpSpLocks/>
          </p:cNvGrpSpPr>
          <p:nvPr/>
        </p:nvGrpSpPr>
        <p:grpSpPr bwMode="auto">
          <a:xfrm>
            <a:off x="373063" y="3933825"/>
            <a:ext cx="4198937" cy="2825750"/>
            <a:chOff x="373415" y="3933056"/>
            <a:chExt cx="4198585" cy="2826896"/>
          </a:xfrm>
        </p:grpSpPr>
        <p:sp>
          <p:nvSpPr>
            <p:cNvPr id="28680" name="TextBox 1">
              <a:extLst>
                <a:ext uri="{FF2B5EF4-FFF2-40B4-BE49-F238E27FC236}">
                  <a16:creationId xmlns:a16="http://schemas.microsoft.com/office/drawing/2014/main" id="{417BA61C-75DA-40E2-B548-BEE4953C4686}"/>
                </a:ext>
              </a:extLst>
            </p:cNvPr>
            <p:cNvSpPr txBox="1">
              <a:spLocks noChangeArrowheads="1"/>
            </p:cNvSpPr>
            <p:nvPr/>
          </p:nvSpPr>
          <p:spPr bwMode="auto">
            <a:xfrm>
              <a:off x="373415" y="6390620"/>
              <a:ext cx="4198585"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14 fields to look at and maybe compute</a:t>
              </a:r>
            </a:p>
          </p:txBody>
        </p:sp>
        <p:cxnSp>
          <p:nvCxnSpPr>
            <p:cNvPr id="5" name="Straight Arrow Connector 4">
              <a:extLst>
                <a:ext uri="{FF2B5EF4-FFF2-40B4-BE49-F238E27FC236}">
                  <a16:creationId xmlns:a16="http://schemas.microsoft.com/office/drawing/2014/main" id="{1CB2756C-7427-473B-AB73-9F350568CB1C}"/>
                </a:ext>
              </a:extLst>
            </p:cNvPr>
            <p:cNvCxnSpPr/>
            <p:nvPr/>
          </p:nvCxnSpPr>
          <p:spPr>
            <a:xfrm flipV="1">
              <a:off x="827402" y="3933056"/>
              <a:ext cx="1873093" cy="25203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706D8B13-2006-4604-8BD2-8B672C9BC86A}"/>
              </a:ext>
            </a:extLst>
          </p:cNvPr>
          <p:cNvGrpSpPr>
            <a:grpSpLocks/>
          </p:cNvGrpSpPr>
          <p:nvPr/>
        </p:nvGrpSpPr>
        <p:grpSpPr bwMode="auto">
          <a:xfrm>
            <a:off x="5292725" y="5776913"/>
            <a:ext cx="1730375" cy="1046162"/>
            <a:chOff x="5292080" y="5776913"/>
            <a:chExt cx="1731437" cy="1045755"/>
          </a:xfrm>
        </p:grpSpPr>
        <p:sp>
          <p:nvSpPr>
            <p:cNvPr id="3" name="TextBox 2">
              <a:extLst>
                <a:ext uri="{FF2B5EF4-FFF2-40B4-BE49-F238E27FC236}">
                  <a16:creationId xmlns:a16="http://schemas.microsoft.com/office/drawing/2014/main" id="{1C215AF6-5962-484A-8746-B0223D921F39}"/>
                </a:ext>
              </a:extLst>
            </p:cNvPr>
            <p:cNvSpPr txBox="1"/>
            <p:nvPr/>
          </p:nvSpPr>
          <p:spPr>
            <a:xfrm>
              <a:off x="5292080" y="6452925"/>
              <a:ext cx="1731437" cy="369743"/>
            </a:xfrm>
            <a:prstGeom prst="rect">
              <a:avLst/>
            </a:prstGeom>
            <a:noFill/>
            <a:ln w="38100">
              <a:solidFill>
                <a:schemeClr val="accent1">
                  <a:shade val="95000"/>
                  <a:satMod val="105000"/>
                </a:schemeClr>
              </a:solidFill>
            </a:ln>
          </p:spPr>
          <p:txBody>
            <a:bodyPr wrap="none">
              <a:spAutoFit/>
            </a:bodyPr>
            <a:lstStyle/>
            <a:p>
              <a:pPr eaLnBrk="1" hangingPunct="1">
                <a:defRPr/>
              </a:pPr>
              <a:r>
                <a:rPr lang="en-GB" dirty="0">
                  <a:latin typeface="Arial" charset="0"/>
                </a:rPr>
                <a:t>Only 8 in IPV6</a:t>
              </a:r>
            </a:p>
          </p:txBody>
        </p:sp>
        <p:cxnSp>
          <p:nvCxnSpPr>
            <p:cNvPr id="10" name="Straight Arrow Connector 9">
              <a:extLst>
                <a:ext uri="{FF2B5EF4-FFF2-40B4-BE49-F238E27FC236}">
                  <a16:creationId xmlns:a16="http://schemas.microsoft.com/office/drawing/2014/main" id="{B477D3C3-5D00-4BC3-855D-9B8B4DC05219}"/>
                </a:ext>
              </a:extLst>
            </p:cNvPr>
            <p:cNvCxnSpPr/>
            <p:nvPr/>
          </p:nvCxnSpPr>
          <p:spPr>
            <a:xfrm flipV="1">
              <a:off x="5592302" y="5776913"/>
              <a:ext cx="376468" cy="6760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9FBB076-F64D-4DC5-8389-5CB308FA004E}"/>
              </a:ext>
            </a:extLst>
          </p:cNvPr>
          <p:cNvSpPr>
            <a:spLocks noGrp="1" noChangeArrowheads="1"/>
          </p:cNvSpPr>
          <p:nvPr>
            <p:ph type="title"/>
          </p:nvPr>
        </p:nvSpPr>
        <p:spPr/>
        <p:txBody>
          <a:bodyPr/>
          <a:lstStyle/>
          <a:p>
            <a:r>
              <a:rPr lang="en-GB" altLang="en-US"/>
              <a:t>IPV6 header</a:t>
            </a:r>
          </a:p>
        </p:txBody>
      </p:sp>
      <p:sp>
        <p:nvSpPr>
          <p:cNvPr id="30723" name="Content Placeholder 2">
            <a:extLst>
              <a:ext uri="{FF2B5EF4-FFF2-40B4-BE49-F238E27FC236}">
                <a16:creationId xmlns:a16="http://schemas.microsoft.com/office/drawing/2014/main" id="{A7170BB6-857B-4272-942A-62DDF5496902}"/>
              </a:ext>
            </a:extLst>
          </p:cNvPr>
          <p:cNvSpPr>
            <a:spLocks noGrp="1" noChangeArrowheads="1"/>
          </p:cNvSpPr>
          <p:nvPr>
            <p:ph idx="1"/>
          </p:nvPr>
        </p:nvSpPr>
        <p:spPr/>
        <p:txBody>
          <a:bodyPr/>
          <a:lstStyle/>
          <a:p>
            <a:r>
              <a:rPr lang="en-GB" altLang="en-US"/>
              <a:t>In IPV4 the length of the header between 20 to 60 Bytes – IPV6 fixed at 40 bytes</a:t>
            </a:r>
          </a:p>
          <a:p>
            <a:endParaRPr lang="en-GB" altLang="en-US"/>
          </a:p>
          <a:p>
            <a:pPr lvl="1"/>
            <a:endParaRPr lang="en-GB" altLang="en-US"/>
          </a:p>
        </p:txBody>
      </p:sp>
      <p:pic>
        <p:nvPicPr>
          <p:cNvPr id="30724" name="Picture 3">
            <a:extLst>
              <a:ext uri="{FF2B5EF4-FFF2-40B4-BE49-F238E27FC236}">
                <a16:creationId xmlns:a16="http://schemas.microsoft.com/office/drawing/2014/main" id="{B1AEB263-D1B1-4D8C-8734-495487892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781300"/>
            <a:ext cx="1152525"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a:extLst>
              <a:ext uri="{FF2B5EF4-FFF2-40B4-BE49-F238E27FC236}">
                <a16:creationId xmlns:a16="http://schemas.microsoft.com/office/drawing/2014/main" id="{9598D5CE-5767-4FD7-B49B-6D2ECBB683D6}"/>
              </a:ext>
            </a:extLst>
          </p:cNvPr>
          <p:cNvSpPr/>
          <p:nvPr/>
        </p:nvSpPr>
        <p:spPr>
          <a:xfrm>
            <a:off x="4273550" y="3025775"/>
            <a:ext cx="1511300" cy="347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6" name="Straight Connector 5">
            <a:extLst>
              <a:ext uri="{FF2B5EF4-FFF2-40B4-BE49-F238E27FC236}">
                <a16:creationId xmlns:a16="http://schemas.microsoft.com/office/drawing/2014/main" id="{B2EC1C6F-717C-45C5-BE79-F915DBE45D00}"/>
              </a:ext>
            </a:extLst>
          </p:cNvPr>
          <p:cNvCxnSpPr/>
          <p:nvPr/>
        </p:nvCxnSpPr>
        <p:spPr>
          <a:xfrm>
            <a:off x="5497513" y="3025775"/>
            <a:ext cx="0" cy="347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727" name="TextBox 7">
            <a:extLst>
              <a:ext uri="{FF2B5EF4-FFF2-40B4-BE49-F238E27FC236}">
                <a16:creationId xmlns:a16="http://schemas.microsoft.com/office/drawing/2014/main" id="{2FE049A1-B4C1-4AF7-9BFA-6E2E66800EEF}"/>
              </a:ext>
            </a:extLst>
          </p:cNvPr>
          <p:cNvSpPr txBox="1">
            <a:spLocks noChangeArrowheads="1"/>
          </p:cNvSpPr>
          <p:nvPr/>
        </p:nvSpPr>
        <p:spPr bwMode="auto">
          <a:xfrm>
            <a:off x="4273550" y="2706688"/>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solidFill>
                  <a:srgbClr val="0070C0"/>
                </a:solidFill>
              </a:rPr>
              <a:t>6 </a:t>
            </a:r>
            <a:r>
              <a:rPr lang="en-GB" altLang="en-US" sz="1800"/>
              <a:t>                 2</a:t>
            </a:r>
          </a:p>
        </p:txBody>
      </p:sp>
      <p:sp>
        <p:nvSpPr>
          <p:cNvPr id="30728" name="TextBox 8">
            <a:extLst>
              <a:ext uri="{FF2B5EF4-FFF2-40B4-BE49-F238E27FC236}">
                <a16:creationId xmlns:a16="http://schemas.microsoft.com/office/drawing/2014/main" id="{5CC3D5DE-63E0-44B5-8F2A-902829F2F1B4}"/>
              </a:ext>
            </a:extLst>
          </p:cNvPr>
          <p:cNvSpPr txBox="1">
            <a:spLocks noChangeArrowheads="1"/>
          </p:cNvSpPr>
          <p:nvPr/>
        </p:nvSpPr>
        <p:spPr bwMode="auto">
          <a:xfrm>
            <a:off x="1331913" y="3500438"/>
            <a:ext cx="40322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marL="0" lvl="1" eaLnBrk="1" hangingPunct="1">
              <a:spcBef>
                <a:spcPct val="0"/>
              </a:spcBef>
              <a:buClrTx/>
              <a:buSzTx/>
              <a:buFontTx/>
              <a:buNone/>
            </a:pPr>
            <a:r>
              <a:rPr lang="en-GB" altLang="en-US" sz="1800">
                <a:solidFill>
                  <a:srgbClr val="0070C0"/>
                </a:solidFill>
              </a:rPr>
              <a:t>Type of Service to let the Router know what services should be provided to this packet. </a:t>
            </a:r>
          </a:p>
        </p:txBody>
      </p:sp>
      <p:cxnSp>
        <p:nvCxnSpPr>
          <p:cNvPr id="11" name="Straight Arrow Connector 10">
            <a:extLst>
              <a:ext uri="{FF2B5EF4-FFF2-40B4-BE49-F238E27FC236}">
                <a16:creationId xmlns:a16="http://schemas.microsoft.com/office/drawing/2014/main" id="{7B079439-0CE1-4392-B583-74C1C5BBD5BD}"/>
              </a:ext>
            </a:extLst>
          </p:cNvPr>
          <p:cNvCxnSpPr/>
          <p:nvPr/>
        </p:nvCxnSpPr>
        <p:spPr>
          <a:xfrm flipV="1">
            <a:off x="2484438" y="3284538"/>
            <a:ext cx="2087562" cy="215900"/>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30730" name="TextBox 11">
            <a:extLst>
              <a:ext uri="{FF2B5EF4-FFF2-40B4-BE49-F238E27FC236}">
                <a16:creationId xmlns:a16="http://schemas.microsoft.com/office/drawing/2014/main" id="{7698E451-C01C-403D-8052-8DEF4A1C057B}"/>
              </a:ext>
            </a:extLst>
          </p:cNvPr>
          <p:cNvSpPr txBox="1">
            <a:spLocks noChangeArrowheads="1"/>
          </p:cNvSpPr>
          <p:nvPr/>
        </p:nvSpPr>
        <p:spPr bwMode="auto">
          <a:xfrm>
            <a:off x="5880100" y="3392488"/>
            <a:ext cx="25304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marL="0" lvl="1" eaLnBrk="1" hangingPunct="1">
              <a:spcBef>
                <a:spcPct val="0"/>
              </a:spcBef>
              <a:buClrTx/>
              <a:buSzTx/>
              <a:buFontTx/>
              <a:buNone/>
            </a:pPr>
            <a:r>
              <a:rPr lang="en-GB" altLang="en-US" sz="1800"/>
              <a:t>used for Explicit Congestion Notification (ECN)</a:t>
            </a:r>
          </a:p>
          <a:p>
            <a:pPr eaLnBrk="1" hangingPunct="1">
              <a:spcBef>
                <a:spcPct val="0"/>
              </a:spcBef>
              <a:buClrTx/>
              <a:buSzTx/>
              <a:buFontTx/>
              <a:buNone/>
            </a:pPr>
            <a:endParaRPr lang="en-GB" altLang="en-US" sz="1800"/>
          </a:p>
        </p:txBody>
      </p:sp>
      <p:cxnSp>
        <p:nvCxnSpPr>
          <p:cNvPr id="15" name="Straight Arrow Connector 14">
            <a:extLst>
              <a:ext uri="{FF2B5EF4-FFF2-40B4-BE49-F238E27FC236}">
                <a16:creationId xmlns:a16="http://schemas.microsoft.com/office/drawing/2014/main" id="{049293C0-BF13-453E-8EBC-D41069492F80}"/>
              </a:ext>
            </a:extLst>
          </p:cNvPr>
          <p:cNvCxnSpPr>
            <a:endCxn id="4" idx="3"/>
          </p:cNvCxnSpPr>
          <p:nvPr/>
        </p:nvCxnSpPr>
        <p:spPr>
          <a:xfrm flipH="1" flipV="1">
            <a:off x="5784850" y="3200400"/>
            <a:ext cx="1524000" cy="1920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0732" name="Picture 4">
            <a:extLst>
              <a:ext uri="{FF2B5EF4-FFF2-40B4-BE49-F238E27FC236}">
                <a16:creationId xmlns:a16="http://schemas.microsoft.com/office/drawing/2014/main" id="{8E3BAB8F-A971-40C1-B6B8-6CD03169D7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25" y="4797425"/>
            <a:ext cx="1687513" cy="63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33" name="TextBox 15">
            <a:extLst>
              <a:ext uri="{FF2B5EF4-FFF2-40B4-BE49-F238E27FC236}">
                <a16:creationId xmlns:a16="http://schemas.microsoft.com/office/drawing/2014/main" id="{89430B47-5D16-4DF6-97C6-DA07253FBE5A}"/>
              </a:ext>
            </a:extLst>
          </p:cNvPr>
          <p:cNvSpPr txBox="1">
            <a:spLocks noChangeArrowheads="1"/>
          </p:cNvSpPr>
          <p:nvPr/>
        </p:nvSpPr>
        <p:spPr bwMode="auto">
          <a:xfrm>
            <a:off x="2154238" y="4605338"/>
            <a:ext cx="583247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 typeface="Arial" panose="020B0604020202020204" pitchFamily="34" charset="0"/>
              <a:buChar char="•"/>
            </a:pPr>
            <a:r>
              <a:rPr lang="en-GB" altLang="en-US" sz="1800"/>
              <a:t>is used to maintain the sequential flow of the packets belonging to a communication. </a:t>
            </a:r>
          </a:p>
          <a:p>
            <a:pPr eaLnBrk="1" hangingPunct="1">
              <a:spcBef>
                <a:spcPct val="0"/>
              </a:spcBef>
              <a:buClrTx/>
              <a:buSzTx/>
              <a:buFont typeface="Arial" panose="020B0604020202020204" pitchFamily="34" charset="0"/>
              <a:buChar char="•"/>
            </a:pPr>
            <a:r>
              <a:rPr lang="en-GB" altLang="en-US" sz="1800"/>
              <a:t>source labels the sequence to help the router identify that a particular packet belongs to a specific flow of information.</a:t>
            </a:r>
          </a:p>
          <a:p>
            <a:pPr eaLnBrk="1" hangingPunct="1">
              <a:spcBef>
                <a:spcPct val="0"/>
              </a:spcBef>
              <a:buClrTx/>
              <a:buSzTx/>
              <a:buFont typeface="Arial" panose="020B0604020202020204" pitchFamily="34" charset="0"/>
              <a:buChar char="•"/>
            </a:pPr>
            <a:r>
              <a:rPr lang="en-GB" altLang="en-US" sz="1800"/>
              <a:t> This field helps avoid re-ordering of data packets. It is designed for streaming/real-time media.</a:t>
            </a:r>
          </a:p>
        </p:txBody>
      </p:sp>
      <p:sp>
        <p:nvSpPr>
          <p:cNvPr id="30734" name="TextBox 16">
            <a:extLst>
              <a:ext uri="{FF2B5EF4-FFF2-40B4-BE49-F238E27FC236}">
                <a16:creationId xmlns:a16="http://schemas.microsoft.com/office/drawing/2014/main" id="{568197E2-74CC-4407-B503-0EA465730611}"/>
              </a:ext>
            </a:extLst>
          </p:cNvPr>
          <p:cNvSpPr txBox="1">
            <a:spLocks noChangeArrowheads="1"/>
          </p:cNvSpPr>
          <p:nvPr/>
        </p:nvSpPr>
        <p:spPr bwMode="auto">
          <a:xfrm>
            <a:off x="323850" y="5483225"/>
            <a:ext cx="86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20 bits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ECA87207-F94E-477D-9012-EE4A7CDB9F37}"/>
              </a:ext>
            </a:extLst>
          </p:cNvPr>
          <p:cNvSpPr>
            <a:spLocks noGrp="1" noChangeArrowheads="1"/>
          </p:cNvSpPr>
          <p:nvPr>
            <p:ph type="title"/>
          </p:nvPr>
        </p:nvSpPr>
        <p:spPr/>
        <p:txBody>
          <a:bodyPr/>
          <a:lstStyle/>
          <a:p>
            <a:r>
              <a:rPr lang="en-GB" altLang="en-US"/>
              <a:t>IPV6 Header</a:t>
            </a:r>
          </a:p>
        </p:txBody>
      </p:sp>
      <p:pic>
        <p:nvPicPr>
          <p:cNvPr id="32771" name="Picture 2">
            <a:extLst>
              <a:ext uri="{FF2B5EF4-FFF2-40B4-BE49-F238E27FC236}">
                <a16:creationId xmlns:a16="http://schemas.microsoft.com/office/drawing/2014/main" id="{5FA82A83-AA29-4DB2-B205-E78497D8B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125538"/>
            <a:ext cx="2047875"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772" name="TextBox 3">
            <a:extLst>
              <a:ext uri="{FF2B5EF4-FFF2-40B4-BE49-F238E27FC236}">
                <a16:creationId xmlns:a16="http://schemas.microsoft.com/office/drawing/2014/main" id="{47066A7E-C1ED-41C1-BE47-F51A6FE6EE06}"/>
              </a:ext>
            </a:extLst>
          </p:cNvPr>
          <p:cNvSpPr txBox="1">
            <a:spLocks noChangeArrowheads="1"/>
          </p:cNvSpPr>
          <p:nvPr/>
        </p:nvSpPr>
        <p:spPr bwMode="auto">
          <a:xfrm>
            <a:off x="684213" y="1876425"/>
            <a:ext cx="86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16 bits</a:t>
            </a:r>
          </a:p>
        </p:txBody>
      </p:sp>
      <p:sp>
        <p:nvSpPr>
          <p:cNvPr id="32773" name="TextBox 4">
            <a:extLst>
              <a:ext uri="{FF2B5EF4-FFF2-40B4-BE49-F238E27FC236}">
                <a16:creationId xmlns:a16="http://schemas.microsoft.com/office/drawing/2014/main" id="{F30C9DE1-5BBA-468E-80A8-78E76AA560E0}"/>
              </a:ext>
            </a:extLst>
          </p:cNvPr>
          <p:cNvSpPr txBox="1">
            <a:spLocks noChangeArrowheads="1"/>
          </p:cNvSpPr>
          <p:nvPr/>
        </p:nvSpPr>
        <p:spPr bwMode="auto">
          <a:xfrm>
            <a:off x="2627313" y="1109663"/>
            <a:ext cx="594042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 typeface="Arial" panose="020B0604020202020204" pitchFamily="34" charset="0"/>
              <a:buChar char="•"/>
            </a:pPr>
            <a:r>
              <a:rPr lang="en-GB" altLang="en-US" sz="1800"/>
              <a:t>used to tell the routers how much information a particular packet contains in its payload. </a:t>
            </a:r>
          </a:p>
          <a:p>
            <a:pPr eaLnBrk="1" hangingPunct="1">
              <a:spcBef>
                <a:spcPct val="0"/>
              </a:spcBef>
              <a:buClrTx/>
              <a:buSzTx/>
              <a:buFont typeface="Arial" panose="020B0604020202020204" pitchFamily="34" charset="0"/>
              <a:buChar char="•"/>
            </a:pPr>
            <a:r>
              <a:rPr lang="en-GB" altLang="en-US" sz="1800"/>
              <a:t>Payload is composed of Extension Headers and Upper Layer data. </a:t>
            </a:r>
          </a:p>
          <a:p>
            <a:pPr eaLnBrk="1" hangingPunct="1">
              <a:spcBef>
                <a:spcPct val="0"/>
              </a:spcBef>
              <a:buClrTx/>
              <a:buSzTx/>
              <a:buFont typeface="Arial" panose="020B0604020202020204" pitchFamily="34" charset="0"/>
              <a:buChar char="•"/>
            </a:pPr>
            <a:r>
              <a:rPr lang="en-GB" altLang="en-US" sz="1800"/>
              <a:t>With 16 bits, up to 65535 bytes can be indicated</a:t>
            </a:r>
          </a:p>
        </p:txBody>
      </p:sp>
      <p:pic>
        <p:nvPicPr>
          <p:cNvPr id="32774" name="Picture 3">
            <a:extLst>
              <a:ext uri="{FF2B5EF4-FFF2-40B4-BE49-F238E27FC236}">
                <a16:creationId xmlns:a16="http://schemas.microsoft.com/office/drawing/2014/main" id="{4B0B68CE-6F7B-4730-BDFB-8DE8AB3D9C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88" y="2924175"/>
            <a:ext cx="1057275"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775" name="TextBox 5">
            <a:extLst>
              <a:ext uri="{FF2B5EF4-FFF2-40B4-BE49-F238E27FC236}">
                <a16:creationId xmlns:a16="http://schemas.microsoft.com/office/drawing/2014/main" id="{21D6C418-1725-4464-A99D-5E09EDAF5EDF}"/>
              </a:ext>
            </a:extLst>
          </p:cNvPr>
          <p:cNvSpPr txBox="1">
            <a:spLocks noChangeArrowheads="1"/>
          </p:cNvSpPr>
          <p:nvPr/>
        </p:nvSpPr>
        <p:spPr bwMode="auto">
          <a:xfrm>
            <a:off x="1957388" y="2924175"/>
            <a:ext cx="66246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 typeface="Arial" panose="020B0604020202020204" pitchFamily="34" charset="0"/>
              <a:buChar char="•"/>
            </a:pPr>
            <a:r>
              <a:rPr lang="en-GB" altLang="en-US" sz="1800"/>
              <a:t>same as </a:t>
            </a:r>
            <a:r>
              <a:rPr lang="en-GB" altLang="en-US" sz="1800">
                <a:solidFill>
                  <a:srgbClr val="FF0000"/>
                </a:solidFill>
              </a:rPr>
              <a:t>TTL</a:t>
            </a:r>
            <a:r>
              <a:rPr lang="en-GB" altLang="en-US" sz="1800"/>
              <a:t> in IPv4. The value of Hop Limit field is decremented by 1 as it passes a link (router/hop). </a:t>
            </a:r>
          </a:p>
          <a:p>
            <a:pPr eaLnBrk="1" hangingPunct="1">
              <a:spcBef>
                <a:spcPct val="0"/>
              </a:spcBef>
              <a:buClrTx/>
              <a:buSzTx/>
              <a:buFont typeface="Arial" panose="020B0604020202020204" pitchFamily="34" charset="0"/>
              <a:buChar char="•"/>
            </a:pPr>
            <a:r>
              <a:rPr lang="en-GB" altLang="en-US" sz="1800"/>
              <a:t>When the field reaches 0 the packet is discarded.</a:t>
            </a:r>
          </a:p>
        </p:txBody>
      </p:sp>
      <p:pic>
        <p:nvPicPr>
          <p:cNvPr id="32776" name="Picture 4">
            <a:extLst>
              <a:ext uri="{FF2B5EF4-FFF2-40B4-BE49-F238E27FC236}">
                <a16:creationId xmlns:a16="http://schemas.microsoft.com/office/drawing/2014/main" id="{E6A316A8-4ECD-4A13-B4E7-D3F73D9DC0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1813" y="4437063"/>
            <a:ext cx="962025" cy="742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777" name="TextBox 6">
            <a:extLst>
              <a:ext uri="{FF2B5EF4-FFF2-40B4-BE49-F238E27FC236}">
                <a16:creationId xmlns:a16="http://schemas.microsoft.com/office/drawing/2014/main" id="{6BF264B5-BDAC-46DF-9D8F-A2BBA3EAD180}"/>
              </a:ext>
            </a:extLst>
          </p:cNvPr>
          <p:cNvSpPr txBox="1">
            <a:spLocks noChangeArrowheads="1"/>
          </p:cNvSpPr>
          <p:nvPr/>
        </p:nvSpPr>
        <p:spPr bwMode="auto">
          <a:xfrm>
            <a:off x="2195513" y="4581525"/>
            <a:ext cx="5976937"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 typeface="Arial" panose="020B0604020202020204" pitchFamily="34" charset="0"/>
              <a:buChar char="•"/>
            </a:pPr>
            <a:r>
              <a:rPr lang="en-GB" altLang="en-US" sz="1800"/>
              <a:t>In IPv6, the Fixed Header contains only that much information which is necessary, avoiding that information which is either not required or is rarely used</a:t>
            </a:r>
          </a:p>
          <a:p>
            <a:pPr eaLnBrk="1" hangingPunct="1">
              <a:spcBef>
                <a:spcPct val="0"/>
              </a:spcBef>
              <a:buClrTx/>
              <a:buSzTx/>
              <a:buFont typeface="Arial" panose="020B0604020202020204" pitchFamily="34" charset="0"/>
              <a:buChar char="•"/>
            </a:pPr>
            <a:r>
              <a:rPr lang="en-GB" altLang="en-US" sz="1800"/>
              <a:t>Further headers can be used if needed for that information</a:t>
            </a:r>
          </a:p>
        </p:txBody>
      </p:sp>
      <p:sp>
        <p:nvSpPr>
          <p:cNvPr id="32778" name="TextBox 7">
            <a:extLst>
              <a:ext uri="{FF2B5EF4-FFF2-40B4-BE49-F238E27FC236}">
                <a16:creationId xmlns:a16="http://schemas.microsoft.com/office/drawing/2014/main" id="{2A2FDD39-6FFE-4C6A-8C7C-47AE7AA843E3}"/>
              </a:ext>
            </a:extLst>
          </p:cNvPr>
          <p:cNvSpPr txBox="1">
            <a:spLocks noChangeArrowheads="1"/>
          </p:cNvSpPr>
          <p:nvPr/>
        </p:nvSpPr>
        <p:spPr bwMode="auto">
          <a:xfrm>
            <a:off x="638175" y="3827463"/>
            <a:ext cx="749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8-bits</a:t>
            </a:r>
          </a:p>
        </p:txBody>
      </p:sp>
      <p:sp>
        <p:nvSpPr>
          <p:cNvPr id="32779" name="TextBox 11">
            <a:extLst>
              <a:ext uri="{FF2B5EF4-FFF2-40B4-BE49-F238E27FC236}">
                <a16:creationId xmlns:a16="http://schemas.microsoft.com/office/drawing/2014/main" id="{F8689D49-6C80-4172-8CDB-A8C497DAB542}"/>
              </a:ext>
            </a:extLst>
          </p:cNvPr>
          <p:cNvSpPr txBox="1">
            <a:spLocks noChangeArrowheads="1"/>
          </p:cNvSpPr>
          <p:nvPr/>
        </p:nvSpPr>
        <p:spPr bwMode="auto">
          <a:xfrm>
            <a:off x="638175" y="5319713"/>
            <a:ext cx="749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8-bits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089FF36-AF7D-4247-8BEB-A34CD34BC19A}"/>
              </a:ext>
            </a:extLst>
          </p:cNvPr>
          <p:cNvSpPr>
            <a:spLocks noGrp="1" noChangeArrowheads="1"/>
          </p:cNvSpPr>
          <p:nvPr>
            <p:ph type="title"/>
          </p:nvPr>
        </p:nvSpPr>
        <p:spPr/>
        <p:txBody>
          <a:bodyPr/>
          <a:lstStyle/>
          <a:p>
            <a:r>
              <a:rPr lang="en-GB" altLang="en-US"/>
              <a:t>Neighbour Discovery Protocol</a:t>
            </a:r>
          </a:p>
        </p:txBody>
      </p:sp>
      <p:sp>
        <p:nvSpPr>
          <p:cNvPr id="34819" name="Content Placeholder 2">
            <a:extLst>
              <a:ext uri="{FF2B5EF4-FFF2-40B4-BE49-F238E27FC236}">
                <a16:creationId xmlns:a16="http://schemas.microsoft.com/office/drawing/2014/main" id="{B476DD19-CB2C-47B6-ACD0-39D98A7C9815}"/>
              </a:ext>
            </a:extLst>
          </p:cNvPr>
          <p:cNvSpPr>
            <a:spLocks noGrp="1" noChangeArrowheads="1"/>
          </p:cNvSpPr>
          <p:nvPr>
            <p:ph idx="1"/>
          </p:nvPr>
        </p:nvSpPr>
        <p:spPr>
          <a:xfrm>
            <a:off x="457200" y="1052513"/>
            <a:ext cx="8229600" cy="4530725"/>
          </a:xfrm>
        </p:spPr>
        <p:txBody>
          <a:bodyPr/>
          <a:lstStyle/>
          <a:p>
            <a:r>
              <a:rPr lang="en-US" altLang="en-US" sz="2400"/>
              <a:t>This allows different nodes on the same link to advertise their existence to their neighbours, and to learn about the existence of their neighbors.</a:t>
            </a:r>
          </a:p>
          <a:p>
            <a:r>
              <a:rPr lang="en-US" altLang="en-US" sz="2400"/>
              <a:t>Routers and hosts (nodes) use Neighbour Discovery (ND) messages to determine the link-layer addresses of neighbors that reside on attached links and to overwrite invalid cache entries. Hosts also use ND to find neighbouring routers that can forward packets on their behalf.</a:t>
            </a:r>
          </a:p>
          <a:p>
            <a:r>
              <a:rPr lang="en-US" altLang="en-US" sz="2400"/>
              <a:t>In addition, nodes use ND to actively track the ability to reach neighbours. When a router (or the path to a router) fails, nodes actively search for alternatives to reach the destination.</a:t>
            </a:r>
          </a:p>
          <a:p>
            <a:pPr lvl="2"/>
            <a:endParaRPr lang="en-GB"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CBECE3A3-4F8F-438D-8627-A936E3F96B8D}"/>
              </a:ext>
            </a:extLst>
          </p:cNvPr>
          <p:cNvSpPr>
            <a:spLocks noGrp="1" noChangeArrowheads="1"/>
          </p:cNvSpPr>
          <p:nvPr>
            <p:ph type="title"/>
          </p:nvPr>
        </p:nvSpPr>
        <p:spPr/>
        <p:txBody>
          <a:bodyPr/>
          <a:lstStyle/>
          <a:p>
            <a:r>
              <a:rPr lang="en-GB" altLang="en-US"/>
              <a:t>IPV6 Tunnelling</a:t>
            </a:r>
          </a:p>
        </p:txBody>
      </p:sp>
      <p:sp>
        <p:nvSpPr>
          <p:cNvPr id="35843" name="Content Placeholder 2">
            <a:extLst>
              <a:ext uri="{FF2B5EF4-FFF2-40B4-BE49-F238E27FC236}">
                <a16:creationId xmlns:a16="http://schemas.microsoft.com/office/drawing/2014/main" id="{057EB1E1-8200-4379-B520-5E0AF667D7FA}"/>
              </a:ext>
            </a:extLst>
          </p:cNvPr>
          <p:cNvSpPr>
            <a:spLocks noGrp="1" noChangeArrowheads="1"/>
          </p:cNvSpPr>
          <p:nvPr>
            <p:ph idx="1"/>
          </p:nvPr>
        </p:nvSpPr>
        <p:spPr/>
        <p:txBody>
          <a:bodyPr/>
          <a:lstStyle/>
          <a:p>
            <a:r>
              <a:rPr lang="en-GB" altLang="en-US"/>
              <a:t>Legacy IPV4 equipment is still in use in networks and IPV6 packets must be able to traverse it</a:t>
            </a:r>
          </a:p>
          <a:p>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866" name="Picture 2" descr="enter image description here">
            <a:extLst>
              <a:ext uri="{FF2B5EF4-FFF2-40B4-BE49-F238E27FC236}">
                <a16:creationId xmlns:a16="http://schemas.microsoft.com/office/drawing/2014/main" id="{DA77857A-E051-46E4-B4EC-3DC5D9DCF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7956550"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6FC9C31A-1E44-4C2C-944A-3C0949316A17}"/>
              </a:ext>
            </a:extLst>
          </p:cNvPr>
          <p:cNvSpPr>
            <a:spLocks noGrp="1" noChangeArrowheads="1"/>
          </p:cNvSpPr>
          <p:nvPr>
            <p:ph type="title"/>
          </p:nvPr>
        </p:nvSpPr>
        <p:spPr/>
        <p:txBody>
          <a:bodyPr/>
          <a:lstStyle/>
          <a:p>
            <a:r>
              <a:rPr lang="en-GB" altLang="en-US"/>
              <a:t>IPV6 interior routing protocols</a:t>
            </a:r>
          </a:p>
        </p:txBody>
      </p:sp>
      <p:sp>
        <p:nvSpPr>
          <p:cNvPr id="37891" name="Content Placeholder 2">
            <a:extLst>
              <a:ext uri="{FF2B5EF4-FFF2-40B4-BE49-F238E27FC236}">
                <a16:creationId xmlns:a16="http://schemas.microsoft.com/office/drawing/2014/main" id="{E52F5045-A416-4C2F-88A6-BA2240BF0227}"/>
              </a:ext>
            </a:extLst>
          </p:cNvPr>
          <p:cNvSpPr>
            <a:spLocks noGrp="1" noChangeArrowheads="1"/>
          </p:cNvSpPr>
          <p:nvPr>
            <p:ph idx="1"/>
          </p:nvPr>
        </p:nvSpPr>
        <p:spPr/>
        <p:txBody>
          <a:bodyPr/>
          <a:lstStyle/>
          <a:p>
            <a:r>
              <a:rPr lang="en-GB" altLang="en-US"/>
              <a:t>Interior routing protocols</a:t>
            </a:r>
          </a:p>
          <a:p>
            <a:pPr lvl="1"/>
            <a:r>
              <a:rPr lang="en-GB" altLang="en-US"/>
              <a:t>RIPng (new generation) </a:t>
            </a:r>
          </a:p>
          <a:p>
            <a:pPr lvl="1"/>
            <a:r>
              <a:rPr lang="en-GB" altLang="en-US"/>
              <a:t>OSPFv3 – version 3 of the link state routing protocol</a:t>
            </a:r>
          </a:p>
          <a:p>
            <a:pPr lvl="1"/>
            <a:r>
              <a:rPr lang="en-GB" altLang="en-US"/>
              <a:t>EIGRP for IPV6 – routing protocol with more sophisticated metric</a:t>
            </a:r>
          </a:p>
          <a:p>
            <a:pPr lvl="1"/>
            <a:r>
              <a:rPr lang="en-GB" altLang="en-US"/>
              <a:t>IS-ISv6 – another link state  protocol which is fast becoming widely used (similar to OSPF)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CE1330E4-1342-4AFE-A2E2-D0BCDA1E24D0}"/>
              </a:ext>
            </a:extLst>
          </p:cNvPr>
          <p:cNvSpPr>
            <a:spLocks noGrp="1" noChangeArrowheads="1"/>
          </p:cNvSpPr>
          <p:nvPr>
            <p:ph type="title"/>
          </p:nvPr>
        </p:nvSpPr>
        <p:spPr/>
        <p:txBody>
          <a:bodyPr/>
          <a:lstStyle/>
          <a:p>
            <a:r>
              <a:rPr lang="en-GB" altLang="en-US"/>
              <a:t>Exterior Routing Protocol</a:t>
            </a:r>
          </a:p>
        </p:txBody>
      </p:sp>
      <p:sp>
        <p:nvSpPr>
          <p:cNvPr id="38915" name="Content Placeholder 2">
            <a:extLst>
              <a:ext uri="{FF2B5EF4-FFF2-40B4-BE49-F238E27FC236}">
                <a16:creationId xmlns:a16="http://schemas.microsoft.com/office/drawing/2014/main" id="{AD8E5574-9F43-4FA0-8286-92ACC27DCD38}"/>
              </a:ext>
            </a:extLst>
          </p:cNvPr>
          <p:cNvSpPr>
            <a:spLocks noGrp="1" noChangeArrowheads="1"/>
          </p:cNvSpPr>
          <p:nvPr>
            <p:ph idx="1"/>
          </p:nvPr>
        </p:nvSpPr>
        <p:spPr>
          <a:xfrm>
            <a:off x="395288" y="1052513"/>
            <a:ext cx="8229600" cy="3529012"/>
          </a:xfrm>
        </p:spPr>
        <p:txBody>
          <a:bodyPr/>
          <a:lstStyle/>
          <a:p>
            <a:r>
              <a:rPr lang="en-GB" altLang="en-US" sz="2400"/>
              <a:t>Used to route packets between </a:t>
            </a:r>
            <a:r>
              <a:rPr lang="en-GB" altLang="en-US" sz="2400">
                <a:solidFill>
                  <a:srgbClr val="FF0000"/>
                </a:solidFill>
              </a:rPr>
              <a:t>Autonomous Systems</a:t>
            </a:r>
          </a:p>
          <a:p>
            <a:pPr lvl="1"/>
            <a:r>
              <a:rPr lang="en-GB" altLang="en-US" sz="2000"/>
              <a:t>Each one is given a number, and there are at least 90,000 of these ASs in the world.</a:t>
            </a:r>
          </a:p>
          <a:p>
            <a:pPr lvl="1"/>
            <a:r>
              <a:rPr lang="en-GB" altLang="en-US" sz="2000"/>
              <a:t>The AS number for the  BBC is 2818</a:t>
            </a:r>
          </a:p>
        </p:txBody>
      </p:sp>
      <p:pic>
        <p:nvPicPr>
          <p:cNvPr id="38916" name="Picture 2">
            <a:extLst>
              <a:ext uri="{FF2B5EF4-FFF2-40B4-BE49-F238E27FC236}">
                <a16:creationId xmlns:a16="http://schemas.microsoft.com/office/drawing/2014/main" id="{7889495E-84B1-40E3-A26B-2BD3D13280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781300"/>
            <a:ext cx="7802562"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AC50202-43B0-4213-9387-7952E61801EC}"/>
              </a:ext>
            </a:extLst>
          </p:cNvPr>
          <p:cNvSpPr>
            <a:spLocks noGrp="1" noChangeArrowheads="1"/>
          </p:cNvSpPr>
          <p:nvPr>
            <p:ph type="title"/>
          </p:nvPr>
        </p:nvSpPr>
        <p:spPr/>
        <p:txBody>
          <a:bodyPr/>
          <a:lstStyle/>
          <a:p>
            <a:r>
              <a:rPr lang="en-GB" altLang="en-US"/>
              <a:t>Exterior Routing Protocol - BGP</a:t>
            </a:r>
          </a:p>
        </p:txBody>
      </p:sp>
      <p:sp>
        <p:nvSpPr>
          <p:cNvPr id="39939" name="Content Placeholder 2">
            <a:extLst>
              <a:ext uri="{FF2B5EF4-FFF2-40B4-BE49-F238E27FC236}">
                <a16:creationId xmlns:a16="http://schemas.microsoft.com/office/drawing/2014/main" id="{488FBF34-1885-443B-89A5-9BA5CFF3CC84}"/>
              </a:ext>
            </a:extLst>
          </p:cNvPr>
          <p:cNvSpPr>
            <a:spLocks noGrp="1" noChangeArrowheads="1"/>
          </p:cNvSpPr>
          <p:nvPr>
            <p:ph idx="1"/>
          </p:nvPr>
        </p:nvSpPr>
        <p:spPr>
          <a:xfrm>
            <a:off x="506413" y="1052513"/>
            <a:ext cx="8229600" cy="1468437"/>
          </a:xfrm>
        </p:spPr>
        <p:txBody>
          <a:bodyPr/>
          <a:lstStyle/>
          <a:p>
            <a:r>
              <a:rPr lang="en-GB" altLang="en-US" sz="2400"/>
              <a:t>Border Gateway Protocol is used almost exclusively as the exterior routing protocol between ASs. </a:t>
            </a:r>
          </a:p>
          <a:p>
            <a:endParaRPr lang="en-GB" altLang="en-US" sz="2400"/>
          </a:p>
          <a:p>
            <a:endParaRPr lang="en-GB" altLang="en-US" sz="2400"/>
          </a:p>
          <a:p>
            <a:endParaRPr lang="en-GB" altLang="en-US" sz="2400"/>
          </a:p>
          <a:p>
            <a:r>
              <a:rPr lang="en-GB" altLang="en-US" sz="2000"/>
              <a:t>AS1 will advertise that 192.0.2.0 /24 networks reside within it to both AS2 and 3.  As  it passes through these  ASs will add their domain number to the advert and also store it in their edge routers.</a:t>
            </a:r>
          </a:p>
          <a:p>
            <a:r>
              <a:rPr lang="en-GB" altLang="en-US" sz="2000"/>
              <a:t>As the advert propagates through the ASs a path to 192.0.2.0 is constructed</a:t>
            </a:r>
          </a:p>
          <a:p>
            <a:r>
              <a:rPr lang="en-GB" altLang="en-US" sz="2000"/>
              <a:t>192.0.2.0 has 2 possible paths.  </a:t>
            </a:r>
          </a:p>
          <a:p>
            <a:pPr lvl="1"/>
            <a:r>
              <a:rPr lang="en-GB" altLang="en-US" sz="1800"/>
              <a:t>BGP metric is called Multi Exit Discriminator (MED)</a:t>
            </a:r>
          </a:p>
          <a:p>
            <a:r>
              <a:rPr lang="en-GB" altLang="en-US" sz="1800"/>
              <a:t>makes routing decisions based on paths, network policies, or rule-sets configured by a network administrator</a:t>
            </a:r>
            <a:r>
              <a:rPr lang="en-GB" altLang="en-US" sz="2000"/>
              <a:t> </a:t>
            </a:r>
          </a:p>
        </p:txBody>
      </p:sp>
      <p:pic>
        <p:nvPicPr>
          <p:cNvPr id="39940" name="Picture 2">
            <a:extLst>
              <a:ext uri="{FF2B5EF4-FFF2-40B4-BE49-F238E27FC236}">
                <a16:creationId xmlns:a16="http://schemas.microsoft.com/office/drawing/2014/main" id="{0AB15F8F-9D44-4198-A633-2BFF1823D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811338"/>
            <a:ext cx="31527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TextBox 4">
            <a:extLst>
              <a:ext uri="{FF2B5EF4-FFF2-40B4-BE49-F238E27FC236}">
                <a16:creationId xmlns:a16="http://schemas.microsoft.com/office/drawing/2014/main" id="{D264F67A-4BA1-45D0-BE14-29D286EE26C4}"/>
              </a:ext>
            </a:extLst>
          </p:cNvPr>
          <p:cNvSpPr txBox="1">
            <a:spLocks noChangeArrowheads="1"/>
          </p:cNvSpPr>
          <p:nvPr/>
        </p:nvSpPr>
        <p:spPr bwMode="auto">
          <a:xfrm>
            <a:off x="1381125" y="2176463"/>
            <a:ext cx="1530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800"/>
              <a:t>192.0.2.0 /24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5BC99305-8ED6-47AB-AE31-EAD878059A26}"/>
              </a:ext>
            </a:extLst>
          </p:cNvPr>
          <p:cNvSpPr>
            <a:spLocks noGrp="1" noChangeArrowheads="1"/>
          </p:cNvSpPr>
          <p:nvPr>
            <p:ph type="title"/>
          </p:nvPr>
        </p:nvSpPr>
        <p:spPr/>
        <p:txBody>
          <a:bodyPr/>
          <a:lstStyle/>
          <a:p>
            <a:r>
              <a:rPr lang="en-US" altLang="en-US"/>
              <a:t>How do ASs interconnect?</a:t>
            </a:r>
            <a:endParaRPr lang="en-GB" altLang="en-US"/>
          </a:p>
        </p:txBody>
      </p:sp>
      <p:sp>
        <p:nvSpPr>
          <p:cNvPr id="41987" name="Content Placeholder 2">
            <a:extLst>
              <a:ext uri="{FF2B5EF4-FFF2-40B4-BE49-F238E27FC236}">
                <a16:creationId xmlns:a16="http://schemas.microsoft.com/office/drawing/2014/main" id="{D127B60B-2E21-404B-8510-D97431A6A7A5}"/>
              </a:ext>
            </a:extLst>
          </p:cNvPr>
          <p:cNvSpPr>
            <a:spLocks noGrp="1" noChangeArrowheads="1"/>
          </p:cNvSpPr>
          <p:nvPr>
            <p:ph idx="1"/>
          </p:nvPr>
        </p:nvSpPr>
        <p:spPr>
          <a:xfrm>
            <a:off x="457200" y="1385888"/>
            <a:ext cx="8362950" cy="4530725"/>
          </a:xfrm>
        </p:spPr>
        <p:txBody>
          <a:bodyPr/>
          <a:lstStyle/>
          <a:p>
            <a:r>
              <a:rPr lang="en-US" altLang="en-US"/>
              <a:t>ASes connect with each other and exchange network traffic (data packets) through peering. </a:t>
            </a:r>
          </a:p>
          <a:p>
            <a:r>
              <a:rPr lang="en-US" altLang="en-US"/>
              <a:t>One way ASes peer with each other is by connecting at physical locations called Internet Exchange Points(IXPs). </a:t>
            </a:r>
          </a:p>
          <a:p>
            <a:r>
              <a:rPr lang="en-US" altLang="en-US"/>
              <a:t>This reduces costs, latency etc. as it does not require the data being passed up to a tier 1 provider and then having to come down to the other AS.</a:t>
            </a:r>
          </a:p>
          <a:p>
            <a:r>
              <a:rPr lang="en-US" altLang="en-US"/>
              <a:t>Map of IPXs </a:t>
            </a:r>
            <a:r>
              <a:rPr lang="en-US" altLang="en-US">
                <a:hlinkClick r:id="rId2"/>
              </a:rPr>
              <a:t>https://www.internetexchangemap.com/</a:t>
            </a:r>
            <a:endParaRPr lang="en-US" altLang="en-US"/>
          </a:p>
          <a:p>
            <a:endParaRPr lang="en-GB"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3992D00-33E6-42FD-AF60-D471EB58584D}"/>
              </a:ext>
            </a:extLst>
          </p:cNvPr>
          <p:cNvSpPr>
            <a:spLocks noGrp="1" noChangeArrowheads="1"/>
          </p:cNvSpPr>
          <p:nvPr>
            <p:ph type="title"/>
          </p:nvPr>
        </p:nvSpPr>
        <p:spPr/>
        <p:txBody>
          <a:bodyPr/>
          <a:lstStyle/>
          <a:p>
            <a:r>
              <a:rPr lang="en-GB" altLang="en-US"/>
              <a:t>IPV6 advantages and disadvantages</a:t>
            </a:r>
          </a:p>
        </p:txBody>
      </p:sp>
      <p:sp>
        <p:nvSpPr>
          <p:cNvPr id="43011" name="Text Placeholder 3">
            <a:extLst>
              <a:ext uri="{FF2B5EF4-FFF2-40B4-BE49-F238E27FC236}">
                <a16:creationId xmlns:a16="http://schemas.microsoft.com/office/drawing/2014/main" id="{4D6FA582-D4CE-49A0-B56B-B7D3C8349AD5}"/>
              </a:ext>
            </a:extLst>
          </p:cNvPr>
          <p:cNvSpPr>
            <a:spLocks noGrp="1" noChangeArrowheads="1"/>
          </p:cNvSpPr>
          <p:nvPr>
            <p:ph type="body" idx="1"/>
          </p:nvPr>
        </p:nvSpPr>
        <p:spPr/>
        <p:txBody>
          <a:bodyPr/>
          <a:lstStyle/>
          <a:p>
            <a:r>
              <a:rPr lang="en-GB" altLang="en-US"/>
              <a:t>Advantages</a:t>
            </a:r>
          </a:p>
        </p:txBody>
      </p:sp>
      <p:sp>
        <p:nvSpPr>
          <p:cNvPr id="43012" name="Content Placeholder 2">
            <a:extLst>
              <a:ext uri="{FF2B5EF4-FFF2-40B4-BE49-F238E27FC236}">
                <a16:creationId xmlns:a16="http://schemas.microsoft.com/office/drawing/2014/main" id="{8A1AE012-CF04-44C1-B9F3-8A1FAEF14A12}"/>
              </a:ext>
            </a:extLst>
          </p:cNvPr>
          <p:cNvSpPr>
            <a:spLocks noGrp="1" noChangeArrowheads="1"/>
          </p:cNvSpPr>
          <p:nvPr>
            <p:ph sz="half" idx="2"/>
          </p:nvPr>
        </p:nvSpPr>
        <p:spPr/>
        <p:txBody>
          <a:bodyPr/>
          <a:lstStyle/>
          <a:p>
            <a:r>
              <a:rPr lang="en-GB" altLang="en-US"/>
              <a:t>Bigger address space</a:t>
            </a:r>
          </a:p>
          <a:p>
            <a:r>
              <a:rPr lang="en-GB" altLang="en-US"/>
              <a:t>No need to use DHCP</a:t>
            </a:r>
          </a:p>
          <a:p>
            <a:r>
              <a:rPr lang="en-GB" altLang="en-US"/>
              <a:t>No need for broadcasts </a:t>
            </a:r>
          </a:p>
          <a:p>
            <a:r>
              <a:rPr lang="en-GB" altLang="en-US"/>
              <a:t>More efficient headers </a:t>
            </a:r>
          </a:p>
          <a:p>
            <a:r>
              <a:rPr lang="en-GB" altLang="en-US"/>
              <a:t>Address space is so large makes IP scanning unfeasible – more secure makes automated worm spreading more difficult </a:t>
            </a:r>
          </a:p>
          <a:p>
            <a:r>
              <a:rPr lang="en-GB" altLang="en-US"/>
              <a:t>Virtually limitless address space on each prefix</a:t>
            </a:r>
          </a:p>
          <a:p>
            <a:endParaRPr lang="en-GB" altLang="en-US"/>
          </a:p>
        </p:txBody>
      </p:sp>
      <p:sp>
        <p:nvSpPr>
          <p:cNvPr id="43013" name="Text Placeholder 4">
            <a:extLst>
              <a:ext uri="{FF2B5EF4-FFF2-40B4-BE49-F238E27FC236}">
                <a16:creationId xmlns:a16="http://schemas.microsoft.com/office/drawing/2014/main" id="{75A90252-38CC-4B7A-974F-85CC4723A3D2}"/>
              </a:ext>
            </a:extLst>
          </p:cNvPr>
          <p:cNvSpPr>
            <a:spLocks noGrp="1" noChangeArrowheads="1"/>
          </p:cNvSpPr>
          <p:nvPr>
            <p:ph type="body" sz="quarter" idx="3"/>
          </p:nvPr>
        </p:nvSpPr>
        <p:spPr/>
        <p:txBody>
          <a:bodyPr/>
          <a:lstStyle/>
          <a:p>
            <a:r>
              <a:rPr lang="en-GB" altLang="en-US"/>
              <a:t>Disadvantages</a:t>
            </a:r>
          </a:p>
        </p:txBody>
      </p:sp>
      <p:sp>
        <p:nvSpPr>
          <p:cNvPr id="43014" name="Content Placeholder 5">
            <a:extLst>
              <a:ext uri="{FF2B5EF4-FFF2-40B4-BE49-F238E27FC236}">
                <a16:creationId xmlns:a16="http://schemas.microsoft.com/office/drawing/2014/main" id="{A64EFA1C-2F0C-4E2C-AA77-EF29A510921D}"/>
              </a:ext>
            </a:extLst>
          </p:cNvPr>
          <p:cNvSpPr>
            <a:spLocks noGrp="1" noChangeArrowheads="1"/>
          </p:cNvSpPr>
          <p:nvPr>
            <p:ph sz="quarter" idx="4"/>
          </p:nvPr>
        </p:nvSpPr>
        <p:spPr/>
        <p:txBody>
          <a:bodyPr/>
          <a:lstStyle/>
          <a:p>
            <a:r>
              <a:rPr lang="en-GB" altLang="en-US"/>
              <a:t>Address space is so large makes port scanning unfeasible – makes security  and accounting checking unfeasible</a:t>
            </a:r>
          </a:p>
          <a:p>
            <a:r>
              <a:rPr lang="en-GB" altLang="en-US"/>
              <a:t>Impossible to remember and type long addresses</a:t>
            </a:r>
          </a:p>
          <a:p>
            <a:endParaRPr lang="en-GB" altLang="en-US"/>
          </a:p>
        </p:txBody>
      </p:sp>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83996</TotalTime>
  <Words>3105</Words>
  <Application>Microsoft Office PowerPoint</Application>
  <PresentationFormat>On-screen Show (4:3)</PresentationFormat>
  <Paragraphs>228</Paragraphs>
  <Slides>32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Garamond</vt:lpstr>
      <vt:lpstr>Wingdings</vt:lpstr>
      <vt:lpstr>Calibri</vt:lpstr>
      <vt:lpstr>Verdana</vt:lpstr>
      <vt:lpstr>Edge</vt:lpstr>
      <vt:lpstr>IPv6</vt:lpstr>
      <vt:lpstr>Objectives of todays lecture</vt:lpstr>
      <vt:lpstr>Confused picture</vt:lpstr>
      <vt:lpstr>IPv6</vt:lpstr>
      <vt:lpstr>PowerPoint Presentation</vt:lpstr>
      <vt:lpstr>What is IPV6</vt:lpstr>
      <vt:lpstr>How will this change affect me</vt:lpstr>
      <vt:lpstr>What does an IPV6 address look like</vt:lpstr>
      <vt:lpstr>Address example</vt:lpstr>
      <vt:lpstr>Address examples</vt:lpstr>
      <vt:lpstr>IPV6 address – format basics </vt:lpstr>
      <vt:lpstr>Aggregatable global unicast addresses - equivalent to an IPV4 address </vt:lpstr>
      <vt:lpstr>Types of IPV6 addresses</vt:lpstr>
      <vt:lpstr>PowerPoint Presentation</vt:lpstr>
      <vt:lpstr>PowerPoint Presentation</vt:lpstr>
      <vt:lpstr>Address scope</vt:lpstr>
      <vt:lpstr>PowerPoint Presentation</vt:lpstr>
      <vt:lpstr>Link-local</vt:lpstr>
      <vt:lpstr>64 bit Interface ID </vt:lpstr>
      <vt:lpstr>Unique Local addresses </vt:lpstr>
      <vt:lpstr>EUI-64</vt:lpstr>
      <vt:lpstr>Comparison of Packet header</vt:lpstr>
      <vt:lpstr>IPV6 header</vt:lpstr>
      <vt:lpstr>IPV6 Header</vt:lpstr>
      <vt:lpstr>Neighbour Discovery Protocol</vt:lpstr>
      <vt:lpstr>IPV6 Tunnelling</vt:lpstr>
      <vt:lpstr>PowerPoint Presentation</vt:lpstr>
      <vt:lpstr>IPV6 interior routing protocols</vt:lpstr>
      <vt:lpstr>Exterior Routing Protocol</vt:lpstr>
      <vt:lpstr>Exterior Routing Protocol - BGP</vt:lpstr>
      <vt:lpstr>How do ASs interconnect?</vt:lpstr>
      <vt:lpstr>IPV6 advantages and disadvantages</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 Lecture 4</dc:title>
  <dc:creator>IT Services</dc:creator>
  <cp:lastModifiedBy>cloudconvert_11</cp:lastModifiedBy>
  <cp:revision>109</cp:revision>
  <cp:lastPrinted>2022-02-08T15:41:23Z</cp:lastPrinted>
  <dcterms:created xsi:type="dcterms:W3CDTF">2008-07-01T13:02:44Z</dcterms:created>
  <dcterms:modified xsi:type="dcterms:W3CDTF">2025-01-29T15:02:50Z</dcterms:modified>
</cp:coreProperties>
</file>