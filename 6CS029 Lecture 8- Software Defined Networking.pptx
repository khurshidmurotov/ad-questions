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1.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60" r:id="rId2"/>
    <p:sldId id="262" r:id="rId3"/>
    <p:sldId id="263" r:id="rId4"/>
    <p:sldId id="264" r:id="rId5"/>
    <p:sldId id="301" r:id="rId6"/>
    <p:sldId id="298" r:id="rId7"/>
    <p:sldId id="299" r:id="rId8"/>
    <p:sldId id="266" r:id="rId9"/>
    <p:sldId id="300" r:id="rId10"/>
    <p:sldId id="270" r:id="rId11"/>
    <p:sldId id="271" r:id="rId12"/>
    <p:sldId id="274" r:id="rId13"/>
    <p:sldId id="302" r:id="rId14"/>
    <p:sldId id="303" r:id="rId15"/>
    <p:sldId id="304" r:id="rId16"/>
    <p:sldId id="305" r:id="rId17"/>
    <p:sldId id="306" r:id="rId18"/>
    <p:sldId id="281" r:id="rId19"/>
    <p:sldId id="307" r:id="rId20"/>
    <p:sldId id="282" r:id="rId21"/>
    <p:sldId id="326" r:id="rId22"/>
    <p:sldId id="313" r:id="rId23"/>
    <p:sldId id="312" r:id="rId24"/>
    <p:sldId id="284" r:id="rId25"/>
    <p:sldId id="314" r:id="rId26"/>
    <p:sldId id="315" r:id="rId27"/>
    <p:sldId id="316" r:id="rId28"/>
    <p:sldId id="317" r:id="rId29"/>
    <p:sldId id="289" r:id="rId30"/>
    <p:sldId id="318" r:id="rId31"/>
    <p:sldId id="320" r:id="rId32"/>
    <p:sldId id="321" r:id="rId33"/>
    <p:sldId id="322" r:id="rId34"/>
    <p:sldId id="323" r:id="rId35"/>
    <p:sldId id="324" r:id="rId36"/>
    <p:sldId id="297" r:id="rId37"/>
    <p:sldId id="325" r:id="rId38"/>
  </p:sldIdLst>
  <p:sldSz cx="9144000" cy="6858000" type="screen4x3"/>
  <p:notesSz cx="6797675" cy="9926638"/>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126">
          <p15:clr>
            <a:srgbClr val="A4A3A4"/>
          </p15:clr>
        </p15:guide>
        <p15:guide id="2" pos="2098">
          <p15:clr>
            <a:srgbClr val="A4A3A4"/>
          </p15:clr>
        </p15:guide>
        <p15:guide id="3"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E814"/>
    <a:srgbClr val="FACB18"/>
    <a:srgbClr val="660066"/>
    <a:srgbClr val="CC0099"/>
    <a:srgbClr val="200029"/>
    <a:srgbClr val="1A00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0C9A2B-7C86-4065-8321-B2B0A0335D88}" v="78" dt="2018-09-18T13:46:31.580"/>
  </p1510:revLst>
</p1510:revInfo>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07" autoAdjust="0"/>
    <p:restoredTop sz="84724" autoAdjust="0"/>
  </p:normalViewPr>
  <p:slideViewPr>
    <p:cSldViewPr>
      <p:cViewPr varScale="1">
        <p:scale>
          <a:sx n="96" d="100"/>
          <a:sy n="96" d="100"/>
        </p:scale>
        <p:origin x="1632"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406" y="-90"/>
      </p:cViewPr>
      <p:guideLst>
        <p:guide orient="horz" pos="3126"/>
        <p:guide pos="2098"/>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1" y="0"/>
            <a:ext cx="2946145"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46083" name="Rectangle 3"/>
          <p:cNvSpPr>
            <a:spLocks noGrp="1" noChangeArrowheads="1"/>
          </p:cNvSpPr>
          <p:nvPr>
            <p:ph type="dt" sz="quarter" idx="1"/>
          </p:nvPr>
        </p:nvSpPr>
        <p:spPr bwMode="auto">
          <a:xfrm>
            <a:off x="3849911" y="0"/>
            <a:ext cx="2946144"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46084" name="Rectangle 4"/>
          <p:cNvSpPr>
            <a:spLocks noGrp="1" noChangeArrowheads="1"/>
          </p:cNvSpPr>
          <p:nvPr>
            <p:ph type="ftr" sz="quarter" idx="2"/>
          </p:nvPr>
        </p:nvSpPr>
        <p:spPr bwMode="auto">
          <a:xfrm>
            <a:off x="1" y="9428164"/>
            <a:ext cx="2946145"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46085" name="Rectangle 5"/>
          <p:cNvSpPr>
            <a:spLocks noGrp="1" noChangeArrowheads="1"/>
          </p:cNvSpPr>
          <p:nvPr>
            <p:ph type="sldNum" sz="quarter" idx="3"/>
          </p:nvPr>
        </p:nvSpPr>
        <p:spPr bwMode="auto">
          <a:xfrm>
            <a:off x="3849911" y="9428164"/>
            <a:ext cx="2946144"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DFF9B02-B511-41B7-B86E-BB5F03402011}" type="slidenum">
              <a:rPr lang="en-GB"/>
              <a:pPr>
                <a:defRPr/>
              </a:pPr>
              <a:t>‹#›</a:t>
            </a:fld>
            <a:endParaRPr lang="en-GB"/>
          </a:p>
        </p:txBody>
      </p:sp>
    </p:spTree>
    <p:extLst>
      <p:ext uri="{BB962C8B-B14F-4D97-AF65-F5344CB8AC3E}">
        <p14:creationId xmlns:p14="http://schemas.microsoft.com/office/powerpoint/2010/main" val="200005213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10T13:48:23.517"/>
    </inkml:context>
    <inkml:brush xml:id="br0">
      <inkml:brushProperty name="width" value="0.035" units="cm"/>
      <inkml:brushProperty name="height" value="0.035" units="cm"/>
      <inkml:brushProperty name="color" value="#E71224"/>
    </inkml:brush>
  </inkml:definitions>
  <inkml:trace contextRef="#ctx0" brushRef="#br0">850 3 24575,'-143'-2'0,"-155"5"0,288-2 0,0 1 0,0 0 0,0 1 0,0 0 0,0 1 0,1 0 0,0 0 0,0 1 0,0 1 0,0-1 0,1 1 0,0 1 0,0-1 0,-11 12 0,-8 13 0,1 0 0,-29 47 0,29-39 0,1-5 0,-35 68 0,53-86 0,1-1 0,0 1 0,0 1 0,2-1 0,0 1 0,1 0 0,-1 23 0,3 416 0,4-199 0,-3 467 0,1-708 0,0 0 0,1 0 0,0 0 0,1 0 0,1-1 0,1 0 0,0 0 0,10 19 0,6 7 0,42 58 0,-60-95 0,4 5 0,0-1 0,0 0 0,0 0 0,1-1 0,0 0 0,1 0 0,-1-1 0,17 9 0,7 2 0,44 14 0,9 5 0,83 35 0,62 9 0,-203-70-273,1-2 0,1-2 0,-1 0 0,58 3 0,-55-8-6553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1" y="0"/>
            <a:ext cx="2946145"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51203" name="Rectangle 3"/>
          <p:cNvSpPr>
            <a:spLocks noGrp="1" noChangeArrowheads="1"/>
          </p:cNvSpPr>
          <p:nvPr>
            <p:ph type="dt" idx="1"/>
          </p:nvPr>
        </p:nvSpPr>
        <p:spPr bwMode="auto">
          <a:xfrm>
            <a:off x="3849911" y="0"/>
            <a:ext cx="2946144"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4340"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680254" y="4714876"/>
            <a:ext cx="5437168" cy="4467225"/>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06" name="Rectangle 6"/>
          <p:cNvSpPr>
            <a:spLocks noGrp="1" noChangeArrowheads="1"/>
          </p:cNvSpPr>
          <p:nvPr>
            <p:ph type="ftr" sz="quarter" idx="4"/>
          </p:nvPr>
        </p:nvSpPr>
        <p:spPr bwMode="auto">
          <a:xfrm>
            <a:off x="1" y="9428164"/>
            <a:ext cx="2946145"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51207" name="Rectangle 7"/>
          <p:cNvSpPr>
            <a:spLocks noGrp="1" noChangeArrowheads="1"/>
          </p:cNvSpPr>
          <p:nvPr>
            <p:ph type="sldNum" sz="quarter" idx="5"/>
          </p:nvPr>
        </p:nvSpPr>
        <p:spPr bwMode="auto">
          <a:xfrm>
            <a:off x="3849911" y="9428164"/>
            <a:ext cx="2946144"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C91629A-89CF-4C2C-9865-CC6C32D5498C}" type="slidenum">
              <a:rPr lang="en-GB"/>
              <a:pPr>
                <a:defRPr/>
              </a:pPr>
              <a:t>‹#›</a:t>
            </a:fld>
            <a:endParaRPr lang="en-GB"/>
          </a:p>
        </p:txBody>
      </p:sp>
    </p:spTree>
    <p:extLst>
      <p:ext uri="{BB962C8B-B14F-4D97-AF65-F5344CB8AC3E}">
        <p14:creationId xmlns:p14="http://schemas.microsoft.com/office/powerpoint/2010/main" val="40788705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Long gone are the days when a single vendor, such as IBM, could provide an enterprise with all the </a:t>
            </a:r>
            <a:r>
              <a:rPr lang="en-GB" dirty="0"/>
              <a:t>products and services required by their information technology (IT) department, including computer hardware, system software, applications software, and communications and networking equipment and services. Today, users and enterprises face complex, heterogeneous and diverse environments that require sophisticated and advanced solutions.</a:t>
            </a:r>
          </a:p>
          <a:p>
            <a:r>
              <a:rPr lang="en-GB" dirty="0"/>
              <a:t>The focus of session is to look at</a:t>
            </a:r>
            <a:r>
              <a:rPr lang="en-GB" baseline="0" dirty="0"/>
              <a:t> some of t</a:t>
            </a:r>
            <a:r>
              <a:rPr lang="en-GB" dirty="0"/>
              <a:t>he networking technologies that enable the design, development, deployment, and operation of complex modern networks, including and especially software-defined networks (SDN), network functions virtualization (NFV), quality of service (</a:t>
            </a:r>
            <a:r>
              <a:rPr lang="en-GB" dirty="0" err="1"/>
              <a:t>QoS</a:t>
            </a:r>
            <a:r>
              <a:rPr lang="en-GB" dirty="0"/>
              <a:t>), and quality of experience (</a:t>
            </a:r>
            <a:r>
              <a:rPr lang="en-GB" dirty="0" err="1"/>
              <a:t>QoE</a:t>
            </a:r>
            <a:r>
              <a:rPr lang="en-GB" dirty="0"/>
              <a:t>).</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a:t>
            </a:fld>
            <a:endParaRPr lang="en-GB"/>
          </a:p>
        </p:txBody>
      </p:sp>
    </p:spTree>
    <p:extLst>
      <p:ext uri="{BB962C8B-B14F-4D97-AF65-F5344CB8AC3E}">
        <p14:creationId xmlns:p14="http://schemas.microsoft.com/office/powerpoint/2010/main" val="3153157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figure depicts the modern networking ecosystem in very general terms. The entire ecosystem exists to provide services to end users. The term end user, or simply user, is used here as a very general term, to encompass users working within an enterprise or in a public setting or at home. The user platform can be fixed (for example, PC or workstation), portable (for example, laptop), or mobile (for example, tablet or smartphone).</a:t>
            </a:r>
          </a:p>
          <a:p>
            <a:r>
              <a:rPr lang="en-GB" dirty="0"/>
              <a:t>Users connect to network-based services and content through a wide variety of network access facilities. These include digital subscriber line (DSL) and cable modems, Wi-Fi and WiMAX wireless modems, and cellular modems. Such network access facilities enable the use to connect directly to the Internet or to a variety of network providers, including Wi-Fi networks, cellular networks, and both private and shared network facilities, such as a premises enterprise network.</a:t>
            </a:r>
          </a:p>
          <a:p>
            <a:r>
              <a:rPr lang="en-GB" dirty="0"/>
              <a:t>Ultimately, of course, users want to use network facilities to access applications and content. </a:t>
            </a:r>
            <a:r>
              <a:rPr lang="en-GB" b="1" dirty="0"/>
              <a:t>Application providers </a:t>
            </a:r>
            <a:r>
              <a:rPr lang="en-GB" dirty="0"/>
              <a:t>provide applications, or apps, that run on the user’s platform, which is typically a mobile platform. More recently, the concept of an app store is also available for fixed and portable platforms as well. A distinct category of provider is the </a:t>
            </a:r>
            <a:r>
              <a:rPr lang="en-GB" b="1" dirty="0"/>
              <a:t>application service provider</a:t>
            </a:r>
            <a:r>
              <a:rPr lang="en-GB" dirty="0"/>
              <a:t>. Whereas the application provider downloads software to the user’s platform, the application service provider acts as a server or host of application software that is executed on the provider’s platforms. Traditional examples of such software include web servers, e-mail servers, and database servers. The most prominent example now is the cloud computing provider. </a:t>
            </a:r>
          </a:p>
          <a:p>
            <a:r>
              <a:rPr lang="en-GB" dirty="0"/>
              <a:t>The final element is </a:t>
            </a:r>
            <a:r>
              <a:rPr lang="en-GB" b="1" dirty="0"/>
              <a:t>the content provider</a:t>
            </a:r>
            <a:r>
              <a:rPr lang="en-GB" dirty="0"/>
              <a:t>. A content provider serves the data to be consumed on the user device (for example, e-mail, music, video). This data may be commercially provided intellectual property. In some instances, an enterprise may be an application or content provider. Examples of content providers are music and video streaming platforms.</a:t>
            </a:r>
          </a:p>
          <a:p>
            <a:endParaRPr lang="en-GB" dirty="0"/>
          </a:p>
          <a:p>
            <a:r>
              <a:rPr lang="en-GB" dirty="0"/>
              <a:t>The figure is intended to provide a very general depiction of the networking ecosystem. It is worth pointing out here two major elements of modern networking not explicitly depicted in this figure: </a:t>
            </a:r>
          </a:p>
          <a:p>
            <a:r>
              <a:rPr lang="en-GB" b="1" dirty="0"/>
              <a:t>Data </a:t>
            </a:r>
            <a:r>
              <a:rPr lang="en-GB" b="1" dirty="0" err="1"/>
              <a:t>center</a:t>
            </a:r>
            <a:r>
              <a:rPr lang="en-GB" b="1" dirty="0"/>
              <a:t> networking</a:t>
            </a:r>
            <a:r>
              <a:rPr lang="en-GB" dirty="0"/>
              <a:t>: Both large enterprise data </a:t>
            </a:r>
            <a:r>
              <a:rPr lang="en-GB" dirty="0" err="1"/>
              <a:t>centers</a:t>
            </a:r>
            <a:r>
              <a:rPr lang="en-GB" dirty="0"/>
              <a:t> and cloud provider data </a:t>
            </a:r>
            <a:r>
              <a:rPr lang="en-GB" dirty="0" err="1"/>
              <a:t>centers</a:t>
            </a:r>
            <a:r>
              <a:rPr lang="en-GB" dirty="0"/>
              <a:t> consist of very large numbers of interconnected servers. Typically, as much as 80 percent of the data traffic is within the data </a:t>
            </a:r>
            <a:r>
              <a:rPr lang="en-GB" dirty="0" err="1"/>
              <a:t>center</a:t>
            </a:r>
            <a:r>
              <a:rPr lang="en-GB" dirty="0"/>
              <a:t> network, and only 20 percent relies on external networks to reach users. </a:t>
            </a:r>
          </a:p>
          <a:p>
            <a:r>
              <a:rPr lang="en-GB" b="1" dirty="0" err="1"/>
              <a:t>IoT</a:t>
            </a:r>
            <a:r>
              <a:rPr lang="en-GB" b="1" dirty="0"/>
              <a:t> or fog networking</a:t>
            </a:r>
            <a:r>
              <a:rPr lang="en-GB" dirty="0"/>
              <a:t>: An Internet of Things deployed by an enterprise may consist of hundreds, thousands, even millions of devices. The vast bulk of the data traffic to and from these devices is machine to machine, rather than user to </a:t>
            </a:r>
            <a:r>
              <a:rPr lang="en-GB" dirty="0" err="1"/>
              <a:t>machine.Each</a:t>
            </a:r>
            <a:r>
              <a:rPr lang="en-GB" dirty="0"/>
              <a:t> of these networking environments creates its own particular requirements, which are discussed as the book progresses.</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2</a:t>
            </a:fld>
            <a:endParaRPr lang="en-GB"/>
          </a:p>
        </p:txBody>
      </p:sp>
    </p:spTree>
    <p:extLst>
      <p:ext uri="{BB962C8B-B14F-4D97-AF65-F5344CB8AC3E}">
        <p14:creationId xmlns:p14="http://schemas.microsoft.com/office/powerpoint/2010/main" val="1509076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At the </a:t>
            </a:r>
            <a:r>
              <a:rPr lang="en-GB" dirty="0" err="1"/>
              <a:t>center</a:t>
            </a:r>
            <a:r>
              <a:rPr lang="en-GB" dirty="0"/>
              <a:t> of the figure is an IP backbone, or core, network, which could represent a portion of the Internet or an enterprise IP network. Typically, the backbone consists of high-performance routers, called core routers, interconnected with high-volume optical links.</a:t>
            </a:r>
          </a:p>
          <a:p>
            <a:pPr marL="0" marR="0" indent="0" algn="l" defTabSz="914400" rtl="0" eaLnBrk="0" fontAlgn="base" latinLnBrk="0" hangingPunct="0">
              <a:lnSpc>
                <a:spcPct val="100000"/>
              </a:lnSpc>
              <a:spcBef>
                <a:spcPct val="30000"/>
              </a:spcBef>
              <a:spcAft>
                <a:spcPct val="0"/>
              </a:spcAft>
              <a:buClrTx/>
              <a:buSzTx/>
              <a:buFontTx/>
              <a:buNone/>
              <a:tabLst/>
              <a:defRPr/>
            </a:pPr>
            <a:r>
              <a:rPr lang="en-GB" dirty="0"/>
              <a:t>At the periphery of an IP backbone are routers that provide connectivity to external networks and users. These routers are sometimes referred to as edge routers or aggregation routers. Aggregation routers are also used within an enterprise network to connect a number of routers and switches, to external resources, such as an IP backbone or a high-speed WAN.</a:t>
            </a:r>
          </a:p>
          <a:p>
            <a:endParaRPr lang="en-GB" dirty="0"/>
          </a:p>
          <a:p>
            <a:endParaRPr lang="en-GB" dirty="0"/>
          </a:p>
          <a:p>
            <a:r>
              <a:rPr lang="en-GB" dirty="0"/>
              <a:t>As an indication of the capacity requirements for core and aggregation routers, the IEEE Ethernet Bandwidth Assessments Group reports on an analysis that projects these requirements for Internet backbone providers and large enterprise networks in China. The analysis concludes that aggregation router requirements will be in the range of 200 </a:t>
            </a:r>
            <a:r>
              <a:rPr lang="en-GB" dirty="0" err="1"/>
              <a:t>Gbps</a:t>
            </a:r>
            <a:r>
              <a:rPr lang="en-GB" dirty="0"/>
              <a:t> to 400 </a:t>
            </a:r>
            <a:r>
              <a:rPr lang="en-GB" dirty="0" err="1"/>
              <a:t>Gbps</a:t>
            </a:r>
            <a:r>
              <a:rPr lang="en-GB" dirty="0"/>
              <a:t> per optical link by 2020, and 400 </a:t>
            </a:r>
            <a:r>
              <a:rPr lang="en-GB" dirty="0" err="1"/>
              <a:t>Gbps</a:t>
            </a:r>
            <a:r>
              <a:rPr lang="en-GB" dirty="0"/>
              <a:t> to 1 </a:t>
            </a:r>
            <a:r>
              <a:rPr lang="en-GB" dirty="0" err="1"/>
              <a:t>Tbps</a:t>
            </a:r>
            <a:r>
              <a:rPr lang="en-GB" dirty="0"/>
              <a:t> per optical link for core routers by 2020. </a:t>
            </a:r>
          </a:p>
          <a:p>
            <a:endParaRPr lang="en-GB" dirty="0"/>
          </a:p>
          <a:p>
            <a:r>
              <a:rPr lang="en-GB" dirty="0"/>
              <a:t>The upper part of Figure 1.2 depicts a portion of what might be a large enterprise network. The figure shows two sections of the network connected via a private high-speed WAN, with switches interconnected with optical links. MPLS using IP is a common switching protocol used for such WANs; wide-area Ethernet is another option. Enterprise assets are connected to, and protected from, an IP backbone or the Internet via routers with firewall capability, a not uncommon arrangement for implementing the firewall. </a:t>
            </a:r>
          </a:p>
          <a:p>
            <a:r>
              <a:rPr lang="en-GB" dirty="0"/>
              <a:t>The lower left of the figure depicts what might be a layout for a small- or medium-size business, which relies on an Ethernet LAN. Connection to the Internet through a router could be through a cable or DSL connection or a dedicated high-speed link. The lower portion of Figure 1.2 also shows an individual residential user connected to an Internet service provider (ISP) through some sort of subscriber connection. Common examples of such a connection are a DSL, which provides a high-speed link over telephone lines and requires a special DSL modem, and a cable TV facility, which requires a cable modem, or some type of wireless connection. In each case, there are separate issues concerning signal encoding, error control, and the internal structure of the subscriber </a:t>
            </a:r>
            <a:r>
              <a:rPr lang="en-GB" dirty="0" err="1"/>
              <a:t>network.Finally</a:t>
            </a:r>
            <a:r>
              <a:rPr lang="en-GB" dirty="0"/>
              <a:t>, mobile devices, such as smartphones and tablets, can connect to the Internet through the public cellular network, which has a high-speed connection, typically optical, to the Internet.</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3</a:t>
            </a:fld>
            <a:endParaRPr lang="en-GB"/>
          </a:p>
        </p:txBody>
      </p:sp>
    </p:spTree>
    <p:extLst>
      <p:ext uri="{BB962C8B-B14F-4D97-AF65-F5344CB8AC3E}">
        <p14:creationId xmlns:p14="http://schemas.microsoft.com/office/powerpoint/2010/main" val="4037571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00000"/>
                </a:solidFill>
                <a:effectLst/>
                <a:latin typeface="CiscoSansLight"/>
              </a:rPr>
              <a:t>The </a:t>
            </a:r>
            <a:r>
              <a:rPr lang="en-GB" b="1" i="0" dirty="0">
                <a:solidFill>
                  <a:srgbClr val="000000"/>
                </a:solidFill>
                <a:effectLst/>
                <a:latin typeface="CiscoSansLight"/>
              </a:rPr>
              <a:t>access layer </a:t>
            </a:r>
            <a:r>
              <a:rPr lang="en-GB" b="0" i="0" dirty="0">
                <a:solidFill>
                  <a:srgbClr val="000000"/>
                </a:solidFill>
                <a:effectLst/>
                <a:latin typeface="CiscoSansLight"/>
              </a:rPr>
              <a:t>serves a number of functions, including</a:t>
            </a:r>
          </a:p>
          <a:p>
            <a:pPr algn="l">
              <a:buFont typeface="Arial" panose="020B0604020202020204" pitchFamily="34" charset="0"/>
              <a:buChar char="•"/>
            </a:pPr>
            <a:r>
              <a:rPr lang="en-GB" sz="1800" b="0" i="0" dirty="0">
                <a:solidFill>
                  <a:srgbClr val="000000"/>
                </a:solidFill>
                <a:effectLst/>
                <a:latin typeface="CiscoSansLight"/>
              </a:rPr>
              <a:t>Layer 2 switching</a:t>
            </a:r>
          </a:p>
          <a:p>
            <a:pPr algn="l">
              <a:buFont typeface="Arial" panose="020B0604020202020204" pitchFamily="34" charset="0"/>
              <a:buChar char="•"/>
            </a:pPr>
            <a:r>
              <a:rPr lang="en-GB" sz="1800" b="0" i="0" dirty="0">
                <a:solidFill>
                  <a:srgbClr val="000000"/>
                </a:solidFill>
                <a:effectLst/>
                <a:latin typeface="CiscoSansLight"/>
              </a:rPr>
              <a:t>High availability</a:t>
            </a:r>
          </a:p>
          <a:p>
            <a:pPr algn="l">
              <a:buFont typeface="Arial" panose="020B0604020202020204" pitchFamily="34" charset="0"/>
              <a:buChar char="•"/>
            </a:pPr>
            <a:r>
              <a:rPr lang="en-GB" sz="1800" b="0" i="0" dirty="0">
                <a:solidFill>
                  <a:srgbClr val="000000"/>
                </a:solidFill>
                <a:effectLst/>
                <a:latin typeface="CiscoSansLight"/>
              </a:rPr>
              <a:t>Port security</a:t>
            </a:r>
          </a:p>
          <a:p>
            <a:pPr algn="l">
              <a:buFont typeface="Arial" panose="020B0604020202020204" pitchFamily="34" charset="0"/>
              <a:buChar char="•"/>
            </a:pPr>
            <a:r>
              <a:rPr lang="en-GB" sz="1800" b="0" i="0" dirty="0">
                <a:solidFill>
                  <a:srgbClr val="000000"/>
                </a:solidFill>
                <a:effectLst/>
                <a:latin typeface="CiscoSansLight"/>
              </a:rPr>
              <a:t>QoS classification and marking and trust boundaries</a:t>
            </a:r>
          </a:p>
          <a:p>
            <a:pPr algn="l">
              <a:buFont typeface="Arial" panose="020B0604020202020204" pitchFamily="34" charset="0"/>
              <a:buChar char="•"/>
            </a:pPr>
            <a:r>
              <a:rPr lang="en-GB" sz="1800" b="0" i="0" dirty="0">
                <a:solidFill>
                  <a:srgbClr val="000000"/>
                </a:solidFill>
                <a:effectLst/>
                <a:latin typeface="CiscoSansLight"/>
              </a:rPr>
              <a:t>Address Resolution Protocol (ARP) inspection</a:t>
            </a:r>
          </a:p>
          <a:p>
            <a:pPr algn="l">
              <a:buFont typeface="Arial" panose="020B0604020202020204" pitchFamily="34" charset="0"/>
              <a:buChar char="•"/>
            </a:pPr>
            <a:r>
              <a:rPr lang="en-GB" sz="1800" b="0" i="0" dirty="0">
                <a:solidFill>
                  <a:srgbClr val="000000"/>
                </a:solidFill>
                <a:effectLst/>
                <a:latin typeface="CiscoSansLight"/>
              </a:rPr>
              <a:t>Virtual access control lists (VACLs)</a:t>
            </a:r>
          </a:p>
          <a:p>
            <a:pPr algn="l">
              <a:buFont typeface="Arial" panose="020B0604020202020204" pitchFamily="34" charset="0"/>
              <a:buChar char="•"/>
            </a:pPr>
            <a:r>
              <a:rPr lang="en-GB" sz="1800" b="0" i="0" dirty="0">
                <a:solidFill>
                  <a:srgbClr val="000000"/>
                </a:solidFill>
                <a:effectLst/>
                <a:latin typeface="CiscoSansLight"/>
              </a:rPr>
              <a:t>Spanning tree</a:t>
            </a:r>
          </a:p>
          <a:p>
            <a:pPr algn="l">
              <a:buFont typeface="Arial" panose="020B0604020202020204" pitchFamily="34" charset="0"/>
              <a:buChar char="•"/>
            </a:pPr>
            <a:r>
              <a:rPr lang="en-GB" sz="1800" b="0" i="0" dirty="0">
                <a:solidFill>
                  <a:srgbClr val="000000"/>
                </a:solidFill>
                <a:effectLst/>
                <a:latin typeface="CiscoSansLight"/>
              </a:rPr>
              <a:t>Power over Ethernet (PoE) and auxiliary VLANs for VoIP</a:t>
            </a:r>
          </a:p>
          <a:p>
            <a:pPr algn="l"/>
            <a:endParaRPr lang="en-GB" b="0" i="0" dirty="0">
              <a:solidFill>
                <a:srgbClr val="000000"/>
              </a:solidFill>
              <a:effectLst/>
              <a:latin typeface="CiscoSansLight"/>
            </a:endParaRPr>
          </a:p>
          <a:p>
            <a:pPr algn="l"/>
            <a:endParaRPr lang="en-GB" b="0" i="0" dirty="0">
              <a:solidFill>
                <a:srgbClr val="000000"/>
              </a:solidFill>
              <a:effectLst/>
              <a:latin typeface="CiscoSansLight"/>
            </a:endParaRPr>
          </a:p>
          <a:p>
            <a:pPr algn="l"/>
            <a:r>
              <a:rPr lang="en-GB" b="0" i="0" dirty="0">
                <a:solidFill>
                  <a:srgbClr val="000000"/>
                </a:solidFill>
                <a:effectLst/>
                <a:latin typeface="CiscoSansLight"/>
              </a:rPr>
              <a:t>The </a:t>
            </a:r>
            <a:r>
              <a:rPr lang="en-GB" b="1" i="0" dirty="0">
                <a:solidFill>
                  <a:srgbClr val="000000"/>
                </a:solidFill>
                <a:effectLst/>
                <a:latin typeface="CiscoSansLight"/>
              </a:rPr>
              <a:t>distribution layer </a:t>
            </a:r>
            <a:r>
              <a:rPr lang="en-GB" b="0" i="0" dirty="0">
                <a:solidFill>
                  <a:srgbClr val="000000"/>
                </a:solidFill>
                <a:effectLst/>
                <a:latin typeface="CiscoSansLight"/>
              </a:rPr>
              <a:t>can provide</a:t>
            </a:r>
          </a:p>
          <a:p>
            <a:pPr algn="l">
              <a:buFont typeface="Arial" panose="020B0604020202020204" pitchFamily="34" charset="0"/>
              <a:buChar char="•"/>
            </a:pPr>
            <a:r>
              <a:rPr lang="en-GB" sz="1800" b="0" i="0" dirty="0">
                <a:solidFill>
                  <a:srgbClr val="000000"/>
                </a:solidFill>
                <a:effectLst/>
                <a:latin typeface="CiscoSansLight"/>
              </a:rPr>
              <a:t>Aggregation of LAN or WAN links.</a:t>
            </a:r>
          </a:p>
          <a:p>
            <a:pPr algn="l">
              <a:buFont typeface="Arial" panose="020B0604020202020204" pitchFamily="34" charset="0"/>
              <a:buChar char="•"/>
            </a:pPr>
            <a:r>
              <a:rPr lang="en-GB" sz="1800" b="0" i="0" dirty="0">
                <a:solidFill>
                  <a:srgbClr val="000000"/>
                </a:solidFill>
                <a:effectLst/>
                <a:latin typeface="CiscoSansLight"/>
              </a:rPr>
              <a:t>Policy-based security in the form of access control lists (ACLs) and filtering.</a:t>
            </a:r>
          </a:p>
          <a:p>
            <a:pPr algn="l">
              <a:buFont typeface="Arial" panose="020B0604020202020204" pitchFamily="34" charset="0"/>
              <a:buChar char="•"/>
            </a:pPr>
            <a:r>
              <a:rPr lang="en-GB" sz="1800" b="0" i="0" dirty="0">
                <a:solidFill>
                  <a:srgbClr val="000000"/>
                </a:solidFill>
                <a:effectLst/>
                <a:latin typeface="CiscoSansLight"/>
              </a:rPr>
              <a:t>Routing services between LANs and VLANs and between routing domains (e.g., EIGRP to OSPF).</a:t>
            </a:r>
          </a:p>
          <a:p>
            <a:pPr algn="l">
              <a:buFont typeface="Arial" panose="020B0604020202020204" pitchFamily="34" charset="0"/>
              <a:buChar char="•"/>
            </a:pPr>
            <a:r>
              <a:rPr lang="en-GB" sz="1800" b="0" i="0" dirty="0">
                <a:solidFill>
                  <a:srgbClr val="000000"/>
                </a:solidFill>
                <a:effectLst/>
                <a:latin typeface="CiscoSansLight"/>
              </a:rPr>
              <a:t>Redundancy and load balancing.</a:t>
            </a:r>
          </a:p>
          <a:p>
            <a:pPr algn="l">
              <a:buFont typeface="Arial" panose="020B0604020202020204" pitchFamily="34" charset="0"/>
              <a:buChar char="•"/>
            </a:pPr>
            <a:r>
              <a:rPr lang="en-GB" sz="1800" b="0" i="0" dirty="0">
                <a:solidFill>
                  <a:srgbClr val="000000"/>
                </a:solidFill>
                <a:effectLst/>
                <a:latin typeface="CiscoSansLight"/>
              </a:rPr>
              <a:t>A boundary for route aggregation and summarization configured on interfaces toward the core layer.</a:t>
            </a:r>
          </a:p>
          <a:p>
            <a:pPr algn="l">
              <a:buFont typeface="Arial" panose="020B0604020202020204" pitchFamily="34" charset="0"/>
              <a:buChar char="•"/>
            </a:pPr>
            <a:r>
              <a:rPr lang="en-GB" sz="1800" b="0" i="0" dirty="0">
                <a:solidFill>
                  <a:srgbClr val="000000"/>
                </a:solidFill>
                <a:effectLst/>
                <a:latin typeface="CiscoSansLight"/>
              </a:rPr>
              <a:t>Broadcast domain control, because routers or multilayer switches do not forward broadcasts. The device acts as the demarcation point between broadcast domains.</a:t>
            </a:r>
          </a:p>
          <a:p>
            <a:pPr algn="l">
              <a:buFont typeface="Arial" panose="020B0604020202020204" pitchFamily="34" charset="0"/>
              <a:buChar char="•"/>
            </a:pPr>
            <a:endParaRPr lang="en-GB" sz="1800" b="0" i="0" dirty="0">
              <a:solidFill>
                <a:srgbClr val="000000"/>
              </a:solidFill>
              <a:effectLst/>
              <a:latin typeface="CiscoSansLight"/>
            </a:endParaRPr>
          </a:p>
          <a:p>
            <a:pPr algn="l"/>
            <a:r>
              <a:rPr lang="en-GB" sz="2800" b="0" i="0" dirty="0">
                <a:solidFill>
                  <a:srgbClr val="000000"/>
                </a:solidFill>
                <a:effectLst/>
                <a:latin typeface="CiscoSansLight"/>
              </a:rPr>
              <a:t>The core should be highly available and redundant. The core aggregates the traffic from all the distribution layer devices, so it must be capable of forwarding large amounts of data quickly.</a:t>
            </a:r>
          </a:p>
          <a:p>
            <a:pPr algn="l"/>
            <a:r>
              <a:rPr lang="en-GB" sz="2800" b="0" i="0" dirty="0">
                <a:solidFill>
                  <a:srgbClr val="000000"/>
                </a:solidFill>
                <a:effectLst/>
                <a:latin typeface="CiscoSansLight"/>
              </a:rPr>
              <a:t>Considerations at the </a:t>
            </a:r>
            <a:r>
              <a:rPr lang="en-GB" sz="2800" b="1" i="0" dirty="0">
                <a:solidFill>
                  <a:srgbClr val="000000"/>
                </a:solidFill>
                <a:effectLst/>
                <a:latin typeface="CiscoSansLight"/>
              </a:rPr>
              <a:t>core layer include</a:t>
            </a:r>
          </a:p>
          <a:p>
            <a:pPr algn="l">
              <a:buFont typeface="Arial" panose="020B0604020202020204" pitchFamily="34" charset="0"/>
              <a:buChar char="•"/>
            </a:pPr>
            <a:r>
              <a:rPr lang="en-GB" sz="1800" b="0" i="0" dirty="0">
                <a:solidFill>
                  <a:srgbClr val="000000"/>
                </a:solidFill>
                <a:effectLst/>
                <a:latin typeface="CiscoSansLight"/>
              </a:rPr>
              <a:t>Providing high-speed switching (i.e., fast transport)</a:t>
            </a:r>
          </a:p>
          <a:p>
            <a:pPr algn="l">
              <a:buFont typeface="Arial" panose="020B0604020202020204" pitchFamily="34" charset="0"/>
              <a:buChar char="•"/>
            </a:pPr>
            <a:r>
              <a:rPr lang="en-GB" sz="1800" b="0" i="0" dirty="0">
                <a:solidFill>
                  <a:srgbClr val="000000"/>
                </a:solidFill>
                <a:effectLst/>
                <a:latin typeface="CiscoSansLight"/>
              </a:rPr>
              <a:t>Providing reliability and fault tolerance</a:t>
            </a:r>
          </a:p>
          <a:p>
            <a:pPr algn="l">
              <a:buFont typeface="Arial" panose="020B0604020202020204" pitchFamily="34" charset="0"/>
              <a:buChar char="•"/>
            </a:pPr>
            <a:r>
              <a:rPr lang="en-GB" sz="1800" b="0" i="0" dirty="0">
                <a:solidFill>
                  <a:srgbClr val="000000"/>
                </a:solidFill>
                <a:effectLst/>
                <a:latin typeface="CiscoSansLight"/>
              </a:rPr>
              <a:t>Scaling by using faster, and not more, equipment</a:t>
            </a:r>
          </a:p>
          <a:p>
            <a:pPr algn="l">
              <a:buFont typeface="Arial" panose="020B0604020202020204" pitchFamily="34" charset="0"/>
              <a:buChar char="•"/>
            </a:pPr>
            <a:r>
              <a:rPr lang="en-GB" sz="1800" b="0" i="0" dirty="0">
                <a:solidFill>
                  <a:srgbClr val="000000"/>
                </a:solidFill>
                <a:effectLst/>
                <a:latin typeface="CiscoSansLight"/>
              </a:rPr>
              <a:t>Avoiding CPU-intensive packet manipulation caused by security, inspection, quality of service (QoS) classification, or other processes</a:t>
            </a:r>
          </a:p>
          <a:p>
            <a:pPr algn="l">
              <a:buFont typeface="Arial" panose="020B0604020202020204" pitchFamily="34" charset="0"/>
              <a:buChar char="•"/>
            </a:pPr>
            <a:endParaRPr lang="en-GB" sz="1800" b="0" i="0" dirty="0">
              <a:solidFill>
                <a:srgbClr val="000000"/>
              </a:solidFill>
              <a:effectLst/>
              <a:latin typeface="CiscoSansLight"/>
            </a:endParaRP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4</a:t>
            </a:fld>
            <a:endParaRPr lang="en-GB"/>
          </a:p>
        </p:txBody>
      </p:sp>
    </p:spTree>
    <p:extLst>
      <p:ext uri="{BB962C8B-B14F-4D97-AF65-F5344CB8AC3E}">
        <p14:creationId xmlns:p14="http://schemas.microsoft.com/office/powerpoint/2010/main" val="4083213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Key network transmission technologies include Ethernet, Wi-Fi, and 4G/5G cellular networks. Each of these technologies has evolved to support very high data rates. These data rates support the many multimedia applications required by enterprises and consumers and, at the same time, place great demands on network switching equipment and network management facilities. </a:t>
            </a:r>
          </a:p>
          <a:p>
            <a:endParaRPr lang="en-GB" dirty="0"/>
          </a:p>
          <a:p>
            <a:r>
              <a:rPr lang="en-GB" dirty="0"/>
              <a:t>Ethernet is the predominant wired networking technology, used in homes, offices, data </a:t>
            </a:r>
            <a:r>
              <a:rPr lang="en-GB" dirty="0" err="1"/>
              <a:t>centers</a:t>
            </a:r>
            <a:r>
              <a:rPr lang="en-GB" dirty="0"/>
              <a:t>, enterprises, and WANs. As Ethernet has evolved to support data rates up to 100 </a:t>
            </a:r>
            <a:r>
              <a:rPr lang="en-GB" dirty="0" err="1"/>
              <a:t>Gbps</a:t>
            </a:r>
            <a:r>
              <a:rPr lang="en-GB" dirty="0"/>
              <a:t> and distances from a few meters to tens of </a:t>
            </a:r>
            <a:r>
              <a:rPr lang="en-GB" dirty="0" err="1"/>
              <a:t>kilometers</a:t>
            </a:r>
            <a:r>
              <a:rPr lang="en-GB" dirty="0"/>
              <a:t>, it has become essential for supporting personal computers, workstations, servers, and massive data storage devices in organizations large and small.</a:t>
            </a:r>
          </a:p>
          <a:p>
            <a:r>
              <a:rPr lang="en-GB" b="1" dirty="0"/>
              <a:t>Ethernet in the Home</a:t>
            </a:r>
          </a:p>
          <a:p>
            <a:r>
              <a:rPr lang="en-GB" dirty="0"/>
              <a:t>Ethernet has long been used in the home to create a local network of computers with access to the Internet via a broadband modem/router. With the increasing availability of high-speed, low-cost Wi-Fi on computers, tablets, smartphones, modem/routers, and other devices, home reliance on Ethernet has declined. Nevertheless almost all home networking setups include some use of Ethernet.</a:t>
            </a:r>
          </a:p>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5</a:t>
            </a:fld>
            <a:endParaRPr lang="en-GB"/>
          </a:p>
        </p:txBody>
      </p:sp>
    </p:spTree>
    <p:extLst>
      <p:ext uri="{BB962C8B-B14F-4D97-AF65-F5344CB8AC3E}">
        <p14:creationId xmlns:p14="http://schemas.microsoft.com/office/powerpoint/2010/main" val="1365909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tremendous advantage of Ethernet is that it is possible to scale the network, both in terms of distance and data rate, with the same Ethernet protocol and associated quality of service (</a:t>
            </a:r>
            <a:r>
              <a:rPr lang="en-GB" dirty="0" err="1"/>
              <a:t>QoS</a:t>
            </a:r>
            <a:r>
              <a:rPr lang="en-GB" dirty="0"/>
              <a:t>) and security standards. An enterprise can easily extend an Ethernet network among a number of buildings on the same campus or even some distance apart, with links ranging from 10 Mbps to 100 </a:t>
            </a:r>
            <a:r>
              <a:rPr lang="en-GB" dirty="0" err="1"/>
              <a:t>Gbps</a:t>
            </a:r>
            <a:r>
              <a:rPr lang="en-GB" dirty="0"/>
              <a:t>, using a mixture of cable types and Ethernet hardware. Because all the hardware and communications software conform to the same standard, it is easy to mix different speeds and different vendor equipment. The same protocol is used for intensive high-speed interconnections of data servers in a single room, workstations and servers distributed throughout the building, and links to Ethernet networks in other buildings up to 100 km away.</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6</a:t>
            </a:fld>
            <a:endParaRPr lang="en-GB"/>
          </a:p>
        </p:txBody>
      </p:sp>
    </p:spTree>
    <p:extLst>
      <p:ext uri="{BB962C8B-B14F-4D97-AF65-F5344CB8AC3E}">
        <p14:creationId xmlns:p14="http://schemas.microsoft.com/office/powerpoint/2010/main" val="3252616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in other areas, Ethernet has come to dominate in the data </a:t>
            </a:r>
            <a:r>
              <a:rPr lang="en-GB" dirty="0" err="1"/>
              <a:t>center</a:t>
            </a:r>
            <a:r>
              <a:rPr lang="en-GB" dirty="0"/>
              <a:t>, where very high data rates are needed to handle massive volumes of data among networked servers and storage units. Historically, data </a:t>
            </a:r>
            <a:r>
              <a:rPr lang="en-GB" dirty="0" err="1"/>
              <a:t>centers</a:t>
            </a:r>
            <a:r>
              <a:rPr lang="en-GB" dirty="0"/>
              <a:t> have employed various technologies to support high-volume, short-distance needs, including InfiniBand and </a:t>
            </a:r>
            <a:r>
              <a:rPr lang="en-GB" dirty="0" err="1"/>
              <a:t>Fiber</a:t>
            </a:r>
            <a:r>
              <a:rPr lang="en-GB" dirty="0"/>
              <a:t> Channel. But now that Ethernet can scale up to 400 </a:t>
            </a:r>
            <a:r>
              <a:rPr lang="en-GB" dirty="0" err="1"/>
              <a:t>Gbps</a:t>
            </a:r>
            <a:r>
              <a:rPr lang="en-GB" dirty="0"/>
              <a:t>, the case for a unified protocol approach throughout the enterprise is compelling. Two features of the new Ethernet approach are noteworthy. For co-located servers and storage units, high-speed Ethernet </a:t>
            </a:r>
            <a:r>
              <a:rPr lang="en-GB" dirty="0" err="1"/>
              <a:t>fiber</a:t>
            </a:r>
            <a:r>
              <a:rPr lang="en-GB" dirty="0"/>
              <a:t> links and switches provided the needed networking infrastructure. Another important version of Ethernet is known as backplane Ethernet. Backplane Ethernet runs over copper jumper cables that can provide up to 100 </a:t>
            </a:r>
            <a:r>
              <a:rPr lang="en-GB" dirty="0" err="1"/>
              <a:t>Gbps</a:t>
            </a:r>
            <a:r>
              <a:rPr lang="en-GB" dirty="0"/>
              <a:t> over very short distances. This technology is ideal for blade servers, in which multiple server modules are housed in a single chassis.</a:t>
            </a:r>
          </a:p>
          <a:p>
            <a:endParaRPr lang="en-GB" dirty="0"/>
          </a:p>
          <a:p>
            <a:endParaRPr lang="en-GB" dirty="0"/>
          </a:p>
          <a:p>
            <a:r>
              <a:rPr lang="en-GB" dirty="0"/>
              <a:t>5G systems available</a:t>
            </a:r>
            <a:r>
              <a:rPr lang="en-GB" baseline="0" dirty="0"/>
              <a:t> since 2020</a:t>
            </a:r>
            <a:r>
              <a:rPr lang="en-GB" dirty="0"/>
              <a:t>,  the huge amounts of data traffic generated by tablets and smartphones will be augmented by an equally huge, and perhaps much larger, amount of traffic from the Internet of Things, which includes shoes, watches, appliances, cars, thermostats, door locks, and much more.</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7</a:t>
            </a:fld>
            <a:endParaRPr lang="en-GB"/>
          </a:p>
        </p:txBody>
      </p:sp>
    </p:spTree>
    <p:extLst>
      <p:ext uri="{BB962C8B-B14F-4D97-AF65-F5344CB8AC3E}">
        <p14:creationId xmlns:p14="http://schemas.microsoft.com/office/powerpoint/2010/main" val="875552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5600" marR="24765" indent="-342900">
              <a:lnSpc>
                <a:spcPct val="100000"/>
              </a:lnSpc>
              <a:spcBef>
                <a:spcPts val="105"/>
              </a:spcBef>
              <a:buFont typeface="Arial"/>
              <a:buChar char="•"/>
              <a:tabLst>
                <a:tab pos="354965" algn="l"/>
                <a:tab pos="355600" algn="l"/>
              </a:tabLst>
            </a:pPr>
            <a:r>
              <a:rPr lang="en-GB" sz="2000" dirty="0">
                <a:latin typeface="Carlito"/>
                <a:cs typeface="Carlito"/>
              </a:rPr>
              <a:t>A </a:t>
            </a:r>
            <a:r>
              <a:rPr lang="en-GB" sz="2000" spc="-5" dirty="0">
                <a:latin typeface="Carlito"/>
                <a:cs typeface="Carlito"/>
              </a:rPr>
              <a:t>number of trends </a:t>
            </a:r>
            <a:r>
              <a:rPr lang="en-GB" sz="2000" spc="-10" dirty="0">
                <a:latin typeface="Carlito"/>
                <a:cs typeface="Carlito"/>
              </a:rPr>
              <a:t>are </a:t>
            </a:r>
            <a:r>
              <a:rPr lang="en-GB" sz="2000" spc="-5" dirty="0">
                <a:latin typeface="Carlito"/>
                <a:cs typeface="Carlito"/>
              </a:rPr>
              <a:t>driving </a:t>
            </a:r>
            <a:r>
              <a:rPr lang="en-GB" sz="2000" spc="-10" dirty="0">
                <a:latin typeface="Carlito"/>
                <a:cs typeface="Carlito"/>
              </a:rPr>
              <a:t>network </a:t>
            </a:r>
            <a:r>
              <a:rPr lang="en-GB" sz="2000" spc="-15" dirty="0">
                <a:latin typeface="Carlito"/>
                <a:cs typeface="Carlito"/>
              </a:rPr>
              <a:t>providers </a:t>
            </a:r>
            <a:r>
              <a:rPr lang="en-GB" sz="2000" dirty="0">
                <a:latin typeface="Carlito"/>
                <a:cs typeface="Carlito"/>
              </a:rPr>
              <a:t>and </a:t>
            </a:r>
            <a:r>
              <a:rPr lang="en-GB" sz="2000" spc="-15" dirty="0">
                <a:latin typeface="Carlito"/>
                <a:cs typeface="Carlito"/>
              </a:rPr>
              <a:t>users to </a:t>
            </a:r>
            <a:r>
              <a:rPr lang="en-GB" sz="2000" spc="-15" dirty="0" err="1">
                <a:latin typeface="Carlito"/>
                <a:cs typeface="Carlito"/>
              </a:rPr>
              <a:t>reevaluate</a:t>
            </a:r>
            <a:r>
              <a:rPr lang="en-GB" sz="2000" spc="-15" dirty="0">
                <a:latin typeface="Carlito"/>
                <a:cs typeface="Carlito"/>
              </a:rPr>
              <a:t>  </a:t>
            </a:r>
            <a:r>
              <a:rPr lang="en-GB" sz="2000" spc="-5" dirty="0">
                <a:latin typeface="Carlito"/>
                <a:cs typeface="Carlito"/>
              </a:rPr>
              <a:t>traditional approaches </a:t>
            </a:r>
            <a:r>
              <a:rPr lang="en-GB" sz="2000" spc="-15" dirty="0">
                <a:latin typeface="Carlito"/>
                <a:cs typeface="Carlito"/>
              </a:rPr>
              <a:t>to </a:t>
            </a:r>
            <a:r>
              <a:rPr lang="en-GB" sz="2000" spc="-10" dirty="0">
                <a:latin typeface="Carlito"/>
                <a:cs typeface="Carlito"/>
              </a:rPr>
              <a:t>network</a:t>
            </a:r>
            <a:r>
              <a:rPr lang="en-GB" sz="2000" dirty="0">
                <a:latin typeface="Carlito"/>
                <a:cs typeface="Carlito"/>
              </a:rPr>
              <a:t> </a:t>
            </a:r>
            <a:r>
              <a:rPr lang="en-GB" sz="2000" spc="-10" dirty="0">
                <a:latin typeface="Carlito"/>
                <a:cs typeface="Carlito"/>
              </a:rPr>
              <a:t>architecture</a:t>
            </a:r>
            <a:endParaRPr lang="en-GB" sz="2000" dirty="0">
              <a:latin typeface="Carlito"/>
              <a:cs typeface="Carlito"/>
            </a:endParaRPr>
          </a:p>
          <a:p>
            <a:pPr marL="756285" lvl="1" indent="-287020">
              <a:lnSpc>
                <a:spcPct val="100000"/>
              </a:lnSpc>
              <a:spcBef>
                <a:spcPts val="480"/>
              </a:spcBef>
              <a:buFont typeface="Arial"/>
              <a:buChar char="–"/>
              <a:tabLst>
                <a:tab pos="756285" algn="l"/>
                <a:tab pos="756920" algn="l"/>
              </a:tabLst>
            </a:pPr>
            <a:r>
              <a:rPr lang="en-GB" sz="2000" dirty="0">
                <a:solidFill>
                  <a:srgbClr val="FF0000"/>
                </a:solidFill>
                <a:latin typeface="Carlito"/>
                <a:cs typeface="Carlito"/>
              </a:rPr>
              <a:t>Demand </a:t>
            </a:r>
            <a:r>
              <a:rPr lang="en-GB" sz="2000" dirty="0">
                <a:latin typeface="Carlito"/>
                <a:cs typeface="Carlito"/>
              </a:rPr>
              <a:t>is</a:t>
            </a:r>
            <a:r>
              <a:rPr lang="en-GB" sz="2000" spc="-20" dirty="0">
                <a:latin typeface="Carlito"/>
                <a:cs typeface="Carlito"/>
              </a:rPr>
              <a:t> </a:t>
            </a:r>
            <a:r>
              <a:rPr lang="en-GB" sz="2000" spc="-5" dirty="0">
                <a:latin typeface="Carlito"/>
                <a:cs typeface="Carlito"/>
              </a:rPr>
              <a:t>increasing</a:t>
            </a:r>
            <a:endParaRPr lang="en-GB" sz="2000" dirty="0">
              <a:latin typeface="Carlito"/>
              <a:cs typeface="Carlito"/>
            </a:endParaRPr>
          </a:p>
          <a:p>
            <a:pPr marL="1155065" lvl="2" indent="-229235">
              <a:lnSpc>
                <a:spcPct val="100000"/>
              </a:lnSpc>
              <a:spcBef>
                <a:spcPts val="480"/>
              </a:spcBef>
              <a:buFont typeface="Arial"/>
              <a:buChar char="•"/>
              <a:tabLst>
                <a:tab pos="1155065" algn="l"/>
                <a:tab pos="1155700" algn="l"/>
              </a:tabLst>
            </a:pPr>
            <a:r>
              <a:rPr lang="en-GB" sz="2000" spc="-5" dirty="0">
                <a:latin typeface="Carlito"/>
                <a:cs typeface="Carlito"/>
              </a:rPr>
              <a:t>Cloud computing </a:t>
            </a:r>
            <a:r>
              <a:rPr lang="en-GB" sz="2000" dirty="0">
                <a:latin typeface="Carlito"/>
                <a:cs typeface="Carlito"/>
              </a:rPr>
              <a:t>and Big</a:t>
            </a:r>
            <a:r>
              <a:rPr lang="en-GB" sz="2000" spc="-60" dirty="0">
                <a:latin typeface="Carlito"/>
                <a:cs typeface="Carlito"/>
              </a:rPr>
              <a:t> </a:t>
            </a:r>
            <a:r>
              <a:rPr lang="en-GB" sz="2000" spc="-15" dirty="0">
                <a:latin typeface="Carlito"/>
                <a:cs typeface="Carlito"/>
              </a:rPr>
              <a:t>data</a:t>
            </a:r>
            <a:endParaRPr lang="en-GB" sz="2000" dirty="0">
              <a:latin typeface="Carlito"/>
              <a:cs typeface="Carlito"/>
            </a:endParaRPr>
          </a:p>
          <a:p>
            <a:pPr marL="1155065" lvl="2" indent="-229235">
              <a:lnSpc>
                <a:spcPct val="100000"/>
              </a:lnSpc>
              <a:spcBef>
                <a:spcPts val="480"/>
              </a:spcBef>
              <a:buFont typeface="Arial"/>
              <a:buChar char="•"/>
              <a:tabLst>
                <a:tab pos="1155065" algn="l"/>
                <a:tab pos="1155700" algn="l"/>
              </a:tabLst>
            </a:pPr>
            <a:r>
              <a:rPr lang="en-GB" sz="2000" dirty="0">
                <a:latin typeface="Carlito"/>
                <a:cs typeface="Carlito"/>
              </a:rPr>
              <a:t>Mobile </a:t>
            </a:r>
            <a:r>
              <a:rPr lang="en-GB" sz="2000" spc="-15" dirty="0">
                <a:latin typeface="Carlito"/>
                <a:cs typeface="Carlito"/>
              </a:rPr>
              <a:t>traffic </a:t>
            </a:r>
            <a:r>
              <a:rPr lang="en-GB" sz="2000" dirty="0">
                <a:latin typeface="Carlito"/>
                <a:cs typeface="Carlito"/>
              </a:rPr>
              <a:t>and </a:t>
            </a:r>
            <a:r>
              <a:rPr lang="en-GB" sz="2000" spc="-5" dirty="0">
                <a:latin typeface="Carlito"/>
                <a:cs typeface="Carlito"/>
              </a:rPr>
              <a:t>The </a:t>
            </a:r>
            <a:r>
              <a:rPr lang="en-GB" sz="2000" spc="-10" dirty="0">
                <a:latin typeface="Carlito"/>
                <a:cs typeface="Carlito"/>
              </a:rPr>
              <a:t>Internet </a:t>
            </a:r>
            <a:r>
              <a:rPr lang="en-GB" sz="2000" spc="-5" dirty="0">
                <a:latin typeface="Carlito"/>
                <a:cs typeface="Carlito"/>
              </a:rPr>
              <a:t>of Things</a:t>
            </a:r>
            <a:r>
              <a:rPr lang="en-GB" sz="2000" spc="5" dirty="0">
                <a:latin typeface="Carlito"/>
                <a:cs typeface="Carlito"/>
              </a:rPr>
              <a:t> </a:t>
            </a:r>
            <a:r>
              <a:rPr lang="en-GB" sz="2000" spc="-5" dirty="0">
                <a:latin typeface="Carlito"/>
                <a:cs typeface="Carlito"/>
              </a:rPr>
              <a:t>(</a:t>
            </a:r>
            <a:r>
              <a:rPr lang="en-GB" sz="2000" spc="-5" dirty="0" err="1">
                <a:latin typeface="Carlito"/>
                <a:cs typeface="Carlito"/>
              </a:rPr>
              <a:t>IoT</a:t>
            </a:r>
            <a:r>
              <a:rPr lang="en-GB" sz="2000" spc="-5" dirty="0">
                <a:latin typeface="Carlito"/>
                <a:cs typeface="Carlito"/>
              </a:rPr>
              <a:t>)</a:t>
            </a:r>
            <a:endParaRPr lang="en-GB" sz="2000" dirty="0">
              <a:latin typeface="Carlito"/>
              <a:cs typeface="Carlito"/>
            </a:endParaRPr>
          </a:p>
          <a:p>
            <a:pPr marL="756285" lvl="1" indent="-287020">
              <a:lnSpc>
                <a:spcPct val="100000"/>
              </a:lnSpc>
              <a:spcBef>
                <a:spcPts val="480"/>
              </a:spcBef>
              <a:buFont typeface="Arial"/>
              <a:buChar char="–"/>
              <a:tabLst>
                <a:tab pos="756285" algn="l"/>
                <a:tab pos="756920" algn="l"/>
              </a:tabLst>
            </a:pPr>
            <a:r>
              <a:rPr lang="en-GB" sz="2000" dirty="0">
                <a:solidFill>
                  <a:srgbClr val="FF0000"/>
                </a:solidFill>
                <a:latin typeface="Carlito"/>
                <a:cs typeface="Carlito"/>
              </a:rPr>
              <a:t>Supply </a:t>
            </a:r>
            <a:r>
              <a:rPr lang="en-GB" sz="2000" dirty="0">
                <a:latin typeface="Carlito"/>
                <a:cs typeface="Carlito"/>
              </a:rPr>
              <a:t>is</a:t>
            </a:r>
            <a:r>
              <a:rPr lang="en-GB" sz="2000" spc="-30" dirty="0">
                <a:latin typeface="Carlito"/>
                <a:cs typeface="Carlito"/>
              </a:rPr>
              <a:t> </a:t>
            </a:r>
            <a:r>
              <a:rPr lang="en-GB" sz="2000" spc="-5" dirty="0">
                <a:latin typeface="Carlito"/>
                <a:cs typeface="Carlito"/>
              </a:rPr>
              <a:t>increasing</a:t>
            </a:r>
            <a:endParaRPr lang="en-GB" sz="2000" dirty="0">
              <a:latin typeface="Carlito"/>
              <a:cs typeface="Carlito"/>
            </a:endParaRPr>
          </a:p>
          <a:p>
            <a:pPr marL="1155065" marR="5080" lvl="2" indent="-228600">
              <a:lnSpc>
                <a:spcPct val="100000"/>
              </a:lnSpc>
              <a:spcBef>
                <a:spcPts val="484"/>
              </a:spcBef>
              <a:buFont typeface="Arial"/>
              <a:buChar char="•"/>
              <a:tabLst>
                <a:tab pos="1155065" algn="l"/>
                <a:tab pos="1155700" algn="l"/>
              </a:tabLst>
            </a:pPr>
            <a:r>
              <a:rPr lang="en-GB" sz="2000" dirty="0">
                <a:latin typeface="Carlito"/>
                <a:cs typeface="Carlito"/>
              </a:rPr>
              <a:t>As the </a:t>
            </a:r>
            <a:r>
              <a:rPr lang="en-GB" sz="2000" spc="-5" dirty="0">
                <a:latin typeface="Carlito"/>
                <a:cs typeface="Carlito"/>
              </a:rPr>
              <a:t>demand on </a:t>
            </a:r>
            <a:r>
              <a:rPr lang="en-GB" sz="2000" spc="-10" dirty="0">
                <a:latin typeface="Carlito"/>
                <a:cs typeface="Carlito"/>
              </a:rPr>
              <a:t>networks </a:t>
            </a:r>
            <a:r>
              <a:rPr lang="en-GB" sz="2000" dirty="0">
                <a:latin typeface="Carlito"/>
                <a:cs typeface="Carlito"/>
              </a:rPr>
              <a:t>is rising, </a:t>
            </a:r>
            <a:r>
              <a:rPr lang="en-GB" sz="2000" spc="-10" dirty="0">
                <a:latin typeface="Carlito"/>
                <a:cs typeface="Carlito"/>
              </a:rPr>
              <a:t>so </a:t>
            </a:r>
            <a:r>
              <a:rPr lang="en-GB" sz="2000" dirty="0">
                <a:latin typeface="Carlito"/>
                <a:cs typeface="Carlito"/>
              </a:rPr>
              <a:t>is the capacity </a:t>
            </a:r>
            <a:r>
              <a:rPr lang="en-GB" sz="2000" spc="-5" dirty="0">
                <a:latin typeface="Carlito"/>
                <a:cs typeface="Carlito"/>
              </a:rPr>
              <a:t>of </a:t>
            </a:r>
            <a:r>
              <a:rPr lang="en-GB" sz="2000" spc="-10" dirty="0">
                <a:latin typeface="Carlito"/>
                <a:cs typeface="Carlito"/>
              </a:rPr>
              <a:t>network  </a:t>
            </a:r>
            <a:r>
              <a:rPr lang="en-GB" sz="2000" spc="-5" dirty="0">
                <a:latin typeface="Carlito"/>
                <a:cs typeface="Carlito"/>
              </a:rPr>
              <a:t>technologies </a:t>
            </a:r>
            <a:r>
              <a:rPr lang="en-GB" sz="2000" spc="-15" dirty="0">
                <a:latin typeface="Carlito"/>
                <a:cs typeface="Carlito"/>
              </a:rPr>
              <a:t>to </a:t>
            </a:r>
            <a:r>
              <a:rPr lang="en-GB" sz="2000" spc="-5" dirty="0">
                <a:latin typeface="Carlito"/>
                <a:cs typeface="Carlito"/>
              </a:rPr>
              <a:t>absorb rising</a:t>
            </a:r>
            <a:r>
              <a:rPr lang="en-GB" sz="2000" spc="-10" dirty="0">
                <a:latin typeface="Carlito"/>
                <a:cs typeface="Carlito"/>
              </a:rPr>
              <a:t> </a:t>
            </a:r>
            <a:r>
              <a:rPr lang="en-GB" sz="2000" dirty="0">
                <a:latin typeface="Carlito"/>
                <a:cs typeface="Carlito"/>
              </a:rPr>
              <a:t>load</a:t>
            </a:r>
          </a:p>
          <a:p>
            <a:pPr marL="756285" lvl="1" indent="-287020">
              <a:lnSpc>
                <a:spcPct val="100000"/>
              </a:lnSpc>
              <a:spcBef>
                <a:spcPts val="480"/>
              </a:spcBef>
              <a:buFont typeface="Arial"/>
              <a:buChar char="–"/>
              <a:tabLst>
                <a:tab pos="756285" algn="l"/>
                <a:tab pos="756920" algn="l"/>
              </a:tabLst>
            </a:pPr>
            <a:r>
              <a:rPr lang="en-GB" sz="2000" spc="-5" dirty="0">
                <a:latin typeface="Carlito"/>
                <a:cs typeface="Carlito"/>
              </a:rPr>
              <a:t>Dynamic </a:t>
            </a:r>
            <a:r>
              <a:rPr lang="en-GB" sz="2000" dirty="0">
                <a:latin typeface="Carlito"/>
                <a:cs typeface="Carlito"/>
              </a:rPr>
              <a:t>and </a:t>
            </a:r>
            <a:r>
              <a:rPr lang="en-GB" sz="2000" spc="-10" dirty="0">
                <a:latin typeface="Carlito"/>
                <a:cs typeface="Carlito"/>
              </a:rPr>
              <a:t>complex </a:t>
            </a:r>
            <a:r>
              <a:rPr lang="en-GB" sz="2000" spc="-15" dirty="0">
                <a:solidFill>
                  <a:srgbClr val="FF0000"/>
                </a:solidFill>
                <a:latin typeface="Carlito"/>
                <a:cs typeface="Carlito"/>
              </a:rPr>
              <a:t>traffic</a:t>
            </a:r>
            <a:r>
              <a:rPr lang="en-GB" sz="2000" dirty="0">
                <a:solidFill>
                  <a:srgbClr val="FF0000"/>
                </a:solidFill>
                <a:latin typeface="Carlito"/>
                <a:cs typeface="Carlito"/>
              </a:rPr>
              <a:t> </a:t>
            </a:r>
            <a:r>
              <a:rPr lang="en-GB" sz="2000" spc="-10" dirty="0">
                <a:solidFill>
                  <a:srgbClr val="FF0000"/>
                </a:solidFill>
                <a:latin typeface="Carlito"/>
                <a:cs typeface="Carlito"/>
              </a:rPr>
              <a:t>patterns</a:t>
            </a:r>
            <a:endParaRPr lang="en-GB" sz="2000" dirty="0">
              <a:latin typeface="Carlito"/>
              <a:cs typeface="Carlito"/>
            </a:endParaRPr>
          </a:p>
          <a:p>
            <a:pPr marL="1155065" lvl="2" indent="-229235">
              <a:lnSpc>
                <a:spcPct val="100000"/>
              </a:lnSpc>
              <a:spcBef>
                <a:spcPts val="480"/>
              </a:spcBef>
              <a:buFont typeface="Arial"/>
              <a:buChar char="•"/>
              <a:tabLst>
                <a:tab pos="1155065" algn="l"/>
                <a:tab pos="1155700" algn="l"/>
              </a:tabLst>
            </a:pPr>
            <a:r>
              <a:rPr lang="en-GB" sz="2000" spc="-10" dirty="0">
                <a:latin typeface="Carlito"/>
                <a:cs typeface="Carlito"/>
              </a:rPr>
              <a:t>“horizontal” </a:t>
            </a:r>
            <a:r>
              <a:rPr lang="en-GB" sz="2000" spc="-15" dirty="0">
                <a:latin typeface="Carlito"/>
                <a:cs typeface="Carlito"/>
              </a:rPr>
              <a:t>traffic </a:t>
            </a:r>
            <a:r>
              <a:rPr lang="en-GB" sz="2000" spc="-5" dirty="0">
                <a:latin typeface="Carlito"/>
                <a:cs typeface="Carlito"/>
              </a:rPr>
              <a:t>between </a:t>
            </a:r>
            <a:r>
              <a:rPr lang="en-GB" sz="2000" spc="-10" dirty="0">
                <a:latin typeface="Carlito"/>
                <a:cs typeface="Carlito"/>
              </a:rPr>
              <a:t>servers </a:t>
            </a:r>
            <a:r>
              <a:rPr lang="en-GB" sz="2000" dirty="0">
                <a:latin typeface="Carlito"/>
                <a:cs typeface="Carlito"/>
              </a:rPr>
              <a:t>as </a:t>
            </a:r>
            <a:r>
              <a:rPr lang="en-GB" sz="2000" spc="-5" dirty="0">
                <a:latin typeface="Carlito"/>
                <a:cs typeface="Carlito"/>
              </a:rPr>
              <a:t>well </a:t>
            </a:r>
            <a:r>
              <a:rPr lang="en-GB" sz="2000" dirty="0">
                <a:latin typeface="Carlito"/>
                <a:cs typeface="Carlito"/>
              </a:rPr>
              <a:t>as </a:t>
            </a:r>
            <a:r>
              <a:rPr lang="en-GB" sz="2000" spc="-5" dirty="0">
                <a:latin typeface="Carlito"/>
                <a:cs typeface="Carlito"/>
              </a:rPr>
              <a:t>“vertical”</a:t>
            </a:r>
            <a:r>
              <a:rPr lang="en-GB" sz="2000" spc="60" dirty="0">
                <a:latin typeface="Carlito"/>
                <a:cs typeface="Carlito"/>
              </a:rPr>
              <a:t> </a:t>
            </a:r>
            <a:r>
              <a:rPr lang="en-GB" sz="2000" spc="-15" dirty="0">
                <a:latin typeface="Carlito"/>
                <a:cs typeface="Carlito"/>
              </a:rPr>
              <a:t>traffic</a:t>
            </a:r>
            <a:endParaRPr lang="en-GB" sz="2000" dirty="0">
              <a:latin typeface="Carlito"/>
              <a:cs typeface="Carlito"/>
            </a:endParaRPr>
          </a:p>
          <a:p>
            <a:pPr marL="1155065">
              <a:lnSpc>
                <a:spcPct val="100000"/>
              </a:lnSpc>
            </a:pPr>
            <a:r>
              <a:rPr lang="en-GB" sz="2000" spc="-5" dirty="0">
                <a:latin typeface="Carlito"/>
                <a:cs typeface="Carlito"/>
              </a:rPr>
              <a:t>between </a:t>
            </a:r>
            <a:r>
              <a:rPr lang="en-GB" sz="2000" spc="-10" dirty="0">
                <a:latin typeface="Carlito"/>
                <a:cs typeface="Carlito"/>
              </a:rPr>
              <a:t>servers </a:t>
            </a:r>
            <a:r>
              <a:rPr lang="en-GB" sz="2000" dirty="0">
                <a:latin typeface="Carlito"/>
                <a:cs typeface="Carlito"/>
              </a:rPr>
              <a:t>and</a:t>
            </a:r>
            <a:r>
              <a:rPr lang="en-GB" sz="2000" spc="15" dirty="0">
                <a:latin typeface="Carlito"/>
                <a:cs typeface="Carlito"/>
              </a:rPr>
              <a:t> </a:t>
            </a:r>
            <a:r>
              <a:rPr lang="en-GB" sz="2000" spc="-5" dirty="0">
                <a:latin typeface="Carlito"/>
                <a:cs typeface="Carlito"/>
              </a:rPr>
              <a:t>clients.</a:t>
            </a:r>
            <a:endParaRPr lang="en-GB" sz="2000" dirty="0">
              <a:latin typeface="Carlito"/>
              <a:cs typeface="Carlito"/>
            </a:endParaRPr>
          </a:p>
          <a:p>
            <a:pPr marL="1155065" lvl="2" indent="-229235">
              <a:lnSpc>
                <a:spcPct val="100000"/>
              </a:lnSpc>
              <a:spcBef>
                <a:spcPts val="480"/>
              </a:spcBef>
              <a:buFont typeface="Arial"/>
              <a:buChar char="•"/>
              <a:tabLst>
                <a:tab pos="1155065" algn="l"/>
                <a:tab pos="1155700" algn="l"/>
              </a:tabLst>
            </a:pPr>
            <a:r>
              <a:rPr lang="en-GB" sz="2000" spc="-5" dirty="0">
                <a:latin typeface="Carlito"/>
                <a:cs typeface="Carlito"/>
              </a:rPr>
              <a:t>unpredictable </a:t>
            </a:r>
            <a:r>
              <a:rPr lang="en-GB" sz="2000" spc="-15" dirty="0">
                <a:latin typeface="Carlito"/>
                <a:cs typeface="Carlito"/>
              </a:rPr>
              <a:t>traffic </a:t>
            </a:r>
            <a:r>
              <a:rPr lang="en-GB" sz="2000" spc="-10" dirty="0">
                <a:latin typeface="Carlito"/>
                <a:cs typeface="Carlito"/>
              </a:rPr>
              <a:t>patterns, often </a:t>
            </a:r>
            <a:r>
              <a:rPr lang="en-GB" sz="2000" spc="-5" dirty="0">
                <a:latin typeface="Carlito"/>
                <a:cs typeface="Carlito"/>
              </a:rPr>
              <a:t>of </a:t>
            </a:r>
            <a:r>
              <a:rPr lang="en-GB" sz="2000" spc="-10" dirty="0">
                <a:latin typeface="Carlito"/>
                <a:cs typeface="Carlito"/>
              </a:rPr>
              <a:t>large </a:t>
            </a:r>
            <a:r>
              <a:rPr lang="en-GB" sz="2000" spc="-5" dirty="0">
                <a:latin typeface="Carlito"/>
                <a:cs typeface="Carlito"/>
              </a:rPr>
              <a:t>multimedia</a:t>
            </a:r>
            <a:r>
              <a:rPr lang="en-GB" sz="2000" spc="90" dirty="0">
                <a:latin typeface="Carlito"/>
                <a:cs typeface="Carlito"/>
              </a:rPr>
              <a:t> </a:t>
            </a:r>
            <a:r>
              <a:rPr lang="en-GB" sz="2000" spc="-15" dirty="0">
                <a:latin typeface="Carlito"/>
                <a:cs typeface="Carlito"/>
              </a:rPr>
              <a:t>data</a:t>
            </a:r>
            <a:endParaRPr lang="en-GB" sz="2000" dirty="0">
              <a:latin typeface="Carlito"/>
              <a:cs typeface="Carlito"/>
            </a:endParaRPr>
          </a:p>
          <a:p>
            <a:pPr marL="1155065">
              <a:lnSpc>
                <a:spcPct val="100000"/>
              </a:lnSpc>
            </a:pPr>
            <a:r>
              <a:rPr lang="en-GB" sz="2000" spc="-20" dirty="0">
                <a:latin typeface="Carlito"/>
                <a:cs typeface="Carlito"/>
              </a:rPr>
              <a:t>transfers </a:t>
            </a:r>
            <a:r>
              <a:rPr lang="en-GB" sz="2000" dirty="0">
                <a:latin typeface="Carlito"/>
                <a:cs typeface="Carlito"/>
              </a:rPr>
              <a:t>due </a:t>
            </a:r>
            <a:r>
              <a:rPr lang="en-GB" sz="2000" spc="-10" dirty="0">
                <a:latin typeface="Carlito"/>
                <a:cs typeface="Carlito"/>
              </a:rPr>
              <a:t>to network convergence </a:t>
            </a:r>
            <a:r>
              <a:rPr lang="en-GB" sz="2000" dirty="0">
                <a:latin typeface="Carlito"/>
                <a:cs typeface="Carlito"/>
              </a:rPr>
              <a:t>of </a:t>
            </a:r>
            <a:r>
              <a:rPr lang="en-GB" sz="2000" spc="-5" dirty="0">
                <a:latin typeface="Carlito"/>
                <a:cs typeface="Carlito"/>
              </a:rPr>
              <a:t>voice, </a:t>
            </a:r>
            <a:r>
              <a:rPr lang="en-GB" sz="2000" spc="-10" dirty="0">
                <a:latin typeface="Carlito"/>
                <a:cs typeface="Carlito"/>
              </a:rPr>
              <a:t>data, </a:t>
            </a:r>
            <a:r>
              <a:rPr lang="en-GB" sz="2000" dirty="0">
                <a:latin typeface="Carlito"/>
                <a:cs typeface="Carlito"/>
              </a:rPr>
              <a:t>and</a:t>
            </a:r>
            <a:r>
              <a:rPr lang="en-GB" sz="2000" spc="25" dirty="0">
                <a:latin typeface="Carlito"/>
                <a:cs typeface="Carlito"/>
              </a:rPr>
              <a:t> </a:t>
            </a:r>
            <a:r>
              <a:rPr lang="en-GB" sz="2000" spc="-5" dirty="0">
                <a:latin typeface="Carlito"/>
                <a:cs typeface="Carlito"/>
              </a:rPr>
              <a:t>video</a:t>
            </a:r>
            <a:endParaRPr lang="en-GB" sz="2000" dirty="0">
              <a:latin typeface="Carlito"/>
              <a:cs typeface="Carlito"/>
            </a:endParaRPr>
          </a:p>
          <a:p>
            <a:pPr marL="1155065" marR="579120" lvl="2" indent="-228600">
              <a:lnSpc>
                <a:spcPct val="100000"/>
              </a:lnSpc>
              <a:spcBef>
                <a:spcPts val="484"/>
              </a:spcBef>
              <a:buFont typeface="Arial"/>
              <a:buChar char="•"/>
              <a:tabLst>
                <a:tab pos="1155065" algn="l"/>
                <a:tab pos="1155700" algn="l"/>
              </a:tabLst>
            </a:pPr>
            <a:r>
              <a:rPr lang="en-GB" sz="2000" dirty="0">
                <a:latin typeface="Carlito"/>
                <a:cs typeface="Carlito"/>
              </a:rPr>
              <a:t>Unified </a:t>
            </a:r>
            <a:r>
              <a:rPr lang="en-GB" sz="2000" spc="-5" dirty="0">
                <a:latin typeface="Carlito"/>
                <a:cs typeface="Carlito"/>
              </a:rPr>
              <a:t>communications (UC) </a:t>
            </a:r>
            <a:r>
              <a:rPr lang="en-GB" sz="2000" spc="-10" dirty="0">
                <a:latin typeface="Carlito"/>
                <a:cs typeface="Carlito"/>
              </a:rPr>
              <a:t>strategies </a:t>
            </a:r>
            <a:r>
              <a:rPr lang="en-GB" sz="2000" spc="-15" dirty="0">
                <a:latin typeface="Carlito"/>
                <a:cs typeface="Carlito"/>
              </a:rPr>
              <a:t>involve </a:t>
            </a:r>
            <a:r>
              <a:rPr lang="en-GB" sz="2000" spc="-10" dirty="0">
                <a:latin typeface="Carlito"/>
                <a:cs typeface="Carlito"/>
              </a:rPr>
              <a:t>heavy </a:t>
            </a:r>
            <a:r>
              <a:rPr lang="en-GB" sz="2000" spc="-5" dirty="0">
                <a:latin typeface="Carlito"/>
                <a:cs typeface="Carlito"/>
              </a:rPr>
              <a:t>use of  applications that </a:t>
            </a:r>
            <a:r>
              <a:rPr lang="en-GB" sz="2000" dirty="0">
                <a:latin typeface="Carlito"/>
                <a:cs typeface="Carlito"/>
              </a:rPr>
              <a:t>trigger access </a:t>
            </a:r>
            <a:r>
              <a:rPr lang="en-GB" sz="2000" spc="-15" dirty="0">
                <a:latin typeface="Carlito"/>
                <a:cs typeface="Carlito"/>
              </a:rPr>
              <a:t>to </a:t>
            </a:r>
            <a:r>
              <a:rPr lang="en-GB" sz="2000" spc="-5" dirty="0">
                <a:latin typeface="Carlito"/>
                <a:cs typeface="Carlito"/>
              </a:rPr>
              <a:t>multiple</a:t>
            </a:r>
            <a:r>
              <a:rPr lang="en-GB" sz="2000" spc="20" dirty="0">
                <a:latin typeface="Carlito"/>
                <a:cs typeface="Carlito"/>
              </a:rPr>
              <a:t> </a:t>
            </a:r>
            <a:r>
              <a:rPr lang="en-GB" sz="2000" spc="-10" dirty="0">
                <a:latin typeface="Carlito"/>
                <a:cs typeface="Carlito"/>
              </a:rPr>
              <a:t>servers.</a:t>
            </a:r>
            <a:endParaRPr lang="en-GB" sz="2000" dirty="0">
              <a:latin typeface="Carlito"/>
              <a:cs typeface="Carlito"/>
            </a:endParaRPr>
          </a:p>
          <a:p>
            <a:pPr marL="355600" indent="-342900">
              <a:lnSpc>
                <a:spcPct val="100000"/>
              </a:lnSpc>
              <a:spcBef>
                <a:spcPts val="375"/>
              </a:spcBef>
              <a:buFont typeface="Arial"/>
              <a:buChar char="•"/>
              <a:tabLst>
                <a:tab pos="354965" algn="l"/>
                <a:tab pos="355600" algn="l"/>
              </a:tabLst>
            </a:pPr>
            <a:r>
              <a:rPr lang="en-GB" sz="3200" spc="-10" dirty="0">
                <a:latin typeface="Carlito"/>
                <a:cs typeface="Carlito"/>
              </a:rPr>
              <a:t>Elastic</a:t>
            </a:r>
            <a:r>
              <a:rPr lang="en-GB" sz="3200" spc="10" dirty="0">
                <a:latin typeface="Carlito"/>
                <a:cs typeface="Carlito"/>
              </a:rPr>
              <a:t> </a:t>
            </a:r>
            <a:r>
              <a:rPr lang="en-GB" sz="3200" spc="-50" dirty="0">
                <a:latin typeface="Carlito"/>
                <a:cs typeface="Carlito"/>
              </a:rPr>
              <a:t>Traffic</a:t>
            </a:r>
            <a:endParaRPr lang="en-GB" sz="3200" dirty="0">
              <a:latin typeface="Carlito"/>
              <a:cs typeface="Carlito"/>
            </a:endParaRPr>
          </a:p>
          <a:p>
            <a:pPr marL="1134745" marR="257810" lvl="1" indent="-342900" algn="just">
              <a:lnSpc>
                <a:spcPts val="2920"/>
              </a:lnSpc>
              <a:spcBef>
                <a:spcPts val="600"/>
              </a:spcBef>
              <a:buFont typeface="Arial"/>
              <a:buChar char="•"/>
              <a:tabLst>
                <a:tab pos="1135380" algn="l"/>
              </a:tabLst>
            </a:pPr>
            <a:r>
              <a:rPr lang="en-GB" sz="2700" spc="-5" dirty="0">
                <a:latin typeface="Carlito"/>
                <a:cs typeface="Carlito"/>
              </a:rPr>
              <a:t>Can adjust, </a:t>
            </a:r>
            <a:r>
              <a:rPr lang="en-GB" sz="2700" spc="-10" dirty="0">
                <a:latin typeface="Carlito"/>
                <a:cs typeface="Carlito"/>
              </a:rPr>
              <a:t>over </a:t>
            </a:r>
            <a:r>
              <a:rPr lang="en-GB" sz="2700" dirty="0">
                <a:latin typeface="Carlito"/>
                <a:cs typeface="Carlito"/>
              </a:rPr>
              <a:t>wide </a:t>
            </a:r>
            <a:r>
              <a:rPr lang="en-GB" sz="2700" spc="-15" dirty="0">
                <a:latin typeface="Carlito"/>
                <a:cs typeface="Carlito"/>
              </a:rPr>
              <a:t>ranges, to </a:t>
            </a:r>
            <a:r>
              <a:rPr lang="en-GB" sz="2700" spc="-5" dirty="0">
                <a:latin typeface="Carlito"/>
                <a:cs typeface="Carlito"/>
              </a:rPr>
              <a:t>changes </a:t>
            </a:r>
            <a:r>
              <a:rPr lang="en-GB" sz="2700" dirty="0">
                <a:latin typeface="Carlito"/>
                <a:cs typeface="Carlito"/>
              </a:rPr>
              <a:t>in</a:t>
            </a:r>
            <a:r>
              <a:rPr lang="en-GB" sz="2700" spc="-105" dirty="0">
                <a:latin typeface="Carlito"/>
                <a:cs typeface="Carlito"/>
              </a:rPr>
              <a:t> </a:t>
            </a:r>
            <a:r>
              <a:rPr lang="en-GB" sz="2700" spc="-15" dirty="0">
                <a:latin typeface="Carlito"/>
                <a:cs typeface="Carlito"/>
              </a:rPr>
              <a:t>delay  </a:t>
            </a:r>
            <a:r>
              <a:rPr lang="en-GB" sz="2700" dirty="0">
                <a:latin typeface="Carlito"/>
                <a:cs typeface="Carlito"/>
              </a:rPr>
              <a:t>and </a:t>
            </a:r>
            <a:r>
              <a:rPr lang="en-GB" sz="2700" spc="-10" dirty="0">
                <a:latin typeface="Carlito"/>
                <a:cs typeface="Carlito"/>
              </a:rPr>
              <a:t>throughput </a:t>
            </a:r>
            <a:r>
              <a:rPr lang="en-GB" sz="2700" spc="-15" dirty="0">
                <a:latin typeface="Carlito"/>
                <a:cs typeface="Carlito"/>
              </a:rPr>
              <a:t>across </a:t>
            </a:r>
            <a:r>
              <a:rPr lang="en-GB" sz="2700" dirty="0">
                <a:latin typeface="Carlito"/>
                <a:cs typeface="Carlito"/>
              </a:rPr>
              <a:t>an </a:t>
            </a:r>
            <a:r>
              <a:rPr lang="en-GB" sz="2700" spc="-10" dirty="0">
                <a:latin typeface="Carlito"/>
                <a:cs typeface="Carlito"/>
              </a:rPr>
              <a:t>internet </a:t>
            </a:r>
            <a:r>
              <a:rPr lang="en-GB" sz="2700" dirty="0">
                <a:latin typeface="Carlito"/>
                <a:cs typeface="Carlito"/>
              </a:rPr>
              <a:t>and </a:t>
            </a:r>
            <a:r>
              <a:rPr lang="en-GB" sz="2700" spc="-10" dirty="0">
                <a:latin typeface="Carlito"/>
                <a:cs typeface="Carlito"/>
              </a:rPr>
              <a:t>still </a:t>
            </a:r>
            <a:r>
              <a:rPr lang="en-GB" sz="2700" spc="-5" dirty="0">
                <a:latin typeface="Carlito"/>
                <a:cs typeface="Carlito"/>
              </a:rPr>
              <a:t>meet  </a:t>
            </a:r>
            <a:r>
              <a:rPr lang="en-GB" sz="2700" dirty="0">
                <a:latin typeface="Carlito"/>
                <a:cs typeface="Carlito"/>
              </a:rPr>
              <a:t>the </a:t>
            </a:r>
            <a:r>
              <a:rPr lang="en-GB" sz="2700" spc="-5" dirty="0">
                <a:latin typeface="Carlito"/>
                <a:cs typeface="Carlito"/>
              </a:rPr>
              <a:t>needs of </a:t>
            </a:r>
            <a:r>
              <a:rPr lang="en-GB" sz="2700" dirty="0">
                <a:latin typeface="Carlito"/>
                <a:cs typeface="Carlito"/>
              </a:rPr>
              <a:t>its</a:t>
            </a:r>
            <a:r>
              <a:rPr lang="en-GB" sz="2700" spc="-55" dirty="0">
                <a:latin typeface="Carlito"/>
                <a:cs typeface="Carlito"/>
              </a:rPr>
              <a:t> </a:t>
            </a:r>
            <a:r>
              <a:rPr lang="en-GB" sz="2700" spc="-5" dirty="0">
                <a:latin typeface="Carlito"/>
                <a:cs typeface="Carlito"/>
              </a:rPr>
              <a:t>applications</a:t>
            </a:r>
            <a:endParaRPr lang="en-GB" sz="2700" dirty="0">
              <a:latin typeface="Carlito"/>
              <a:cs typeface="Carlito"/>
            </a:endParaRPr>
          </a:p>
          <a:p>
            <a:pPr marL="1134745" marR="874394" lvl="1" indent="-342900">
              <a:lnSpc>
                <a:spcPts val="2920"/>
              </a:lnSpc>
              <a:spcBef>
                <a:spcPts val="635"/>
              </a:spcBef>
              <a:buFont typeface="Arial"/>
              <a:buChar char="•"/>
              <a:tabLst>
                <a:tab pos="1134745" algn="l"/>
                <a:tab pos="1135380" algn="l"/>
              </a:tabLst>
            </a:pPr>
            <a:r>
              <a:rPr lang="en-GB" sz="2700" dirty="0">
                <a:latin typeface="Carlito"/>
                <a:cs typeface="Carlito"/>
              </a:rPr>
              <a:t>Is the </a:t>
            </a:r>
            <a:r>
              <a:rPr lang="en-GB" sz="2700" spc="-10" dirty="0">
                <a:latin typeface="Carlito"/>
                <a:cs typeface="Carlito"/>
              </a:rPr>
              <a:t>traditional </a:t>
            </a:r>
            <a:r>
              <a:rPr lang="en-GB" sz="2700" spc="-5" dirty="0">
                <a:latin typeface="Carlito"/>
                <a:cs typeface="Carlito"/>
              </a:rPr>
              <a:t>type of </a:t>
            </a:r>
            <a:r>
              <a:rPr lang="en-GB" sz="2700" spc="-20" dirty="0">
                <a:latin typeface="Carlito"/>
                <a:cs typeface="Carlito"/>
              </a:rPr>
              <a:t>traffic </a:t>
            </a:r>
            <a:r>
              <a:rPr lang="en-GB" sz="2700" spc="-10" dirty="0">
                <a:latin typeface="Carlito"/>
                <a:cs typeface="Carlito"/>
              </a:rPr>
              <a:t>supported </a:t>
            </a:r>
            <a:r>
              <a:rPr lang="en-GB" sz="2700" spc="-5" dirty="0">
                <a:latin typeface="Carlito"/>
                <a:cs typeface="Carlito"/>
              </a:rPr>
              <a:t>on  </a:t>
            </a:r>
            <a:r>
              <a:rPr lang="en-GB" sz="2700" spc="-40" dirty="0">
                <a:latin typeface="Carlito"/>
                <a:cs typeface="Carlito"/>
              </a:rPr>
              <a:t>TCP/IP </a:t>
            </a:r>
            <a:r>
              <a:rPr lang="en-GB" sz="2700" spc="-5" dirty="0">
                <a:latin typeface="Carlito"/>
                <a:cs typeface="Carlito"/>
              </a:rPr>
              <a:t>based </a:t>
            </a:r>
            <a:r>
              <a:rPr lang="en-GB" sz="2700" spc="-10" dirty="0">
                <a:latin typeface="Carlito"/>
                <a:cs typeface="Carlito"/>
              </a:rPr>
              <a:t>internets</a:t>
            </a:r>
            <a:endParaRPr lang="en-GB" sz="2700" dirty="0">
              <a:latin typeface="Carlito"/>
              <a:cs typeface="Carlito"/>
            </a:endParaRPr>
          </a:p>
          <a:p>
            <a:pPr marL="1134745" marR="860425" lvl="1" indent="-342900">
              <a:lnSpc>
                <a:spcPts val="2920"/>
              </a:lnSpc>
              <a:spcBef>
                <a:spcPts val="640"/>
              </a:spcBef>
              <a:buFont typeface="Arial"/>
              <a:buChar char="•"/>
              <a:tabLst>
                <a:tab pos="1134745" algn="l"/>
                <a:tab pos="1135380" algn="l"/>
              </a:tabLst>
            </a:pPr>
            <a:r>
              <a:rPr lang="en-GB" sz="2700" dirty="0">
                <a:latin typeface="Carlito"/>
                <a:cs typeface="Carlito"/>
              </a:rPr>
              <a:t>Is </a:t>
            </a:r>
            <a:r>
              <a:rPr lang="en-GB" sz="2700" spc="-10" dirty="0">
                <a:latin typeface="Carlito"/>
                <a:cs typeface="Carlito"/>
              </a:rPr>
              <a:t>the </a:t>
            </a:r>
            <a:r>
              <a:rPr lang="en-GB" sz="2700" dirty="0">
                <a:latin typeface="Carlito"/>
                <a:cs typeface="Carlito"/>
              </a:rPr>
              <a:t>type </a:t>
            </a:r>
            <a:r>
              <a:rPr lang="en-GB" sz="2700" spc="-5" dirty="0">
                <a:latin typeface="Carlito"/>
                <a:cs typeface="Carlito"/>
              </a:rPr>
              <a:t>of </a:t>
            </a:r>
            <a:r>
              <a:rPr lang="en-GB" sz="2700" spc="-20" dirty="0">
                <a:latin typeface="Carlito"/>
                <a:cs typeface="Carlito"/>
              </a:rPr>
              <a:t>traffic </a:t>
            </a:r>
            <a:r>
              <a:rPr lang="en-GB" sz="2700" spc="-25" dirty="0">
                <a:latin typeface="Carlito"/>
                <a:cs typeface="Carlito"/>
              </a:rPr>
              <a:t>for </a:t>
            </a:r>
            <a:r>
              <a:rPr lang="en-GB" sz="2700" dirty="0">
                <a:latin typeface="Carlito"/>
                <a:cs typeface="Carlito"/>
              </a:rPr>
              <a:t>which </a:t>
            </a:r>
            <a:r>
              <a:rPr lang="en-GB" sz="2700" spc="-10" dirty="0">
                <a:latin typeface="Carlito"/>
                <a:cs typeface="Carlito"/>
              </a:rPr>
              <a:t>internets </a:t>
            </a:r>
            <a:r>
              <a:rPr lang="en-GB" sz="2700" spc="-20" dirty="0">
                <a:latin typeface="Carlito"/>
                <a:cs typeface="Carlito"/>
              </a:rPr>
              <a:t>were  </a:t>
            </a:r>
            <a:r>
              <a:rPr lang="en-GB" sz="2700" spc="-5" dirty="0">
                <a:latin typeface="Carlito"/>
                <a:cs typeface="Carlito"/>
              </a:rPr>
              <a:t>designed</a:t>
            </a:r>
            <a:endParaRPr lang="en-GB" sz="2700" dirty="0">
              <a:latin typeface="Carlito"/>
              <a:cs typeface="Carlito"/>
            </a:endParaRPr>
          </a:p>
          <a:p>
            <a:pPr marL="1134745" marR="5080" lvl="1" indent="-342900">
              <a:lnSpc>
                <a:spcPts val="2920"/>
              </a:lnSpc>
              <a:spcBef>
                <a:spcPts val="645"/>
              </a:spcBef>
              <a:buFont typeface="Arial"/>
              <a:buChar char="•"/>
              <a:tabLst>
                <a:tab pos="1134745" algn="l"/>
                <a:tab pos="1135380" algn="l"/>
              </a:tabLst>
            </a:pPr>
            <a:r>
              <a:rPr lang="en-GB" sz="2700" spc="-5" dirty="0">
                <a:latin typeface="Carlito"/>
                <a:cs typeface="Carlito"/>
              </a:rPr>
              <a:t>Applications </a:t>
            </a:r>
            <a:r>
              <a:rPr lang="en-GB" sz="2700" spc="-10" dirty="0">
                <a:latin typeface="Carlito"/>
                <a:cs typeface="Carlito"/>
              </a:rPr>
              <a:t>that </a:t>
            </a:r>
            <a:r>
              <a:rPr lang="en-GB" sz="2700" spc="-20" dirty="0">
                <a:latin typeface="Carlito"/>
                <a:cs typeface="Carlito"/>
              </a:rPr>
              <a:t>generate </a:t>
            </a:r>
            <a:r>
              <a:rPr lang="en-GB" sz="2700" spc="-5" dirty="0">
                <a:latin typeface="Carlito"/>
                <a:cs typeface="Carlito"/>
              </a:rPr>
              <a:t>such </a:t>
            </a:r>
            <a:r>
              <a:rPr lang="en-GB" sz="2700" spc="-20" dirty="0">
                <a:latin typeface="Carlito"/>
                <a:cs typeface="Carlito"/>
              </a:rPr>
              <a:t>traffic </a:t>
            </a:r>
            <a:r>
              <a:rPr lang="en-GB" sz="2700" spc="-5" dirty="0">
                <a:latin typeface="Carlito"/>
                <a:cs typeface="Carlito"/>
              </a:rPr>
              <a:t>typically </a:t>
            </a:r>
            <a:r>
              <a:rPr lang="en-GB" sz="2700" spc="-10" dirty="0">
                <a:latin typeface="Carlito"/>
                <a:cs typeface="Carlito"/>
              </a:rPr>
              <a:t>use  </a:t>
            </a:r>
            <a:r>
              <a:rPr lang="en-GB" sz="2700" spc="-20" dirty="0">
                <a:latin typeface="Carlito"/>
                <a:cs typeface="Carlito"/>
              </a:rPr>
              <a:t>Transmission </a:t>
            </a:r>
            <a:r>
              <a:rPr lang="en-GB" sz="2700" spc="-15" dirty="0">
                <a:latin typeface="Carlito"/>
                <a:cs typeface="Carlito"/>
              </a:rPr>
              <a:t>Control </a:t>
            </a:r>
            <a:r>
              <a:rPr lang="en-GB" sz="2700" spc="-20" dirty="0">
                <a:latin typeface="Carlito"/>
                <a:cs typeface="Carlito"/>
              </a:rPr>
              <a:t>Protocol </a:t>
            </a:r>
            <a:r>
              <a:rPr lang="en-GB" sz="2700" spc="-15" dirty="0">
                <a:latin typeface="Carlito"/>
                <a:cs typeface="Carlito"/>
              </a:rPr>
              <a:t>(TCP) </a:t>
            </a:r>
            <a:r>
              <a:rPr lang="en-GB" sz="2700" spc="-5" dirty="0">
                <a:latin typeface="Carlito"/>
                <a:cs typeface="Carlito"/>
              </a:rPr>
              <a:t>or </a:t>
            </a:r>
            <a:r>
              <a:rPr lang="en-GB" sz="2700" spc="-10" dirty="0">
                <a:latin typeface="Carlito"/>
                <a:cs typeface="Carlito"/>
              </a:rPr>
              <a:t>User  </a:t>
            </a:r>
            <a:r>
              <a:rPr lang="en-GB" sz="2700" spc="-20" dirty="0">
                <a:latin typeface="Carlito"/>
                <a:cs typeface="Carlito"/>
              </a:rPr>
              <a:t>Datagram Protocol </a:t>
            </a:r>
            <a:r>
              <a:rPr lang="en-GB" sz="2700" spc="-5" dirty="0">
                <a:latin typeface="Carlito"/>
                <a:cs typeface="Carlito"/>
              </a:rPr>
              <a:t>(UDP) </a:t>
            </a:r>
            <a:r>
              <a:rPr lang="en-GB" sz="2700" dirty="0">
                <a:latin typeface="Carlito"/>
                <a:cs typeface="Carlito"/>
              </a:rPr>
              <a:t>as a </a:t>
            </a:r>
            <a:r>
              <a:rPr lang="en-GB" sz="2700" spc="-10" dirty="0">
                <a:latin typeface="Carlito"/>
                <a:cs typeface="Carlito"/>
              </a:rPr>
              <a:t>transport </a:t>
            </a:r>
            <a:r>
              <a:rPr lang="en-GB" sz="2700" spc="-20" dirty="0">
                <a:latin typeface="Carlito"/>
                <a:cs typeface="Carlito"/>
              </a:rPr>
              <a:t>protocol</a:t>
            </a:r>
          </a:p>
          <a:p>
            <a:pPr marL="1134745" marR="5080" lvl="1" indent="-342900">
              <a:lnSpc>
                <a:spcPts val="2920"/>
              </a:lnSpc>
              <a:spcBef>
                <a:spcPts val="645"/>
              </a:spcBef>
              <a:buFont typeface="Arial"/>
              <a:buChar char="•"/>
              <a:tabLst>
                <a:tab pos="1134745" algn="l"/>
                <a:tab pos="1135380" algn="l"/>
              </a:tabLst>
            </a:pPr>
            <a:endParaRPr lang="en-GB" sz="2700" spc="-20" dirty="0">
              <a:latin typeface="Carlito"/>
              <a:cs typeface="Carlito"/>
            </a:endParaRPr>
          </a:p>
          <a:p>
            <a:pPr marL="355600" indent="-342900">
              <a:lnSpc>
                <a:spcPct val="100000"/>
              </a:lnSpc>
              <a:spcBef>
                <a:spcPts val="1495"/>
              </a:spcBef>
              <a:buFont typeface="Arial"/>
              <a:buChar char="•"/>
              <a:tabLst>
                <a:tab pos="354965" algn="l"/>
                <a:tab pos="355600" algn="l"/>
              </a:tabLst>
            </a:pPr>
            <a:r>
              <a:rPr lang="en-GB" sz="3200" spc="-10" dirty="0">
                <a:latin typeface="Carlito"/>
                <a:cs typeface="Carlito"/>
              </a:rPr>
              <a:t>Inelastic</a:t>
            </a:r>
            <a:r>
              <a:rPr lang="en-GB" sz="3200" spc="10" dirty="0">
                <a:latin typeface="Carlito"/>
                <a:cs typeface="Carlito"/>
              </a:rPr>
              <a:t> </a:t>
            </a:r>
            <a:r>
              <a:rPr lang="en-GB" sz="3200" spc="-50" dirty="0">
                <a:latin typeface="Carlito"/>
                <a:cs typeface="Carlito"/>
              </a:rPr>
              <a:t>Traffic</a:t>
            </a:r>
            <a:endParaRPr lang="en-GB" sz="3200" dirty="0">
              <a:latin typeface="Carlito"/>
              <a:cs typeface="Carlito"/>
            </a:endParaRPr>
          </a:p>
          <a:p>
            <a:pPr marL="1007110" marR="5080" lvl="1" indent="-342900" algn="just">
              <a:lnSpc>
                <a:spcPct val="100000"/>
              </a:lnSpc>
              <a:spcBef>
                <a:spcPts val="1215"/>
              </a:spcBef>
              <a:buFont typeface="Arial"/>
              <a:buChar char="•"/>
              <a:tabLst>
                <a:tab pos="1007744" algn="l"/>
              </a:tabLst>
            </a:pPr>
            <a:r>
              <a:rPr lang="en-GB" sz="2800" spc="-5" dirty="0">
                <a:latin typeface="Carlito"/>
                <a:cs typeface="Carlito"/>
              </a:rPr>
              <a:t>Does not easily </a:t>
            </a:r>
            <a:r>
              <a:rPr lang="en-GB" sz="2800" spc="-10" dirty="0">
                <a:latin typeface="Carlito"/>
                <a:cs typeface="Carlito"/>
              </a:rPr>
              <a:t>adapt, </a:t>
            </a:r>
            <a:r>
              <a:rPr lang="en-GB" sz="2800" spc="-5" dirty="0">
                <a:latin typeface="Carlito"/>
                <a:cs typeface="Carlito"/>
              </a:rPr>
              <a:t>if </a:t>
            </a:r>
            <a:r>
              <a:rPr lang="en-GB" sz="2800" spc="-15" dirty="0">
                <a:latin typeface="Carlito"/>
                <a:cs typeface="Carlito"/>
              </a:rPr>
              <a:t>at </a:t>
            </a:r>
            <a:r>
              <a:rPr lang="en-GB" sz="2800" spc="-5" dirty="0">
                <a:latin typeface="Carlito"/>
                <a:cs typeface="Carlito"/>
              </a:rPr>
              <a:t>all, </a:t>
            </a:r>
            <a:r>
              <a:rPr lang="en-GB" sz="2800" spc="-20" dirty="0">
                <a:latin typeface="Carlito"/>
                <a:cs typeface="Carlito"/>
              </a:rPr>
              <a:t>to </a:t>
            </a:r>
            <a:r>
              <a:rPr lang="en-GB" sz="2800" spc="-10" dirty="0">
                <a:latin typeface="Carlito"/>
                <a:cs typeface="Carlito"/>
              </a:rPr>
              <a:t>changes </a:t>
            </a:r>
            <a:r>
              <a:rPr lang="en-GB" sz="2800" spc="-5" dirty="0">
                <a:latin typeface="Carlito"/>
                <a:cs typeface="Carlito"/>
              </a:rPr>
              <a:t>in </a:t>
            </a:r>
            <a:r>
              <a:rPr lang="en-GB" sz="2800" spc="-20" dirty="0">
                <a:latin typeface="Carlito"/>
                <a:cs typeface="Carlito"/>
              </a:rPr>
              <a:t>delay  </a:t>
            </a:r>
            <a:r>
              <a:rPr lang="en-GB" sz="2800" spc="-5" dirty="0">
                <a:latin typeface="Carlito"/>
                <a:cs typeface="Carlito"/>
              </a:rPr>
              <a:t>and </a:t>
            </a:r>
            <a:r>
              <a:rPr lang="en-GB" sz="2800" spc="-15" dirty="0">
                <a:latin typeface="Carlito"/>
                <a:cs typeface="Carlito"/>
              </a:rPr>
              <a:t>throughput across </a:t>
            </a:r>
            <a:r>
              <a:rPr lang="en-GB" sz="2800" spc="-5" dirty="0">
                <a:latin typeface="Carlito"/>
                <a:cs typeface="Carlito"/>
              </a:rPr>
              <a:t>an</a:t>
            </a:r>
            <a:r>
              <a:rPr lang="en-GB" sz="2800" spc="120" dirty="0">
                <a:latin typeface="Carlito"/>
                <a:cs typeface="Carlito"/>
              </a:rPr>
              <a:t> </a:t>
            </a:r>
            <a:r>
              <a:rPr lang="en-GB" sz="2800" spc="-15" dirty="0">
                <a:latin typeface="Carlito"/>
                <a:cs typeface="Carlito"/>
              </a:rPr>
              <a:t>internet</a:t>
            </a:r>
            <a:endParaRPr lang="en-GB" sz="2800" dirty="0">
              <a:latin typeface="Carlito"/>
              <a:cs typeface="Carlito"/>
            </a:endParaRPr>
          </a:p>
          <a:p>
            <a:pPr marL="1007110" marR="286385" lvl="1" indent="-342900" algn="just">
              <a:lnSpc>
                <a:spcPct val="100000"/>
              </a:lnSpc>
              <a:spcBef>
                <a:spcPts val="670"/>
              </a:spcBef>
              <a:buFont typeface="Arial"/>
              <a:buChar char="•"/>
              <a:tabLst>
                <a:tab pos="1007744" algn="l"/>
              </a:tabLst>
            </a:pPr>
            <a:r>
              <a:rPr lang="en-GB" sz="2800" spc="-10" dirty="0">
                <a:latin typeface="Carlito"/>
                <a:cs typeface="Carlito"/>
              </a:rPr>
              <a:t>Examples </a:t>
            </a:r>
            <a:r>
              <a:rPr lang="en-GB" sz="2800" spc="-5" dirty="0">
                <a:latin typeface="Carlito"/>
                <a:cs typeface="Carlito"/>
              </a:rPr>
              <a:t>of </a:t>
            </a:r>
            <a:r>
              <a:rPr lang="en-GB" sz="2800" spc="-10" dirty="0">
                <a:latin typeface="Carlito"/>
                <a:cs typeface="Carlito"/>
              </a:rPr>
              <a:t>inelastic </a:t>
            </a:r>
            <a:r>
              <a:rPr lang="en-GB" sz="2800" spc="-20" dirty="0">
                <a:latin typeface="Carlito"/>
                <a:cs typeface="Carlito"/>
              </a:rPr>
              <a:t>traffic </a:t>
            </a:r>
            <a:r>
              <a:rPr lang="en-GB" sz="2800" spc="-5" dirty="0">
                <a:latin typeface="Carlito"/>
                <a:cs typeface="Carlito"/>
              </a:rPr>
              <a:t>include: </a:t>
            </a:r>
            <a:r>
              <a:rPr lang="en-GB" sz="2800" spc="-10" dirty="0">
                <a:latin typeface="Carlito"/>
                <a:cs typeface="Carlito"/>
              </a:rPr>
              <a:t>multimedia  </a:t>
            </a:r>
            <a:r>
              <a:rPr lang="en-GB" sz="2800" spc="-15" dirty="0">
                <a:latin typeface="Carlito"/>
                <a:cs typeface="Carlito"/>
              </a:rPr>
              <a:t>transmission </a:t>
            </a:r>
            <a:r>
              <a:rPr lang="en-GB" sz="2800" spc="-5" dirty="0">
                <a:latin typeface="Carlito"/>
                <a:cs typeface="Carlito"/>
              </a:rPr>
              <a:t>such as </a:t>
            </a:r>
            <a:r>
              <a:rPr lang="en-GB" sz="2800" spc="-10" dirty="0">
                <a:latin typeface="Carlito"/>
                <a:cs typeface="Carlito"/>
              </a:rPr>
              <a:t>voice </a:t>
            </a:r>
            <a:r>
              <a:rPr lang="en-GB" sz="2800" spc="-5" dirty="0">
                <a:latin typeface="Carlito"/>
                <a:cs typeface="Carlito"/>
              </a:rPr>
              <a:t>and </a:t>
            </a:r>
            <a:r>
              <a:rPr lang="en-GB" sz="2800" spc="-15" dirty="0">
                <a:latin typeface="Carlito"/>
                <a:cs typeface="Carlito"/>
              </a:rPr>
              <a:t>video, </a:t>
            </a:r>
            <a:r>
              <a:rPr lang="en-GB" sz="2800" spc="-5" dirty="0">
                <a:latin typeface="Carlito"/>
                <a:cs typeface="Carlito"/>
              </a:rPr>
              <a:t>and </a:t>
            </a:r>
            <a:r>
              <a:rPr lang="en-GB" sz="2800" dirty="0">
                <a:latin typeface="Carlito"/>
                <a:cs typeface="Carlito"/>
              </a:rPr>
              <a:t>high-  </a:t>
            </a:r>
            <a:r>
              <a:rPr lang="en-GB" sz="2800" spc="-15" dirty="0">
                <a:latin typeface="Carlito"/>
                <a:cs typeface="Carlito"/>
              </a:rPr>
              <a:t>volume </a:t>
            </a:r>
            <a:r>
              <a:rPr lang="en-GB" sz="2800" spc="-20" dirty="0">
                <a:latin typeface="Carlito"/>
                <a:cs typeface="Carlito"/>
              </a:rPr>
              <a:t>interactive</a:t>
            </a:r>
            <a:r>
              <a:rPr lang="en-GB" sz="2800" spc="20" dirty="0">
                <a:latin typeface="Carlito"/>
                <a:cs typeface="Carlito"/>
              </a:rPr>
              <a:t> </a:t>
            </a:r>
            <a:r>
              <a:rPr lang="en-GB" sz="2800" spc="-20" dirty="0">
                <a:latin typeface="Carlito"/>
                <a:cs typeface="Carlito"/>
              </a:rPr>
              <a:t>traffic</a:t>
            </a:r>
            <a:endParaRPr lang="en-GB" sz="2800" dirty="0">
              <a:latin typeface="Carlito"/>
              <a:cs typeface="Carlito"/>
            </a:endParaRPr>
          </a:p>
          <a:p>
            <a:pPr marL="1007110" lvl="1" indent="-343535" algn="just">
              <a:lnSpc>
                <a:spcPct val="100000"/>
              </a:lnSpc>
              <a:spcBef>
                <a:spcPts val="675"/>
              </a:spcBef>
              <a:buFont typeface="Arial"/>
              <a:buChar char="•"/>
              <a:tabLst>
                <a:tab pos="1007744" algn="l"/>
              </a:tabLst>
            </a:pPr>
            <a:r>
              <a:rPr lang="en-GB" sz="2800" spc="-15" dirty="0">
                <a:latin typeface="Carlito"/>
                <a:cs typeface="Carlito"/>
              </a:rPr>
              <a:t>Requirements </a:t>
            </a:r>
            <a:r>
              <a:rPr lang="en-GB" sz="2800" spc="-20" dirty="0">
                <a:latin typeface="Carlito"/>
                <a:cs typeface="Carlito"/>
              </a:rPr>
              <a:t>may</a:t>
            </a:r>
            <a:r>
              <a:rPr lang="en-GB" sz="2800" spc="45" dirty="0">
                <a:latin typeface="Carlito"/>
                <a:cs typeface="Carlito"/>
              </a:rPr>
              <a:t> </a:t>
            </a:r>
            <a:r>
              <a:rPr lang="en-GB" sz="2800" spc="-10" dirty="0">
                <a:latin typeface="Carlito"/>
                <a:cs typeface="Carlito"/>
              </a:rPr>
              <a:t>include:</a:t>
            </a:r>
            <a:endParaRPr lang="en-GB" sz="2800" dirty="0">
              <a:latin typeface="Carlito"/>
              <a:cs typeface="Carlito"/>
            </a:endParaRPr>
          </a:p>
          <a:p>
            <a:pPr marL="1407795" lvl="2" indent="-287020">
              <a:lnSpc>
                <a:spcPct val="100000"/>
              </a:lnSpc>
              <a:spcBef>
                <a:spcPts val="675"/>
              </a:spcBef>
              <a:buFont typeface="Arial"/>
              <a:buChar char="–"/>
              <a:tabLst>
                <a:tab pos="1408430" algn="l"/>
              </a:tabLst>
            </a:pPr>
            <a:r>
              <a:rPr lang="en-GB" sz="2800" spc="-15" dirty="0">
                <a:latin typeface="Carlito"/>
                <a:cs typeface="Carlito"/>
              </a:rPr>
              <a:t>Throughput</a:t>
            </a:r>
            <a:endParaRPr lang="en-GB" sz="2800" dirty="0">
              <a:latin typeface="Carlito"/>
              <a:cs typeface="Carlito"/>
            </a:endParaRPr>
          </a:p>
          <a:p>
            <a:pPr marL="1407795" lvl="2" indent="-287020">
              <a:lnSpc>
                <a:spcPct val="100000"/>
              </a:lnSpc>
              <a:spcBef>
                <a:spcPts val="675"/>
              </a:spcBef>
              <a:buFont typeface="Arial"/>
              <a:buChar char="–"/>
              <a:tabLst>
                <a:tab pos="1408430" algn="l"/>
              </a:tabLst>
            </a:pPr>
            <a:r>
              <a:rPr lang="en-GB" sz="2800" spc="-20" dirty="0">
                <a:latin typeface="Carlito"/>
                <a:cs typeface="Carlito"/>
              </a:rPr>
              <a:t>Delay</a:t>
            </a:r>
            <a:endParaRPr lang="en-GB" sz="2800" dirty="0">
              <a:latin typeface="Carlito"/>
              <a:cs typeface="Carlito"/>
            </a:endParaRPr>
          </a:p>
          <a:p>
            <a:pPr marL="1407795" lvl="2" indent="-287020">
              <a:lnSpc>
                <a:spcPct val="100000"/>
              </a:lnSpc>
              <a:spcBef>
                <a:spcPts val="670"/>
              </a:spcBef>
              <a:buFont typeface="Arial"/>
              <a:buChar char="–"/>
              <a:tabLst>
                <a:tab pos="1408430" algn="l"/>
              </a:tabLst>
            </a:pPr>
            <a:r>
              <a:rPr lang="en-GB" sz="2800" spc="-15" dirty="0">
                <a:latin typeface="Carlito"/>
                <a:cs typeface="Carlito"/>
              </a:rPr>
              <a:t>Delay</a:t>
            </a:r>
            <a:r>
              <a:rPr lang="en-GB" sz="2800" spc="-5" dirty="0">
                <a:latin typeface="Carlito"/>
                <a:cs typeface="Carlito"/>
              </a:rPr>
              <a:t> </a:t>
            </a:r>
            <a:r>
              <a:rPr lang="en-GB" sz="2800" spc="-15" dirty="0">
                <a:latin typeface="Carlito"/>
                <a:cs typeface="Carlito"/>
              </a:rPr>
              <a:t>jitter</a:t>
            </a:r>
            <a:endParaRPr lang="en-GB" sz="2800" dirty="0">
              <a:latin typeface="Carlito"/>
              <a:cs typeface="Carlito"/>
            </a:endParaRPr>
          </a:p>
          <a:p>
            <a:pPr marL="1134745" marR="5080" lvl="1" indent="-342900">
              <a:lnSpc>
                <a:spcPts val="2920"/>
              </a:lnSpc>
              <a:spcBef>
                <a:spcPts val="645"/>
              </a:spcBef>
              <a:buFont typeface="Arial"/>
              <a:buChar char="•"/>
              <a:tabLst>
                <a:tab pos="1134745" algn="l"/>
                <a:tab pos="1135380" algn="l"/>
              </a:tabLst>
            </a:pPr>
            <a:endParaRPr lang="en-GB" sz="2700" dirty="0">
              <a:latin typeface="Carlito"/>
              <a:cs typeface="Carlito"/>
            </a:endParaRPr>
          </a:p>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8</a:t>
            </a:fld>
            <a:endParaRPr lang="en-GB"/>
          </a:p>
        </p:txBody>
      </p:sp>
    </p:spTree>
    <p:extLst>
      <p:ext uri="{BB962C8B-B14F-4D97-AF65-F5344CB8AC3E}">
        <p14:creationId xmlns:p14="http://schemas.microsoft.com/office/powerpoint/2010/main" val="3360536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kern="0" dirty="0">
                <a:solidFill>
                  <a:schemeClr val="tx1"/>
                </a:solidFill>
              </a:rPr>
              <a:t>The Complexity of Network Virtualization</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kern="0" dirty="0">
                <a:solidFill>
                  <a:schemeClr val="tx1"/>
                </a:solidFill>
              </a:rPr>
              <a:t>There is increasingly widespread use of server virtualization. In essence, server virtualization masks server resources, including the number and identity of individual physical servers, processors, and operating systems, from server users. This makes it possible to partition a single machine into multiple, independent servers, conserving hardware resources. It also makes it possible to quickly migrate a server from one machine to another for load balancing or for dynamic switchover in the case of machine failure. Server virtualization has become a central element in dealing with big data applications and in implementing cloud computing infrastructures. But it creates problems with traditional network architectures. One problem is configuring virtual LANs. Network managers need to make sure the VLAN used by the virtual machine (VM) is assigned to the same switch port as the physical server running the VM. But with the VM being movable, it is necessary to reconfigure the VLAN every time that a virtual server is moved. In general terms, to match the flexibility of server virtualization, the network manager needs to be able to dynamically add, drop, and change network resources and profiles. This is difficult to do with conventional network switches, in which the control logic for each switch is collocated with the switching logic. </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kern="0" dirty="0">
                <a:solidFill>
                  <a:schemeClr val="tx1"/>
                </a:solidFill>
              </a:rPr>
              <a:t>Another effect of server virtualization is that traffic flows differ substantially from the traditional client/server model. Typically, there is a considerable amount of traffic among virtual servers, for such purposes as maintaining consistent images of database and invoking security functions such as access control. These server-to-server flows change in location and intensity over time, demanding a flexible approach to managing network resources. </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kern="0" dirty="0">
                <a:solidFill>
                  <a:schemeClr val="tx1"/>
                </a:solidFill>
              </a:rPr>
              <a:t>Another factor leading to the need for rapid response in allocating network resources is the increasing use by employees of mobile devices, such as smartphones, tablets, and notebooks to access enterprise resources. These devices can add fast-changing and unpredictable large loads on the network, and can rapidly change their network attachment point. Network managers must be able to respond to rapidly changing resource, </a:t>
            </a:r>
            <a:r>
              <a:rPr lang="en-GB" kern="0" dirty="0" err="1">
                <a:solidFill>
                  <a:schemeClr val="tx1"/>
                </a:solidFill>
              </a:rPr>
              <a:t>QoS</a:t>
            </a:r>
            <a:r>
              <a:rPr lang="en-GB" kern="0" dirty="0">
                <a:solidFill>
                  <a:schemeClr val="tx1"/>
                </a:solidFill>
              </a:rPr>
              <a:t>, and security requirements for mobile devices. Existing network infrastructures can respond to changing requirements for the management of traffic flows, providing differentiated </a:t>
            </a:r>
            <a:r>
              <a:rPr lang="en-GB" kern="0" dirty="0" err="1">
                <a:solidFill>
                  <a:schemeClr val="tx1"/>
                </a:solidFill>
              </a:rPr>
              <a:t>QoS</a:t>
            </a:r>
            <a:r>
              <a:rPr lang="en-GB" kern="0" dirty="0">
                <a:solidFill>
                  <a:schemeClr val="tx1"/>
                </a:solidFill>
              </a:rPr>
              <a:t> levels and security levels for individual flows, but the process can be very time-consuming if the enterprise network is large or involves network devices from multiple vendors. </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kern="0" dirty="0">
                <a:solidFill>
                  <a:schemeClr val="tx1"/>
                </a:solidFill>
              </a:rPr>
              <a:t>The network manager must configure each vendor’s equipment separately, and adjust performance and security parameters on a per-session, per-application basis. In a large enterprise, every time a new VM is brought up, it can take hours or even days for network managers to do the necessary reconfiguration.</a:t>
            </a:r>
            <a:endParaRPr lang="en-US" kern="0" dirty="0">
              <a:solidFill>
                <a:schemeClr val="tx1"/>
              </a:solidFill>
            </a:endParaRPr>
          </a:p>
          <a:p>
            <a:pPr marL="342900" indent="-342900" algn="l">
              <a:buFont typeface="Arial" panose="020B0604020202020204" pitchFamily="34" charset="0"/>
              <a:buChar char="•"/>
            </a:pPr>
            <a:endParaRPr lang="en-US" sz="1200" dirty="0">
              <a:solidFill>
                <a:srgbClr val="000000"/>
              </a:solidFill>
            </a:endParaRPr>
          </a:p>
          <a:p>
            <a:pPr marL="342900" indent="-342900" algn="l">
              <a:buFont typeface="Arial" panose="020B0604020202020204" pitchFamily="34" charset="0"/>
              <a:buChar char="•"/>
            </a:pPr>
            <a:r>
              <a:rPr lang="en-US" sz="1200" dirty="0">
                <a:solidFill>
                  <a:srgbClr val="000000"/>
                </a:solidFill>
              </a:rPr>
              <a:t>The network infrastructure can also benefit from virtualization. Network functions can be virtualized. Each network device can be segmented into multiple virtual devices that operate as independent devices. Examples include </a:t>
            </a:r>
            <a:r>
              <a:rPr lang="en-US" sz="1200" dirty="0" err="1">
                <a:solidFill>
                  <a:srgbClr val="000000"/>
                </a:solidFill>
              </a:rPr>
              <a:t>subinterfaces</a:t>
            </a:r>
            <a:r>
              <a:rPr lang="en-US" sz="1200" dirty="0">
                <a:solidFill>
                  <a:srgbClr val="000000"/>
                </a:solidFill>
              </a:rPr>
              <a:t>, virtual interfaces, VLANs, and routing tables. Virtualized routing is called virtual routing and forwarding (VRF).</a:t>
            </a:r>
          </a:p>
          <a:p>
            <a:pPr marL="342900" indent="-342900" algn="l">
              <a:buFont typeface="Arial" panose="020B0604020202020204" pitchFamily="34" charset="0"/>
              <a:buChar char="•"/>
            </a:pPr>
            <a:endParaRPr lang="en-US" sz="1200" dirty="0">
              <a:solidFill>
                <a:srgbClr val="000000"/>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915550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Quality of Experience</a:t>
            </a:r>
          </a:p>
          <a:p>
            <a:r>
              <a:rPr lang="en-GB" dirty="0" err="1"/>
              <a:t>QoE</a:t>
            </a:r>
            <a:r>
              <a:rPr lang="en-GB" dirty="0"/>
              <a:t> is a subjective measure of performance as reported by the user. Unlike </a:t>
            </a:r>
            <a:r>
              <a:rPr lang="en-GB" dirty="0" err="1"/>
              <a:t>QoS</a:t>
            </a:r>
            <a:r>
              <a:rPr lang="en-GB" dirty="0"/>
              <a:t>, which can be precisely measured, </a:t>
            </a:r>
            <a:r>
              <a:rPr lang="en-GB" dirty="0" err="1"/>
              <a:t>QoE</a:t>
            </a:r>
            <a:r>
              <a:rPr lang="en-GB" dirty="0"/>
              <a:t> relies on human opinion. </a:t>
            </a:r>
            <a:r>
              <a:rPr lang="en-GB" dirty="0" err="1"/>
              <a:t>QoE</a:t>
            </a:r>
            <a:r>
              <a:rPr lang="en-GB" dirty="0"/>
              <a:t> is important particularly when we deal with multimedia applications and multimedia content delivery. </a:t>
            </a:r>
            <a:r>
              <a:rPr lang="en-GB" dirty="0" err="1"/>
              <a:t>QoS</a:t>
            </a:r>
            <a:r>
              <a:rPr lang="en-GB" dirty="0"/>
              <a:t> provides measurable, quantitative targets that guide the design and operation of a network and enable customer and provider to agree on what quantitative performance the network will deliver for give applications and traffic flows.</a:t>
            </a:r>
          </a:p>
          <a:p>
            <a:r>
              <a:rPr lang="en-GB" dirty="0"/>
              <a:t>However, </a:t>
            </a:r>
            <a:r>
              <a:rPr lang="en-GB" dirty="0" err="1"/>
              <a:t>QoS</a:t>
            </a:r>
            <a:r>
              <a:rPr lang="en-GB" dirty="0"/>
              <a:t> processes by themselves are not sufficient in that they do not take into account the user’s perception of network performance and service quality. Although the maximum capacity may be fixed at a certain value by a media transmission system, this does not necessarily fix the quality of the multimedia content at, say, “high.” This is because there are numerous ways the multimedia content could have been encoded, giving rise to differing perceived qualities. The ultimate measure of a network and the services it offers is how subscribers perceive the performance. </a:t>
            </a:r>
            <a:r>
              <a:rPr lang="en-GB" dirty="0" err="1"/>
              <a:t>QoE</a:t>
            </a:r>
            <a:r>
              <a:rPr lang="en-GB" dirty="0"/>
              <a:t> augments the traditional </a:t>
            </a:r>
            <a:r>
              <a:rPr lang="en-GB" dirty="0" err="1"/>
              <a:t>QoS</a:t>
            </a:r>
            <a:r>
              <a:rPr lang="en-GB" dirty="0"/>
              <a:t> by providing information regarding the delivered services from an end user point of view.</a:t>
            </a:r>
          </a:p>
          <a:p>
            <a:r>
              <a:rPr lang="en-GB" dirty="0"/>
              <a:t>There is a wide range of factors and features that can be included in a requirement for </a:t>
            </a:r>
            <a:r>
              <a:rPr lang="en-GB" dirty="0" err="1"/>
              <a:t>QoE</a:t>
            </a:r>
            <a:r>
              <a:rPr lang="en-GB" dirty="0"/>
              <a:t>, which can</a:t>
            </a:r>
            <a:r>
              <a:rPr lang="en-GB" baseline="0" dirty="0"/>
              <a:t> be</a:t>
            </a:r>
            <a:r>
              <a:rPr lang="en-GB" dirty="0"/>
              <a:t>: </a:t>
            </a:r>
          </a:p>
          <a:p>
            <a:r>
              <a:rPr lang="en-GB" b="1" dirty="0"/>
              <a:t>Perceptual</a:t>
            </a:r>
            <a:r>
              <a:rPr lang="en-GB" dirty="0"/>
              <a:t>: This category encompasses the quality of the sensory aspects of the user experience. For video, examples include sharpness, brightness, contrast, flicker, and distortion. Audio examples include clarity and timbre. </a:t>
            </a:r>
          </a:p>
          <a:p>
            <a:r>
              <a:rPr lang="en-GB" b="1" dirty="0"/>
              <a:t>Psychological</a:t>
            </a:r>
            <a:r>
              <a:rPr lang="en-GB" dirty="0"/>
              <a:t>: This category deals with the user’s feeling about the experience. Examples include ease of use, joy of use, usefulness, perceived quality, satisfaction, annoyance, and boredom. </a:t>
            </a:r>
          </a:p>
          <a:p>
            <a:r>
              <a:rPr lang="en-GB" b="1" dirty="0"/>
              <a:t>Interactive</a:t>
            </a:r>
            <a:r>
              <a:rPr lang="en-GB" dirty="0"/>
              <a:t>: This category deals with aspects of an experience related to the interaction between the user and the application or device, such as responsiveness, naturalness of interaction, communication efficiency, and accessibility.</a:t>
            </a:r>
          </a:p>
          <a:p>
            <a:endParaRPr lang="en-GB" dirty="0"/>
          </a:p>
          <a:p>
            <a:r>
              <a:rPr lang="en-GB" dirty="0"/>
              <a:t>For practical application, these features need to be converted to quantitative measures. The management of </a:t>
            </a:r>
            <a:r>
              <a:rPr lang="en-GB" dirty="0" err="1"/>
              <a:t>QoE</a:t>
            </a:r>
            <a:r>
              <a:rPr lang="en-GB" dirty="0"/>
              <a:t> has become a crucial concept in the deployment of future successful applications, services, and products. The greatest challenges in providing </a:t>
            </a:r>
            <a:r>
              <a:rPr lang="en-GB" dirty="0" err="1"/>
              <a:t>QoE</a:t>
            </a:r>
            <a:r>
              <a:rPr lang="en-GB" dirty="0"/>
              <a:t> are developing effective methods for converting </a:t>
            </a:r>
            <a:r>
              <a:rPr lang="en-GB" dirty="0" err="1"/>
              <a:t>QoE</a:t>
            </a:r>
            <a:r>
              <a:rPr lang="en-GB" dirty="0"/>
              <a:t> features to quantitative measures and translating </a:t>
            </a:r>
            <a:r>
              <a:rPr lang="en-GB" dirty="0" err="1"/>
              <a:t>QoE</a:t>
            </a:r>
            <a:r>
              <a:rPr lang="en-GB" dirty="0"/>
              <a:t> measures to </a:t>
            </a:r>
            <a:r>
              <a:rPr lang="en-GB" dirty="0" err="1"/>
              <a:t>QoS</a:t>
            </a:r>
            <a:r>
              <a:rPr lang="en-GB" dirty="0"/>
              <a:t> measures. Whereas </a:t>
            </a:r>
            <a:r>
              <a:rPr lang="en-GB" dirty="0" err="1"/>
              <a:t>QoS</a:t>
            </a:r>
            <a:r>
              <a:rPr lang="en-GB" dirty="0"/>
              <a:t> can now easily be measured, monitored, and controlled at both the networking and application layers, and at both the end system and network sides, </a:t>
            </a:r>
            <a:r>
              <a:rPr lang="en-GB" dirty="0" err="1"/>
              <a:t>QoE</a:t>
            </a:r>
            <a:r>
              <a:rPr lang="en-GB" dirty="0"/>
              <a:t> is something that is still quite intricate to manage.</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10</a:t>
            </a:fld>
            <a:endParaRPr lang="en-GB"/>
          </a:p>
        </p:txBody>
      </p:sp>
    </p:spTree>
    <p:extLst>
      <p:ext uri="{BB962C8B-B14F-4D97-AF65-F5344CB8AC3E}">
        <p14:creationId xmlns:p14="http://schemas.microsoft.com/office/powerpoint/2010/main" val="1280618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Characteristics</a:t>
            </a:r>
          </a:p>
          <a:p>
            <a:r>
              <a:rPr lang="en-GB" dirty="0"/>
              <a:t>The primary function of an internet is to accept packets from a source station and deliver them to a destination station. To accomplish this, a path or route through the network must be determined; generally, more than one route is possible. Therefore, a routing function must be </a:t>
            </a:r>
            <a:r>
              <a:rPr lang="en-GB" dirty="0" err="1"/>
              <a:t>performed.The</a:t>
            </a:r>
            <a:r>
              <a:rPr lang="en-GB" dirty="0"/>
              <a:t> selection of a route is generally based on some performance criterion. The simplest criterion is to choose the minimum-hop route (one that passes through the least number of nodes) through the network. This is an easily measured criterion and should minimize the consumption of network resources. A generalization of the minimum-hop criterion is least-cost routing. In this case, a cost is associated with each link, and, for any pair of attached stations, the route through the network that accumulates the least cost is </a:t>
            </a:r>
            <a:r>
              <a:rPr lang="en-GB" dirty="0" err="1"/>
              <a:t>sought.Figure</a:t>
            </a:r>
            <a:r>
              <a:rPr lang="en-GB" dirty="0"/>
              <a:t> 2.7 illustrates a network in which the two arrowed lines between a pair of nodes represent a link between these nodes, and the corresponding numbers represent the current link cost in each direction. Our concern, of course, is with an internet, in which each node is a router and the links between adjacent routers are networks or direct communications links. The shortest path (fewest hops) from node 1 to node 6 is 1-3-6 (Cost = 5 + 5 = 10), but the least-cost path is 1-4-5-6 (Cost = 1 + 1 + 2 = 4).</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11</a:t>
            </a:fld>
            <a:endParaRPr lang="en-GB"/>
          </a:p>
        </p:txBody>
      </p:sp>
    </p:spTree>
    <p:extLst>
      <p:ext uri="{BB962C8B-B14F-4D97-AF65-F5344CB8AC3E}">
        <p14:creationId xmlns:p14="http://schemas.microsoft.com/office/powerpoint/2010/main" val="94003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Packet Forwarding The key function of any router is to accept incoming packets and forward them. For this purpose, a router maintains forwarding tables. A router’s forwarding table shows, for each destination, the identity of the next node on the router. Each router may be responsible for discovering the appropriate routes. Alternatively, a network control </a:t>
            </a:r>
            <a:r>
              <a:rPr lang="en-GB" dirty="0" err="1"/>
              <a:t>center</a:t>
            </a:r>
            <a:r>
              <a:rPr lang="en-GB" dirty="0"/>
              <a:t> may be responsible for designing routes for all routers and maintaining a central forwarding table, providing each router with individual forwarding tables relevant only to that router.</a:t>
            </a:r>
          </a:p>
          <a:p>
            <a:endParaRPr lang="en-GB" dirty="0"/>
          </a:p>
          <a:p>
            <a:pPr marL="355600" marR="203200" indent="-342900">
              <a:lnSpc>
                <a:spcPts val="2880"/>
              </a:lnSpc>
              <a:spcBef>
                <a:spcPts val="795"/>
              </a:spcBef>
              <a:buFont typeface="Arial"/>
              <a:buChar char="•"/>
              <a:tabLst>
                <a:tab pos="354965" algn="l"/>
                <a:tab pos="355600" algn="l"/>
              </a:tabLst>
            </a:pPr>
            <a:r>
              <a:rPr lang="en-GB" sz="1200" spc="-25" dirty="0">
                <a:latin typeface="Carlito"/>
                <a:cs typeface="Carlito"/>
              </a:rPr>
              <a:t>Routers </a:t>
            </a:r>
            <a:r>
              <a:rPr lang="en-GB" sz="1200" spc="-15" dirty="0">
                <a:latin typeface="Carlito"/>
                <a:cs typeface="Carlito"/>
              </a:rPr>
              <a:t>are </a:t>
            </a:r>
            <a:r>
              <a:rPr lang="en-GB" sz="1200" spc="-10" dirty="0">
                <a:latin typeface="Carlito"/>
                <a:cs typeface="Carlito"/>
              </a:rPr>
              <a:t>responsible </a:t>
            </a:r>
            <a:r>
              <a:rPr lang="en-GB" sz="1200" spc="-25" dirty="0">
                <a:latin typeface="Carlito"/>
                <a:cs typeface="Carlito"/>
              </a:rPr>
              <a:t>for </a:t>
            </a:r>
            <a:r>
              <a:rPr lang="en-GB" sz="1200" spc="-10" dirty="0">
                <a:latin typeface="Carlito"/>
                <a:cs typeface="Carlito"/>
              </a:rPr>
              <a:t>receiving </a:t>
            </a:r>
            <a:r>
              <a:rPr lang="en-GB" sz="1200" dirty="0">
                <a:latin typeface="Carlito"/>
                <a:cs typeface="Carlito"/>
              </a:rPr>
              <a:t>and  </a:t>
            </a:r>
            <a:r>
              <a:rPr lang="en-GB" sz="1200" spc="-20" dirty="0">
                <a:latin typeface="Carlito"/>
                <a:cs typeface="Carlito"/>
              </a:rPr>
              <a:t>forwarding packets </a:t>
            </a:r>
            <a:r>
              <a:rPr lang="en-GB" sz="1200" spc="-10" dirty="0">
                <a:latin typeface="Carlito"/>
                <a:cs typeface="Carlito"/>
              </a:rPr>
              <a:t>through </a:t>
            </a:r>
            <a:r>
              <a:rPr lang="en-GB" sz="1200" dirty="0">
                <a:latin typeface="Carlito"/>
                <a:cs typeface="Carlito"/>
              </a:rPr>
              <a:t>the </a:t>
            </a:r>
            <a:r>
              <a:rPr lang="en-GB" sz="1200" spc="-15" dirty="0">
                <a:latin typeface="Carlito"/>
                <a:cs typeface="Carlito"/>
              </a:rPr>
              <a:t>interconnected  </a:t>
            </a:r>
            <a:r>
              <a:rPr lang="en-GB" sz="1200" spc="-10" dirty="0">
                <a:latin typeface="Carlito"/>
                <a:cs typeface="Carlito"/>
              </a:rPr>
              <a:t>set </a:t>
            </a:r>
            <a:r>
              <a:rPr lang="en-GB" sz="1200" spc="-5" dirty="0">
                <a:latin typeface="Carlito"/>
                <a:cs typeface="Carlito"/>
              </a:rPr>
              <a:t>of</a:t>
            </a:r>
            <a:r>
              <a:rPr lang="en-GB" sz="1200" spc="-15" dirty="0">
                <a:latin typeface="Carlito"/>
                <a:cs typeface="Carlito"/>
              </a:rPr>
              <a:t> </a:t>
            </a:r>
            <a:r>
              <a:rPr lang="en-GB" sz="1200" spc="-10" dirty="0">
                <a:latin typeface="Carlito"/>
                <a:cs typeface="Carlito"/>
              </a:rPr>
              <a:t>networks</a:t>
            </a:r>
            <a:endParaRPr lang="en-GB" sz="1200" dirty="0">
              <a:latin typeface="Carlito"/>
              <a:cs typeface="Carlito"/>
            </a:endParaRPr>
          </a:p>
          <a:p>
            <a:pPr marL="355600" marR="434340" indent="-342900">
              <a:lnSpc>
                <a:spcPct val="80000"/>
              </a:lnSpc>
              <a:spcBef>
                <a:spcPts val="745"/>
              </a:spcBef>
              <a:buFont typeface="Arial"/>
              <a:buChar char="•"/>
              <a:tabLst>
                <a:tab pos="354965" algn="l"/>
                <a:tab pos="355600" algn="l"/>
              </a:tabLst>
            </a:pPr>
            <a:r>
              <a:rPr lang="en-GB" sz="1200" spc="-15" dirty="0">
                <a:latin typeface="Carlito"/>
                <a:cs typeface="Carlito"/>
              </a:rPr>
              <a:t>Each </a:t>
            </a:r>
            <a:r>
              <a:rPr lang="en-GB" sz="1200" spc="-20" dirty="0">
                <a:latin typeface="Carlito"/>
                <a:cs typeface="Carlito"/>
              </a:rPr>
              <a:t>router makes </a:t>
            </a:r>
            <a:r>
              <a:rPr lang="en-GB" sz="1200" spc="-15" dirty="0">
                <a:latin typeface="Carlito"/>
                <a:cs typeface="Carlito"/>
              </a:rPr>
              <a:t>routing </a:t>
            </a:r>
            <a:r>
              <a:rPr lang="en-GB" sz="1200" spc="-10" dirty="0">
                <a:latin typeface="Carlito"/>
                <a:cs typeface="Carlito"/>
              </a:rPr>
              <a:t>decisions </a:t>
            </a:r>
            <a:r>
              <a:rPr lang="en-GB" sz="1200" spc="-5" dirty="0">
                <a:latin typeface="Carlito"/>
                <a:cs typeface="Carlito"/>
              </a:rPr>
              <a:t>based on  </a:t>
            </a:r>
            <a:r>
              <a:rPr lang="en-GB" sz="1200" spc="-10" dirty="0">
                <a:latin typeface="Carlito"/>
                <a:cs typeface="Carlito"/>
              </a:rPr>
              <a:t>knowledge </a:t>
            </a:r>
            <a:r>
              <a:rPr lang="en-GB" sz="1200" spc="-5" dirty="0">
                <a:latin typeface="Carlito"/>
                <a:cs typeface="Carlito"/>
              </a:rPr>
              <a:t>of </a:t>
            </a:r>
            <a:r>
              <a:rPr lang="en-GB" sz="1200" dirty="0">
                <a:latin typeface="Carlito"/>
                <a:cs typeface="Carlito"/>
              </a:rPr>
              <a:t>the </a:t>
            </a:r>
            <a:r>
              <a:rPr lang="en-GB" sz="1200" spc="-10" dirty="0">
                <a:latin typeface="Carlito"/>
                <a:cs typeface="Carlito"/>
              </a:rPr>
              <a:t>topology </a:t>
            </a:r>
            <a:r>
              <a:rPr lang="en-GB" sz="1200" dirty="0">
                <a:latin typeface="Carlito"/>
                <a:cs typeface="Carlito"/>
              </a:rPr>
              <a:t>and </a:t>
            </a:r>
            <a:r>
              <a:rPr lang="en-GB" sz="1200" spc="-20" dirty="0">
                <a:latin typeface="Carlito"/>
                <a:cs typeface="Carlito"/>
              </a:rPr>
              <a:t>traffic/delay  </a:t>
            </a:r>
            <a:r>
              <a:rPr lang="en-GB" sz="1200" spc="-10" dirty="0">
                <a:latin typeface="Carlito"/>
                <a:cs typeface="Carlito"/>
              </a:rPr>
              <a:t>conditions </a:t>
            </a:r>
            <a:r>
              <a:rPr lang="en-GB" sz="1200" spc="-5" dirty="0">
                <a:latin typeface="Carlito"/>
                <a:cs typeface="Carlito"/>
              </a:rPr>
              <a:t>of </a:t>
            </a:r>
            <a:r>
              <a:rPr lang="en-GB" sz="1200" dirty="0">
                <a:latin typeface="Carlito"/>
                <a:cs typeface="Carlito"/>
              </a:rPr>
              <a:t>the</a:t>
            </a:r>
            <a:r>
              <a:rPr lang="en-GB" sz="1200" spc="-15" dirty="0">
                <a:latin typeface="Carlito"/>
                <a:cs typeface="Carlito"/>
              </a:rPr>
              <a:t> internet</a:t>
            </a:r>
            <a:endParaRPr lang="en-GB" sz="1200" dirty="0">
              <a:latin typeface="Carlito"/>
              <a:cs typeface="Carlito"/>
            </a:endParaRPr>
          </a:p>
          <a:p>
            <a:pPr marL="355600" marR="789940" indent="-342900">
              <a:lnSpc>
                <a:spcPts val="2880"/>
              </a:lnSpc>
              <a:spcBef>
                <a:spcPts val="695"/>
              </a:spcBef>
              <a:buFont typeface="Arial"/>
              <a:buChar char="•"/>
              <a:tabLst>
                <a:tab pos="354965" algn="l"/>
                <a:tab pos="355600" algn="l"/>
              </a:tabLst>
            </a:pPr>
            <a:r>
              <a:rPr lang="en-GB" sz="1200" dirty="0">
                <a:latin typeface="Carlito"/>
                <a:cs typeface="Carlito"/>
              </a:rPr>
              <a:t>A </a:t>
            </a:r>
            <a:r>
              <a:rPr lang="en-GB" sz="1200" spc="-10" dirty="0">
                <a:latin typeface="Carlito"/>
                <a:cs typeface="Carlito"/>
              </a:rPr>
              <a:t>degree </a:t>
            </a:r>
            <a:r>
              <a:rPr lang="en-GB" sz="1200" spc="-5" dirty="0">
                <a:latin typeface="Carlito"/>
                <a:cs typeface="Carlito"/>
              </a:rPr>
              <a:t>of dynamic </a:t>
            </a:r>
            <a:r>
              <a:rPr lang="en-GB" sz="1200" spc="-15" dirty="0">
                <a:latin typeface="Carlito"/>
                <a:cs typeface="Carlito"/>
              </a:rPr>
              <a:t>cooperation </a:t>
            </a:r>
            <a:r>
              <a:rPr lang="en-GB" sz="1200" spc="-10" dirty="0">
                <a:latin typeface="Carlito"/>
                <a:cs typeface="Carlito"/>
              </a:rPr>
              <a:t>is </a:t>
            </a:r>
            <a:r>
              <a:rPr lang="en-GB" sz="1200" spc="-5" dirty="0">
                <a:latin typeface="Carlito"/>
                <a:cs typeface="Carlito"/>
              </a:rPr>
              <a:t>needed  </a:t>
            </a:r>
            <a:r>
              <a:rPr lang="en-GB" sz="1200" dirty="0">
                <a:latin typeface="Carlito"/>
                <a:cs typeface="Carlito"/>
              </a:rPr>
              <a:t>among the</a:t>
            </a:r>
            <a:r>
              <a:rPr lang="en-GB" sz="1200" spc="-15" dirty="0">
                <a:latin typeface="Carlito"/>
                <a:cs typeface="Carlito"/>
              </a:rPr>
              <a:t> </a:t>
            </a:r>
            <a:r>
              <a:rPr lang="en-GB" sz="1200" spc="-25" dirty="0">
                <a:latin typeface="Carlito"/>
                <a:cs typeface="Carlito"/>
              </a:rPr>
              <a:t>routers</a:t>
            </a:r>
            <a:endParaRPr lang="en-GB" sz="1200" dirty="0">
              <a:latin typeface="Carlito"/>
              <a:cs typeface="Carlito"/>
            </a:endParaRPr>
          </a:p>
          <a:p>
            <a:pPr marL="355600" marR="5080" indent="-342900">
              <a:lnSpc>
                <a:spcPct val="80000"/>
              </a:lnSpc>
              <a:spcBef>
                <a:spcPts val="750"/>
              </a:spcBef>
              <a:buFont typeface="Arial"/>
              <a:buChar char="•"/>
              <a:tabLst>
                <a:tab pos="354965" algn="l"/>
                <a:tab pos="355600" algn="l"/>
              </a:tabLst>
            </a:pPr>
            <a:r>
              <a:rPr lang="en-GB" sz="1200" spc="-5" dirty="0">
                <a:latin typeface="Carlito"/>
                <a:cs typeface="Carlito"/>
              </a:rPr>
              <a:t>The </a:t>
            </a:r>
            <a:r>
              <a:rPr lang="en-GB" sz="1200" spc="-20" dirty="0">
                <a:latin typeface="Carlito"/>
                <a:cs typeface="Carlito"/>
              </a:rPr>
              <a:t>router </a:t>
            </a:r>
            <a:r>
              <a:rPr lang="en-GB" sz="1200" spc="-10" dirty="0">
                <a:latin typeface="Carlito"/>
                <a:cs typeface="Carlito"/>
              </a:rPr>
              <a:t>must </a:t>
            </a:r>
            <a:r>
              <a:rPr lang="en-GB" sz="1200" spc="-20" dirty="0">
                <a:latin typeface="Carlito"/>
                <a:cs typeface="Carlito"/>
              </a:rPr>
              <a:t>avoid </a:t>
            </a:r>
            <a:r>
              <a:rPr lang="en-GB" sz="1200" spc="-5" dirty="0">
                <a:latin typeface="Carlito"/>
                <a:cs typeface="Carlito"/>
              </a:rPr>
              <a:t>portions of </a:t>
            </a:r>
            <a:r>
              <a:rPr lang="en-GB" sz="1200" dirty="0">
                <a:latin typeface="Carlito"/>
                <a:cs typeface="Carlito"/>
              </a:rPr>
              <a:t>the </a:t>
            </a:r>
            <a:r>
              <a:rPr lang="en-GB" sz="1200" spc="-10" dirty="0">
                <a:latin typeface="Carlito"/>
                <a:cs typeface="Carlito"/>
              </a:rPr>
              <a:t>network  that </a:t>
            </a:r>
            <a:r>
              <a:rPr lang="en-GB" sz="1200" spc="-20" dirty="0">
                <a:latin typeface="Carlito"/>
                <a:cs typeface="Carlito"/>
              </a:rPr>
              <a:t>have </a:t>
            </a:r>
            <a:r>
              <a:rPr lang="en-GB" sz="1200" spc="-15" dirty="0">
                <a:latin typeface="Carlito"/>
                <a:cs typeface="Carlito"/>
              </a:rPr>
              <a:t>failed </a:t>
            </a:r>
            <a:r>
              <a:rPr lang="en-GB" sz="1200" dirty="0">
                <a:latin typeface="Carlito"/>
                <a:cs typeface="Carlito"/>
              </a:rPr>
              <a:t>and </a:t>
            </a:r>
            <a:r>
              <a:rPr lang="en-GB" sz="1200" spc="-5" dirty="0">
                <a:latin typeface="Carlito"/>
                <a:cs typeface="Carlito"/>
              </a:rPr>
              <a:t>should </a:t>
            </a:r>
            <a:r>
              <a:rPr lang="en-GB" sz="1200" spc="-20" dirty="0">
                <a:latin typeface="Carlito"/>
                <a:cs typeface="Carlito"/>
              </a:rPr>
              <a:t>avoid </a:t>
            </a:r>
            <a:r>
              <a:rPr lang="en-GB" sz="1200" spc="-5" dirty="0">
                <a:latin typeface="Carlito"/>
                <a:cs typeface="Carlito"/>
              </a:rPr>
              <a:t>portions of </a:t>
            </a:r>
            <a:r>
              <a:rPr lang="en-GB" sz="1200" dirty="0">
                <a:latin typeface="Carlito"/>
                <a:cs typeface="Carlito"/>
              </a:rPr>
              <a:t>the  </a:t>
            </a:r>
            <a:r>
              <a:rPr lang="en-GB" sz="1200" spc="-10" dirty="0">
                <a:latin typeface="Carlito"/>
                <a:cs typeface="Carlito"/>
              </a:rPr>
              <a:t>network that </a:t>
            </a:r>
            <a:r>
              <a:rPr lang="en-GB" sz="1200" spc="-15" dirty="0">
                <a:latin typeface="Carlito"/>
                <a:cs typeface="Carlito"/>
              </a:rPr>
              <a:t>are</a:t>
            </a:r>
            <a:r>
              <a:rPr lang="en-GB" sz="1200" spc="-35" dirty="0">
                <a:latin typeface="Carlito"/>
                <a:cs typeface="Carlito"/>
              </a:rPr>
              <a:t> </a:t>
            </a:r>
            <a:r>
              <a:rPr lang="en-GB" sz="1200" spc="-15" dirty="0">
                <a:latin typeface="Carlito"/>
                <a:cs typeface="Carlito"/>
              </a:rPr>
              <a:t>congested</a:t>
            </a:r>
            <a:endParaRPr lang="en-GB" sz="1200" dirty="0">
              <a:latin typeface="Carlito"/>
              <a:cs typeface="Carlito"/>
            </a:endParaRPr>
          </a:p>
          <a:p>
            <a:r>
              <a:rPr lang="en-GB" dirty="0"/>
              <a:t>If the traffic demand on an internet exceeds capacity, or if the internet does not manage the traffic efficiently, congestion will occur. </a:t>
            </a:r>
          </a:p>
          <a:p>
            <a:r>
              <a:rPr lang="en-GB" dirty="0"/>
              <a:t>There are several schemes implemented in the networking devices to control congestion</a:t>
            </a:r>
            <a:r>
              <a:rPr lang="en-GB" baseline="0" dirty="0"/>
              <a:t> some of which are linked to the </a:t>
            </a:r>
            <a:r>
              <a:rPr lang="en-GB" baseline="0" dirty="0" err="1"/>
              <a:t>QoS</a:t>
            </a:r>
            <a:r>
              <a:rPr lang="en-GB" baseline="0" dirty="0"/>
              <a:t> we discussed last time.</a:t>
            </a:r>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12</a:t>
            </a:fld>
            <a:endParaRPr lang="en-GB"/>
          </a:p>
        </p:txBody>
      </p:sp>
    </p:spTree>
    <p:extLst>
      <p:ext uri="{BB962C8B-B14F-4D97-AF65-F5344CB8AC3E}">
        <p14:creationId xmlns:p14="http://schemas.microsoft.com/office/powerpoint/2010/main" val="2855499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a:t>
            </a:r>
            <a:r>
              <a:rPr lang="en-GB" baseline="0" dirty="0"/>
              <a:t> summarise, </a:t>
            </a:r>
            <a:r>
              <a:rPr lang="en-GB" spc="-35" dirty="0"/>
              <a:t>Traditional </a:t>
            </a:r>
            <a:r>
              <a:rPr lang="en-GB" spc="-15" dirty="0"/>
              <a:t>Network Architectures are inadequate because</a:t>
            </a:r>
            <a:r>
              <a:rPr lang="en-GB" spc="-15" baseline="0" dirty="0"/>
              <a:t> :</a:t>
            </a:r>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13</a:t>
            </a:fld>
            <a:endParaRPr lang="en-GB"/>
          </a:p>
        </p:txBody>
      </p:sp>
    </p:spTree>
    <p:extLst>
      <p:ext uri="{BB962C8B-B14F-4D97-AF65-F5344CB8AC3E}">
        <p14:creationId xmlns:p14="http://schemas.microsoft.com/office/powerpoint/2010/main" val="4213001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With the ever-increasing volume and variety of network traffic, generated by such high-demand sources as big data, cloud computing, and mobile traffic, it becomes increasingly difficult to meet stringent </a:t>
            </a:r>
            <a:r>
              <a:rPr lang="en-GB" dirty="0" err="1"/>
              <a:t>QoS</a:t>
            </a:r>
            <a:r>
              <a:rPr lang="en-GB" dirty="0"/>
              <a:t> and </a:t>
            </a:r>
            <a:r>
              <a:rPr lang="en-GB" dirty="0" err="1"/>
              <a:t>QoE</a:t>
            </a:r>
            <a:r>
              <a:rPr lang="en-GB" dirty="0"/>
              <a:t> requirements. Networks need to be more adaptable and scalable. To provide adaptability and scalability, two key technologies that are rapidly being deployed by a variety of network service and application providers are software-defined networking (SDN) and network functions virtualization (NFV). </a:t>
            </a:r>
          </a:p>
          <a:p>
            <a:r>
              <a:rPr lang="en-GB" dirty="0"/>
              <a:t>SDN has reached a tipping point at which it is replacing the traditional networking model. Software-defined networks provide an enhanced level of flexibility and customizability to meet the needs of newer networking and IT trends such as cloud, mobility, social networking, and video.</a:t>
            </a:r>
          </a:p>
          <a:p>
            <a:r>
              <a:rPr lang="en-GB" dirty="0"/>
              <a:t>Ultimately, the concern of a network service provider is about the set of network devices (such as routers) and the control and management of the functions they perform (such as packet forwarding). If NFV is used, these network functions are implemented in software and executed on VMs. If instead the network functions are implemented on dedicated machines and SDN is used, the control functions are implemented on central SDN controllers, which interact with the network </a:t>
            </a:r>
            <a:r>
              <a:rPr lang="en-GB" dirty="0" err="1"/>
              <a:t>devices.However</a:t>
            </a:r>
            <a:r>
              <a:rPr lang="en-GB" dirty="0"/>
              <a:t>, SDN and NFV are not mutually exclusive. If both SDN and NFV are implemented for a network, the following relationships hold: Network data plane functionality is implemented on VMs. The control plane functionality may be implemented on a dedicated SDN platform or on an SDN </a:t>
            </a:r>
            <a:r>
              <a:rPr lang="en-GB" dirty="0" err="1"/>
              <a:t>VM.In</a:t>
            </a:r>
            <a:r>
              <a:rPr lang="en-GB" dirty="0"/>
              <a:t> either case, the SDN controller interacts with the data plane functions running on </a:t>
            </a:r>
            <a:r>
              <a:rPr lang="en-GB" dirty="0" err="1"/>
              <a:t>VMs.QoS</a:t>
            </a:r>
            <a:r>
              <a:rPr lang="en-GB" dirty="0"/>
              <a:t> measures are commonly used to specify the service required by various network customers or users and to dictate the traffic management policies used on the network. The common case, until recently, is that </a:t>
            </a:r>
            <a:r>
              <a:rPr lang="en-GB" dirty="0" err="1"/>
              <a:t>QoS</a:t>
            </a:r>
            <a:r>
              <a:rPr lang="en-GB" dirty="0"/>
              <a:t> was implemented on network that used neither NFV nor SDN. In this case, routing and traffic control policies must be configured directly on network devices using a variety of automated and manual techniques. If NFV but not SDN is implemented, the </a:t>
            </a:r>
            <a:r>
              <a:rPr lang="en-GB" dirty="0" err="1"/>
              <a:t>QoS</a:t>
            </a:r>
            <a:r>
              <a:rPr lang="en-GB" dirty="0"/>
              <a:t> settings are communicated to the VMs. With SDN, regardless of whether NFV is used, it is the SDN controller that is responsible for enforcing </a:t>
            </a:r>
            <a:r>
              <a:rPr lang="en-GB" dirty="0" err="1"/>
              <a:t>QoS</a:t>
            </a:r>
            <a:r>
              <a:rPr lang="en-GB" dirty="0"/>
              <a:t> parameters for the various network </a:t>
            </a:r>
            <a:r>
              <a:rPr lang="en-GB" dirty="0" err="1"/>
              <a:t>users.If</a:t>
            </a:r>
            <a:r>
              <a:rPr lang="en-GB" dirty="0"/>
              <a:t> </a:t>
            </a:r>
            <a:r>
              <a:rPr lang="en-GB" dirty="0" err="1"/>
              <a:t>QoE</a:t>
            </a:r>
            <a:r>
              <a:rPr lang="en-GB" dirty="0"/>
              <a:t> considerations come into play, these are used to adjust </a:t>
            </a:r>
            <a:r>
              <a:rPr lang="en-GB" dirty="0" err="1"/>
              <a:t>QoS</a:t>
            </a:r>
            <a:r>
              <a:rPr lang="en-GB" dirty="0"/>
              <a:t> parameters to satisfy the users’ </a:t>
            </a:r>
            <a:r>
              <a:rPr lang="en-GB" dirty="0" err="1"/>
              <a:t>QoE</a:t>
            </a:r>
            <a:r>
              <a:rPr lang="en-GB" dirty="0"/>
              <a:t> requirements.</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14</a:t>
            </a:fld>
            <a:endParaRPr lang="en-GB"/>
          </a:p>
        </p:txBody>
      </p:sp>
    </p:spTree>
    <p:extLst>
      <p:ext uri="{BB962C8B-B14F-4D97-AF65-F5344CB8AC3E}">
        <p14:creationId xmlns:p14="http://schemas.microsoft.com/office/powerpoint/2010/main" val="2983771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two elements involved in forwarding packets through routers are a control function, which decides the route the traffic takes and the relative priority of traffic, and a data function, which forwards data based on control-function policy. Prior to SDN, these functions were performed in an integrated fashion at each network device (router, bridge, packet switch, and so on). Control in such a traditional network is exercised by means of a routing and control network protocol that is implemented in each network node. This approach is relatively inflexible and requires all the network nodes to implement the same protocols. With SDN, a central controller performs all complex functionality, including routing, naming, policy declaration, and security checks </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15</a:t>
            </a:fld>
            <a:endParaRPr lang="en-GB"/>
          </a:p>
        </p:txBody>
      </p:sp>
    </p:spTree>
    <p:extLst>
      <p:ext uri="{BB962C8B-B14F-4D97-AF65-F5344CB8AC3E}">
        <p14:creationId xmlns:p14="http://schemas.microsoft.com/office/powerpoint/2010/main" val="1042398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is SDN designed to meet evolving network requirements?</a:t>
            </a:r>
          </a:p>
          <a:p>
            <a:r>
              <a:rPr lang="en-GB" dirty="0"/>
              <a:t>Requirements</a:t>
            </a:r>
          </a:p>
          <a:p>
            <a:r>
              <a:rPr lang="en-GB" dirty="0"/>
              <a:t>Based on the narrative of previous slides, we are now in a position to detail the principal requirements for a modern networking approach. The Open Data </a:t>
            </a:r>
            <a:r>
              <a:rPr lang="en-GB" dirty="0" err="1"/>
              <a:t>Center</a:t>
            </a:r>
            <a:r>
              <a:rPr lang="en-GB" dirty="0"/>
              <a:t> Alliance (ODCA) provides a useful, concise list of requirements, which include the following [ODCA14]: </a:t>
            </a:r>
          </a:p>
          <a:p>
            <a:r>
              <a:rPr lang="en-GB" dirty="0"/>
              <a:t>Adaptability: Networks must adjust and respond dynamically, based on application needs, business policy, and network conditions. </a:t>
            </a:r>
          </a:p>
          <a:p>
            <a:r>
              <a:rPr lang="en-GB" dirty="0"/>
              <a:t>Automation: Policy changes must be automatically propagated so that manual work and errors can be reduced. </a:t>
            </a:r>
          </a:p>
          <a:p>
            <a:r>
              <a:rPr lang="en-GB" dirty="0"/>
              <a:t>Maintainability. Introduction of new features and capabilities (software upgrades, patches) must be seamless with minimal disruption of operations. </a:t>
            </a:r>
          </a:p>
          <a:p>
            <a:r>
              <a:rPr lang="en-GB" dirty="0"/>
              <a:t>Model management: Network management software must allow management of the network at a model level, rather than implementing conceptual changes by reconfiguring individual network elements. </a:t>
            </a:r>
          </a:p>
          <a:p>
            <a:r>
              <a:rPr lang="en-GB" dirty="0"/>
              <a:t>Mobility: Control functionality must accommodate mobility, including mobile user devices and virtual servers. </a:t>
            </a:r>
          </a:p>
          <a:p>
            <a:r>
              <a:rPr lang="en-GB" dirty="0"/>
              <a:t>Integrated security: Network applications must integrate seamless security as a core service instead of as an add-on solution. </a:t>
            </a:r>
          </a:p>
          <a:p>
            <a:r>
              <a:rPr lang="en-GB" dirty="0"/>
              <a:t>On-demand scaling: Implementations must have the ability to scale up or scale down the network and its services to support on-demand requests.</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16</a:t>
            </a:fld>
            <a:endParaRPr lang="en-GB"/>
          </a:p>
        </p:txBody>
      </p:sp>
    </p:spTree>
    <p:extLst>
      <p:ext uri="{BB962C8B-B14F-4D97-AF65-F5344CB8AC3E}">
        <p14:creationId xmlns:p14="http://schemas.microsoft.com/office/powerpoint/2010/main" val="14771266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 analogy can be drawn between the way in which computing evolved from closed, vertically integrated, proprietary systems into an open approach to computing and the evolution coming with SDN (see Figure 3.1). In the early decades of computing, vendors such as IBM and DEC provided a fully integrated product, with a proprietary processor hardware, unique assembly language, unique operating system (OS), and the bulk if not all of the application software. In this environment, customers, especially large customers, tended to be locked in to one vendor, dependent primarily on the applications offered by that vendor. Migration to another vendor’s hardware platform resulted in major upheaval at the application level.</a:t>
            </a:r>
          </a:p>
          <a:p>
            <a:r>
              <a:rPr lang="en-GB" dirty="0"/>
              <a:t>Today, the computing environment is characterized by extreme openness and great customer flexibility. The bulk of computing hardware consists of x86 and x86-compatible processors for standalone systems and ARM processors for embedded systems. This makes it easy to port operating systems implemented in C, C++, Java, and the like. Even proprietary hardware architectures, such as IBM’s </a:t>
            </a:r>
            <a:r>
              <a:rPr lang="en-GB" dirty="0" err="1"/>
              <a:t>zEnterprise</a:t>
            </a:r>
            <a:r>
              <a:rPr lang="en-GB" dirty="0"/>
              <a:t> line, provide standardized compilers and programming environments and so can easily run open sources operating systems such as Linux. Therefore, applications written for Linux or other open operating systems can easily be moved from one vendor platform to another. Even proprietary systems such as Windows and Mac OS provide programming environments to make porting of applications an easy matter. It also enables the development of virtual machines that can be moved from one server to another across hardware platforms and operating </a:t>
            </a:r>
            <a:r>
              <a:rPr lang="en-GB" dirty="0" err="1"/>
              <a:t>systems.The</a:t>
            </a:r>
            <a:r>
              <a:rPr lang="en-GB" dirty="0"/>
              <a:t> networking environment today faces some of the same limitations faced in the pre-open era of computing. Here the issue is not developing applications that can run on multiple platforms. Rather, the difficulty is the lack of integration between applications and network infrastructure. As demonstrated in the preceding section, traditional network architectures are inadequate to meet the demands of the growing volume and variety of traffic.</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17</a:t>
            </a:fld>
            <a:endParaRPr lang="en-GB"/>
          </a:p>
        </p:txBody>
      </p:sp>
    </p:spTree>
    <p:extLst>
      <p:ext uri="{BB962C8B-B14F-4D97-AF65-F5344CB8AC3E}">
        <p14:creationId xmlns:p14="http://schemas.microsoft.com/office/powerpoint/2010/main" val="261935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central concept behind SDN is to enable developers and network managers to have the same type of control over network equipment that they have had over x86 servers. As discussed  the SDN approach splits the switching function between a data plane and a control plane that are on separate devices (see Figure 3.2). The data plane is simply responsible for forwarding packets, whereas the control plane provides the “intelligence” in designing routes, setting priority and routing policy parameters to meet </a:t>
            </a:r>
            <a:r>
              <a:rPr lang="en-GB" dirty="0" err="1"/>
              <a:t>QoS</a:t>
            </a:r>
            <a:r>
              <a:rPr lang="en-GB" dirty="0"/>
              <a:t> and </a:t>
            </a:r>
            <a:r>
              <a:rPr lang="en-GB" dirty="0" err="1"/>
              <a:t>QoE</a:t>
            </a:r>
            <a:r>
              <a:rPr lang="en-GB" dirty="0"/>
              <a:t> requirements and to cope with the shifting traffic patterns. Open interfaces are defined so that the switching hardware presents a uniform interface regardless of the details of internal implementation. Similarly, open interfaces are defined to enable networking applications to communicate with the SDN controllers.</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18</a:t>
            </a:fld>
            <a:endParaRPr lang="en-GB"/>
          </a:p>
        </p:txBody>
      </p:sp>
    </p:spTree>
    <p:extLst>
      <p:ext uri="{BB962C8B-B14F-4D97-AF65-F5344CB8AC3E}">
        <p14:creationId xmlns:p14="http://schemas.microsoft.com/office/powerpoint/2010/main" val="35795149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pPr marL="342900" indent="-342900" algn="l">
              <a:buFont typeface="Arial" panose="020B0604020202020204" pitchFamily="34" charset="0"/>
              <a:buChar char="•"/>
            </a:pPr>
            <a:r>
              <a:rPr lang="en-US" sz="1200" dirty="0">
                <a:solidFill>
                  <a:srgbClr val="000000"/>
                </a:solidFill>
              </a:rPr>
              <a:t>Example CEF</a:t>
            </a:r>
            <a:r>
              <a:rPr lang="en-GB" sz="1200" b="0" i="0" kern="1200" dirty="0">
                <a:solidFill>
                  <a:schemeClr val="tx1"/>
                </a:solidFill>
                <a:effectLst/>
                <a:latin typeface="Arial" charset="0"/>
                <a:ea typeface="+mn-ea"/>
                <a:cs typeface="+mn-cs"/>
              </a:rPr>
              <a:t>Cisco Express Forwarding</a:t>
            </a:r>
            <a:r>
              <a:rPr lang="en-US" sz="1200" dirty="0">
                <a:solidFill>
                  <a:srgbClr val="000000"/>
                </a:solidFill>
              </a:rPr>
              <a:t> is an advanced, Layer 3 IP switching technology that enables forwarding of packets to occur at the data plane without consulting the control plane. </a:t>
            </a:r>
          </a:p>
          <a:p>
            <a:pPr marL="342900" indent="-342900" algn="l">
              <a:buFont typeface="Arial" panose="020B0604020202020204" pitchFamily="34" charset="0"/>
              <a:buChar char="•"/>
            </a:pPr>
            <a:r>
              <a:rPr lang="en-US" sz="1200" dirty="0">
                <a:solidFill>
                  <a:srgbClr val="000000"/>
                </a:solidFill>
              </a:rPr>
              <a:t>SDN is basically the separation of the control plane and data plane. The control plane function is removed from each device and is performed by a centralized controller. The centralized controller communicates control plane functions to each device. Each device can now focus on forwarding data while the centralized controller manages data flow, increases security, and provides other services.</a:t>
            </a:r>
          </a:p>
          <a:p>
            <a:pPr marL="285750" indent="-285750" algn="l">
              <a:buFont typeface="Arial" panose="020B0604020202020204" pitchFamily="34" charset="0"/>
              <a:buChar char="•"/>
            </a:pPr>
            <a:r>
              <a:rPr lang="en-US" sz="1200" dirty="0">
                <a:solidFill>
                  <a:srgbClr val="000000"/>
                </a:solidFill>
              </a:rPr>
              <a:t>The </a:t>
            </a:r>
            <a:r>
              <a:rPr lang="en-US" sz="1200" b="1" dirty="0">
                <a:solidFill>
                  <a:srgbClr val="000000"/>
                </a:solidFill>
              </a:rPr>
              <a:t>management plane </a:t>
            </a:r>
            <a:r>
              <a:rPr lang="en-US" sz="1200" dirty="0">
                <a:solidFill>
                  <a:srgbClr val="000000"/>
                </a:solidFill>
              </a:rPr>
              <a:t>is responsible for managing a device through its connection to the network. </a:t>
            </a:r>
          </a:p>
          <a:p>
            <a:pPr marL="285750" indent="-285750" algn="l">
              <a:buFont typeface="Arial" panose="020B0604020202020204" pitchFamily="34" charset="0"/>
              <a:buChar char="•"/>
            </a:pPr>
            <a:r>
              <a:rPr lang="en-US" sz="1200" dirty="0">
                <a:solidFill>
                  <a:srgbClr val="000000"/>
                </a:solidFill>
              </a:rPr>
              <a:t>Network administrators use applications such as Secure Shell (SSH), Trivial File Transfer Protocol (TFTP), Secure FTP, and Secure Hypertext Transfer Protocol (HTTPS) to access the management plane and configure a device. </a:t>
            </a:r>
          </a:p>
          <a:p>
            <a:pPr marL="285750" indent="-285750" algn="l">
              <a:buFont typeface="Arial" panose="020B0604020202020204" pitchFamily="34" charset="0"/>
              <a:buChar char="•"/>
            </a:pPr>
            <a:r>
              <a:rPr lang="en-US" sz="1200" dirty="0">
                <a:solidFill>
                  <a:srgbClr val="000000"/>
                </a:solidFill>
              </a:rPr>
              <a:t>The management plane is how you have accessed and configured devices in your networking studies. In addition, protocols like Simple Network Management Protocol (SNMP), use the management plane.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62072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figure elaborates on the structure showing more detail of the SDN approach. The data plane consists of physical switches and virtual switches. In both cases, the switches are responsible for forwarding packets. The internal implementation of buffers, priority parameters, and other data structures related to forwarding can be vendor dependent. However, each switch must implement a model, or abstraction, of packet forwarding that is uniform and open to the SDN controllers. This model is defined in terms of an open application programming interface (API) between the control plane and the data plane (southbound API). The most prominent example of such an open API is OpenFlow, a specification that defines both a protocol between the control and data planes and an API by which the control plane can invoke the OpenFlow protocol.</a:t>
            </a:r>
          </a:p>
          <a:p>
            <a:endParaRPr lang="en-GB" dirty="0"/>
          </a:p>
          <a:p>
            <a:r>
              <a:rPr lang="en-GB" dirty="0"/>
              <a:t>OpenFlow, the most widely used implementation of the SDN data plane. </a:t>
            </a:r>
          </a:p>
          <a:p>
            <a:endParaRPr lang="en-GB" dirty="0"/>
          </a:p>
          <a:p>
            <a:r>
              <a:rPr lang="en-GB" dirty="0"/>
              <a:t>A language and message format used by an application program to communicate with the operating system or some other control program such as a database management system (DBMS) or communications protocol. APIs are implemented by writing function calls in the program, which provide the linkage to the required subroutine for execution. An open or standardized API can ensure the portability of the application code and the vendor independence of the called service. </a:t>
            </a:r>
          </a:p>
          <a:p>
            <a:r>
              <a:rPr lang="en-GB" dirty="0"/>
              <a:t>SDN controllers can be implemented directly on a server or on a virtual server. OpenFlow or some other open API is used to control the switches in the data plane. In addition, controllers use information about capacity and demand obtained from the networking equipment through which the traffic flows. SDN controllers also expose northbound APIs, which allow developers and network managers to deploy a wide range of off-the-shelf and custom-built network applications, many of which were not feasible before the advent of SDN. As yet there is no standardized northbound API nor a consensus on an open northbound API. A number of vendors offer a </a:t>
            </a:r>
            <a:r>
              <a:rPr lang="en-GB" dirty="0" err="1"/>
              <a:t>REpresentational</a:t>
            </a:r>
            <a:r>
              <a:rPr lang="en-GB" dirty="0"/>
              <a:t> State Transfer (REST)-based API to provide a programmable interface to their SDN controller.</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20</a:t>
            </a:fld>
            <a:endParaRPr lang="en-GB"/>
          </a:p>
        </p:txBody>
      </p:sp>
    </p:spTree>
    <p:extLst>
      <p:ext uri="{BB962C8B-B14F-4D97-AF65-F5344CB8AC3E}">
        <p14:creationId xmlns:p14="http://schemas.microsoft.com/office/powerpoint/2010/main" val="16906952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SDN data plane, referred to as the resource layer in ITU-T Y.3300 and also often referred to as the infrastructure layer, is where network forwarding devices perform the transport and processing of data according to decisions made by the SDN control plane. The important characteristic of the network devices in an SDN network is that these devices perform a simple forwarding function, without embedded software to make autonomous </a:t>
            </a:r>
            <a:r>
              <a:rPr lang="en-GB" dirty="0" err="1"/>
              <a:t>decisions.Data</a:t>
            </a:r>
            <a:r>
              <a:rPr lang="en-GB" dirty="0"/>
              <a:t> Plane </a:t>
            </a:r>
            <a:r>
              <a:rPr lang="en-GB" dirty="0" err="1"/>
              <a:t>FunctionsFigure</a:t>
            </a:r>
            <a:r>
              <a:rPr lang="en-GB" dirty="0"/>
              <a:t> 4.2 illustrates the functions performed by the data plane network devices (also called data plane network elements or switches). The principal functions of the network device are the following:</a:t>
            </a:r>
          </a:p>
          <a:p>
            <a:r>
              <a:rPr lang="en-GB" dirty="0"/>
              <a:t>Control support function: Interacts with the SDN control layer to support programmability via resource-control interfaces. The switch communicates with the controller and the controller manages the switch via the OpenFlow switch protocol. </a:t>
            </a:r>
          </a:p>
          <a:p>
            <a:r>
              <a:rPr lang="en-GB" dirty="0"/>
              <a:t>Data forwarding function: Accepts incoming data flows from other network devices and end systems and forwards them along the data forwarding paths that have been computed and established according to the rules defined by the SDN applications.</a:t>
            </a:r>
          </a:p>
          <a:p>
            <a:r>
              <a:rPr lang="en-GB" dirty="0"/>
              <a:t>These forwarding rules used by the network device are embodied in forwarding tables that indicate for given categories of packets what the next hop in the route should be. In addition to simple forwarding of a packet, the network device can alter the packet header before forwarding, or discard the packet. As shown, arriving packets may be placed in an input queue, awaiting processing by the network device, and forwarded packets are generally placed in an output queue, awaiting transmission.</a:t>
            </a:r>
          </a:p>
          <a:p>
            <a:r>
              <a:rPr lang="en-GB" dirty="0"/>
              <a:t>The network device in Figure 4.2 is shown with three I/O ports: one providing control communication with an SDN controller, and two for the input and output of data packets. This is a simple example. The network device may have multiple ports to communicate with multiple SDN controllers, and may have more than two I/O ports for packet flows into and out of the device.</a:t>
            </a:r>
          </a:p>
          <a:p>
            <a:r>
              <a:rPr lang="en-GB" dirty="0"/>
              <a:t>Data Plane Protocols</a:t>
            </a:r>
          </a:p>
          <a:p>
            <a:endParaRPr lang="en-GB" dirty="0"/>
          </a:p>
          <a:p>
            <a:r>
              <a:rPr lang="en-GB" dirty="0"/>
              <a:t>Figure 4.2 suggests the protocols supported by the network device. Data packet flows consist of streams of IP packets. It may be necessary for the forwarding table to define entries based on fields in upper-level protocol headers, such as TCP, UDP, or some other transport or application protocol. The network device examines the IP header and possibly other headers in each packet and makes a forwarding decision.</a:t>
            </a:r>
          </a:p>
          <a:p>
            <a:r>
              <a:rPr lang="en-GB" dirty="0"/>
              <a:t>The other important flow of traffic is via the southbound application programming interface (API), consisting of OpenFlow protocol data units (PDUs) or some similar southbound API protocol traffic</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22</a:t>
            </a:fld>
            <a:endParaRPr lang="en-GB"/>
          </a:p>
        </p:txBody>
      </p:sp>
    </p:spTree>
    <p:extLst>
      <p:ext uri="{BB962C8B-B14F-4D97-AF65-F5344CB8AC3E}">
        <p14:creationId xmlns:p14="http://schemas.microsoft.com/office/powerpoint/2010/main" val="3742704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b="1" dirty="0">
                <a:solidFill>
                  <a:srgbClr val="000000"/>
                </a:solidFill>
              </a:rPr>
              <a:t>Cisco Application Centric Infrastructure (ACI)</a:t>
            </a:r>
            <a:r>
              <a:rPr lang="en-US" sz="1200" dirty="0">
                <a:solidFill>
                  <a:srgbClr val="000000"/>
                </a:solidFill>
              </a:rPr>
              <a:t> - A purpose-built hardware solution for integrating cloud computing and data center management.</a:t>
            </a:r>
          </a:p>
          <a:p>
            <a:r>
              <a:rPr lang="en-GB" sz="1200" b="0" i="0" kern="1200" dirty="0">
                <a:solidFill>
                  <a:schemeClr val="tx1"/>
                </a:solidFill>
                <a:effectLst/>
                <a:latin typeface="Arial" charset="0"/>
                <a:ea typeface="+mn-ea"/>
                <a:cs typeface="+mn-cs"/>
              </a:rPr>
              <a:t>Cisco ACI is an industry-leading SDN solution that provides policy-driven automation through an integrated underlay and overlay, supporting hypervisors compatible with many types of platform or operating system, and extends policy automation to any workload — including virtual machines, physical bare-metal servers, and containers.</a:t>
            </a:r>
          </a:p>
          <a:p>
            <a:endParaRPr lang="en-GB" sz="1200" b="0" i="0" kern="1200" dirty="0">
              <a:solidFill>
                <a:schemeClr val="tx1"/>
              </a:solidFill>
              <a:effectLst/>
              <a:latin typeface="Arial" charset="0"/>
              <a:ea typeface="+mn-ea"/>
              <a:cs typeface="+mn-cs"/>
            </a:endParaRPr>
          </a:p>
          <a:p>
            <a:pPr fontAlgn="base"/>
            <a:r>
              <a:rPr lang="en-GB" sz="1200" b="0" i="0" u="none" strike="noStrike" kern="1200" dirty="0">
                <a:solidFill>
                  <a:schemeClr val="tx1"/>
                </a:solidFill>
                <a:effectLst/>
                <a:latin typeface="Arial" charset="0"/>
                <a:ea typeface="+mn-ea"/>
                <a:cs typeface="+mn-cs"/>
              </a:rPr>
              <a:t>Cisco ACI and architectural solutions are built with the following building blocks:</a:t>
            </a:r>
          </a:p>
          <a:p>
            <a:pPr fontAlgn="base"/>
            <a:r>
              <a:rPr lang="en-GB" sz="1200" b="0" i="0" u="none" strike="noStrike" kern="1200" dirty="0">
                <a:solidFill>
                  <a:schemeClr val="tx1"/>
                </a:solidFill>
                <a:effectLst/>
                <a:latin typeface="Arial" charset="0"/>
                <a:ea typeface="+mn-ea"/>
                <a:cs typeface="+mn-cs"/>
              </a:rPr>
              <a:t>●      Cisco Application Policy Infrastructure Controller (APIC)</a:t>
            </a:r>
          </a:p>
          <a:p>
            <a:pPr fontAlgn="base"/>
            <a:r>
              <a:rPr lang="en-GB" sz="1200" b="0" i="0" u="none" strike="noStrike" kern="1200" dirty="0">
                <a:solidFill>
                  <a:schemeClr val="tx1"/>
                </a:solidFill>
                <a:effectLst/>
                <a:latin typeface="Arial" charset="0"/>
                <a:ea typeface="+mn-ea"/>
                <a:cs typeface="+mn-cs"/>
              </a:rPr>
              <a:t>●      Cisco Nexus</a:t>
            </a:r>
            <a:r>
              <a:rPr lang="en-GB" sz="1200" b="0" i="0" u="none" strike="noStrike" kern="1200" baseline="30000" dirty="0">
                <a:solidFill>
                  <a:schemeClr val="tx1"/>
                </a:solidFill>
                <a:effectLst/>
                <a:latin typeface="Arial" charset="0"/>
                <a:ea typeface="+mn-ea"/>
                <a:cs typeface="+mn-cs"/>
              </a:rPr>
              <a:t>®</a:t>
            </a:r>
            <a:r>
              <a:rPr lang="en-GB" sz="1200" b="0" i="0" u="none" strike="noStrike" kern="1200" dirty="0">
                <a:solidFill>
                  <a:schemeClr val="tx1"/>
                </a:solidFill>
                <a:effectLst/>
                <a:latin typeface="Arial" charset="0"/>
                <a:ea typeface="+mn-ea"/>
                <a:cs typeface="+mn-cs"/>
              </a:rPr>
              <a:t> 9000 Series spine and leaf switches for Cisco ACI</a:t>
            </a:r>
          </a:p>
          <a:p>
            <a:br>
              <a:rPr lang="en-GB" dirty="0"/>
            </a:br>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23</a:t>
            </a:fld>
            <a:endParaRPr lang="en-GB"/>
          </a:p>
        </p:txBody>
      </p:sp>
    </p:spTree>
    <p:extLst>
      <p:ext uri="{BB962C8B-B14F-4D97-AF65-F5344CB8AC3E}">
        <p14:creationId xmlns:p14="http://schemas.microsoft.com/office/powerpoint/2010/main" val="20645317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Unlike some technology areas, such as Wi-Fi, there is no single standards body responsible for developing open standards for SDN and NFV. Rather, there is a large and evolving collection of standards-developing organizations (SDOs), industrial consortia, and open development initiatives involved in creating standards and guidelines for SDN and NFV. Table 3.1 lists the main SDOs and other organizations involved in the effort and the main outcomes so far produced.</a:t>
            </a:r>
          </a:p>
          <a:p>
            <a:r>
              <a:rPr lang="en-GB" dirty="0"/>
              <a:t>Documents that provide requirements, specifications, guidelines, or characteristics that can be used consistently to ensure that materials, products, processes, and services are fit for their purpose. Standards are established by consensus among those participating in a standards-making organization and are approved by a generally recognized </a:t>
            </a:r>
            <a:r>
              <a:rPr lang="en-GB" dirty="0" err="1"/>
              <a:t>body.A</a:t>
            </a:r>
            <a:r>
              <a:rPr lang="en-GB" dirty="0"/>
              <a:t> standard that is: developed on the basis of an open decision-making procedure available to all interested parties, is available for implementation to all on a royalty-free basis, and is intended to promote interoperability among products from multiple vendors.</a:t>
            </a:r>
          </a:p>
          <a:p>
            <a:endParaRPr lang="en-GB" dirty="0"/>
          </a:p>
          <a:p>
            <a:r>
              <a:rPr lang="en-GB" dirty="0"/>
              <a:t>The Internet Engineering Task Force (IETF) has working groups developing SDN-related specifications in the following areas: Interface to routing systems (I2RS): Develop capabilities to interact with routers and routing protocols to apply routing policies. Service function chaining: Develop an architecture and capabilities for controllers to direct subsets of traffic across the network in such a way that each virtual service platform sees only the traffic it must work with.</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24</a:t>
            </a:fld>
            <a:endParaRPr lang="en-GB"/>
          </a:p>
        </p:txBody>
      </p:sp>
    </p:spTree>
    <p:extLst>
      <p:ext uri="{BB962C8B-B14F-4D97-AF65-F5344CB8AC3E}">
        <p14:creationId xmlns:p14="http://schemas.microsoft.com/office/powerpoint/2010/main" val="12662290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turn the concept of SDN into practical implementation, two requirements must be met: There must be a common logical architecture in all switches, routers, and other network devices to be managed by an SDN controller. This logical architecture may be implemented in different ways on different vendor equipment and in different types of network devices, as long as the SDN controller sees a uniform logical switch functionality. A standard, secure protocol is needed between the SDN controller and the network </a:t>
            </a:r>
            <a:r>
              <a:rPr lang="en-GB" dirty="0" err="1"/>
              <a:t>device.These</a:t>
            </a:r>
            <a:r>
              <a:rPr lang="en-GB" dirty="0"/>
              <a:t> requirements are addressed by OpenFlow, which is both a protocol between SDN controllers and network devices and a specification of the logical structure of the network switch functionality. OpenFlow is defined in the OpenFlow Switch Specification, published by the Open Networking Foundation (ONF).</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25</a:t>
            </a:fld>
            <a:endParaRPr lang="en-GB"/>
          </a:p>
        </p:txBody>
      </p:sp>
    </p:spTree>
    <p:extLst>
      <p:ext uri="{BB962C8B-B14F-4D97-AF65-F5344CB8AC3E}">
        <p14:creationId xmlns:p14="http://schemas.microsoft.com/office/powerpoint/2010/main" val="2393623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Figure 4.3 indicates the main elements of an OpenFlow environment, consisting of SDN controllers that include OpenFlow software, OpenFlow switches, and end systems.</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26</a:t>
            </a:fld>
            <a:endParaRPr lang="en-GB"/>
          </a:p>
        </p:txBody>
      </p:sp>
    </p:spTree>
    <p:extLst>
      <p:ext uri="{BB962C8B-B14F-4D97-AF65-F5344CB8AC3E}">
        <p14:creationId xmlns:p14="http://schemas.microsoft.com/office/powerpoint/2010/main" val="9473474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Figure 4.4 displays the main components of an OpenFlow switch. An SDN controller communicates with OpenFlow-compatible switches using the OpenFlow protocol running over Transport Layer Security (TLS). Each switch connects to other OpenFlow switches and, possibly, to end-user devices that are the sources and destinations of packet flows. On the switch side, the interface is known as an OpenFlow channel. These connections are via OpenFlow ports. An OpenFlow port also connects the switch to the SDN controller. OpenFlow defines three types of ports:</a:t>
            </a:r>
          </a:p>
          <a:p>
            <a:r>
              <a:rPr lang="en-GB" b="1" dirty="0"/>
              <a:t>Physical port:</a:t>
            </a:r>
            <a:r>
              <a:rPr lang="en-GB" dirty="0"/>
              <a:t> Corresponds to a hardware interface of the switch. For example, on an Ethernet switch, physical ports map one to one to the Ethernet interfaces. </a:t>
            </a:r>
          </a:p>
          <a:p>
            <a:r>
              <a:rPr lang="en-GB" b="1" dirty="0"/>
              <a:t>Logical port: </a:t>
            </a:r>
            <a:r>
              <a:rPr lang="en-GB" dirty="0"/>
              <a:t>Does not correspond directly to a hardware interface of the switch. Logical ports are higher-level abstractions that may be defined in the switch using non-OpenFlow methods (for example, link aggregation groups, tunnels, loopback interfaces). Logical ports may include packet encapsulation and may map to various physical ports. The processing done by the logical port is implementation dependent and must be transparent to OpenFlow processing, and those ports must interact with OpenFlow processing like OpenFlow physical ports. </a:t>
            </a:r>
          </a:p>
          <a:p>
            <a:r>
              <a:rPr lang="en-GB" b="1" dirty="0"/>
              <a:t>Reserved port: </a:t>
            </a:r>
            <a:r>
              <a:rPr lang="en-GB" dirty="0"/>
              <a:t>Defined by the OpenFlow specification. It specifies generic forwarding actions such as sending to and receiving from the controller, flooding, or forwarding using non-OpenFlow methods, such as “normal” switch processing.</a:t>
            </a:r>
          </a:p>
          <a:p>
            <a:r>
              <a:rPr lang="en-GB" dirty="0"/>
              <a:t>Within each switch, a series of tables is used to manage the flows of packets through the switch. The OpenFlow specification defines three types of tables in the logical switch architecture. </a:t>
            </a:r>
          </a:p>
          <a:p>
            <a:r>
              <a:rPr lang="en-GB" dirty="0"/>
              <a:t>A </a:t>
            </a:r>
            <a:r>
              <a:rPr lang="en-GB" b="1" dirty="0"/>
              <a:t>flow table </a:t>
            </a:r>
            <a:r>
              <a:rPr lang="en-GB" dirty="0"/>
              <a:t>matches incoming packets to a particular flow and specifies what functions are to be performed on the packets. </a:t>
            </a:r>
          </a:p>
          <a:p>
            <a:r>
              <a:rPr lang="en-GB" dirty="0"/>
              <a:t>There may be multiple flow tables that operate in a pipeline fashion, as explained subsequently. A flow table may direct a flow to </a:t>
            </a:r>
            <a:r>
              <a:rPr lang="en-GB" b="1" dirty="0"/>
              <a:t>a group table</a:t>
            </a:r>
            <a:r>
              <a:rPr lang="en-GB" dirty="0"/>
              <a:t>, which may trigger a variety of actions that affect one or more flows. </a:t>
            </a:r>
          </a:p>
          <a:p>
            <a:r>
              <a:rPr lang="en-GB" b="1" dirty="0"/>
              <a:t>A meter ta</a:t>
            </a:r>
            <a:r>
              <a:rPr lang="en-GB" dirty="0"/>
              <a:t>ble can trigger a variety of performance-related actions on a flow. Using the OpenFlow switch protocol, the controller can add, update, and delete flow entries in tables, both reactively (in response to packets) and proactively.</a:t>
            </a:r>
          </a:p>
          <a:p>
            <a:endParaRPr lang="en-GB" dirty="0"/>
          </a:p>
          <a:p>
            <a:r>
              <a:rPr lang="en-GB" dirty="0"/>
              <a:t>Before proceeding, it is helpful to define what is meant by the term flow. Curiously, this term is not defined in the OpenFlow specification, nor is there an attempt to define it in virtually all of the literature on OpenFlow. In general terms, a flow is a sequence of packets traversing a network that share a set of header field values. For example, a flow could consist of all packets with the same source and destination IP addresses or all packets with the same virtual LAN (VLAN) identifier. The sections that follow provide a more specific definition of this concept.</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27</a:t>
            </a:fld>
            <a:endParaRPr lang="en-GB"/>
          </a:p>
        </p:txBody>
      </p:sp>
    </p:spTree>
    <p:extLst>
      <p:ext uri="{BB962C8B-B14F-4D97-AF65-F5344CB8AC3E}">
        <p14:creationId xmlns:p14="http://schemas.microsoft.com/office/powerpoint/2010/main" val="27846550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basic building block of the logical switch architecture is the flow table. Each packet that enters a switch passes through one of more flow tables. Each flow table consists of a number of rows, called entries, consisting of seven components (see part a of Figure 4.5), as defined in the list that follows. </a:t>
            </a:r>
          </a:p>
          <a:p>
            <a:r>
              <a:rPr lang="en-GB" dirty="0"/>
              <a:t>Match fields: Used to select packets that match the values in the fields. </a:t>
            </a:r>
          </a:p>
          <a:p>
            <a:r>
              <a:rPr lang="en-GB" dirty="0"/>
              <a:t>Priority: Relative priority of table entries. This is a 16-bit field with 0 corresponding to the lowest priority. In principle, there could be 216 = 64k priority levels. </a:t>
            </a:r>
          </a:p>
          <a:p>
            <a:r>
              <a:rPr lang="en-GB" dirty="0"/>
              <a:t>Counters: Updated for matching packets. The OpenFlow specification defines a variety of counters</a:t>
            </a:r>
          </a:p>
          <a:p>
            <a:r>
              <a:rPr lang="en-GB" sz="1200" b="1" i="0" kern="1200" dirty="0">
                <a:solidFill>
                  <a:schemeClr val="tx1"/>
                </a:solidFill>
                <a:effectLst/>
                <a:latin typeface="Arial" charset="0"/>
                <a:ea typeface="+mn-ea"/>
                <a:cs typeface="+mn-cs"/>
              </a:rPr>
              <a:t>Instructions:</a:t>
            </a:r>
            <a:r>
              <a:rPr lang="en-GB" sz="1200" b="0" i="0" kern="1200" dirty="0">
                <a:solidFill>
                  <a:schemeClr val="tx1"/>
                </a:solidFill>
                <a:effectLst/>
                <a:latin typeface="Arial" charset="0"/>
                <a:ea typeface="+mn-ea"/>
                <a:cs typeface="+mn-cs"/>
              </a:rPr>
              <a:t> Instructions to be performed if a match occurs.</a:t>
            </a:r>
          </a:p>
          <a:p>
            <a:r>
              <a:rPr lang="en-GB" sz="1200" b="0" i="0" kern="1200" dirty="0">
                <a:solidFill>
                  <a:schemeClr val="tx1"/>
                </a:solidFill>
                <a:effectLst/>
                <a:latin typeface="Arial" charset="0"/>
                <a:ea typeface="+mn-ea"/>
                <a:cs typeface="+mn-cs"/>
              </a:rPr>
              <a:t> </a:t>
            </a:r>
            <a:r>
              <a:rPr lang="en-GB" sz="1200" b="1" i="0" kern="1200" dirty="0">
                <a:solidFill>
                  <a:schemeClr val="tx1"/>
                </a:solidFill>
                <a:effectLst/>
                <a:latin typeface="Arial" charset="0"/>
                <a:ea typeface="+mn-ea"/>
                <a:cs typeface="+mn-cs"/>
              </a:rPr>
              <a:t>Timeouts:</a:t>
            </a:r>
            <a:r>
              <a:rPr lang="en-GB" sz="1200" b="0" i="0" kern="1200" dirty="0">
                <a:solidFill>
                  <a:schemeClr val="tx1"/>
                </a:solidFill>
                <a:effectLst/>
                <a:latin typeface="Arial" charset="0"/>
                <a:ea typeface="+mn-ea"/>
                <a:cs typeface="+mn-cs"/>
              </a:rPr>
              <a:t> Maximum amount of idle time before a flow is expired by the switch. Each flow entry has an </a:t>
            </a:r>
            <a:r>
              <a:rPr lang="en-GB" sz="1200" b="0" i="0" kern="1200" dirty="0" err="1">
                <a:solidFill>
                  <a:schemeClr val="tx1"/>
                </a:solidFill>
                <a:effectLst/>
                <a:latin typeface="Arial" charset="0"/>
                <a:ea typeface="+mn-ea"/>
                <a:cs typeface="+mn-cs"/>
              </a:rPr>
              <a:t>idle_timeout</a:t>
            </a:r>
            <a:r>
              <a:rPr lang="en-GB" sz="1200" b="0" i="0" kern="1200" dirty="0">
                <a:solidFill>
                  <a:schemeClr val="tx1"/>
                </a:solidFill>
                <a:effectLst/>
                <a:latin typeface="Arial" charset="0"/>
                <a:ea typeface="+mn-ea"/>
                <a:cs typeface="+mn-cs"/>
              </a:rPr>
              <a:t> and a </a:t>
            </a:r>
            <a:r>
              <a:rPr lang="en-GB" sz="1200" b="0" i="0" kern="1200" dirty="0" err="1">
                <a:solidFill>
                  <a:schemeClr val="tx1"/>
                </a:solidFill>
                <a:effectLst/>
                <a:latin typeface="Arial" charset="0"/>
                <a:ea typeface="+mn-ea"/>
                <a:cs typeface="+mn-cs"/>
              </a:rPr>
              <a:t>hard_timeout</a:t>
            </a:r>
            <a:r>
              <a:rPr lang="en-GB" sz="1200" b="0" i="0" kern="1200" dirty="0">
                <a:solidFill>
                  <a:schemeClr val="tx1"/>
                </a:solidFill>
                <a:effectLst/>
                <a:latin typeface="Arial" charset="0"/>
                <a:ea typeface="+mn-ea"/>
                <a:cs typeface="+mn-cs"/>
              </a:rPr>
              <a:t> associated with it. A nonzero </a:t>
            </a:r>
            <a:r>
              <a:rPr lang="en-GB" sz="1200" b="0" i="0" kern="1200" dirty="0" err="1">
                <a:solidFill>
                  <a:schemeClr val="tx1"/>
                </a:solidFill>
                <a:effectLst/>
                <a:latin typeface="Arial" charset="0"/>
                <a:ea typeface="+mn-ea"/>
                <a:cs typeface="+mn-cs"/>
              </a:rPr>
              <a:t>hard_timeout</a:t>
            </a:r>
            <a:r>
              <a:rPr lang="en-GB" sz="1200" b="0" i="0" kern="1200" dirty="0">
                <a:solidFill>
                  <a:schemeClr val="tx1"/>
                </a:solidFill>
                <a:effectLst/>
                <a:latin typeface="Arial" charset="0"/>
                <a:ea typeface="+mn-ea"/>
                <a:cs typeface="+mn-cs"/>
              </a:rPr>
              <a:t> field causes the flow entry to be removed after the given number of seconds, regardless of how many packets it has matched. A nonzero </a:t>
            </a:r>
            <a:r>
              <a:rPr lang="en-GB" sz="1200" b="0" i="0" kern="1200" dirty="0" err="1">
                <a:solidFill>
                  <a:schemeClr val="tx1"/>
                </a:solidFill>
                <a:effectLst/>
                <a:latin typeface="Arial" charset="0"/>
                <a:ea typeface="+mn-ea"/>
                <a:cs typeface="+mn-cs"/>
              </a:rPr>
              <a:t>idle_timeout</a:t>
            </a:r>
            <a:r>
              <a:rPr lang="en-GB" sz="1200" b="0" i="0" kern="1200" dirty="0">
                <a:solidFill>
                  <a:schemeClr val="tx1"/>
                </a:solidFill>
                <a:effectLst/>
                <a:latin typeface="Arial" charset="0"/>
                <a:ea typeface="+mn-ea"/>
                <a:cs typeface="+mn-cs"/>
              </a:rPr>
              <a:t> field causes the flow entry to be removed when it has matched no packets in the given number of seconds.</a:t>
            </a:r>
          </a:p>
          <a:p>
            <a:r>
              <a:rPr lang="en-GB" sz="1200" b="0" i="0" kern="1200" dirty="0">
                <a:solidFill>
                  <a:schemeClr val="tx1"/>
                </a:solidFill>
                <a:effectLst/>
                <a:latin typeface="Arial" charset="0"/>
                <a:ea typeface="+mn-ea"/>
                <a:cs typeface="+mn-cs"/>
              </a:rPr>
              <a:t> </a:t>
            </a:r>
            <a:r>
              <a:rPr lang="en-GB" sz="1200" b="1" i="0" kern="1200" dirty="0">
                <a:solidFill>
                  <a:schemeClr val="tx1"/>
                </a:solidFill>
                <a:effectLst/>
                <a:latin typeface="Arial" charset="0"/>
                <a:ea typeface="+mn-ea"/>
                <a:cs typeface="+mn-cs"/>
              </a:rPr>
              <a:t>Cookie:</a:t>
            </a:r>
            <a:r>
              <a:rPr lang="en-GB" sz="1200" b="0" i="0" kern="1200" dirty="0">
                <a:solidFill>
                  <a:schemeClr val="tx1"/>
                </a:solidFill>
                <a:effectLst/>
                <a:latin typeface="Arial" charset="0"/>
                <a:ea typeface="+mn-ea"/>
                <a:cs typeface="+mn-cs"/>
              </a:rPr>
              <a:t> 64-bit opaque data value chosen by the controller. May be used by the controller to filter flow statistics, flow modification and flow deletion; not used when processing packets.</a:t>
            </a:r>
          </a:p>
          <a:p>
            <a:r>
              <a:rPr lang="en-GB" sz="1200" b="0" i="0" kern="1200" dirty="0">
                <a:solidFill>
                  <a:schemeClr val="tx1"/>
                </a:solidFill>
                <a:effectLst/>
                <a:latin typeface="Arial" charset="0"/>
                <a:ea typeface="+mn-ea"/>
                <a:cs typeface="+mn-cs"/>
              </a:rPr>
              <a:t> </a:t>
            </a:r>
            <a:r>
              <a:rPr lang="en-GB" sz="1200" b="1" i="0" kern="1200" dirty="0">
                <a:solidFill>
                  <a:schemeClr val="tx1"/>
                </a:solidFill>
                <a:effectLst/>
                <a:latin typeface="Arial" charset="0"/>
                <a:ea typeface="+mn-ea"/>
                <a:cs typeface="+mn-cs"/>
              </a:rPr>
              <a:t>Flags</a:t>
            </a:r>
            <a:r>
              <a:rPr lang="en-GB" sz="1200" b="0" i="0" kern="1200" dirty="0">
                <a:solidFill>
                  <a:schemeClr val="tx1"/>
                </a:solidFill>
                <a:effectLst/>
                <a:latin typeface="Arial" charset="0"/>
                <a:ea typeface="+mn-ea"/>
                <a:cs typeface="+mn-cs"/>
              </a:rPr>
              <a:t>: Flags alter the way flow entries are managed; for example, the flag OFPFF_SEND_FLOW_REM triggers flow removed messages for that flow entry.</a:t>
            </a:r>
          </a:p>
          <a:p>
            <a:endParaRPr lang="en-GB" sz="1200" b="0" i="0" kern="1200" dirty="0">
              <a:solidFill>
                <a:schemeClr val="tx1"/>
              </a:solidFill>
              <a:effectLst/>
              <a:latin typeface="Arial" charset="0"/>
              <a:ea typeface="+mn-ea"/>
              <a:cs typeface="+mn-cs"/>
            </a:endParaRPr>
          </a:p>
          <a:p>
            <a:r>
              <a:rPr lang="en-GB" sz="1200" b="0" i="0" kern="1200" dirty="0">
                <a:solidFill>
                  <a:schemeClr val="tx1"/>
                </a:solidFill>
                <a:effectLst/>
                <a:latin typeface="Arial" charset="0"/>
                <a:ea typeface="+mn-ea"/>
                <a:cs typeface="+mn-cs"/>
              </a:rPr>
              <a:t>Match Fields </a:t>
            </a:r>
            <a:r>
              <a:rPr lang="en-GB" sz="1200" b="0" i="0" kern="1200" dirty="0" err="1">
                <a:solidFill>
                  <a:schemeClr val="tx1"/>
                </a:solidFill>
                <a:effectLst/>
                <a:latin typeface="Arial" charset="0"/>
                <a:ea typeface="+mn-ea"/>
                <a:cs typeface="+mn-cs"/>
              </a:rPr>
              <a:t>ComponentThe</a:t>
            </a:r>
            <a:r>
              <a:rPr lang="en-GB" sz="1200" b="0" i="0" kern="1200" dirty="0">
                <a:solidFill>
                  <a:schemeClr val="tx1"/>
                </a:solidFill>
                <a:effectLst/>
                <a:latin typeface="Arial" charset="0"/>
                <a:ea typeface="+mn-ea"/>
                <a:cs typeface="+mn-cs"/>
              </a:rPr>
              <a:t> match fields component of a table entry consists of the following required fields (see part b of Figure 4.5): Ingress port: The identifier of the port on this switch on which the packet arrived. This may be a physical port or a switch-defined virtual port. Required in ingress tables. Egress port: The identifier of the egress port from action set. Required in egress tables. Ethernet source and destination addresses: Each entry can be an exact address, a </a:t>
            </a:r>
            <a:r>
              <a:rPr lang="en-GB" sz="1200" b="0" i="0" kern="1200" dirty="0" err="1">
                <a:solidFill>
                  <a:schemeClr val="tx1"/>
                </a:solidFill>
                <a:effectLst/>
                <a:latin typeface="Arial" charset="0"/>
                <a:ea typeface="+mn-ea"/>
                <a:cs typeface="+mn-cs"/>
              </a:rPr>
              <a:t>bitmasked</a:t>
            </a:r>
            <a:r>
              <a:rPr lang="en-GB" sz="1200" b="0" i="0" kern="1200" dirty="0">
                <a:solidFill>
                  <a:schemeClr val="tx1"/>
                </a:solidFill>
                <a:effectLst/>
                <a:latin typeface="Arial" charset="0"/>
                <a:ea typeface="+mn-ea"/>
                <a:cs typeface="+mn-cs"/>
              </a:rPr>
              <a:t> value for which only some of the address bits are checked, or a wildcard value (match any value). Ethernet type field: Indicates type of the Ethernet packet payload. IP: Version 4 or 6. IPv4 or IPv6 source address, and destination address: Each entry can be an exact address, a </a:t>
            </a:r>
            <a:r>
              <a:rPr lang="en-GB" sz="1200" b="0" i="0" kern="1200" dirty="0" err="1">
                <a:solidFill>
                  <a:schemeClr val="tx1"/>
                </a:solidFill>
                <a:effectLst/>
                <a:latin typeface="Arial" charset="0"/>
                <a:ea typeface="+mn-ea"/>
                <a:cs typeface="+mn-cs"/>
              </a:rPr>
              <a:t>bitmasked</a:t>
            </a:r>
            <a:r>
              <a:rPr lang="en-GB" sz="1200" b="0" i="0" kern="1200" dirty="0">
                <a:solidFill>
                  <a:schemeClr val="tx1"/>
                </a:solidFill>
                <a:effectLst/>
                <a:latin typeface="Arial" charset="0"/>
                <a:ea typeface="+mn-ea"/>
                <a:cs typeface="+mn-cs"/>
              </a:rPr>
              <a:t> value, a subnet mask value, or a wildcard value. TCP source and destination ports: Exact match or wildcard value. UDP source and destination ports: Exact match or wildcard </a:t>
            </a:r>
            <a:r>
              <a:rPr lang="en-GB" sz="1200" b="0" i="0" kern="1200" dirty="0" err="1">
                <a:solidFill>
                  <a:schemeClr val="tx1"/>
                </a:solidFill>
                <a:effectLst/>
                <a:latin typeface="Arial" charset="0"/>
                <a:ea typeface="+mn-ea"/>
                <a:cs typeface="+mn-cs"/>
              </a:rPr>
              <a:t>value.The</a:t>
            </a:r>
            <a:r>
              <a:rPr lang="en-GB" sz="1200" b="0" i="0" kern="1200" dirty="0">
                <a:solidFill>
                  <a:schemeClr val="tx1"/>
                </a:solidFill>
                <a:effectLst/>
                <a:latin typeface="Arial" charset="0"/>
                <a:ea typeface="+mn-ea"/>
                <a:cs typeface="+mn-cs"/>
              </a:rPr>
              <a:t> preceding match fields must be supported by any OpenFlow-compliant switch. The following fields may be optionally supported. Physical port: Used to designate underlying physical port when packet is received on a logical port. Metadata: Additional information that can be passed from one table to another during the processing of a packet. Its use is discussed subsequently. VLAN ID and VLAN user priority: Fields in the IEEE 802.1Q virtual LAN header. SDN support for VLANs is discussed in Chapter 8, “NFV Functionality.” IPv4 or IPv6 DS and ECN: Differentiated Services and Explicit Congestion Notification fields. SCTP source and destination ports: Exact match or wildcard value for Stream Transmission Control Protocol. ICMP type and code fields: Exact match or wildcard value. ARP opcode: Exact match in Ethernet Type field. Source and target IPv4 addresses in ARP payload: Can be an exact address, a </a:t>
            </a:r>
            <a:r>
              <a:rPr lang="en-GB" sz="1200" b="0" i="0" kern="1200" dirty="0" err="1">
                <a:solidFill>
                  <a:schemeClr val="tx1"/>
                </a:solidFill>
                <a:effectLst/>
                <a:latin typeface="Arial" charset="0"/>
                <a:ea typeface="+mn-ea"/>
                <a:cs typeface="+mn-cs"/>
              </a:rPr>
              <a:t>bitmasked</a:t>
            </a:r>
            <a:r>
              <a:rPr lang="en-GB" sz="1200" b="0" i="0" kern="1200" dirty="0">
                <a:solidFill>
                  <a:schemeClr val="tx1"/>
                </a:solidFill>
                <a:effectLst/>
                <a:latin typeface="Arial" charset="0"/>
                <a:ea typeface="+mn-ea"/>
                <a:cs typeface="+mn-cs"/>
              </a:rPr>
              <a:t> value, a subnet mask value, or a wildcard value. IPv6 flow label: Exact match or wildcard. ICMPv6 type and code fields: Exact match or wildcard value. IPv6 </a:t>
            </a:r>
            <a:r>
              <a:rPr lang="en-GB" sz="1200" b="0" i="0" kern="1200" dirty="0" err="1">
                <a:solidFill>
                  <a:schemeClr val="tx1"/>
                </a:solidFill>
                <a:effectLst/>
                <a:latin typeface="Arial" charset="0"/>
                <a:ea typeface="+mn-ea"/>
                <a:cs typeface="+mn-cs"/>
              </a:rPr>
              <a:t>neighbor</a:t>
            </a:r>
            <a:r>
              <a:rPr lang="en-GB" sz="1200" b="0" i="0" kern="1200" dirty="0">
                <a:solidFill>
                  <a:schemeClr val="tx1"/>
                </a:solidFill>
                <a:effectLst/>
                <a:latin typeface="Arial" charset="0"/>
                <a:ea typeface="+mn-ea"/>
                <a:cs typeface="+mn-cs"/>
              </a:rPr>
              <a:t> discovery target address: In an IPv6 </a:t>
            </a:r>
            <a:r>
              <a:rPr lang="en-GB" sz="1200" b="0" i="0" kern="1200" dirty="0" err="1">
                <a:solidFill>
                  <a:schemeClr val="tx1"/>
                </a:solidFill>
                <a:effectLst/>
                <a:latin typeface="Arial" charset="0"/>
                <a:ea typeface="+mn-ea"/>
                <a:cs typeface="+mn-cs"/>
              </a:rPr>
              <a:t>Neighbor</a:t>
            </a:r>
            <a:r>
              <a:rPr lang="en-GB" sz="1200" b="0" i="0" kern="1200" dirty="0">
                <a:solidFill>
                  <a:schemeClr val="tx1"/>
                </a:solidFill>
                <a:effectLst/>
                <a:latin typeface="Arial" charset="0"/>
                <a:ea typeface="+mn-ea"/>
                <a:cs typeface="+mn-cs"/>
              </a:rPr>
              <a:t> Discovery message. IPv6 </a:t>
            </a:r>
            <a:r>
              <a:rPr lang="en-GB" sz="1200" b="0" i="0" kern="1200" dirty="0" err="1">
                <a:solidFill>
                  <a:schemeClr val="tx1"/>
                </a:solidFill>
                <a:effectLst/>
                <a:latin typeface="Arial" charset="0"/>
                <a:ea typeface="+mn-ea"/>
                <a:cs typeface="+mn-cs"/>
              </a:rPr>
              <a:t>neighbor</a:t>
            </a:r>
            <a:r>
              <a:rPr lang="en-GB" sz="1200" b="0" i="0" kern="1200" dirty="0">
                <a:solidFill>
                  <a:schemeClr val="tx1"/>
                </a:solidFill>
                <a:effectLst/>
                <a:latin typeface="Arial" charset="0"/>
                <a:ea typeface="+mn-ea"/>
                <a:cs typeface="+mn-cs"/>
              </a:rPr>
              <a:t> discovery source and target addresses: Link-layer address options in an IPv6 </a:t>
            </a:r>
            <a:r>
              <a:rPr lang="en-GB" sz="1200" b="0" i="0" kern="1200" dirty="0" err="1">
                <a:solidFill>
                  <a:schemeClr val="tx1"/>
                </a:solidFill>
                <a:effectLst/>
                <a:latin typeface="Arial" charset="0"/>
                <a:ea typeface="+mn-ea"/>
                <a:cs typeface="+mn-cs"/>
              </a:rPr>
              <a:t>Neighbor</a:t>
            </a:r>
            <a:r>
              <a:rPr lang="en-GB" sz="1200" b="0" i="0" kern="1200" dirty="0">
                <a:solidFill>
                  <a:schemeClr val="tx1"/>
                </a:solidFill>
                <a:effectLst/>
                <a:latin typeface="Arial" charset="0"/>
                <a:ea typeface="+mn-ea"/>
                <a:cs typeface="+mn-cs"/>
              </a:rPr>
              <a:t> Discovery message. MPLS label value, traffic class, and </a:t>
            </a:r>
            <a:r>
              <a:rPr lang="en-GB" sz="1200" b="0" i="0" kern="1200" dirty="0" err="1">
                <a:solidFill>
                  <a:schemeClr val="tx1"/>
                </a:solidFill>
                <a:effectLst/>
                <a:latin typeface="Arial" charset="0"/>
                <a:ea typeface="+mn-ea"/>
                <a:cs typeface="+mn-cs"/>
              </a:rPr>
              <a:t>BoS</a:t>
            </a:r>
            <a:r>
              <a:rPr lang="en-GB" sz="1200" b="0" i="0" kern="1200" dirty="0">
                <a:solidFill>
                  <a:schemeClr val="tx1"/>
                </a:solidFill>
                <a:effectLst/>
                <a:latin typeface="Arial" charset="0"/>
                <a:ea typeface="+mn-ea"/>
                <a:cs typeface="+mn-cs"/>
              </a:rPr>
              <a:t>: Fields in the top label of an MPLS label stack. Provider bridge traffic ISID: Service instance identifier. Tunnel ID: Metadata associated with a logical port. TCP flags: Flag bits in the TCP header. May be used to detect start and end of TCP connections. IPv6 extension: Extension </a:t>
            </a:r>
            <a:r>
              <a:rPr lang="en-GB" sz="1200" b="0" i="0" kern="1200" dirty="0" err="1">
                <a:solidFill>
                  <a:schemeClr val="tx1"/>
                </a:solidFill>
                <a:effectLst/>
                <a:latin typeface="Arial" charset="0"/>
                <a:ea typeface="+mn-ea"/>
                <a:cs typeface="+mn-cs"/>
              </a:rPr>
              <a:t>header.Thus</a:t>
            </a:r>
            <a:r>
              <a:rPr lang="en-GB" sz="1200" b="0" i="0" kern="1200" dirty="0">
                <a:solidFill>
                  <a:schemeClr val="tx1"/>
                </a:solidFill>
                <a:effectLst/>
                <a:latin typeface="Arial" charset="0"/>
                <a:ea typeface="+mn-ea"/>
                <a:cs typeface="+mn-cs"/>
              </a:rPr>
              <a:t>, OpenFlow can be used with network traffic involving a variety of protocols and network services. Note that at the MAC/link layer, only Ethernet is supported. Therefore, OpenFlow as currently defined cannot control Layer 2 traffic over wireless networks.</a:t>
            </a:r>
          </a:p>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28</a:t>
            </a:fld>
            <a:endParaRPr lang="en-GB"/>
          </a:p>
        </p:txBody>
      </p:sp>
    </p:spTree>
    <p:extLst>
      <p:ext uri="{BB962C8B-B14F-4D97-AF65-F5344CB8AC3E}">
        <p14:creationId xmlns:p14="http://schemas.microsoft.com/office/powerpoint/2010/main" val="30039903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Southbound Interface</a:t>
            </a:r>
          </a:p>
          <a:p>
            <a:r>
              <a:rPr lang="en-GB" dirty="0"/>
              <a:t>The southbound interface provides the logical connection between the SDN controller and the data plane switches (see Figure 5.3). Some controller products and configurations support only a single southbound protocol. A more flexible approach is the use of a southbound abstraction layer that provides a common interface for the control plane functions while supporting multiple southbound APIs.</a:t>
            </a:r>
          </a:p>
          <a:p>
            <a:r>
              <a:rPr lang="en-GB" dirty="0"/>
              <a:t>The most commonly implemented southbound API is OpenFlow,</a:t>
            </a:r>
          </a:p>
          <a:p>
            <a:r>
              <a:rPr lang="en-GB" b="1" dirty="0"/>
              <a:t>The northbound interface </a:t>
            </a:r>
            <a:r>
              <a:rPr lang="en-GB" dirty="0"/>
              <a:t>enables applications to access control plane functions and services without needing to know the details of the underlying network switches. The northbound interface is more typically viewed as a software API rather than a protocol. A common architectural style used for defining northbound APIs is </a:t>
            </a:r>
            <a:r>
              <a:rPr lang="en-GB" dirty="0" err="1"/>
              <a:t>REpresentational</a:t>
            </a:r>
            <a:r>
              <a:rPr lang="en-GB" dirty="0"/>
              <a:t> State Transfer (REST)</a:t>
            </a:r>
          </a:p>
          <a:p>
            <a:endParaRPr lang="en-GB" dirty="0"/>
          </a:p>
          <a:p>
            <a:r>
              <a:rPr lang="en-GB" dirty="0"/>
              <a:t>a typical SDN controller will have an </a:t>
            </a:r>
            <a:r>
              <a:rPr lang="en-GB" b="1" dirty="0"/>
              <a:t>east/westbound interface </a:t>
            </a:r>
            <a:r>
              <a:rPr lang="en-GB" dirty="0"/>
              <a:t>that enables communication with other SDN controllers and other networks. </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29</a:t>
            </a:fld>
            <a:endParaRPr lang="en-GB"/>
          </a:p>
        </p:txBody>
      </p:sp>
    </p:spTree>
    <p:extLst>
      <p:ext uri="{BB962C8B-B14F-4D97-AF65-F5344CB8AC3E}">
        <p14:creationId xmlns:p14="http://schemas.microsoft.com/office/powerpoint/2010/main" val="28394460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SDN control layer maps application layer service requests into specific commands and directives to data plane switches and supplies applications with information about data plane topology and activity. The control layer is implemented as a server or cooperating set of servers known as SDN controllers.</a:t>
            </a:r>
          </a:p>
          <a:p>
            <a:r>
              <a:rPr lang="en-GB" dirty="0"/>
              <a:t>The figure illustrates the essential functions that any controller should provide</a:t>
            </a:r>
          </a:p>
          <a:p>
            <a:r>
              <a:rPr lang="en-GB" b="1" dirty="0"/>
              <a:t>Shortest path forwarding</a:t>
            </a:r>
            <a:r>
              <a:rPr lang="en-GB" dirty="0"/>
              <a:t>: Uses routing information collected from switches to establish preferred routes. </a:t>
            </a:r>
          </a:p>
          <a:p>
            <a:r>
              <a:rPr lang="en-GB" b="1" dirty="0"/>
              <a:t>Notification manager</a:t>
            </a:r>
            <a:r>
              <a:rPr lang="en-GB" dirty="0"/>
              <a:t>: Receives, processes, and forwards to an application events, such as alarm notifications, security alarms, and state changes. </a:t>
            </a:r>
          </a:p>
          <a:p>
            <a:r>
              <a:rPr lang="en-GB" b="1" dirty="0"/>
              <a:t>Security mechanisms</a:t>
            </a:r>
            <a:r>
              <a:rPr lang="en-GB" dirty="0"/>
              <a:t>: Provides isolation and security enforcement between applications and services. </a:t>
            </a:r>
          </a:p>
          <a:p>
            <a:r>
              <a:rPr lang="en-GB" b="1" dirty="0"/>
              <a:t>Topology manager</a:t>
            </a:r>
            <a:r>
              <a:rPr lang="en-GB" dirty="0"/>
              <a:t>: Builds and maintains switch interconnection topology information. </a:t>
            </a:r>
          </a:p>
          <a:p>
            <a:r>
              <a:rPr lang="en-GB" b="1" dirty="0"/>
              <a:t>Statistics manager</a:t>
            </a:r>
            <a:r>
              <a:rPr lang="en-GB" dirty="0"/>
              <a:t>: Collects data on traffic through the switches. </a:t>
            </a:r>
          </a:p>
          <a:p>
            <a:r>
              <a:rPr lang="en-GB" b="1" dirty="0"/>
              <a:t>Device manager</a:t>
            </a:r>
            <a:r>
              <a:rPr lang="en-GB" dirty="0"/>
              <a:t>: Configures switch parameters and attributes and manages flow tables.</a:t>
            </a:r>
          </a:p>
          <a:p>
            <a:endParaRPr lang="en-GB" dirty="0"/>
          </a:p>
          <a:p>
            <a:r>
              <a:rPr lang="en-GB" dirty="0"/>
              <a:t>The functionality provided by the SDN controller can be viewed as a network operating system (NOS). As with a conventional OS, an NOS provides essential services, common application programming interfaces (APIs), and an abstraction of lower-layer elements to developers. The functions of an SDN NOS, such as those in the preceding list, enable developers to define network policies and manage networks without concern for the details of the network device characteristics, which may be heterogeneous and dynamic. The northbound interface, discussed subsequently, provides a uniform means for application developers and network managers to access SDN service and perform network management tasks. Further, well-defined northbound interfaces enable developers to create software that is independent not only of data plane details but to a great extent usable with a variety of SDN controller servers.</a:t>
            </a:r>
          </a:p>
          <a:p>
            <a:endParaRPr lang="en-GB" dirty="0"/>
          </a:p>
          <a:p>
            <a:r>
              <a:rPr lang="en-GB" sz="1200" b="0" i="0" kern="1200" dirty="0">
                <a:solidFill>
                  <a:schemeClr val="tx1"/>
                </a:solidFill>
                <a:effectLst/>
                <a:latin typeface="Arial" charset="0"/>
                <a:ea typeface="+mn-ea"/>
                <a:cs typeface="+mn-cs"/>
              </a:rPr>
              <a:t>A number of different initiatives, both commercial and open source, have resulted in SDN controller implementations. The following list describes a few prominent ones:</a:t>
            </a:r>
          </a:p>
          <a:p>
            <a:endParaRPr lang="en-GB" sz="1200" b="0" i="0" kern="1200" dirty="0">
              <a:solidFill>
                <a:schemeClr val="tx1"/>
              </a:solidFill>
              <a:effectLst/>
              <a:latin typeface="Arial" charset="0"/>
              <a:ea typeface="+mn-ea"/>
              <a:cs typeface="+mn-cs"/>
            </a:endParaRPr>
          </a:p>
          <a:p>
            <a:r>
              <a:rPr lang="en-GB" sz="1200" b="1" i="0" kern="1200" dirty="0">
                <a:solidFill>
                  <a:schemeClr val="tx1"/>
                </a:solidFill>
                <a:effectLst/>
                <a:latin typeface="Arial" charset="0"/>
                <a:ea typeface="+mn-ea"/>
                <a:cs typeface="+mn-cs"/>
              </a:rPr>
              <a:t>OpenDaylight </a:t>
            </a:r>
            <a:r>
              <a:rPr lang="en-GB" sz="1200" b="0" i="0" kern="1200" dirty="0">
                <a:solidFill>
                  <a:schemeClr val="tx1"/>
                </a:solidFill>
                <a:effectLst/>
                <a:latin typeface="Arial" charset="0"/>
                <a:ea typeface="+mn-ea"/>
                <a:cs typeface="+mn-cs"/>
              </a:rPr>
              <a:t>An open source platform for network programmability to enable SDN, written in Java. OpenDaylight was founded by Cisco and IBM, and its membership is heavily weighted toward network vendors. OpenDaylight can be implemented as a single centralized controller, but enables controllers to be distributed where one or multiple instances may run on one or more clustered servers in the network.</a:t>
            </a:r>
          </a:p>
          <a:p>
            <a:r>
              <a:rPr lang="en-GB" sz="1200" b="1" i="0" kern="1200" dirty="0">
                <a:solidFill>
                  <a:schemeClr val="tx1"/>
                </a:solidFill>
                <a:effectLst/>
                <a:latin typeface="Arial" charset="0"/>
                <a:ea typeface="+mn-ea"/>
                <a:cs typeface="+mn-cs"/>
              </a:rPr>
              <a:t>Open Network Operating System (ONOS)</a:t>
            </a:r>
          </a:p>
          <a:p>
            <a:r>
              <a:rPr lang="en-GB" sz="1200" b="1" i="0" kern="1200" dirty="0">
                <a:solidFill>
                  <a:schemeClr val="tx1"/>
                </a:solidFill>
                <a:effectLst/>
                <a:latin typeface="Arial" charset="0"/>
                <a:ea typeface="+mn-ea"/>
                <a:cs typeface="+mn-cs"/>
              </a:rPr>
              <a:t>POX</a:t>
            </a:r>
          </a:p>
          <a:p>
            <a:r>
              <a:rPr lang="en-GB" sz="1200" b="1" i="0" kern="1200" dirty="0">
                <a:solidFill>
                  <a:schemeClr val="tx1"/>
                </a:solidFill>
                <a:effectLst/>
                <a:latin typeface="Arial" charset="0"/>
                <a:ea typeface="+mn-ea"/>
                <a:cs typeface="+mn-cs"/>
              </a:rPr>
              <a:t>Beacon and others</a:t>
            </a:r>
          </a:p>
          <a:p>
            <a:endParaRPr lang="en-GB" sz="1200" b="1" i="0" kern="1200" dirty="0">
              <a:solidFill>
                <a:schemeClr val="tx1"/>
              </a:solidFill>
              <a:effectLst/>
              <a:latin typeface="Arial" charset="0"/>
              <a:ea typeface="+mn-ea"/>
              <a:cs typeface="+mn-cs"/>
            </a:endParaRPr>
          </a:p>
          <a:p>
            <a:endParaRPr lang="en-GB" b="0"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30</a:t>
            </a:fld>
            <a:endParaRPr lang="en-GB"/>
          </a:p>
        </p:txBody>
      </p:sp>
    </p:spTree>
    <p:extLst>
      <p:ext uri="{BB962C8B-B14F-4D97-AF65-F5344CB8AC3E}">
        <p14:creationId xmlns:p14="http://schemas.microsoft.com/office/powerpoint/2010/main" val="1932480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with any network or internet, an SDN network requires a routing function. In general terms, the routing function comprises a protocol for collecting information about the topology and traffic conditions of the network, and an algorithm for designing routes through the network. </a:t>
            </a:r>
          </a:p>
          <a:p>
            <a:r>
              <a:rPr lang="en-GB" dirty="0"/>
              <a:t> Recall from previous lessons that there are two categories of routing protocols: interior router protocols (IRPs) that operate within an autonomous system (AS), such as RIP, OSPF, and exterior router protocols (ERPs) that operate between autonomous systems (BGP).</a:t>
            </a:r>
          </a:p>
          <a:p>
            <a:r>
              <a:rPr lang="en-GB" dirty="0"/>
              <a:t>Traditionally, the routing function is distributed among the routers in a network. Each router is responsible for building up an image of the topology of the network. For interior routing, each router as well must collect information about connectivity and delays and then calculate the preferred route for each IP destination address. However, in an SDN-controlled network, it makes sense to centralize the routing function within the SDN controller. The controller can develop a consistent view of the network state for calculating shortest paths, and can implement application-aware routing policies. The data plane switches are relieved of the processing and storage burden associated with routing, leading to improved </a:t>
            </a:r>
            <a:r>
              <a:rPr lang="en-GB" dirty="0" err="1"/>
              <a:t>performance.The</a:t>
            </a:r>
            <a:r>
              <a:rPr lang="en-GB" dirty="0"/>
              <a:t> centralized routing application performs two distinct functions: link discovery and topology manager.</a:t>
            </a:r>
          </a:p>
          <a:p>
            <a:r>
              <a:rPr lang="en-GB" dirty="0"/>
              <a:t>For link discovery, the routing function needs to be aware of links between data plane switches. Note that in the case of an internetwork, the links between routers are networks, whereas for Layer 2 switches, such as Ethernet switches, the links are direct physical links. In addition, link discovery must be performed between a router and a host system and between a router in the domain of this controller and a router in a </a:t>
            </a:r>
            <a:r>
              <a:rPr lang="en-GB" dirty="0" err="1"/>
              <a:t>neighboring</a:t>
            </a:r>
            <a:r>
              <a:rPr lang="en-GB" dirty="0"/>
              <a:t> domain. Discovery is triggered by unknown traffic entering the controller’s network domain either from an attached host or from a </a:t>
            </a:r>
            <a:r>
              <a:rPr lang="en-GB" dirty="0" err="1"/>
              <a:t>neighboring</a:t>
            </a:r>
            <a:r>
              <a:rPr lang="en-GB" dirty="0"/>
              <a:t> router.</a:t>
            </a:r>
          </a:p>
          <a:p>
            <a:r>
              <a:rPr lang="en-GB" dirty="0"/>
              <a:t>The topology manager maintains the topology information for the network and calculates routes in the network. Route calculation involves determining the shortest path between two data plane nodes or between a data plane node and a host.</a:t>
            </a:r>
          </a:p>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31</a:t>
            </a:fld>
            <a:endParaRPr lang="en-GB"/>
          </a:p>
        </p:txBody>
      </p:sp>
    </p:spTree>
    <p:extLst>
      <p:ext uri="{BB962C8B-B14F-4D97-AF65-F5344CB8AC3E}">
        <p14:creationId xmlns:p14="http://schemas.microsoft.com/office/powerpoint/2010/main" val="9992137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OpenDaylight Project is an open source project hosted by the Linux Foundation and includes the involvement of virtually every major networking organization, including users of SDN technology and vendors of SDN products. Rather than hammer out new standards, the project aims to produce an extensible, open source, virtual networking platform atop such existing standards as OpenFlow. The approach of OpenDaylight is to enable industry participants to come together to develop core open source modules collaboratively, around which participants can add unique value. The goal is a common and open SDN platform for developers to utilize, contribute to, and build commercial products and technologies upon.</a:t>
            </a:r>
          </a:p>
          <a:p>
            <a:endParaRPr lang="en-GB" dirty="0"/>
          </a:p>
          <a:p>
            <a:r>
              <a:rPr lang="en-GB" dirty="0"/>
              <a:t>It is worthwhile to examine OpenDaylight in some detail, as it gives the reader a good idea of the scope of functionality of a typical SDN controller. </a:t>
            </a:r>
          </a:p>
          <a:p>
            <a:r>
              <a:rPr lang="en-GB" dirty="0"/>
              <a:t>Network applications, orchestration, and services: Consists of business and network logic applications that control and monitor network </a:t>
            </a:r>
            <a:r>
              <a:rPr lang="en-GB" dirty="0" err="1"/>
              <a:t>behavior</a:t>
            </a:r>
            <a:r>
              <a:rPr lang="en-GB" dirty="0"/>
              <a:t>. These applications use the controller to gather network intelligence, run algorithms to perform analytics, and then use the controller to orchestrate the new rules, if any, throughout the network. </a:t>
            </a:r>
          </a:p>
          <a:p>
            <a:r>
              <a:rPr lang="en-GB" dirty="0"/>
              <a:t>APIs: A set of common interfaces to OpenDaylight controller functions. OpenDaylight supports the Open Service Gateway Initiative (</a:t>
            </a:r>
            <a:r>
              <a:rPr lang="en-GB" dirty="0" err="1"/>
              <a:t>OSGi</a:t>
            </a:r>
            <a:r>
              <a:rPr lang="en-GB" dirty="0"/>
              <a:t>) framework and bidirectional REST for the northbound API. The </a:t>
            </a:r>
            <a:r>
              <a:rPr lang="en-GB" dirty="0" err="1"/>
              <a:t>OSGi</a:t>
            </a:r>
            <a:r>
              <a:rPr lang="en-GB" dirty="0"/>
              <a:t> framework is used for applications that will run in the same address space as the controller, while the REST (web-based) API is used for applications that do not run in the same address space (or even necessarily on the same machine) as the controller. </a:t>
            </a:r>
          </a:p>
          <a:p>
            <a:r>
              <a:rPr lang="en-GB" dirty="0"/>
              <a:t>Controller functions and services: SDN control plane functions and services. </a:t>
            </a:r>
          </a:p>
          <a:p>
            <a:r>
              <a:rPr lang="en-GB" dirty="0"/>
              <a:t>Service abstraction layer (SAL): Provides a uniform view of data plane resources, so that control plane functions can be implemented independent of the specific southbound interface and protocol. </a:t>
            </a:r>
          </a:p>
          <a:p>
            <a:r>
              <a:rPr lang="en-GB" dirty="0"/>
              <a:t>Southbound interfaces and protocols: Supports OpenFlow, other standard southbound protocols, and vendor-specific interfaces.</a:t>
            </a:r>
          </a:p>
          <a:p>
            <a:endParaRPr lang="en-GB" dirty="0"/>
          </a:p>
          <a:p>
            <a:r>
              <a:rPr lang="en-GB" dirty="0"/>
              <a:t>There are several noteworthy aspects to the OpenDaylight architecture. First, OpenDaylight encompasses both control plane and application plane functionality. Thus, OpenDaylight is more than just an SDN controller implementation. This enables enterprise and telecommunications network managers to host open source software on their own servers to construct an SDN configuration. Vendors can use this software to create products with value-added additional application plane functions and services.</a:t>
            </a:r>
          </a:p>
          <a:p>
            <a:endParaRPr lang="en-GB" dirty="0"/>
          </a:p>
          <a:p>
            <a:r>
              <a:rPr lang="en-GB" dirty="0"/>
              <a:t>A second significant aspect of the OpenDaylight design is that it is not tied to OpenFlow or any other specific southbound interface. This provides greater flexibility in constructing SDN network configurations. The key element in this design is the SAL, which enables the controller to support multiple protocols on the southbound interface and provide consistent services for controller functions and for SDN applications. </a:t>
            </a:r>
          </a:p>
          <a:p>
            <a:r>
              <a:rPr lang="en-GB" dirty="0"/>
              <a:t>the most recent release of OpenDaylight is the aluminium release</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32</a:t>
            </a:fld>
            <a:endParaRPr lang="en-GB"/>
          </a:p>
        </p:txBody>
      </p:sp>
    </p:spTree>
    <p:extLst>
      <p:ext uri="{BB962C8B-B14F-4D97-AF65-F5344CB8AC3E}">
        <p14:creationId xmlns:p14="http://schemas.microsoft.com/office/powerpoint/2010/main" val="6782753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power of the software-defined networking (SDN) approach to networking is in the support it provides for network applications to monitor and manage network </a:t>
            </a:r>
            <a:r>
              <a:rPr lang="en-GB" dirty="0" err="1"/>
              <a:t>behavior</a:t>
            </a:r>
            <a:r>
              <a:rPr lang="en-GB" dirty="0"/>
              <a:t>. The SDN control plane provides the functions and services that facilitate rapid development and deployment of network applications. </a:t>
            </a:r>
          </a:p>
          <a:p>
            <a:r>
              <a:rPr lang="en-GB" dirty="0"/>
              <a:t>The application plane contains applications and services that define, monitor, and control network resources and </a:t>
            </a:r>
            <a:r>
              <a:rPr lang="en-GB" dirty="0" err="1"/>
              <a:t>behavior</a:t>
            </a:r>
            <a:r>
              <a:rPr lang="en-GB" dirty="0"/>
              <a:t>. These applications interact with the SDN control plane via application-control interfaces, for the SDN control layer to automatically customize the </a:t>
            </a:r>
            <a:r>
              <a:rPr lang="en-GB" dirty="0" err="1"/>
              <a:t>behavior</a:t>
            </a:r>
            <a:r>
              <a:rPr lang="en-GB" dirty="0"/>
              <a:t> and the properties of network resources. The programming of an SDN application makes use of the abstracted view of network resources provided by the SDN control layer by means of information and data models exposed via the application-control interface.</a:t>
            </a:r>
          </a:p>
          <a:p>
            <a:endParaRPr lang="en-GB" dirty="0"/>
          </a:p>
          <a:p>
            <a:r>
              <a:rPr lang="en-GB" b="1" dirty="0"/>
              <a:t>the northbound interface </a:t>
            </a:r>
            <a:r>
              <a:rPr lang="en-GB" dirty="0"/>
              <a:t>enables applications to access control plane functions and services without needing to know the details of the underlying network switches. Typically, the northbound interface provides an abstract view of network resources controlled by the software in the SDN control plane.</a:t>
            </a:r>
          </a:p>
          <a:p>
            <a:endParaRPr lang="en-GB" dirty="0"/>
          </a:p>
          <a:p>
            <a:r>
              <a:rPr lang="en-GB" b="1" dirty="0"/>
              <a:t>Network Services Abstraction Layer</a:t>
            </a:r>
            <a:r>
              <a:rPr lang="en-GB" b="1" baseline="0" dirty="0"/>
              <a:t> </a:t>
            </a:r>
            <a:r>
              <a:rPr lang="en-GB" dirty="0"/>
              <a:t>provides service abstractions that can be used by applications and services. This layer could provide an abstract view of network resources that hides the details of the underlying data plane devices.</a:t>
            </a:r>
          </a:p>
          <a:p>
            <a:endParaRPr lang="en-GB" dirty="0"/>
          </a:p>
          <a:p>
            <a:r>
              <a:rPr lang="en-GB" b="1" dirty="0"/>
              <a:t>Network Applications </a:t>
            </a:r>
            <a:r>
              <a:rPr lang="en-GB" dirty="0"/>
              <a:t>There are many network applications that could be implemented for an SDN. Different published surveys of SDN have come up with different lists and even different general categories of SDN-based network applications. Figure 6.1 includes six categories that encompass the majority of SDN applications.</a:t>
            </a:r>
          </a:p>
          <a:p>
            <a:endParaRPr lang="en-GB" dirty="0"/>
          </a:p>
          <a:p>
            <a:r>
              <a:rPr lang="en-GB" b="1" dirty="0"/>
              <a:t>User Interface </a:t>
            </a:r>
            <a:r>
              <a:rPr lang="en-GB" dirty="0"/>
              <a:t>The user interface enables a user to configure parameters in SDN applications and to interact with applications that support user interaction. Again, there are two possible interfaces. A user that is collocated with the SDN application server (which may or may not include the control plane) can use the server’s keyboard/display. More typically, the user would log on to the application server over a network or communications facility.</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33</a:t>
            </a:fld>
            <a:endParaRPr lang="en-GB"/>
          </a:p>
        </p:txBody>
      </p:sp>
    </p:spTree>
    <p:extLst>
      <p:ext uri="{BB962C8B-B14F-4D97-AF65-F5344CB8AC3E}">
        <p14:creationId xmlns:p14="http://schemas.microsoft.com/office/powerpoint/2010/main" val="30532852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NFV originated from discussions among major network operators and carriers about how to improve network operations in the high-volume multimedia era. The group listed as the overall objective of NFV is leveraging standard IT virtualization technology to consolidate many network equipment types onto industry standard high-volume servers, switches, and storage, which could be located in data </a:t>
            </a:r>
            <a:r>
              <a:rPr lang="en-GB" dirty="0" err="1"/>
              <a:t>centers</a:t>
            </a:r>
            <a:r>
              <a:rPr lang="en-GB" dirty="0"/>
              <a:t>, network nodes, and in the end-user premises. The source of the need for this new approach is that networks include a large and growing variety of proprietary hardware appliances, leading to the following negative consequences:</a:t>
            </a:r>
          </a:p>
          <a:p>
            <a:r>
              <a:rPr lang="en-GB" dirty="0"/>
              <a:t>New network services may require additional different types of hardware appliances, and finding the space and power to accommodate these boxes is becoming increasingly difficult. New hardware means additional capital expenditures. Once new types of hardware appliances are acquired, operators are faced with the rarity of skills necessary to design, integrate, and operate increasingly complex hardware-based appliances. Hardware-based appliances rapidly reach end of life, requiring much of the procure-design-integrate-deploy cycle to be repeated with little or no revenue benefit. As technology and services innovation accelerates to meet the demands of an increasingly network-centric IT environment, the need for an increasing variety of hardware platforms inhibits the introduction of new revenue-earning network services.</a:t>
            </a:r>
          </a:p>
          <a:p>
            <a:r>
              <a:rPr lang="en-GB" dirty="0"/>
              <a:t>The NFV approach moves away from dependence on a variety of hardware platforms to the use of a small number of standardized platform types, with virtualization techniques used to provide the needed network functionality. In the white paper, the group expresses the belief that the NFV approach is applicable to any data plane packet processing and control plane function in fixed and mobile network </a:t>
            </a:r>
            <a:r>
              <a:rPr lang="en-GB" dirty="0" err="1"/>
              <a:t>infrastructures.In</a:t>
            </a:r>
            <a:r>
              <a:rPr lang="en-GB" dirty="0"/>
              <a:t> addition to providing a way to overcome the problems cited in the preceding list, NFV provides a number of other benefits. These are best examined in Section 7.4, after an introduction to VM technology and NFV concepts, in Sections 7.2 and 7.3, respectively.</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34</a:t>
            </a:fld>
            <a:endParaRPr lang="en-GB"/>
          </a:p>
        </p:txBody>
      </p:sp>
    </p:spTree>
    <p:extLst>
      <p:ext uri="{BB962C8B-B14F-4D97-AF65-F5344CB8AC3E}">
        <p14:creationId xmlns:p14="http://schemas.microsoft.com/office/powerpoint/2010/main" val="41310994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defined network functions virtualization (NFV) as the virtualization of network functions by implementing these functions in software and running them on VMs. NFV is a significant departure from traditional approaches to the design, deployment, and management of networking services. NFV decouples network functions, such as Network Address Translation (NAT), firewalling, intrusion detection, Domain Name Service (DNS), and caching, from proprietary hardware appliances so that they can run in software on VMs. NFV builds on standard VM technologies, extending their use into the networking </a:t>
            </a:r>
            <a:r>
              <a:rPr lang="en-GB" dirty="0" err="1"/>
              <a:t>domain.Virtual</a:t>
            </a:r>
            <a:r>
              <a:rPr lang="en-GB" dirty="0"/>
              <a:t> machine technology, enables migration of dedicated application and database servers to commercial off-the-shelf (COTS) x86 servers. The same technology can be applied to network-based devices, including the following: </a:t>
            </a:r>
          </a:p>
          <a:p>
            <a:r>
              <a:rPr lang="en-GB" dirty="0"/>
              <a:t>Network function devices: Such as switches, routers, network access points, customer premises equipment (CPE), and deep packet inspectors (for deep packet inspection). Network-related compute devices: Such as firewalls, intrusion detection systems, and network management systems. Network-attached storage: File and database servers attached to the network.</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35</a:t>
            </a:fld>
            <a:endParaRPr lang="en-GB"/>
          </a:p>
        </p:txBody>
      </p:sp>
    </p:spTree>
    <p:extLst>
      <p:ext uri="{BB962C8B-B14F-4D97-AF65-F5344CB8AC3E}">
        <p14:creationId xmlns:p14="http://schemas.microsoft.com/office/powerpoint/2010/main" val="12662141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traditional networks, all devices are deployed on proprietary/closed platforms. All network elements are enclosed boxes, and hardware cannot be shared. Each device requires additional hardware for increased capacity, but this hardware is idle when the system is running below capacity. With NFV, however, network elements are independent applications that are flexibly deployed on a unified platform comprising standard servers, storage devices, and switches. In this way, software and hardware are decoupled, and capacity for each application is increased or decreased by adding or reducing virtual resources (see Figure 7.5).</a:t>
            </a:r>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36</a:t>
            </a:fld>
            <a:endParaRPr lang="en-GB"/>
          </a:p>
        </p:txBody>
      </p:sp>
    </p:spTree>
    <p:extLst>
      <p:ext uri="{BB962C8B-B14F-4D97-AF65-F5344CB8AC3E}">
        <p14:creationId xmlns:p14="http://schemas.microsoft.com/office/powerpoint/2010/main" val="36737563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Interesting</a:t>
            </a:r>
            <a:r>
              <a:rPr lang="en-GB" baseline="0" dirty="0"/>
              <a:t> area </a:t>
            </a:r>
            <a:r>
              <a:rPr lang="en-GB" baseline="0"/>
              <a:t>to research</a:t>
            </a:r>
            <a:endParaRPr lang="en-GB"/>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37</a:t>
            </a:fld>
            <a:endParaRPr lang="en-GB"/>
          </a:p>
        </p:txBody>
      </p:sp>
    </p:spTree>
    <p:extLst>
      <p:ext uri="{BB962C8B-B14F-4D97-AF65-F5344CB8AC3E}">
        <p14:creationId xmlns:p14="http://schemas.microsoft.com/office/powerpoint/2010/main" val="10996424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395536" y="2512921"/>
            <a:ext cx="7772400" cy="1470025"/>
          </a:xfrm>
        </p:spPr>
        <p:txBody>
          <a:bodyPr/>
          <a:lstStyle>
            <a:lvl1pPr algn="l">
              <a:defRPr b="1">
                <a:solidFill>
                  <a:schemeClr val="bg1"/>
                </a:solidFill>
              </a:defRPr>
            </a:lvl1pPr>
          </a:lstStyle>
          <a:p>
            <a:pPr lvl="0"/>
            <a:r>
              <a:rPr lang="en-GB" noProof="0" dirty="0"/>
              <a:t>Click to edit Master title style</a:t>
            </a:r>
          </a:p>
        </p:txBody>
      </p:sp>
      <p:sp>
        <p:nvSpPr>
          <p:cNvPr id="4099" name="Rectangle 3"/>
          <p:cNvSpPr>
            <a:spLocks noGrp="1" noChangeArrowheads="1"/>
          </p:cNvSpPr>
          <p:nvPr>
            <p:ph type="subTitle" idx="1"/>
          </p:nvPr>
        </p:nvSpPr>
        <p:spPr>
          <a:xfrm>
            <a:off x="395536" y="4268688"/>
            <a:ext cx="6400800" cy="1752600"/>
          </a:xfrm>
        </p:spPr>
        <p:txBody>
          <a:bodyPr/>
          <a:lstStyle>
            <a:lvl1pPr marL="0" indent="0" algn="l">
              <a:buFontTx/>
              <a:buNone/>
              <a:defRPr>
                <a:solidFill>
                  <a:schemeClr val="bg1"/>
                </a:solidFill>
                <a:latin typeface="Rockwell" pitchFamily="18" charset="0"/>
              </a:defRPr>
            </a:lvl1pPr>
          </a:lstStyle>
          <a:p>
            <a:pPr lvl="0"/>
            <a:r>
              <a:rPr lang="en-GB" noProof="0" dirty="0"/>
              <a:t>Click to edit Master subtitle style</a:t>
            </a:r>
          </a:p>
        </p:txBody>
      </p:sp>
    </p:spTree>
    <p:extLst>
      <p:ext uri="{BB962C8B-B14F-4D97-AF65-F5344CB8AC3E}">
        <p14:creationId xmlns:p14="http://schemas.microsoft.com/office/powerpoint/2010/main" val="231582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61542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178" indent="0">
              <a:buNone/>
              <a:defRPr sz="1800"/>
            </a:lvl2pPr>
            <a:lvl3pPr marL="914355" indent="0">
              <a:buNone/>
              <a:defRPr sz="1600"/>
            </a:lvl3pPr>
            <a:lvl4pPr marL="1371532" indent="0">
              <a:buNone/>
              <a:defRPr sz="1400"/>
            </a:lvl4pPr>
            <a:lvl5pPr marL="1828709" indent="0">
              <a:buNone/>
              <a:defRPr sz="1400"/>
            </a:lvl5pPr>
            <a:lvl6pPr marL="2285886" indent="0">
              <a:buNone/>
              <a:defRPr sz="1400"/>
            </a:lvl6pPr>
            <a:lvl7pPr marL="2743064" indent="0">
              <a:buNone/>
              <a:defRPr sz="1400"/>
            </a:lvl7pPr>
            <a:lvl8pPr marL="3200240" indent="0">
              <a:buNone/>
              <a:defRPr sz="1400"/>
            </a:lvl8pPr>
            <a:lvl9pPr marL="3657418" indent="0">
              <a:buNone/>
              <a:defRPr sz="1400"/>
            </a:lvl9pPr>
          </a:lstStyle>
          <a:p>
            <a:pPr lvl="0"/>
            <a:r>
              <a:rPr lang="en-US"/>
              <a:t>Click to edit Master text styles</a:t>
            </a:r>
          </a:p>
        </p:txBody>
      </p:sp>
    </p:spTree>
    <p:extLst>
      <p:ext uri="{BB962C8B-B14F-4D97-AF65-F5344CB8AC3E}">
        <p14:creationId xmlns:p14="http://schemas.microsoft.com/office/powerpoint/2010/main" val="2348730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23862" y="1940981"/>
            <a:ext cx="8424863" cy="1143000"/>
          </a:xfrm>
        </p:spPr>
        <p:txBody>
          <a:bodyPr/>
          <a:lstStyle/>
          <a:p>
            <a:r>
              <a:rPr lang="en-US"/>
              <a:t>Click to edit Master title style</a:t>
            </a:r>
            <a:endParaRPr lang="en-GB"/>
          </a:p>
        </p:txBody>
      </p:sp>
      <p:sp>
        <p:nvSpPr>
          <p:cNvPr id="3" name="Content Placeholder 2"/>
          <p:cNvSpPr>
            <a:spLocks noGrp="1"/>
          </p:cNvSpPr>
          <p:nvPr>
            <p:ph sz="half" idx="1"/>
          </p:nvPr>
        </p:nvSpPr>
        <p:spPr>
          <a:xfrm>
            <a:off x="323850" y="2852247"/>
            <a:ext cx="4135438"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11700" y="2852247"/>
            <a:ext cx="4137025"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9127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513913"/>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2774389"/>
            <a:ext cx="4040188" cy="639763"/>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341414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33" y="2774389"/>
            <a:ext cx="4041775" cy="639763"/>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341414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17584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17748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305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2" y="1594873"/>
            <a:ext cx="3008313" cy="116205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159488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12" y="2756931"/>
            <a:ext cx="3008313" cy="4691063"/>
          </a:xfrm>
        </p:spPr>
        <p:txBody>
          <a:bodyPr/>
          <a:lstStyle>
            <a:lvl1pPr marL="0" indent="0">
              <a:buNone/>
              <a:defRPr sz="1400"/>
            </a:lvl1pPr>
            <a:lvl2pPr marL="457178" indent="0">
              <a:buNone/>
              <a:defRPr sz="1200"/>
            </a:lvl2pPr>
            <a:lvl3pPr marL="914355" indent="0">
              <a:buNone/>
              <a:defRPr sz="1000"/>
            </a:lvl3pPr>
            <a:lvl4pPr marL="1371532" indent="0">
              <a:buNone/>
              <a:defRPr sz="900"/>
            </a:lvl4pPr>
            <a:lvl5pPr marL="1828709" indent="0">
              <a:buNone/>
              <a:defRPr sz="900"/>
            </a:lvl5pPr>
            <a:lvl6pPr marL="2285886" indent="0">
              <a:buNone/>
              <a:defRPr sz="900"/>
            </a:lvl6pPr>
            <a:lvl7pPr marL="2743064" indent="0">
              <a:buNone/>
              <a:defRPr sz="900"/>
            </a:lvl7pPr>
            <a:lvl8pPr marL="3200240" indent="0">
              <a:buNone/>
              <a:defRPr sz="900"/>
            </a:lvl8pPr>
            <a:lvl9pPr marL="3657418" indent="0">
              <a:buNone/>
              <a:defRPr sz="900"/>
            </a:lvl9pPr>
          </a:lstStyle>
          <a:p>
            <a:pPr lvl="0"/>
            <a:r>
              <a:rPr lang="en-US"/>
              <a:t>Click to edit Master text styles</a:t>
            </a:r>
          </a:p>
        </p:txBody>
      </p:sp>
    </p:spTree>
    <p:extLst>
      <p:ext uri="{BB962C8B-B14F-4D97-AF65-F5344CB8AC3E}">
        <p14:creationId xmlns:p14="http://schemas.microsoft.com/office/powerpoint/2010/main" val="344096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9"/>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1604802"/>
            <a:ext cx="5486400" cy="3122777"/>
          </a:xfrm>
        </p:spPr>
        <p:txBody>
          <a:bodyPr/>
          <a:lstStyle>
            <a:lvl1pPr marL="0" indent="0">
              <a:buNone/>
              <a:defRPr sz="3200"/>
            </a:lvl1pPr>
            <a:lvl2pPr marL="457178" indent="0">
              <a:buNone/>
              <a:defRPr sz="2800"/>
            </a:lvl2pPr>
            <a:lvl3pPr marL="914355" indent="0">
              <a:buNone/>
              <a:defRPr sz="2400"/>
            </a:lvl3pPr>
            <a:lvl4pPr marL="1371532" indent="0">
              <a:buNone/>
              <a:defRPr sz="2000"/>
            </a:lvl4pPr>
            <a:lvl5pPr marL="1828709" indent="0">
              <a:buNone/>
              <a:defRPr sz="2000"/>
            </a:lvl5pPr>
            <a:lvl6pPr marL="2285886" indent="0">
              <a:buNone/>
              <a:defRPr sz="2000"/>
            </a:lvl6pPr>
            <a:lvl7pPr marL="2743064" indent="0">
              <a:buNone/>
              <a:defRPr sz="2000"/>
            </a:lvl7pPr>
            <a:lvl8pPr marL="3200240" indent="0">
              <a:buNone/>
              <a:defRPr sz="2000"/>
            </a:lvl8pPr>
            <a:lvl9pPr marL="3657418" indent="0">
              <a:buNone/>
              <a:defRPr sz="2000"/>
            </a:lvl9pPr>
          </a:lstStyle>
          <a:p>
            <a:pPr lvl="0"/>
            <a:endParaRPr lang="en-GB" noProof="0"/>
          </a:p>
        </p:txBody>
      </p:sp>
      <p:sp>
        <p:nvSpPr>
          <p:cNvPr id="4" name="Text Placeholder 3"/>
          <p:cNvSpPr>
            <a:spLocks noGrp="1"/>
          </p:cNvSpPr>
          <p:nvPr>
            <p:ph type="body" sz="half" idx="2"/>
          </p:nvPr>
        </p:nvSpPr>
        <p:spPr>
          <a:xfrm>
            <a:off x="1792288" y="5367345"/>
            <a:ext cx="5486400" cy="804863"/>
          </a:xfrm>
        </p:spPr>
        <p:txBody>
          <a:bodyPr/>
          <a:lstStyle>
            <a:lvl1pPr marL="0" indent="0">
              <a:buNone/>
              <a:defRPr sz="1400"/>
            </a:lvl1pPr>
            <a:lvl2pPr marL="457178" indent="0">
              <a:buNone/>
              <a:defRPr sz="1200"/>
            </a:lvl2pPr>
            <a:lvl3pPr marL="914355" indent="0">
              <a:buNone/>
              <a:defRPr sz="1000"/>
            </a:lvl3pPr>
            <a:lvl4pPr marL="1371532" indent="0">
              <a:buNone/>
              <a:defRPr sz="900"/>
            </a:lvl4pPr>
            <a:lvl5pPr marL="1828709" indent="0">
              <a:buNone/>
              <a:defRPr sz="900"/>
            </a:lvl5pPr>
            <a:lvl6pPr marL="2285886" indent="0">
              <a:buNone/>
              <a:defRPr sz="900"/>
            </a:lvl6pPr>
            <a:lvl7pPr marL="2743064" indent="0">
              <a:buNone/>
              <a:defRPr sz="900"/>
            </a:lvl7pPr>
            <a:lvl8pPr marL="3200240" indent="0">
              <a:buNone/>
              <a:defRPr sz="900"/>
            </a:lvl8pPr>
            <a:lvl9pPr marL="3657418" indent="0">
              <a:buNone/>
              <a:defRPr sz="900"/>
            </a:lvl9pPr>
          </a:lstStyle>
          <a:p>
            <a:pPr lvl="0"/>
            <a:r>
              <a:rPr lang="en-US"/>
              <a:t>Click to edit Master text styles</a:t>
            </a:r>
          </a:p>
        </p:txBody>
      </p:sp>
    </p:spTree>
    <p:extLst>
      <p:ext uri="{BB962C8B-B14F-4D97-AF65-F5344CB8AC3E}">
        <p14:creationId xmlns:p14="http://schemas.microsoft.com/office/powerpoint/2010/main" val="316653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11389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700" y="990603"/>
            <a:ext cx="2105025" cy="54625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23850" y="990603"/>
            <a:ext cx="6167438" cy="5462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60258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6" name="Subtitle 2"/>
          <p:cNvSpPr>
            <a:spLocks noGrp="1"/>
          </p:cNvSpPr>
          <p:nvPr>
            <p:ph type="subTitle" idx="1"/>
          </p:nvPr>
        </p:nvSpPr>
        <p:spPr>
          <a:xfrm>
            <a:off x="469497" y="5079369"/>
            <a:ext cx="4319105" cy="384175"/>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7" y="5399365"/>
            <a:ext cx="4319105" cy="384175"/>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7" y="5719361"/>
            <a:ext cx="4319105" cy="384175"/>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3829649"/>
            <a:ext cx="5925246" cy="398668"/>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6" y="3067667"/>
            <a:ext cx="5955513" cy="85964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527051"/>
            <a:ext cx="796924" cy="565151"/>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89744841"/>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3" y="1797051"/>
            <a:ext cx="8280057" cy="4098595"/>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455085"/>
            <a:ext cx="8345488" cy="97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211187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23862" y="1806837"/>
            <a:ext cx="84248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dirty="0"/>
              <a:t>Click to edit Master title style</a:t>
            </a:r>
          </a:p>
        </p:txBody>
      </p:sp>
      <p:sp>
        <p:nvSpPr>
          <p:cNvPr id="2051" name="Rectangle 3"/>
          <p:cNvSpPr>
            <a:spLocks noGrp="1" noChangeArrowheads="1"/>
          </p:cNvSpPr>
          <p:nvPr>
            <p:ph type="body" idx="1"/>
          </p:nvPr>
        </p:nvSpPr>
        <p:spPr bwMode="auto">
          <a:xfrm>
            <a:off x="323862" y="2948258"/>
            <a:ext cx="8424863"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cSld>
  <p:clrMap bg1="lt1" tx1="dk1" bg2="lt2" tx2="dk2" accent1="accent1" accent2="accent2" accent3="accent3" accent4="accent4" accent5="accent5" accent6="accent6" hlink="hlink" folHlink="folHlink"/>
  <p:sldLayoutIdLst>
    <p:sldLayoutId id="2147483983"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 id="2147483988" r:id="rId12"/>
    <p:sldLayoutId id="2147483989" r:id="rId13"/>
  </p:sldLayoutIdLst>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Rockwell" pitchFamily="18" charset="0"/>
        </a:defRPr>
      </a:lvl2pPr>
      <a:lvl3pPr algn="l" rtl="0" eaLnBrk="0" fontAlgn="base" hangingPunct="0">
        <a:spcBef>
          <a:spcPct val="0"/>
        </a:spcBef>
        <a:spcAft>
          <a:spcPct val="0"/>
        </a:spcAft>
        <a:defRPr sz="3600">
          <a:solidFill>
            <a:schemeClr val="tx2"/>
          </a:solidFill>
          <a:latin typeface="Rockwell" pitchFamily="18" charset="0"/>
        </a:defRPr>
      </a:lvl3pPr>
      <a:lvl4pPr algn="l" rtl="0" eaLnBrk="0" fontAlgn="base" hangingPunct="0">
        <a:spcBef>
          <a:spcPct val="0"/>
        </a:spcBef>
        <a:spcAft>
          <a:spcPct val="0"/>
        </a:spcAft>
        <a:defRPr sz="3600">
          <a:solidFill>
            <a:schemeClr val="tx2"/>
          </a:solidFill>
          <a:latin typeface="Rockwell" pitchFamily="18" charset="0"/>
        </a:defRPr>
      </a:lvl4pPr>
      <a:lvl5pPr algn="l" rtl="0" eaLnBrk="0" fontAlgn="base" hangingPunct="0">
        <a:spcBef>
          <a:spcPct val="0"/>
        </a:spcBef>
        <a:spcAft>
          <a:spcPct val="0"/>
        </a:spcAft>
        <a:defRPr sz="3600">
          <a:solidFill>
            <a:schemeClr val="tx2"/>
          </a:solidFill>
          <a:latin typeface="Rockwell" pitchFamily="18" charset="0"/>
        </a:defRPr>
      </a:lvl5pPr>
      <a:lvl6pPr marL="457178" algn="l" rtl="0" fontAlgn="base">
        <a:spcBef>
          <a:spcPct val="0"/>
        </a:spcBef>
        <a:spcAft>
          <a:spcPct val="0"/>
        </a:spcAft>
        <a:defRPr sz="3600">
          <a:solidFill>
            <a:schemeClr val="tx2"/>
          </a:solidFill>
          <a:latin typeface="Rockwell" pitchFamily="18" charset="0"/>
        </a:defRPr>
      </a:lvl6pPr>
      <a:lvl7pPr marL="914355" algn="l" rtl="0" fontAlgn="base">
        <a:spcBef>
          <a:spcPct val="0"/>
        </a:spcBef>
        <a:spcAft>
          <a:spcPct val="0"/>
        </a:spcAft>
        <a:defRPr sz="3600">
          <a:solidFill>
            <a:schemeClr val="tx2"/>
          </a:solidFill>
          <a:latin typeface="Rockwell" pitchFamily="18" charset="0"/>
        </a:defRPr>
      </a:lvl7pPr>
      <a:lvl8pPr marL="1371532" algn="l" rtl="0" fontAlgn="base">
        <a:spcBef>
          <a:spcPct val="0"/>
        </a:spcBef>
        <a:spcAft>
          <a:spcPct val="0"/>
        </a:spcAft>
        <a:defRPr sz="3600">
          <a:solidFill>
            <a:schemeClr val="tx2"/>
          </a:solidFill>
          <a:latin typeface="Rockwell" pitchFamily="18" charset="0"/>
        </a:defRPr>
      </a:lvl8pPr>
      <a:lvl9pPr marL="1828709" algn="l" rtl="0" fontAlgn="base">
        <a:spcBef>
          <a:spcPct val="0"/>
        </a:spcBef>
        <a:spcAft>
          <a:spcPct val="0"/>
        </a:spcAft>
        <a:defRPr sz="3600">
          <a:solidFill>
            <a:schemeClr val="tx2"/>
          </a:solidFill>
          <a:latin typeface="Rockwell" pitchFamily="18" charset="0"/>
        </a:defRPr>
      </a:lvl9pPr>
    </p:titleStyle>
    <p:bodyStyle>
      <a:lvl1pPr marL="342884" indent="-342884" algn="l" rtl="0" eaLnBrk="0" fontAlgn="base" hangingPunct="0">
        <a:spcBef>
          <a:spcPct val="20000"/>
        </a:spcBef>
        <a:spcAft>
          <a:spcPct val="0"/>
        </a:spcAft>
        <a:buChar char="•"/>
        <a:defRPr sz="3200">
          <a:solidFill>
            <a:schemeClr val="tx1"/>
          </a:solidFill>
          <a:latin typeface="+mn-lt"/>
          <a:ea typeface="+mn-ea"/>
          <a:cs typeface="+mn-cs"/>
        </a:defRPr>
      </a:lvl1pPr>
      <a:lvl2pPr marL="742913" indent="-285736" algn="l" rtl="0" eaLnBrk="0" fontAlgn="base" hangingPunct="0">
        <a:spcBef>
          <a:spcPct val="20000"/>
        </a:spcBef>
        <a:spcAft>
          <a:spcPct val="0"/>
        </a:spcAft>
        <a:buChar char="–"/>
        <a:defRPr sz="2800">
          <a:solidFill>
            <a:schemeClr val="tx1"/>
          </a:solidFill>
          <a:latin typeface="+mn-lt"/>
        </a:defRPr>
      </a:lvl2pPr>
      <a:lvl3pPr marL="1142944" indent="-228588" algn="l" rtl="0" eaLnBrk="0" fontAlgn="base" hangingPunct="0">
        <a:spcBef>
          <a:spcPct val="20000"/>
        </a:spcBef>
        <a:spcAft>
          <a:spcPct val="0"/>
        </a:spcAft>
        <a:buChar char="•"/>
        <a:defRPr sz="2400">
          <a:solidFill>
            <a:schemeClr val="tx1"/>
          </a:solidFill>
          <a:latin typeface="+mn-lt"/>
        </a:defRPr>
      </a:lvl3pPr>
      <a:lvl4pPr marL="1600120" indent="-228588" algn="l" rtl="0" eaLnBrk="0" fontAlgn="base" hangingPunct="0">
        <a:spcBef>
          <a:spcPct val="20000"/>
        </a:spcBef>
        <a:spcAft>
          <a:spcPct val="0"/>
        </a:spcAft>
        <a:buChar char="–"/>
        <a:defRPr sz="2000">
          <a:solidFill>
            <a:schemeClr val="tx1"/>
          </a:solidFill>
          <a:latin typeface="+mn-lt"/>
        </a:defRPr>
      </a:lvl4pPr>
      <a:lvl5pPr marL="2057297" indent="-228588" algn="l" rtl="0" eaLnBrk="0" fontAlgn="base" hangingPunct="0">
        <a:spcBef>
          <a:spcPct val="20000"/>
        </a:spcBef>
        <a:spcAft>
          <a:spcPct val="0"/>
        </a:spcAft>
        <a:buChar char="»"/>
        <a:defRPr sz="2000">
          <a:solidFill>
            <a:schemeClr val="tx1"/>
          </a:solidFill>
          <a:latin typeface="+mn-lt"/>
        </a:defRPr>
      </a:lvl5pPr>
      <a:lvl6pPr marL="2514474" indent="-228588" algn="l" rtl="0" fontAlgn="base">
        <a:spcBef>
          <a:spcPct val="20000"/>
        </a:spcBef>
        <a:spcAft>
          <a:spcPct val="0"/>
        </a:spcAft>
        <a:buChar char="»"/>
        <a:defRPr sz="2000">
          <a:solidFill>
            <a:schemeClr val="tx1"/>
          </a:solidFill>
          <a:latin typeface="+mn-lt"/>
        </a:defRPr>
      </a:lvl6pPr>
      <a:lvl7pPr marL="2971652" indent="-228588" algn="l" rtl="0" fontAlgn="base">
        <a:spcBef>
          <a:spcPct val="20000"/>
        </a:spcBef>
        <a:spcAft>
          <a:spcPct val="0"/>
        </a:spcAft>
        <a:buChar char="»"/>
        <a:defRPr sz="2000">
          <a:solidFill>
            <a:schemeClr val="tx1"/>
          </a:solidFill>
          <a:latin typeface="+mn-lt"/>
        </a:defRPr>
      </a:lvl7pPr>
      <a:lvl8pPr marL="3428829" indent="-228588" algn="l" rtl="0" fontAlgn="base">
        <a:spcBef>
          <a:spcPct val="20000"/>
        </a:spcBef>
        <a:spcAft>
          <a:spcPct val="0"/>
        </a:spcAft>
        <a:buChar char="»"/>
        <a:defRPr sz="2000">
          <a:solidFill>
            <a:schemeClr val="tx1"/>
          </a:solidFill>
          <a:latin typeface="+mn-lt"/>
        </a:defRPr>
      </a:lvl8pPr>
      <a:lvl9pPr marL="3886006" indent="-228588"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customXml" Target="../ink/ink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Software Defined Networking</a:t>
            </a:r>
          </a:p>
        </p:txBody>
      </p:sp>
      <p:sp>
        <p:nvSpPr>
          <p:cNvPr id="3" name="Subtitle 2"/>
          <p:cNvSpPr>
            <a:spLocks noGrp="1"/>
          </p:cNvSpPr>
          <p:nvPr>
            <p:ph type="subTitle" idx="1"/>
          </p:nvPr>
        </p:nvSpPr>
        <p:spPr/>
        <p:txBody>
          <a:bodyPr/>
          <a:lstStyle/>
          <a:p>
            <a:r>
              <a:rPr lang="en-GB" dirty="0"/>
              <a:t>6CS029 Advanced Networks</a:t>
            </a:r>
          </a:p>
        </p:txBody>
      </p:sp>
    </p:spTree>
    <p:extLst>
      <p:ext uri="{BB962C8B-B14F-4D97-AF65-F5344CB8AC3E}">
        <p14:creationId xmlns:p14="http://schemas.microsoft.com/office/powerpoint/2010/main" val="3685580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71800" y="1052736"/>
            <a:ext cx="4390130" cy="5391906"/>
          </a:xfrm>
          <a:prstGeom prst="rect">
            <a:avLst/>
          </a:prstGeom>
          <a:blipFill>
            <a:blip r:embed="rId3"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37132" y="1259764"/>
            <a:ext cx="2706676" cy="1674176"/>
          </a:xfrm>
          <a:prstGeom prst="rect">
            <a:avLst/>
          </a:prstGeom>
        </p:spPr>
        <p:txBody>
          <a:bodyPr vert="horz" wrap="square" lIns="0" tIns="12065" rIns="0" bIns="0" rtlCol="0">
            <a:spAutoFit/>
          </a:bodyPr>
          <a:lstStyle/>
          <a:p>
            <a:pPr marL="12700">
              <a:lnSpc>
                <a:spcPct val="100000"/>
              </a:lnSpc>
              <a:spcBef>
                <a:spcPts val="95"/>
              </a:spcBef>
            </a:pPr>
            <a:r>
              <a:rPr spc="-10" dirty="0"/>
              <a:t>The </a:t>
            </a:r>
            <a:r>
              <a:rPr spc="-5" dirty="0"/>
              <a:t>Modern </a:t>
            </a:r>
            <a:r>
              <a:rPr spc="-10" dirty="0"/>
              <a:t>Networking</a:t>
            </a:r>
            <a:r>
              <a:rPr spc="-15" dirty="0"/>
              <a:t> </a:t>
            </a:r>
            <a:r>
              <a:rPr spc="-40" dirty="0"/>
              <a:t>Ecosystem</a:t>
            </a:r>
          </a:p>
        </p:txBody>
      </p:sp>
      <p:sp>
        <p:nvSpPr>
          <p:cNvPr id="4" name="TextBox 3">
            <a:extLst>
              <a:ext uri="{FF2B5EF4-FFF2-40B4-BE49-F238E27FC236}">
                <a16:creationId xmlns:a16="http://schemas.microsoft.com/office/drawing/2014/main" id="{B485FB5A-F2F2-B67B-3588-575B10697B5B}"/>
              </a:ext>
            </a:extLst>
          </p:cNvPr>
          <p:cNvSpPr txBox="1"/>
          <p:nvPr/>
        </p:nvSpPr>
        <p:spPr>
          <a:xfrm>
            <a:off x="7596336" y="1196752"/>
            <a:ext cx="1410532" cy="923330"/>
          </a:xfrm>
          <a:prstGeom prst="rect">
            <a:avLst/>
          </a:prstGeom>
          <a:noFill/>
        </p:spPr>
        <p:txBody>
          <a:bodyPr wrap="square" rtlCol="0">
            <a:spAutoFit/>
          </a:bodyPr>
          <a:lstStyle/>
          <a:p>
            <a:r>
              <a:rPr lang="en-GB" dirty="0"/>
              <a:t>e.g. Web, email and DB servers</a:t>
            </a:r>
          </a:p>
        </p:txBody>
      </p:sp>
      <p:cxnSp>
        <p:nvCxnSpPr>
          <p:cNvPr id="6" name="Straight Arrow Connector 5">
            <a:extLst>
              <a:ext uri="{FF2B5EF4-FFF2-40B4-BE49-F238E27FC236}">
                <a16:creationId xmlns:a16="http://schemas.microsoft.com/office/drawing/2014/main" id="{C31E4064-3A70-98DD-9CD4-C5BFCF0CFB83}"/>
              </a:ext>
            </a:extLst>
          </p:cNvPr>
          <p:cNvCxnSpPr>
            <a:cxnSpLocks/>
          </p:cNvCxnSpPr>
          <p:nvPr/>
        </p:nvCxnSpPr>
        <p:spPr>
          <a:xfrm flipH="1">
            <a:off x="6588224" y="1628800"/>
            <a:ext cx="936104" cy="2961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0E597BB-2574-7789-C34F-35A0D92073D7}"/>
              </a:ext>
            </a:extLst>
          </p:cNvPr>
          <p:cNvSpPr txBox="1"/>
          <p:nvPr/>
        </p:nvSpPr>
        <p:spPr>
          <a:xfrm>
            <a:off x="418744" y="4674906"/>
            <a:ext cx="1588194" cy="923330"/>
          </a:xfrm>
          <a:prstGeom prst="rect">
            <a:avLst/>
          </a:prstGeom>
          <a:noFill/>
        </p:spPr>
        <p:txBody>
          <a:bodyPr wrap="square" rtlCol="0">
            <a:spAutoFit/>
          </a:bodyPr>
          <a:lstStyle/>
          <a:p>
            <a:r>
              <a:rPr lang="en-GB" dirty="0"/>
              <a:t>ADSL, DSL, Mobile, ethernet etc</a:t>
            </a:r>
          </a:p>
        </p:txBody>
      </p:sp>
      <p:cxnSp>
        <p:nvCxnSpPr>
          <p:cNvPr id="9" name="Straight Arrow Connector 8">
            <a:extLst>
              <a:ext uri="{FF2B5EF4-FFF2-40B4-BE49-F238E27FC236}">
                <a16:creationId xmlns:a16="http://schemas.microsoft.com/office/drawing/2014/main" id="{8B736468-C6CF-C9E4-5534-BF5F6D15A631}"/>
              </a:ext>
            </a:extLst>
          </p:cNvPr>
          <p:cNvCxnSpPr>
            <a:cxnSpLocks/>
          </p:cNvCxnSpPr>
          <p:nvPr/>
        </p:nvCxnSpPr>
        <p:spPr>
          <a:xfrm flipV="1">
            <a:off x="1691680" y="4674906"/>
            <a:ext cx="1586534" cy="33827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6177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95936" y="852093"/>
            <a:ext cx="4520562" cy="5757812"/>
          </a:xfrm>
          <a:prstGeom prst="rect">
            <a:avLst/>
          </a:prstGeom>
          <a:blipFill>
            <a:blip r:embed="rId3"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79512" y="1268760"/>
            <a:ext cx="3483297" cy="1676855"/>
          </a:xfrm>
          <a:prstGeom prst="rect">
            <a:avLst/>
          </a:prstGeom>
        </p:spPr>
        <p:txBody>
          <a:bodyPr vert="horz" wrap="square" lIns="0" tIns="13335" rIns="0" bIns="0" rtlCol="0">
            <a:spAutoFit/>
          </a:bodyPr>
          <a:lstStyle/>
          <a:p>
            <a:pPr marL="12700">
              <a:lnSpc>
                <a:spcPct val="100000"/>
              </a:lnSpc>
              <a:spcBef>
                <a:spcPts val="105"/>
              </a:spcBef>
            </a:pPr>
            <a:r>
              <a:rPr dirty="0"/>
              <a:t>A </a:t>
            </a:r>
            <a:r>
              <a:rPr spc="5" dirty="0"/>
              <a:t>Global </a:t>
            </a:r>
            <a:r>
              <a:rPr spc="-10" dirty="0"/>
              <a:t>Network</a:t>
            </a:r>
            <a:r>
              <a:rPr spc="-35" dirty="0"/>
              <a:t> </a:t>
            </a:r>
            <a:r>
              <a:rPr spc="-15" dirty="0"/>
              <a:t>Architecture</a:t>
            </a:r>
            <a:endParaRPr dirty="0"/>
          </a:p>
        </p:txBody>
      </p:sp>
      <p:sp>
        <p:nvSpPr>
          <p:cNvPr id="4" name="TextBox 3">
            <a:extLst>
              <a:ext uri="{FF2B5EF4-FFF2-40B4-BE49-F238E27FC236}">
                <a16:creationId xmlns:a16="http://schemas.microsoft.com/office/drawing/2014/main" id="{4E8FCFE7-7161-C996-42B3-8E4CFBD26311}"/>
              </a:ext>
            </a:extLst>
          </p:cNvPr>
          <p:cNvSpPr txBox="1"/>
          <p:nvPr/>
        </p:nvSpPr>
        <p:spPr>
          <a:xfrm>
            <a:off x="639877" y="3429000"/>
            <a:ext cx="2592287" cy="1754326"/>
          </a:xfrm>
          <a:prstGeom prst="rect">
            <a:avLst/>
          </a:prstGeom>
          <a:noFill/>
        </p:spPr>
        <p:txBody>
          <a:bodyPr wrap="square" rtlCol="0">
            <a:spAutoFit/>
          </a:bodyPr>
          <a:lstStyle/>
          <a:p>
            <a:r>
              <a:rPr lang="en-GB" dirty="0">
                <a:solidFill>
                  <a:srgbClr val="FF0000"/>
                </a:solidFill>
              </a:rPr>
              <a:t>Internet or an enterprise IP network of high-performance core routers interconnected by high-speed links</a:t>
            </a:r>
          </a:p>
        </p:txBody>
      </p:sp>
      <p:cxnSp>
        <p:nvCxnSpPr>
          <p:cNvPr id="6" name="Straight Arrow Connector 5">
            <a:extLst>
              <a:ext uri="{FF2B5EF4-FFF2-40B4-BE49-F238E27FC236}">
                <a16:creationId xmlns:a16="http://schemas.microsoft.com/office/drawing/2014/main" id="{3EA29DD0-11A0-6EC9-DFA9-76D6F1B65558}"/>
              </a:ext>
            </a:extLst>
          </p:cNvPr>
          <p:cNvCxnSpPr>
            <a:stCxn id="4" idx="3"/>
          </p:cNvCxnSpPr>
          <p:nvPr/>
        </p:nvCxnSpPr>
        <p:spPr>
          <a:xfrm flipV="1">
            <a:off x="3232164" y="3429000"/>
            <a:ext cx="1771884" cy="8771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8306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19053" y="1268760"/>
            <a:ext cx="3247761" cy="1675459"/>
          </a:xfrm>
          <a:prstGeom prst="rect">
            <a:avLst/>
          </a:prstGeom>
        </p:spPr>
        <p:txBody>
          <a:bodyPr vert="horz" wrap="square" lIns="0" tIns="13335" rIns="0" bIns="0" rtlCol="0">
            <a:spAutoFit/>
          </a:bodyPr>
          <a:lstStyle/>
          <a:p>
            <a:pPr marL="12700">
              <a:lnSpc>
                <a:spcPct val="100000"/>
              </a:lnSpc>
              <a:spcBef>
                <a:spcPts val="105"/>
              </a:spcBef>
            </a:pPr>
            <a:r>
              <a:rPr dirty="0"/>
              <a:t>A </a:t>
            </a:r>
            <a:r>
              <a:rPr spc="-35" dirty="0"/>
              <a:t>Typical </a:t>
            </a:r>
            <a:r>
              <a:rPr spc="-10" dirty="0"/>
              <a:t>Network </a:t>
            </a:r>
            <a:r>
              <a:rPr spc="-25" dirty="0"/>
              <a:t>Hierarchy</a:t>
            </a:r>
            <a:endParaRPr dirty="0"/>
          </a:p>
        </p:txBody>
      </p:sp>
      <p:sp>
        <p:nvSpPr>
          <p:cNvPr id="5" name="TextBox 4">
            <a:extLst>
              <a:ext uri="{FF2B5EF4-FFF2-40B4-BE49-F238E27FC236}">
                <a16:creationId xmlns:a16="http://schemas.microsoft.com/office/drawing/2014/main" id="{CC9D13DF-AF76-EB92-8A2D-4E2D62B1978A}"/>
              </a:ext>
            </a:extLst>
          </p:cNvPr>
          <p:cNvSpPr txBox="1"/>
          <p:nvPr/>
        </p:nvSpPr>
        <p:spPr>
          <a:xfrm>
            <a:off x="179512" y="2974602"/>
            <a:ext cx="3387302" cy="3139321"/>
          </a:xfrm>
          <a:prstGeom prst="rect">
            <a:avLst/>
          </a:prstGeom>
          <a:noFill/>
        </p:spPr>
        <p:txBody>
          <a:bodyPr wrap="square">
            <a:spAutoFit/>
          </a:bodyPr>
          <a:lstStyle/>
          <a:p>
            <a:pPr algn="l">
              <a:buFont typeface="Arial" panose="020B0604020202020204" pitchFamily="34" charset="0"/>
              <a:buChar char="•"/>
            </a:pPr>
            <a:r>
              <a:rPr lang="en-GB" sz="1800" b="1" i="0" dirty="0">
                <a:solidFill>
                  <a:srgbClr val="000000"/>
                </a:solidFill>
                <a:effectLst/>
                <a:latin typeface="CiscoSansLight"/>
              </a:rPr>
              <a:t>Access layer</a:t>
            </a:r>
            <a:r>
              <a:rPr lang="en-GB" sz="1800" b="0" i="0" dirty="0">
                <a:solidFill>
                  <a:srgbClr val="000000"/>
                </a:solidFill>
                <a:effectLst/>
                <a:latin typeface="CiscoSansLight"/>
              </a:rPr>
              <a:t>: Provides workgroup/user access to the network</a:t>
            </a:r>
          </a:p>
          <a:p>
            <a:pPr algn="l">
              <a:buFont typeface="Arial" panose="020B0604020202020204" pitchFamily="34" charset="0"/>
              <a:buChar char="•"/>
            </a:pPr>
            <a:r>
              <a:rPr lang="en-GB" sz="1800" b="1" i="0" dirty="0">
                <a:solidFill>
                  <a:srgbClr val="000000"/>
                </a:solidFill>
                <a:effectLst/>
                <a:latin typeface="CiscoSansLight"/>
              </a:rPr>
              <a:t>Distribution layer</a:t>
            </a:r>
            <a:r>
              <a:rPr lang="en-GB" sz="1800" b="0" i="0" dirty="0">
                <a:solidFill>
                  <a:srgbClr val="000000"/>
                </a:solidFill>
                <a:effectLst/>
                <a:latin typeface="CiscoSansLight"/>
              </a:rPr>
              <a:t>: Provides policy-based connectivity and controls the boundary between the access and core layers</a:t>
            </a:r>
          </a:p>
          <a:p>
            <a:pPr algn="l">
              <a:buFont typeface="Arial" panose="020B0604020202020204" pitchFamily="34" charset="0"/>
              <a:buChar char="•"/>
            </a:pPr>
            <a:r>
              <a:rPr lang="en-GB" sz="1800" b="1" i="0" dirty="0">
                <a:solidFill>
                  <a:srgbClr val="000000"/>
                </a:solidFill>
                <a:effectLst/>
                <a:latin typeface="CiscoSansLight"/>
              </a:rPr>
              <a:t>Core layer</a:t>
            </a:r>
            <a:r>
              <a:rPr lang="en-GB" sz="1800" b="0" i="0" dirty="0">
                <a:solidFill>
                  <a:srgbClr val="000000"/>
                </a:solidFill>
                <a:effectLst/>
                <a:latin typeface="CiscoSansLight"/>
              </a:rPr>
              <a:t>: Provides fast transport between distribution switches within the enterprise campus</a:t>
            </a:r>
          </a:p>
        </p:txBody>
      </p:sp>
      <p:pic>
        <p:nvPicPr>
          <p:cNvPr id="1028" name="Picture 4">
            <a:extLst>
              <a:ext uri="{FF2B5EF4-FFF2-40B4-BE49-F238E27FC236}">
                <a16:creationId xmlns:a16="http://schemas.microsoft.com/office/drawing/2014/main" id="{A96BF4C9-0F49-526A-4165-693BE53391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20" y="1247775"/>
            <a:ext cx="4762500" cy="4362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714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836712"/>
            <a:ext cx="8424863" cy="1143000"/>
          </a:xfrm>
        </p:spPr>
        <p:txBody>
          <a:bodyPr/>
          <a:lstStyle/>
          <a:p>
            <a:r>
              <a:rPr lang="en-GB" spc="-10" dirty="0"/>
              <a:t>Ethernet</a:t>
            </a:r>
            <a:endParaRPr lang="en-GB" dirty="0"/>
          </a:p>
        </p:txBody>
      </p:sp>
      <p:sp>
        <p:nvSpPr>
          <p:cNvPr id="3" name="Content Placeholder 2"/>
          <p:cNvSpPr>
            <a:spLocks noGrp="1"/>
          </p:cNvSpPr>
          <p:nvPr>
            <p:ph idx="1"/>
          </p:nvPr>
        </p:nvSpPr>
        <p:spPr>
          <a:xfrm>
            <a:off x="323528" y="1844824"/>
            <a:ext cx="8424863" cy="4321175"/>
          </a:xfrm>
        </p:spPr>
        <p:txBody>
          <a:bodyPr/>
          <a:lstStyle/>
          <a:p>
            <a:pPr>
              <a:lnSpc>
                <a:spcPct val="120000"/>
              </a:lnSpc>
            </a:pPr>
            <a:r>
              <a:rPr lang="en-GB" sz="2800" dirty="0">
                <a:solidFill>
                  <a:srgbClr val="000000"/>
                </a:solidFill>
                <a:cs typeface="CiscoSans ExtraLight"/>
              </a:rPr>
              <a:t>Predominant wired networking technology</a:t>
            </a:r>
          </a:p>
          <a:p>
            <a:pPr>
              <a:lnSpc>
                <a:spcPct val="120000"/>
              </a:lnSpc>
            </a:pPr>
            <a:r>
              <a:rPr lang="en-GB" sz="2800" dirty="0">
                <a:solidFill>
                  <a:srgbClr val="000000"/>
                </a:solidFill>
                <a:cs typeface="CiscoSans ExtraLight"/>
              </a:rPr>
              <a:t>Supports distances from a few meters to tens  of kilometres</a:t>
            </a:r>
          </a:p>
          <a:p>
            <a:pPr>
              <a:lnSpc>
                <a:spcPct val="120000"/>
              </a:lnSpc>
            </a:pPr>
            <a:r>
              <a:rPr lang="en-GB" sz="2800" dirty="0">
                <a:solidFill>
                  <a:srgbClr val="000000"/>
                </a:solidFill>
                <a:cs typeface="CiscoSans ExtraLight"/>
              </a:rPr>
              <a:t>Has evolved to support data rates up to 100 </a:t>
            </a:r>
            <a:r>
              <a:rPr lang="en-GB" sz="2800" dirty="0" err="1">
                <a:solidFill>
                  <a:srgbClr val="000000"/>
                </a:solidFill>
                <a:cs typeface="CiscoSans ExtraLight"/>
              </a:rPr>
              <a:t>Gbps</a:t>
            </a:r>
            <a:r>
              <a:rPr lang="en-GB" sz="2800" dirty="0">
                <a:solidFill>
                  <a:srgbClr val="000000"/>
                </a:solidFill>
                <a:cs typeface="CiscoSans ExtraLight"/>
              </a:rPr>
              <a:t> </a:t>
            </a:r>
          </a:p>
          <a:p>
            <a:pPr>
              <a:lnSpc>
                <a:spcPct val="120000"/>
              </a:lnSpc>
            </a:pPr>
            <a:r>
              <a:rPr lang="en-GB" sz="2800" dirty="0">
                <a:solidFill>
                  <a:srgbClr val="000000"/>
                </a:solidFill>
                <a:cs typeface="CiscoSans ExtraLight"/>
              </a:rPr>
              <a:t>Has become essential for supporting personal  computers, workstations, servers, and massive  data storage devices in organisations large and  small</a:t>
            </a:r>
          </a:p>
          <a:p>
            <a:endParaRPr lang="en-GB" sz="2800" dirty="0"/>
          </a:p>
          <a:p>
            <a:endParaRPr lang="en-GB" sz="2800" dirty="0"/>
          </a:p>
        </p:txBody>
      </p:sp>
    </p:spTree>
    <p:extLst>
      <p:ext uri="{BB962C8B-B14F-4D97-AF65-F5344CB8AC3E}">
        <p14:creationId xmlns:p14="http://schemas.microsoft.com/office/powerpoint/2010/main" val="44641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5" y="1052736"/>
            <a:ext cx="2520279" cy="1143000"/>
          </a:xfrm>
        </p:spPr>
        <p:txBody>
          <a:bodyPr/>
          <a:lstStyle/>
          <a:p>
            <a:r>
              <a:rPr lang="en-GB" dirty="0"/>
              <a:t>Ethernet in the Office</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764704"/>
            <a:ext cx="6081316" cy="524726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283968" y="6203945"/>
            <a:ext cx="3865289" cy="369332"/>
          </a:xfrm>
          <a:prstGeom prst="rect">
            <a:avLst/>
          </a:prstGeom>
        </p:spPr>
        <p:txBody>
          <a:bodyPr wrap="none">
            <a:spAutoFit/>
          </a:bodyPr>
          <a:lstStyle/>
          <a:p>
            <a:r>
              <a:rPr lang="en-GB" dirty="0"/>
              <a:t>A Basic Enterprise LAN Architecture</a:t>
            </a:r>
          </a:p>
        </p:txBody>
      </p:sp>
    </p:spTree>
    <p:extLst>
      <p:ext uri="{BB962C8B-B14F-4D97-AF65-F5344CB8AC3E}">
        <p14:creationId xmlns:p14="http://schemas.microsoft.com/office/powerpoint/2010/main" val="3773589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learning.oreilly.com/library/view/foundations-of-modern/9780134175478/graphics/01fig0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1196752"/>
            <a:ext cx="6953250" cy="516255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a:spLocks/>
          </p:cNvSpPr>
          <p:nvPr/>
        </p:nvSpPr>
        <p:spPr bwMode="auto">
          <a:xfrm>
            <a:off x="21340" y="1349896"/>
            <a:ext cx="2750459" cy="1287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Rockwell" pitchFamily="18" charset="0"/>
              </a:defRPr>
            </a:lvl2pPr>
            <a:lvl3pPr algn="l" rtl="0" eaLnBrk="0" fontAlgn="base" hangingPunct="0">
              <a:spcBef>
                <a:spcPct val="0"/>
              </a:spcBef>
              <a:spcAft>
                <a:spcPct val="0"/>
              </a:spcAft>
              <a:defRPr sz="3600">
                <a:solidFill>
                  <a:schemeClr val="tx2"/>
                </a:solidFill>
                <a:latin typeface="Rockwell" pitchFamily="18" charset="0"/>
              </a:defRPr>
            </a:lvl3pPr>
            <a:lvl4pPr algn="l" rtl="0" eaLnBrk="0" fontAlgn="base" hangingPunct="0">
              <a:spcBef>
                <a:spcPct val="0"/>
              </a:spcBef>
              <a:spcAft>
                <a:spcPct val="0"/>
              </a:spcAft>
              <a:defRPr sz="3600">
                <a:solidFill>
                  <a:schemeClr val="tx2"/>
                </a:solidFill>
                <a:latin typeface="Rockwell" pitchFamily="18" charset="0"/>
              </a:defRPr>
            </a:lvl4pPr>
            <a:lvl5pPr algn="l" rtl="0" eaLnBrk="0" fontAlgn="base" hangingPunct="0">
              <a:spcBef>
                <a:spcPct val="0"/>
              </a:spcBef>
              <a:spcAft>
                <a:spcPct val="0"/>
              </a:spcAft>
              <a:defRPr sz="3600">
                <a:solidFill>
                  <a:schemeClr val="tx2"/>
                </a:solidFill>
                <a:latin typeface="Rockwell" pitchFamily="18" charset="0"/>
              </a:defRPr>
            </a:lvl5pPr>
            <a:lvl6pPr marL="457178" algn="l" rtl="0" fontAlgn="base">
              <a:spcBef>
                <a:spcPct val="0"/>
              </a:spcBef>
              <a:spcAft>
                <a:spcPct val="0"/>
              </a:spcAft>
              <a:defRPr sz="3600">
                <a:solidFill>
                  <a:schemeClr val="tx2"/>
                </a:solidFill>
                <a:latin typeface="Rockwell" pitchFamily="18" charset="0"/>
              </a:defRPr>
            </a:lvl6pPr>
            <a:lvl7pPr marL="914355" algn="l" rtl="0" fontAlgn="base">
              <a:spcBef>
                <a:spcPct val="0"/>
              </a:spcBef>
              <a:spcAft>
                <a:spcPct val="0"/>
              </a:spcAft>
              <a:defRPr sz="3600">
                <a:solidFill>
                  <a:schemeClr val="tx2"/>
                </a:solidFill>
                <a:latin typeface="Rockwell" pitchFamily="18" charset="0"/>
              </a:defRPr>
            </a:lvl7pPr>
            <a:lvl8pPr marL="1371532" algn="l" rtl="0" fontAlgn="base">
              <a:spcBef>
                <a:spcPct val="0"/>
              </a:spcBef>
              <a:spcAft>
                <a:spcPct val="0"/>
              </a:spcAft>
              <a:defRPr sz="3600">
                <a:solidFill>
                  <a:schemeClr val="tx2"/>
                </a:solidFill>
                <a:latin typeface="Rockwell" pitchFamily="18" charset="0"/>
              </a:defRPr>
            </a:lvl8pPr>
            <a:lvl9pPr marL="1828709" algn="l" rtl="0" fontAlgn="base">
              <a:spcBef>
                <a:spcPct val="0"/>
              </a:spcBef>
              <a:spcAft>
                <a:spcPct val="0"/>
              </a:spcAft>
              <a:defRPr sz="3600">
                <a:solidFill>
                  <a:schemeClr val="tx2"/>
                </a:solidFill>
                <a:latin typeface="Rockwell" pitchFamily="18" charset="0"/>
              </a:defRPr>
            </a:lvl9pPr>
          </a:lstStyle>
          <a:p>
            <a:r>
              <a:rPr lang="en-GB" kern="0" dirty="0"/>
              <a:t>Ethernet in the Data Centre</a:t>
            </a:r>
          </a:p>
        </p:txBody>
      </p:sp>
      <p:sp>
        <p:nvSpPr>
          <p:cNvPr id="2" name="TextBox 1">
            <a:extLst>
              <a:ext uri="{FF2B5EF4-FFF2-40B4-BE49-F238E27FC236}">
                <a16:creationId xmlns:a16="http://schemas.microsoft.com/office/drawing/2014/main" id="{2604D188-1ACC-99B3-99D1-2402559B4086}"/>
              </a:ext>
            </a:extLst>
          </p:cNvPr>
          <p:cNvSpPr txBox="1"/>
          <p:nvPr/>
        </p:nvSpPr>
        <p:spPr>
          <a:xfrm>
            <a:off x="100440" y="2790056"/>
            <a:ext cx="3168352" cy="1477328"/>
          </a:xfrm>
          <a:prstGeom prst="rect">
            <a:avLst/>
          </a:prstGeom>
          <a:noFill/>
        </p:spPr>
        <p:txBody>
          <a:bodyPr wrap="square" rtlCol="0">
            <a:spAutoFit/>
          </a:bodyPr>
          <a:lstStyle/>
          <a:p>
            <a:r>
              <a:rPr lang="en-GB" dirty="0"/>
              <a:t>very high data rates are needed to handle massive volumes of data among networked servers and storage units</a:t>
            </a:r>
          </a:p>
        </p:txBody>
      </p:sp>
    </p:spTree>
    <p:extLst>
      <p:ext uri="{BB962C8B-B14F-4D97-AF65-F5344CB8AC3E}">
        <p14:creationId xmlns:p14="http://schemas.microsoft.com/office/powerpoint/2010/main" val="724252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512" y="949024"/>
            <a:ext cx="8568952" cy="567463"/>
          </a:xfrm>
          <a:prstGeom prst="rect">
            <a:avLst/>
          </a:prstGeom>
        </p:spPr>
        <p:txBody>
          <a:bodyPr vert="horz" wrap="square" lIns="0" tIns="13335" rIns="0" bIns="0" rtlCol="0">
            <a:spAutoFit/>
          </a:bodyPr>
          <a:lstStyle/>
          <a:p>
            <a:pPr marL="12700">
              <a:lnSpc>
                <a:spcPct val="100000"/>
              </a:lnSpc>
              <a:spcBef>
                <a:spcPts val="105"/>
              </a:spcBef>
            </a:pPr>
            <a:r>
              <a:rPr spc="-20" dirty="0"/>
              <a:t>Evolving </a:t>
            </a:r>
            <a:r>
              <a:rPr spc="-10" dirty="0"/>
              <a:t>Network</a:t>
            </a:r>
            <a:r>
              <a:rPr spc="-5" dirty="0"/>
              <a:t> </a:t>
            </a:r>
            <a:r>
              <a:rPr spc="-15" dirty="0"/>
              <a:t>Requirements</a:t>
            </a:r>
            <a:endParaRPr dirty="0"/>
          </a:p>
        </p:txBody>
      </p:sp>
      <p:sp>
        <p:nvSpPr>
          <p:cNvPr id="3" name="object 3"/>
          <p:cNvSpPr txBox="1"/>
          <p:nvPr/>
        </p:nvSpPr>
        <p:spPr>
          <a:xfrm>
            <a:off x="467544" y="1772816"/>
            <a:ext cx="8280920" cy="4896853"/>
          </a:xfrm>
          <a:prstGeom prst="rect">
            <a:avLst/>
          </a:prstGeom>
        </p:spPr>
        <p:txBody>
          <a:bodyPr vert="horz" wrap="square" lIns="0" tIns="13335" rIns="0" bIns="0" rtlCol="0">
            <a:spAutoFit/>
          </a:bodyPr>
          <a:lstStyle/>
          <a:p>
            <a:pPr marL="355600" marR="24765" indent="-342900">
              <a:lnSpc>
                <a:spcPct val="100000"/>
              </a:lnSpc>
              <a:spcBef>
                <a:spcPts val="105"/>
              </a:spcBef>
              <a:buFont typeface="Arial"/>
              <a:buChar char="•"/>
              <a:tabLst>
                <a:tab pos="354965" algn="l"/>
                <a:tab pos="355600" algn="l"/>
              </a:tabLst>
            </a:pPr>
            <a:r>
              <a:rPr sz="2400" dirty="0">
                <a:latin typeface="+mn-lt"/>
                <a:cs typeface="Carlito"/>
              </a:rPr>
              <a:t>A </a:t>
            </a:r>
            <a:r>
              <a:rPr sz="2400" spc="-5" dirty="0">
                <a:latin typeface="+mn-lt"/>
                <a:cs typeface="Carlito"/>
              </a:rPr>
              <a:t>number of trends </a:t>
            </a:r>
            <a:r>
              <a:rPr sz="2400" spc="-10" dirty="0">
                <a:latin typeface="+mn-lt"/>
                <a:cs typeface="Carlito"/>
              </a:rPr>
              <a:t>are </a:t>
            </a:r>
            <a:r>
              <a:rPr sz="2400" spc="-5" dirty="0">
                <a:latin typeface="+mn-lt"/>
                <a:cs typeface="Carlito"/>
              </a:rPr>
              <a:t>driving </a:t>
            </a:r>
            <a:r>
              <a:rPr sz="2400" spc="-10" dirty="0">
                <a:latin typeface="+mn-lt"/>
                <a:cs typeface="Carlito"/>
              </a:rPr>
              <a:t>network </a:t>
            </a:r>
            <a:r>
              <a:rPr sz="2400" spc="-15" dirty="0">
                <a:latin typeface="+mn-lt"/>
                <a:cs typeface="Carlito"/>
              </a:rPr>
              <a:t>providers </a:t>
            </a:r>
            <a:r>
              <a:rPr sz="2400" dirty="0">
                <a:latin typeface="+mn-lt"/>
                <a:cs typeface="Carlito"/>
              </a:rPr>
              <a:t>and </a:t>
            </a:r>
            <a:r>
              <a:rPr sz="2400" spc="-15" dirty="0">
                <a:latin typeface="+mn-lt"/>
                <a:cs typeface="Carlito"/>
              </a:rPr>
              <a:t>users to reevaluate  </a:t>
            </a:r>
            <a:r>
              <a:rPr sz="2400" spc="-5" dirty="0">
                <a:latin typeface="+mn-lt"/>
                <a:cs typeface="Carlito"/>
              </a:rPr>
              <a:t>traditional approaches </a:t>
            </a:r>
            <a:r>
              <a:rPr sz="2400" spc="-15" dirty="0">
                <a:latin typeface="+mn-lt"/>
                <a:cs typeface="Carlito"/>
              </a:rPr>
              <a:t>to </a:t>
            </a:r>
            <a:r>
              <a:rPr sz="2400" spc="-10" dirty="0">
                <a:latin typeface="+mn-lt"/>
                <a:cs typeface="Carlito"/>
              </a:rPr>
              <a:t>network</a:t>
            </a:r>
            <a:r>
              <a:rPr sz="2400" dirty="0">
                <a:latin typeface="+mn-lt"/>
                <a:cs typeface="Carlito"/>
              </a:rPr>
              <a:t> </a:t>
            </a:r>
            <a:r>
              <a:rPr sz="2400" spc="-10" dirty="0">
                <a:latin typeface="+mn-lt"/>
                <a:cs typeface="Carlito"/>
              </a:rPr>
              <a:t>architecture</a:t>
            </a:r>
            <a:endParaRPr sz="2400" dirty="0">
              <a:latin typeface="+mn-lt"/>
              <a:cs typeface="Carlito"/>
            </a:endParaRPr>
          </a:p>
          <a:p>
            <a:pPr marL="756285" lvl="1" indent="-287020">
              <a:lnSpc>
                <a:spcPct val="100000"/>
              </a:lnSpc>
              <a:spcBef>
                <a:spcPts val="480"/>
              </a:spcBef>
              <a:buFont typeface="Arial"/>
              <a:buChar char="–"/>
              <a:tabLst>
                <a:tab pos="756285" algn="l"/>
                <a:tab pos="756920" algn="l"/>
              </a:tabLst>
            </a:pPr>
            <a:r>
              <a:rPr sz="2400" dirty="0">
                <a:solidFill>
                  <a:srgbClr val="FF0000"/>
                </a:solidFill>
                <a:latin typeface="+mn-lt"/>
                <a:cs typeface="Carlito"/>
              </a:rPr>
              <a:t>Demand </a:t>
            </a:r>
            <a:r>
              <a:rPr sz="2400" dirty="0">
                <a:latin typeface="+mn-lt"/>
                <a:cs typeface="Carlito"/>
              </a:rPr>
              <a:t>is</a:t>
            </a:r>
            <a:r>
              <a:rPr sz="2400" spc="-20" dirty="0">
                <a:latin typeface="+mn-lt"/>
                <a:cs typeface="Carlito"/>
              </a:rPr>
              <a:t> </a:t>
            </a:r>
            <a:r>
              <a:rPr sz="2400" spc="-5" dirty="0">
                <a:latin typeface="+mn-lt"/>
                <a:cs typeface="Carlito"/>
              </a:rPr>
              <a:t>increasing</a:t>
            </a:r>
            <a:endParaRPr sz="2400" dirty="0">
              <a:latin typeface="+mn-lt"/>
              <a:cs typeface="Carlito"/>
            </a:endParaRPr>
          </a:p>
          <a:p>
            <a:pPr marL="756285" lvl="1" indent="-287020">
              <a:lnSpc>
                <a:spcPct val="100000"/>
              </a:lnSpc>
              <a:spcBef>
                <a:spcPts val="480"/>
              </a:spcBef>
              <a:buFont typeface="Arial"/>
              <a:buChar char="–"/>
              <a:tabLst>
                <a:tab pos="756285" algn="l"/>
                <a:tab pos="756920" algn="l"/>
              </a:tabLst>
            </a:pPr>
            <a:r>
              <a:rPr sz="2400" dirty="0">
                <a:solidFill>
                  <a:srgbClr val="FF0000"/>
                </a:solidFill>
                <a:latin typeface="+mn-lt"/>
                <a:cs typeface="Carlito"/>
              </a:rPr>
              <a:t>Supply </a:t>
            </a:r>
            <a:r>
              <a:rPr sz="2400" dirty="0">
                <a:latin typeface="+mn-lt"/>
                <a:cs typeface="Carlito"/>
              </a:rPr>
              <a:t>is</a:t>
            </a:r>
            <a:r>
              <a:rPr sz="2400" spc="-30" dirty="0">
                <a:latin typeface="+mn-lt"/>
                <a:cs typeface="Carlito"/>
              </a:rPr>
              <a:t> </a:t>
            </a:r>
            <a:r>
              <a:rPr sz="2400" spc="-5" dirty="0">
                <a:latin typeface="+mn-lt"/>
                <a:cs typeface="Carlito"/>
              </a:rPr>
              <a:t>increasing</a:t>
            </a:r>
            <a:endParaRPr sz="2400" dirty="0">
              <a:latin typeface="+mn-lt"/>
              <a:cs typeface="Carlito"/>
            </a:endParaRPr>
          </a:p>
          <a:p>
            <a:pPr marL="756285" lvl="1" indent="-287020">
              <a:lnSpc>
                <a:spcPct val="100000"/>
              </a:lnSpc>
              <a:spcBef>
                <a:spcPts val="480"/>
              </a:spcBef>
              <a:buFont typeface="Arial"/>
              <a:buChar char="–"/>
              <a:tabLst>
                <a:tab pos="756285" algn="l"/>
                <a:tab pos="756920" algn="l"/>
              </a:tabLst>
            </a:pPr>
            <a:r>
              <a:rPr sz="2400" spc="-5" dirty="0">
                <a:latin typeface="+mn-lt"/>
                <a:cs typeface="Carlito"/>
              </a:rPr>
              <a:t>Dynamic </a:t>
            </a:r>
            <a:r>
              <a:rPr sz="2400" dirty="0">
                <a:latin typeface="+mn-lt"/>
                <a:cs typeface="Carlito"/>
              </a:rPr>
              <a:t>and </a:t>
            </a:r>
            <a:r>
              <a:rPr sz="2400" spc="-10" dirty="0">
                <a:latin typeface="+mn-lt"/>
                <a:cs typeface="Carlito"/>
              </a:rPr>
              <a:t>complex </a:t>
            </a:r>
            <a:r>
              <a:rPr sz="2400" spc="-15" dirty="0">
                <a:solidFill>
                  <a:srgbClr val="FF0000"/>
                </a:solidFill>
                <a:latin typeface="+mn-lt"/>
                <a:cs typeface="Carlito"/>
              </a:rPr>
              <a:t>traffic</a:t>
            </a:r>
            <a:r>
              <a:rPr sz="2400" dirty="0">
                <a:solidFill>
                  <a:srgbClr val="FF0000"/>
                </a:solidFill>
                <a:latin typeface="+mn-lt"/>
                <a:cs typeface="Carlito"/>
              </a:rPr>
              <a:t> </a:t>
            </a:r>
            <a:r>
              <a:rPr sz="2400" spc="-10" dirty="0">
                <a:solidFill>
                  <a:srgbClr val="FF0000"/>
                </a:solidFill>
                <a:latin typeface="+mn-lt"/>
                <a:cs typeface="Carlito"/>
              </a:rPr>
              <a:t>patterns</a:t>
            </a:r>
            <a:endParaRPr sz="2400" dirty="0">
              <a:latin typeface="+mn-lt"/>
              <a:cs typeface="Carlito"/>
            </a:endParaRPr>
          </a:p>
          <a:p>
            <a:pPr marL="1155065" lvl="2" indent="-229235">
              <a:lnSpc>
                <a:spcPct val="100000"/>
              </a:lnSpc>
              <a:spcBef>
                <a:spcPts val="480"/>
              </a:spcBef>
              <a:buFont typeface="Arial"/>
              <a:buChar char="•"/>
              <a:tabLst>
                <a:tab pos="1155065" algn="l"/>
                <a:tab pos="1155700" algn="l"/>
              </a:tabLst>
            </a:pPr>
            <a:r>
              <a:rPr sz="2000" spc="-10" dirty="0">
                <a:latin typeface="+mn-lt"/>
                <a:cs typeface="Carlito"/>
              </a:rPr>
              <a:t>“horizontal” </a:t>
            </a:r>
            <a:r>
              <a:rPr sz="2000" spc="-15" dirty="0">
                <a:latin typeface="+mn-lt"/>
                <a:cs typeface="Carlito"/>
              </a:rPr>
              <a:t>traffic </a:t>
            </a:r>
            <a:r>
              <a:rPr sz="2000" spc="-5" dirty="0">
                <a:latin typeface="+mn-lt"/>
                <a:cs typeface="Carlito"/>
              </a:rPr>
              <a:t>between </a:t>
            </a:r>
            <a:r>
              <a:rPr sz="2000" spc="-10" dirty="0">
                <a:latin typeface="+mn-lt"/>
                <a:cs typeface="Carlito"/>
              </a:rPr>
              <a:t>servers </a:t>
            </a:r>
            <a:r>
              <a:rPr sz="2000" dirty="0">
                <a:latin typeface="+mn-lt"/>
                <a:cs typeface="Carlito"/>
              </a:rPr>
              <a:t>as </a:t>
            </a:r>
            <a:r>
              <a:rPr sz="2000" spc="-5" dirty="0">
                <a:latin typeface="+mn-lt"/>
                <a:cs typeface="Carlito"/>
              </a:rPr>
              <a:t>well </a:t>
            </a:r>
            <a:r>
              <a:rPr sz="2000" dirty="0">
                <a:latin typeface="+mn-lt"/>
                <a:cs typeface="Carlito"/>
              </a:rPr>
              <a:t>as </a:t>
            </a:r>
            <a:r>
              <a:rPr sz="2000" spc="-5" dirty="0">
                <a:latin typeface="+mn-lt"/>
                <a:cs typeface="Carlito"/>
              </a:rPr>
              <a:t>“vertical”</a:t>
            </a:r>
            <a:r>
              <a:rPr sz="2000" spc="60" dirty="0">
                <a:latin typeface="+mn-lt"/>
                <a:cs typeface="Carlito"/>
              </a:rPr>
              <a:t> </a:t>
            </a:r>
            <a:r>
              <a:rPr sz="2000" spc="-15" dirty="0">
                <a:latin typeface="+mn-lt"/>
                <a:cs typeface="Carlito"/>
              </a:rPr>
              <a:t>traffic</a:t>
            </a:r>
            <a:endParaRPr sz="2000" dirty="0">
              <a:latin typeface="+mn-lt"/>
              <a:cs typeface="Carlito"/>
            </a:endParaRPr>
          </a:p>
          <a:p>
            <a:pPr marL="1155065">
              <a:lnSpc>
                <a:spcPct val="100000"/>
              </a:lnSpc>
            </a:pPr>
            <a:r>
              <a:rPr sz="2000" spc="-5" dirty="0">
                <a:latin typeface="+mn-lt"/>
                <a:cs typeface="Carlito"/>
              </a:rPr>
              <a:t>between </a:t>
            </a:r>
            <a:r>
              <a:rPr sz="2000" spc="-10" dirty="0">
                <a:latin typeface="+mn-lt"/>
                <a:cs typeface="Carlito"/>
              </a:rPr>
              <a:t>servers </a:t>
            </a:r>
            <a:r>
              <a:rPr sz="2000" dirty="0">
                <a:latin typeface="+mn-lt"/>
                <a:cs typeface="Carlito"/>
              </a:rPr>
              <a:t>and</a:t>
            </a:r>
            <a:r>
              <a:rPr sz="2000" spc="15" dirty="0">
                <a:latin typeface="+mn-lt"/>
                <a:cs typeface="Carlito"/>
              </a:rPr>
              <a:t> </a:t>
            </a:r>
            <a:r>
              <a:rPr sz="2000" spc="-5" dirty="0">
                <a:latin typeface="+mn-lt"/>
                <a:cs typeface="Carlito"/>
              </a:rPr>
              <a:t>clients.</a:t>
            </a:r>
            <a:endParaRPr sz="2000" dirty="0">
              <a:latin typeface="+mn-lt"/>
              <a:cs typeface="Carlito"/>
            </a:endParaRPr>
          </a:p>
          <a:p>
            <a:pPr marL="1155065" lvl="2" indent="-229235">
              <a:lnSpc>
                <a:spcPct val="100000"/>
              </a:lnSpc>
              <a:spcBef>
                <a:spcPts val="480"/>
              </a:spcBef>
              <a:buFont typeface="Arial"/>
              <a:buChar char="•"/>
              <a:tabLst>
                <a:tab pos="1155065" algn="l"/>
                <a:tab pos="1155700" algn="l"/>
              </a:tabLst>
            </a:pPr>
            <a:r>
              <a:rPr lang="en-GB" sz="2000" spc="-5" dirty="0">
                <a:latin typeface="+mn-lt"/>
                <a:cs typeface="Carlito"/>
              </a:rPr>
              <a:t>Elastic – not affected by delay Jitter etc. Typical traffic</a:t>
            </a:r>
          </a:p>
          <a:p>
            <a:pPr marL="1155065" lvl="2" indent="-229235">
              <a:lnSpc>
                <a:spcPct val="100000"/>
              </a:lnSpc>
              <a:spcBef>
                <a:spcPts val="480"/>
              </a:spcBef>
              <a:buFont typeface="Arial"/>
              <a:buChar char="•"/>
              <a:tabLst>
                <a:tab pos="1155065" algn="l"/>
                <a:tab pos="1155700" algn="l"/>
              </a:tabLst>
            </a:pPr>
            <a:r>
              <a:rPr lang="en-GB" sz="2000" spc="-5" dirty="0">
                <a:latin typeface="+mn-lt"/>
                <a:cs typeface="Carlito"/>
              </a:rPr>
              <a:t>Inelastic traffic – VOIP, Multimedia etc</a:t>
            </a:r>
          </a:p>
          <a:p>
            <a:pPr marL="1155065" lvl="2" indent="-229235">
              <a:lnSpc>
                <a:spcPct val="100000"/>
              </a:lnSpc>
              <a:spcBef>
                <a:spcPts val="480"/>
              </a:spcBef>
              <a:buFont typeface="Arial"/>
              <a:buChar char="•"/>
              <a:tabLst>
                <a:tab pos="1155065" algn="l"/>
                <a:tab pos="1155700" algn="l"/>
              </a:tabLst>
            </a:pPr>
            <a:r>
              <a:rPr sz="2000" spc="-5" dirty="0">
                <a:latin typeface="+mn-lt"/>
                <a:cs typeface="Carlito"/>
              </a:rPr>
              <a:t>unpredictable </a:t>
            </a:r>
            <a:r>
              <a:rPr sz="2000" spc="-15" dirty="0">
                <a:latin typeface="+mn-lt"/>
                <a:cs typeface="Carlito"/>
              </a:rPr>
              <a:t>traffic </a:t>
            </a:r>
            <a:r>
              <a:rPr sz="2000" spc="-10" dirty="0">
                <a:latin typeface="+mn-lt"/>
                <a:cs typeface="Carlito"/>
              </a:rPr>
              <a:t>patterns</a:t>
            </a:r>
            <a:r>
              <a:rPr lang="en-GB" sz="2000" spc="-10" dirty="0">
                <a:latin typeface="+mn-lt"/>
                <a:cs typeface="Carlito"/>
              </a:rPr>
              <a:t> </a:t>
            </a:r>
            <a:r>
              <a:rPr sz="2000" dirty="0">
                <a:latin typeface="+mn-lt"/>
                <a:cs typeface="Carlito"/>
              </a:rPr>
              <a:t>of </a:t>
            </a:r>
            <a:r>
              <a:rPr sz="2000" spc="-5" dirty="0">
                <a:latin typeface="+mn-lt"/>
                <a:cs typeface="Carlito"/>
              </a:rPr>
              <a:t>voice, </a:t>
            </a:r>
            <a:r>
              <a:rPr sz="2000" spc="-10" dirty="0">
                <a:latin typeface="+mn-lt"/>
                <a:cs typeface="Carlito"/>
              </a:rPr>
              <a:t>data, </a:t>
            </a:r>
            <a:r>
              <a:rPr sz="2000" dirty="0">
                <a:latin typeface="+mn-lt"/>
                <a:cs typeface="Carlito"/>
              </a:rPr>
              <a:t>and</a:t>
            </a:r>
            <a:r>
              <a:rPr sz="2000" spc="25" dirty="0">
                <a:latin typeface="+mn-lt"/>
                <a:cs typeface="Carlito"/>
              </a:rPr>
              <a:t> </a:t>
            </a:r>
            <a:r>
              <a:rPr sz="2000" spc="-5" dirty="0">
                <a:latin typeface="+mn-lt"/>
                <a:cs typeface="Carlito"/>
              </a:rPr>
              <a:t>video</a:t>
            </a:r>
            <a:endParaRPr sz="2000" dirty="0">
              <a:latin typeface="+mn-lt"/>
              <a:cs typeface="Carlito"/>
            </a:endParaRPr>
          </a:p>
          <a:p>
            <a:pPr marL="1155065" marR="579120" lvl="2" indent="-228600">
              <a:lnSpc>
                <a:spcPct val="100000"/>
              </a:lnSpc>
              <a:spcBef>
                <a:spcPts val="484"/>
              </a:spcBef>
              <a:buFont typeface="Arial"/>
              <a:buChar char="•"/>
              <a:tabLst>
                <a:tab pos="1155065" algn="l"/>
                <a:tab pos="1155700" algn="l"/>
              </a:tabLst>
            </a:pPr>
            <a:r>
              <a:rPr sz="2000" dirty="0">
                <a:latin typeface="+mn-lt"/>
                <a:cs typeface="Carlito"/>
              </a:rPr>
              <a:t>Unified </a:t>
            </a:r>
            <a:r>
              <a:rPr sz="2000" spc="-5" dirty="0">
                <a:latin typeface="+mn-lt"/>
                <a:cs typeface="Carlito"/>
              </a:rPr>
              <a:t>communications (UC) </a:t>
            </a:r>
            <a:r>
              <a:rPr sz="2000" spc="-10" dirty="0">
                <a:latin typeface="+mn-lt"/>
                <a:cs typeface="Carlito"/>
              </a:rPr>
              <a:t>strategies</a:t>
            </a:r>
            <a:r>
              <a:rPr lang="en-GB" sz="2000" spc="-10" dirty="0">
                <a:latin typeface="+mn-lt"/>
                <a:cs typeface="Carlito"/>
              </a:rPr>
              <a:t> – use of cloud etc to provide video conferencing</a:t>
            </a:r>
            <a:endParaRPr sz="2000" dirty="0">
              <a:latin typeface="+mn-lt"/>
              <a:cs typeface="Carlito"/>
            </a:endParaRPr>
          </a:p>
        </p:txBody>
      </p:sp>
    </p:spTree>
    <p:extLst>
      <p:ext uri="{BB962C8B-B14F-4D97-AF65-F5344CB8AC3E}">
        <p14:creationId xmlns:p14="http://schemas.microsoft.com/office/powerpoint/2010/main" val="1367598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B308614-6F5B-5E42-AF9E-48C840FB6AD8}"/>
              </a:ext>
            </a:extLst>
          </p:cNvPr>
          <p:cNvPicPr>
            <a:picLocks noChangeAspect="1"/>
          </p:cNvPicPr>
          <p:nvPr/>
        </p:nvPicPr>
        <p:blipFill>
          <a:blip r:embed="rId4"/>
          <a:stretch>
            <a:fillRect/>
          </a:stretch>
        </p:blipFill>
        <p:spPr>
          <a:xfrm>
            <a:off x="2888461" y="218472"/>
            <a:ext cx="6213664" cy="6606934"/>
          </a:xfrm>
          <a:prstGeom prst="rect">
            <a:avLst/>
          </a:prstGeom>
        </p:spPr>
      </p:pic>
      <p:sp>
        <p:nvSpPr>
          <p:cNvPr id="6" name="Title 2">
            <a:extLst>
              <a:ext uri="{FF2B5EF4-FFF2-40B4-BE49-F238E27FC236}">
                <a16:creationId xmlns:a16="http://schemas.microsoft.com/office/drawing/2014/main" id="{C02AA8F8-1E43-384B-8982-C0BB94049B5C}"/>
              </a:ext>
            </a:extLst>
          </p:cNvPr>
          <p:cNvSpPr txBox="1">
            <a:spLocks/>
          </p:cNvSpPr>
          <p:nvPr/>
        </p:nvSpPr>
        <p:spPr bwMode="auto">
          <a:xfrm>
            <a:off x="-8065" y="1196752"/>
            <a:ext cx="3643961" cy="97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rgbClr val="004C69"/>
                </a:solidFill>
                <a:latin typeface="+mj-lt"/>
                <a:ea typeface="+mj-ea"/>
                <a:cs typeface="+mj-cs"/>
              </a:defRPr>
            </a:lvl1pPr>
            <a:lvl2pPr algn="l" rtl="0" eaLnBrk="0" fontAlgn="base" hangingPunct="0">
              <a:spcBef>
                <a:spcPct val="0"/>
              </a:spcBef>
              <a:spcAft>
                <a:spcPct val="0"/>
              </a:spcAft>
              <a:defRPr sz="3600">
                <a:solidFill>
                  <a:schemeClr val="tx2"/>
                </a:solidFill>
                <a:latin typeface="Rockwell" pitchFamily="18" charset="0"/>
              </a:defRPr>
            </a:lvl2pPr>
            <a:lvl3pPr algn="l" rtl="0" eaLnBrk="0" fontAlgn="base" hangingPunct="0">
              <a:spcBef>
                <a:spcPct val="0"/>
              </a:spcBef>
              <a:spcAft>
                <a:spcPct val="0"/>
              </a:spcAft>
              <a:defRPr sz="3600">
                <a:solidFill>
                  <a:schemeClr val="tx2"/>
                </a:solidFill>
                <a:latin typeface="Rockwell" pitchFamily="18" charset="0"/>
              </a:defRPr>
            </a:lvl3pPr>
            <a:lvl4pPr algn="l" rtl="0" eaLnBrk="0" fontAlgn="base" hangingPunct="0">
              <a:spcBef>
                <a:spcPct val="0"/>
              </a:spcBef>
              <a:spcAft>
                <a:spcPct val="0"/>
              </a:spcAft>
              <a:defRPr sz="3600">
                <a:solidFill>
                  <a:schemeClr val="tx2"/>
                </a:solidFill>
                <a:latin typeface="Rockwell" pitchFamily="18" charset="0"/>
              </a:defRPr>
            </a:lvl4pPr>
            <a:lvl5pPr algn="l" rtl="0" eaLnBrk="0" fontAlgn="base" hangingPunct="0">
              <a:spcBef>
                <a:spcPct val="0"/>
              </a:spcBef>
              <a:spcAft>
                <a:spcPct val="0"/>
              </a:spcAft>
              <a:defRPr sz="3600">
                <a:solidFill>
                  <a:schemeClr val="tx2"/>
                </a:solidFill>
                <a:latin typeface="Rockwell" pitchFamily="18" charset="0"/>
              </a:defRPr>
            </a:lvl5pPr>
            <a:lvl6pPr marL="457178" algn="l" rtl="0" fontAlgn="base">
              <a:spcBef>
                <a:spcPct val="0"/>
              </a:spcBef>
              <a:spcAft>
                <a:spcPct val="0"/>
              </a:spcAft>
              <a:defRPr sz="3600">
                <a:solidFill>
                  <a:schemeClr val="tx2"/>
                </a:solidFill>
                <a:latin typeface="Rockwell" pitchFamily="18" charset="0"/>
              </a:defRPr>
            </a:lvl6pPr>
            <a:lvl7pPr marL="914355" algn="l" rtl="0" fontAlgn="base">
              <a:spcBef>
                <a:spcPct val="0"/>
              </a:spcBef>
              <a:spcAft>
                <a:spcPct val="0"/>
              </a:spcAft>
              <a:defRPr sz="3600">
                <a:solidFill>
                  <a:schemeClr val="tx2"/>
                </a:solidFill>
                <a:latin typeface="Rockwell" pitchFamily="18" charset="0"/>
              </a:defRPr>
            </a:lvl7pPr>
            <a:lvl8pPr marL="1371532" algn="l" rtl="0" fontAlgn="base">
              <a:spcBef>
                <a:spcPct val="0"/>
              </a:spcBef>
              <a:spcAft>
                <a:spcPct val="0"/>
              </a:spcAft>
              <a:defRPr sz="3600">
                <a:solidFill>
                  <a:schemeClr val="tx2"/>
                </a:solidFill>
                <a:latin typeface="Rockwell" pitchFamily="18" charset="0"/>
              </a:defRPr>
            </a:lvl8pPr>
            <a:lvl9pPr marL="1828709" algn="l" rtl="0" fontAlgn="base">
              <a:spcBef>
                <a:spcPct val="0"/>
              </a:spcBef>
              <a:spcAft>
                <a:spcPct val="0"/>
              </a:spcAft>
              <a:defRPr sz="3600">
                <a:solidFill>
                  <a:schemeClr val="tx2"/>
                </a:solidFill>
                <a:latin typeface="Rockwell" pitchFamily="18" charset="0"/>
              </a:defRPr>
            </a:lvl9pPr>
          </a:lstStyle>
          <a:p>
            <a:r>
              <a:rPr lang="en-US" kern="0" dirty="0">
                <a:solidFill>
                  <a:schemeClr val="tx1"/>
                </a:solidFill>
              </a:rPr>
              <a:t>Virtual Network Infrastructure</a:t>
            </a:r>
            <a:br>
              <a:rPr lang="en-US" kern="0" dirty="0">
                <a:solidFill>
                  <a:schemeClr val="tx1"/>
                </a:solidFill>
              </a:rPr>
            </a:br>
            <a:endParaRPr lang="en-US" kern="0" dirty="0">
              <a:solidFill>
                <a:schemeClr val="tx1"/>
              </a:solidFill>
            </a:endParaRPr>
          </a:p>
        </p:txBody>
      </p:sp>
      <p:sp>
        <p:nvSpPr>
          <p:cNvPr id="8" name="Content Placeholder 4">
            <a:extLst>
              <a:ext uri="{FF2B5EF4-FFF2-40B4-BE49-F238E27FC236}">
                <a16:creationId xmlns:a16="http://schemas.microsoft.com/office/drawing/2014/main" id="{5C5089E0-4BB1-3A4A-8FFD-C049A81BAEE1}"/>
              </a:ext>
            </a:extLst>
          </p:cNvPr>
          <p:cNvSpPr txBox="1">
            <a:spLocks/>
          </p:cNvSpPr>
          <p:nvPr/>
        </p:nvSpPr>
        <p:spPr bwMode="auto">
          <a:xfrm>
            <a:off x="132740" y="2348698"/>
            <a:ext cx="3287131" cy="4176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0" tIns="45710" rIns="91420" bIns="45710" numCol="1" anchor="t" anchorCtr="0" compatLnSpc="1">
            <a:prstTxWarp prst="textNoShape">
              <a:avLst/>
            </a:prstTxWarp>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ea typeface="+mn-ea"/>
                <a:cs typeface="CiscoSans ExtraLight"/>
              </a:defRPr>
            </a:lvl1pPr>
            <a:lvl2pPr marL="742913" indent="-285736" algn="l" rtl="0" eaLnBrk="0" fontAlgn="base" hangingPunct="0">
              <a:spcBef>
                <a:spcPct val="20000"/>
              </a:spcBef>
              <a:spcAft>
                <a:spcPct val="0"/>
              </a:spcAft>
              <a:buChar char="–"/>
              <a:defRPr sz="2800">
                <a:solidFill>
                  <a:schemeClr val="tx1"/>
                </a:solidFill>
                <a:latin typeface="+mn-lt"/>
              </a:defRPr>
            </a:lvl2pPr>
            <a:lvl3pPr marL="1142944" indent="-228588" algn="l" rtl="0" eaLnBrk="0" fontAlgn="base" hangingPunct="0">
              <a:spcBef>
                <a:spcPct val="20000"/>
              </a:spcBef>
              <a:spcAft>
                <a:spcPct val="0"/>
              </a:spcAft>
              <a:buChar char="•"/>
              <a:defRPr sz="2400">
                <a:solidFill>
                  <a:schemeClr val="tx1"/>
                </a:solidFill>
                <a:latin typeface="+mn-lt"/>
              </a:defRPr>
            </a:lvl3pPr>
            <a:lvl4pPr marL="1600120" indent="-228588" algn="l" rtl="0" eaLnBrk="0" fontAlgn="base" hangingPunct="0">
              <a:spcBef>
                <a:spcPct val="20000"/>
              </a:spcBef>
              <a:spcAft>
                <a:spcPct val="0"/>
              </a:spcAft>
              <a:buChar char="–"/>
              <a:defRPr sz="2000">
                <a:solidFill>
                  <a:schemeClr val="tx1"/>
                </a:solidFill>
                <a:latin typeface="+mn-lt"/>
              </a:defRPr>
            </a:lvl4pPr>
            <a:lvl5pPr marL="2057297" indent="-228588" algn="l" rtl="0" eaLnBrk="0" fontAlgn="base" hangingPunct="0">
              <a:spcBef>
                <a:spcPct val="20000"/>
              </a:spcBef>
              <a:spcAft>
                <a:spcPct val="0"/>
              </a:spcAft>
              <a:buChar char="»"/>
              <a:defRPr sz="2000">
                <a:solidFill>
                  <a:schemeClr val="tx1"/>
                </a:solidFill>
                <a:latin typeface="+mn-lt"/>
              </a:defRPr>
            </a:lvl5pPr>
            <a:lvl6pPr marL="2514474" indent="-228588" algn="l" rtl="0" fontAlgn="base">
              <a:spcBef>
                <a:spcPct val="20000"/>
              </a:spcBef>
              <a:spcAft>
                <a:spcPct val="0"/>
              </a:spcAft>
              <a:buChar char="»"/>
              <a:defRPr sz="2000">
                <a:solidFill>
                  <a:schemeClr val="tx1"/>
                </a:solidFill>
                <a:latin typeface="+mn-lt"/>
              </a:defRPr>
            </a:lvl6pPr>
            <a:lvl7pPr marL="2971652" indent="-228588" algn="l" rtl="0" fontAlgn="base">
              <a:spcBef>
                <a:spcPct val="20000"/>
              </a:spcBef>
              <a:spcAft>
                <a:spcPct val="0"/>
              </a:spcAft>
              <a:buChar char="»"/>
              <a:defRPr sz="2000">
                <a:solidFill>
                  <a:schemeClr val="tx1"/>
                </a:solidFill>
                <a:latin typeface="+mn-lt"/>
              </a:defRPr>
            </a:lvl7pPr>
            <a:lvl8pPr marL="3428829" indent="-228588" algn="l" rtl="0" fontAlgn="base">
              <a:spcBef>
                <a:spcPct val="20000"/>
              </a:spcBef>
              <a:spcAft>
                <a:spcPct val="0"/>
              </a:spcAft>
              <a:buChar char="»"/>
              <a:defRPr sz="2000">
                <a:solidFill>
                  <a:schemeClr val="tx1"/>
                </a:solidFill>
                <a:latin typeface="+mn-lt"/>
              </a:defRPr>
            </a:lvl8pPr>
            <a:lvl9pPr marL="3886006" indent="-228588" algn="l" rtl="0" fontAlgn="base">
              <a:spcBef>
                <a:spcPct val="20000"/>
              </a:spcBef>
              <a:spcAft>
                <a:spcPct val="0"/>
              </a:spcAft>
              <a:buChar char="»"/>
              <a:defRPr sz="2000">
                <a:solidFill>
                  <a:schemeClr val="tx1"/>
                </a:solidFill>
                <a:latin typeface="+mn-lt"/>
              </a:defRPr>
            </a:lvl9pPr>
          </a:lstStyle>
          <a:p>
            <a:pPr marL="342900" indent="-342900" algn="l">
              <a:buFont typeface="Arial" panose="020B0604020202020204" pitchFamily="34" charset="0"/>
              <a:buChar char="•"/>
            </a:pPr>
            <a:r>
              <a:rPr lang="en-US" kern="0" dirty="0">
                <a:solidFill>
                  <a:srgbClr val="000000"/>
                </a:solidFill>
              </a:rPr>
              <a:t>Server virtualization hides server resources. </a:t>
            </a:r>
          </a:p>
          <a:p>
            <a:pPr marL="342900" indent="-342900" algn="l">
              <a:buFont typeface="Arial" panose="020B0604020202020204" pitchFamily="34" charset="0"/>
              <a:buChar char="•"/>
            </a:pPr>
            <a:r>
              <a:rPr lang="en-US" kern="0" dirty="0">
                <a:solidFill>
                  <a:srgbClr val="000000"/>
                </a:solidFill>
              </a:rPr>
              <a:t>VMs are movable (hence large data shifts) and the network must change to support their mobility. </a:t>
            </a:r>
          </a:p>
          <a:p>
            <a:pPr marL="342900" indent="-342900" algn="l">
              <a:buFont typeface="Arial" panose="020B0604020202020204" pitchFamily="34" charset="0"/>
              <a:buChar char="•"/>
            </a:pPr>
            <a:r>
              <a:rPr lang="en-US" kern="0" dirty="0">
                <a:solidFill>
                  <a:srgbClr val="000000"/>
                </a:solidFill>
              </a:rPr>
              <a:t>Traffic flows differ from the traditional client-server model.</a:t>
            </a:r>
          </a:p>
          <a:p>
            <a:pPr marL="342900" indent="-342900" algn="l">
              <a:buFont typeface="Arial" panose="020B0604020202020204" pitchFamily="34" charset="0"/>
              <a:buChar char="•"/>
            </a:pPr>
            <a:r>
              <a:rPr lang="en-US" dirty="0">
                <a:solidFill>
                  <a:srgbClr val="000000"/>
                </a:solidFill>
              </a:rPr>
              <a:t>Network functions can be virtualized</a:t>
            </a:r>
            <a:r>
              <a:rPr lang="en-US" kern="0" dirty="0">
                <a:solidFill>
                  <a:srgbClr val="000000"/>
                </a:solidFill>
              </a:rPr>
              <a:t> (VLANS </a:t>
            </a:r>
            <a:r>
              <a:rPr lang="en-US" kern="0" dirty="0" err="1">
                <a:solidFill>
                  <a:srgbClr val="000000"/>
                </a:solidFill>
              </a:rPr>
              <a:t>etc</a:t>
            </a:r>
            <a:r>
              <a:rPr lang="en-US" kern="0" dirty="0">
                <a:solidFill>
                  <a:srgbClr val="000000"/>
                </a:solidFill>
              </a:rPr>
              <a:t>)</a:t>
            </a:r>
          </a:p>
        </p:txBody>
      </p:sp>
    </p:spTree>
    <p:custDataLst>
      <p:tags r:id="rId1"/>
    </p:custDataLst>
    <p:extLst>
      <p:ext uri="{BB962C8B-B14F-4D97-AF65-F5344CB8AC3E}">
        <p14:creationId xmlns:p14="http://schemas.microsoft.com/office/powerpoint/2010/main" val="39537544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512" y="924445"/>
            <a:ext cx="7536627" cy="567463"/>
          </a:xfrm>
          <a:prstGeom prst="rect">
            <a:avLst/>
          </a:prstGeom>
        </p:spPr>
        <p:txBody>
          <a:bodyPr vert="horz" wrap="square" lIns="0" tIns="13335" rIns="0" bIns="0" rtlCol="0">
            <a:spAutoFit/>
          </a:bodyPr>
          <a:lstStyle/>
          <a:p>
            <a:pPr marL="12700">
              <a:lnSpc>
                <a:spcPct val="100000"/>
              </a:lnSpc>
              <a:spcBef>
                <a:spcPts val="105"/>
              </a:spcBef>
            </a:pPr>
            <a:r>
              <a:rPr dirty="0"/>
              <a:t>Quality of Experience</a:t>
            </a:r>
            <a:r>
              <a:rPr spc="-60" dirty="0"/>
              <a:t> </a:t>
            </a:r>
            <a:r>
              <a:rPr spc="-10" dirty="0"/>
              <a:t>(QoE)</a:t>
            </a:r>
            <a:endParaRPr dirty="0"/>
          </a:p>
        </p:txBody>
      </p:sp>
      <p:sp>
        <p:nvSpPr>
          <p:cNvPr id="3" name="object 3"/>
          <p:cNvSpPr txBox="1"/>
          <p:nvPr/>
        </p:nvSpPr>
        <p:spPr>
          <a:xfrm>
            <a:off x="179512" y="1613738"/>
            <a:ext cx="8568952" cy="5288948"/>
          </a:xfrm>
          <a:prstGeom prst="rect">
            <a:avLst/>
          </a:prstGeom>
        </p:spPr>
        <p:txBody>
          <a:bodyPr vert="horz" wrap="square" lIns="0" tIns="12700" rIns="0" bIns="0" rtlCol="0">
            <a:spAutoFit/>
          </a:bodyPr>
          <a:lstStyle/>
          <a:p>
            <a:pPr marL="355600" indent="-343535" algn="just">
              <a:lnSpc>
                <a:spcPct val="120000"/>
              </a:lnSpc>
              <a:spcBef>
                <a:spcPts val="100"/>
              </a:spcBef>
              <a:buFont typeface="Arial"/>
              <a:buChar char="•"/>
              <a:tabLst>
                <a:tab pos="356235" algn="l"/>
              </a:tabLst>
            </a:pPr>
            <a:r>
              <a:rPr sz="2000" dirty="0">
                <a:latin typeface="+mn-lt"/>
                <a:cs typeface="Carlito"/>
              </a:rPr>
              <a:t>A </a:t>
            </a:r>
            <a:r>
              <a:rPr sz="2000" spc="-10" dirty="0">
                <a:solidFill>
                  <a:srgbClr val="FF0000"/>
                </a:solidFill>
                <a:latin typeface="+mn-lt"/>
                <a:cs typeface="Carlito"/>
              </a:rPr>
              <a:t>subjective</a:t>
            </a:r>
            <a:r>
              <a:rPr sz="2000" spc="-10" dirty="0">
                <a:latin typeface="+mn-lt"/>
                <a:cs typeface="Carlito"/>
              </a:rPr>
              <a:t> measure </a:t>
            </a:r>
            <a:r>
              <a:rPr sz="2000" spc="-5" dirty="0">
                <a:latin typeface="+mn-lt"/>
                <a:cs typeface="Carlito"/>
              </a:rPr>
              <a:t>of </a:t>
            </a:r>
            <a:r>
              <a:rPr sz="2000" spc="-10" dirty="0">
                <a:latin typeface="+mn-lt"/>
                <a:cs typeface="Carlito"/>
              </a:rPr>
              <a:t>performance </a:t>
            </a:r>
            <a:r>
              <a:rPr sz="2000" dirty="0">
                <a:latin typeface="+mn-lt"/>
                <a:cs typeface="Carlito"/>
              </a:rPr>
              <a:t>as </a:t>
            </a:r>
            <a:r>
              <a:rPr sz="2000" spc="-10" dirty="0">
                <a:latin typeface="+mn-lt"/>
                <a:cs typeface="Carlito"/>
              </a:rPr>
              <a:t>reported by</a:t>
            </a:r>
            <a:r>
              <a:rPr sz="2000" spc="20" dirty="0">
                <a:latin typeface="+mn-lt"/>
                <a:cs typeface="Carlito"/>
              </a:rPr>
              <a:t> </a:t>
            </a:r>
            <a:r>
              <a:rPr sz="2000" dirty="0">
                <a:latin typeface="+mn-lt"/>
                <a:cs typeface="Carlito"/>
              </a:rPr>
              <a:t>the</a:t>
            </a:r>
          </a:p>
          <a:p>
            <a:pPr marL="355600" algn="just">
              <a:lnSpc>
                <a:spcPct val="120000"/>
              </a:lnSpc>
            </a:pPr>
            <a:r>
              <a:rPr sz="2000" spc="-5" dirty="0">
                <a:latin typeface="+mn-lt"/>
                <a:cs typeface="Carlito"/>
              </a:rPr>
              <a:t>user; relies </a:t>
            </a:r>
            <a:r>
              <a:rPr sz="2000" spc="-10" dirty="0">
                <a:latin typeface="+mn-lt"/>
                <a:cs typeface="Carlito"/>
              </a:rPr>
              <a:t>on </a:t>
            </a:r>
            <a:r>
              <a:rPr sz="2000" spc="-5" dirty="0">
                <a:latin typeface="+mn-lt"/>
                <a:cs typeface="Carlito"/>
              </a:rPr>
              <a:t>human</a:t>
            </a:r>
            <a:r>
              <a:rPr sz="2000" spc="-15" dirty="0">
                <a:latin typeface="+mn-lt"/>
                <a:cs typeface="Carlito"/>
              </a:rPr>
              <a:t> </a:t>
            </a:r>
            <a:r>
              <a:rPr sz="2000" spc="-5" dirty="0">
                <a:latin typeface="+mn-lt"/>
                <a:cs typeface="Carlito"/>
              </a:rPr>
              <a:t>opinion</a:t>
            </a:r>
            <a:endParaRPr sz="2000" dirty="0">
              <a:latin typeface="+mn-lt"/>
              <a:cs typeface="Carlito"/>
            </a:endParaRPr>
          </a:p>
          <a:p>
            <a:pPr marL="355600" marR="238760" indent="-343535" algn="just">
              <a:lnSpc>
                <a:spcPct val="120000"/>
              </a:lnSpc>
              <a:spcBef>
                <a:spcPts val="575"/>
              </a:spcBef>
              <a:buFont typeface="Arial"/>
              <a:buChar char="•"/>
              <a:tabLst>
                <a:tab pos="356235" algn="l"/>
              </a:tabLst>
            </a:pPr>
            <a:r>
              <a:rPr sz="2000" dirty="0">
                <a:latin typeface="+mn-lt"/>
                <a:cs typeface="Carlito"/>
              </a:rPr>
              <a:t>Is </a:t>
            </a:r>
            <a:r>
              <a:rPr sz="2000" spc="-10" dirty="0">
                <a:latin typeface="+mn-lt"/>
                <a:cs typeface="Carlito"/>
              </a:rPr>
              <a:t>important </a:t>
            </a:r>
            <a:r>
              <a:rPr sz="2000" spc="-5" dirty="0">
                <a:latin typeface="+mn-lt"/>
                <a:cs typeface="Carlito"/>
              </a:rPr>
              <a:t>particularly </a:t>
            </a:r>
            <a:r>
              <a:rPr sz="2000" dirty="0">
                <a:latin typeface="+mn-lt"/>
                <a:cs typeface="Carlito"/>
              </a:rPr>
              <a:t>when </a:t>
            </a:r>
            <a:r>
              <a:rPr sz="2000" spc="-5" dirty="0">
                <a:latin typeface="+mn-lt"/>
                <a:cs typeface="Carlito"/>
              </a:rPr>
              <a:t>dealing </a:t>
            </a:r>
            <a:r>
              <a:rPr sz="2000" dirty="0">
                <a:latin typeface="+mn-lt"/>
                <a:cs typeface="Carlito"/>
              </a:rPr>
              <a:t>with multimedia  </a:t>
            </a:r>
            <a:r>
              <a:rPr sz="2000" spc="-5" dirty="0">
                <a:latin typeface="+mn-lt"/>
                <a:cs typeface="Carlito"/>
              </a:rPr>
              <a:t>applications </a:t>
            </a:r>
            <a:r>
              <a:rPr sz="2000" dirty="0">
                <a:latin typeface="+mn-lt"/>
                <a:cs typeface="Carlito"/>
              </a:rPr>
              <a:t>and multimedia </a:t>
            </a:r>
            <a:r>
              <a:rPr sz="2000" spc="-15" dirty="0">
                <a:latin typeface="+mn-lt"/>
                <a:cs typeface="Carlito"/>
              </a:rPr>
              <a:t>content</a:t>
            </a:r>
            <a:r>
              <a:rPr sz="2000" spc="-65" dirty="0">
                <a:latin typeface="+mn-lt"/>
                <a:cs typeface="Carlito"/>
              </a:rPr>
              <a:t> </a:t>
            </a:r>
            <a:r>
              <a:rPr sz="2000" spc="-5" dirty="0">
                <a:latin typeface="+mn-lt"/>
                <a:cs typeface="Carlito"/>
              </a:rPr>
              <a:t>delivery</a:t>
            </a:r>
            <a:endParaRPr sz="2000" dirty="0">
              <a:latin typeface="+mn-lt"/>
              <a:cs typeface="Carlito"/>
            </a:endParaRPr>
          </a:p>
          <a:p>
            <a:pPr marL="355600" marR="379730" indent="-343535" algn="just">
              <a:lnSpc>
                <a:spcPct val="120000"/>
              </a:lnSpc>
              <a:spcBef>
                <a:spcPts val="580"/>
              </a:spcBef>
              <a:buFont typeface="Arial"/>
              <a:buChar char="•"/>
              <a:tabLst>
                <a:tab pos="356235" algn="l"/>
              </a:tabLst>
            </a:pPr>
            <a:r>
              <a:rPr sz="2000" dirty="0">
                <a:latin typeface="+mn-lt"/>
                <a:cs typeface="Carlito"/>
              </a:rPr>
              <a:t>QoS </a:t>
            </a:r>
            <a:r>
              <a:rPr sz="2000" spc="-10" dirty="0">
                <a:latin typeface="+mn-lt"/>
                <a:cs typeface="Carlito"/>
              </a:rPr>
              <a:t>processes by </a:t>
            </a:r>
            <a:r>
              <a:rPr sz="2000" spc="-5" dirty="0">
                <a:latin typeface="+mn-lt"/>
                <a:cs typeface="Carlito"/>
              </a:rPr>
              <a:t>themselves </a:t>
            </a:r>
            <a:r>
              <a:rPr sz="2000" spc="-15" dirty="0">
                <a:latin typeface="+mn-lt"/>
                <a:cs typeface="Carlito"/>
              </a:rPr>
              <a:t>are </a:t>
            </a:r>
            <a:r>
              <a:rPr sz="2000" spc="-5" dirty="0">
                <a:latin typeface="+mn-lt"/>
                <a:cs typeface="Carlito"/>
              </a:rPr>
              <a:t>not </a:t>
            </a:r>
            <a:r>
              <a:rPr sz="2000" spc="-10" dirty="0">
                <a:latin typeface="+mn-lt"/>
                <a:cs typeface="Carlito"/>
              </a:rPr>
              <a:t>sufficient </a:t>
            </a:r>
            <a:r>
              <a:rPr sz="2000" dirty="0">
                <a:latin typeface="+mn-lt"/>
                <a:cs typeface="Carlito"/>
              </a:rPr>
              <a:t>in </a:t>
            </a:r>
            <a:r>
              <a:rPr sz="2000" spc="-10" dirty="0">
                <a:latin typeface="+mn-lt"/>
                <a:cs typeface="Carlito"/>
              </a:rPr>
              <a:t>that  </a:t>
            </a:r>
            <a:r>
              <a:rPr sz="2000" spc="-5" dirty="0">
                <a:latin typeface="+mn-lt"/>
                <a:cs typeface="Carlito"/>
              </a:rPr>
              <a:t>they do </a:t>
            </a:r>
            <a:r>
              <a:rPr sz="2000" spc="-10" dirty="0">
                <a:latin typeface="+mn-lt"/>
                <a:cs typeface="Carlito"/>
              </a:rPr>
              <a:t>not </a:t>
            </a:r>
            <a:r>
              <a:rPr sz="2000" spc="-25" dirty="0">
                <a:latin typeface="+mn-lt"/>
                <a:cs typeface="Carlito"/>
              </a:rPr>
              <a:t>take </a:t>
            </a:r>
            <a:r>
              <a:rPr sz="2000" spc="-15" dirty="0">
                <a:latin typeface="+mn-lt"/>
                <a:cs typeface="Carlito"/>
              </a:rPr>
              <a:t>into </a:t>
            </a:r>
            <a:r>
              <a:rPr sz="2000" spc="-10" dirty="0">
                <a:latin typeface="+mn-lt"/>
                <a:cs typeface="Carlito"/>
              </a:rPr>
              <a:t>account </a:t>
            </a:r>
            <a:r>
              <a:rPr sz="2000" dirty="0">
                <a:latin typeface="+mn-lt"/>
                <a:cs typeface="Carlito"/>
              </a:rPr>
              <a:t>the </a:t>
            </a:r>
            <a:r>
              <a:rPr sz="2000" spc="-10" dirty="0">
                <a:latin typeface="+mn-lt"/>
                <a:cs typeface="Carlito"/>
              </a:rPr>
              <a:t>user’s perception </a:t>
            </a:r>
            <a:r>
              <a:rPr sz="2000" spc="-5" dirty="0">
                <a:latin typeface="+mn-lt"/>
                <a:cs typeface="Carlito"/>
              </a:rPr>
              <a:t>of  </a:t>
            </a:r>
            <a:r>
              <a:rPr sz="2000" spc="-10" dirty="0">
                <a:latin typeface="+mn-lt"/>
                <a:cs typeface="Carlito"/>
              </a:rPr>
              <a:t>network performance </a:t>
            </a:r>
            <a:r>
              <a:rPr sz="2000" dirty="0">
                <a:latin typeface="+mn-lt"/>
                <a:cs typeface="Carlito"/>
              </a:rPr>
              <a:t>and service</a:t>
            </a:r>
            <a:r>
              <a:rPr sz="2000" spc="-35" dirty="0">
                <a:latin typeface="+mn-lt"/>
                <a:cs typeface="Carlito"/>
              </a:rPr>
              <a:t> </a:t>
            </a:r>
            <a:r>
              <a:rPr sz="2000" spc="-5" dirty="0">
                <a:latin typeface="+mn-lt"/>
                <a:cs typeface="Carlito"/>
              </a:rPr>
              <a:t>quality</a:t>
            </a:r>
            <a:endParaRPr sz="2000" dirty="0">
              <a:latin typeface="+mn-lt"/>
              <a:cs typeface="Carlito"/>
            </a:endParaRPr>
          </a:p>
          <a:p>
            <a:pPr marL="355600" marR="5080" indent="-343535" algn="just">
              <a:lnSpc>
                <a:spcPct val="120000"/>
              </a:lnSpc>
              <a:spcBef>
                <a:spcPts val="580"/>
              </a:spcBef>
              <a:buFont typeface="Arial"/>
              <a:buChar char="•"/>
              <a:tabLst>
                <a:tab pos="356235" algn="l"/>
              </a:tabLst>
            </a:pPr>
            <a:r>
              <a:rPr sz="2000" spc="-10" dirty="0">
                <a:latin typeface="+mn-lt"/>
                <a:cs typeface="Carlito"/>
              </a:rPr>
              <a:t>Categories </a:t>
            </a:r>
            <a:r>
              <a:rPr sz="2000" spc="-5" dirty="0">
                <a:latin typeface="+mn-lt"/>
                <a:cs typeface="Carlito"/>
              </a:rPr>
              <a:t>of </a:t>
            </a:r>
            <a:r>
              <a:rPr sz="2000" spc="-20" dirty="0">
                <a:latin typeface="+mn-lt"/>
                <a:cs typeface="Carlito"/>
              </a:rPr>
              <a:t>factors </a:t>
            </a:r>
            <a:r>
              <a:rPr sz="2000" dirty="0">
                <a:latin typeface="+mn-lt"/>
                <a:cs typeface="Carlito"/>
              </a:rPr>
              <a:t>and </a:t>
            </a:r>
            <a:r>
              <a:rPr sz="2000" spc="-15" dirty="0">
                <a:latin typeface="+mn-lt"/>
                <a:cs typeface="Carlito"/>
              </a:rPr>
              <a:t>features </a:t>
            </a:r>
            <a:r>
              <a:rPr sz="2000" spc="-10" dirty="0">
                <a:latin typeface="+mn-lt"/>
                <a:cs typeface="Carlito"/>
              </a:rPr>
              <a:t>that can </a:t>
            </a:r>
            <a:r>
              <a:rPr sz="2000" spc="-5" dirty="0">
                <a:latin typeface="+mn-lt"/>
                <a:cs typeface="Carlito"/>
              </a:rPr>
              <a:t>be </a:t>
            </a:r>
            <a:r>
              <a:rPr sz="2000" dirty="0">
                <a:latin typeface="+mn-lt"/>
                <a:cs typeface="Carlito"/>
              </a:rPr>
              <a:t>included in  QoE</a:t>
            </a:r>
            <a:r>
              <a:rPr sz="2000" spc="-20" dirty="0">
                <a:latin typeface="+mn-lt"/>
                <a:cs typeface="Carlito"/>
              </a:rPr>
              <a:t> </a:t>
            </a:r>
            <a:r>
              <a:rPr sz="2000" spc="-10" dirty="0">
                <a:latin typeface="+mn-lt"/>
                <a:cs typeface="Carlito"/>
              </a:rPr>
              <a:t>are:</a:t>
            </a:r>
            <a:endParaRPr sz="2000" dirty="0">
              <a:latin typeface="+mn-lt"/>
              <a:cs typeface="Carlito"/>
            </a:endParaRPr>
          </a:p>
          <a:p>
            <a:pPr marL="756285" lvl="1" indent="-287020">
              <a:lnSpc>
                <a:spcPct val="120000"/>
              </a:lnSpc>
              <a:spcBef>
                <a:spcPts val="575"/>
              </a:spcBef>
              <a:buFont typeface="Arial"/>
              <a:buChar char="–"/>
              <a:tabLst>
                <a:tab pos="756920" algn="l"/>
              </a:tabLst>
            </a:pPr>
            <a:r>
              <a:rPr sz="2000" spc="-10" dirty="0">
                <a:latin typeface="+mn-lt"/>
                <a:cs typeface="Carlito"/>
              </a:rPr>
              <a:t>Perceptual</a:t>
            </a:r>
            <a:r>
              <a:rPr lang="en-GB" sz="2000" spc="-10" dirty="0">
                <a:latin typeface="+mn-lt"/>
                <a:cs typeface="Carlito"/>
              </a:rPr>
              <a:t> - </a:t>
            </a:r>
            <a:r>
              <a:rPr lang="en-GB" sz="1400" dirty="0"/>
              <a:t>For video, examples include sharpness, brightness, contrast, flicker, and distortion</a:t>
            </a:r>
            <a:endParaRPr sz="2000" dirty="0">
              <a:latin typeface="+mn-lt"/>
              <a:cs typeface="Carlito"/>
            </a:endParaRPr>
          </a:p>
          <a:p>
            <a:pPr marL="756285" lvl="1" indent="-287020">
              <a:lnSpc>
                <a:spcPct val="120000"/>
              </a:lnSpc>
              <a:spcBef>
                <a:spcPts val="580"/>
              </a:spcBef>
              <a:buFont typeface="Arial"/>
              <a:buChar char="–"/>
              <a:tabLst>
                <a:tab pos="756920" algn="l"/>
              </a:tabLst>
            </a:pPr>
            <a:r>
              <a:rPr sz="2000" spc="-15" dirty="0">
                <a:latin typeface="+mn-lt"/>
                <a:cs typeface="Carlito"/>
              </a:rPr>
              <a:t>Psychological</a:t>
            </a:r>
            <a:r>
              <a:rPr lang="en-GB" sz="2000" spc="-15" dirty="0">
                <a:latin typeface="+mn-lt"/>
                <a:cs typeface="Carlito"/>
              </a:rPr>
              <a:t> </a:t>
            </a:r>
            <a:r>
              <a:rPr lang="en-GB" sz="1400" dirty="0"/>
              <a:t>ease of use, joy of use, usefulness, perceived quality, satisfaction, annoyance, and boredom</a:t>
            </a:r>
            <a:endParaRPr sz="2000" dirty="0">
              <a:latin typeface="+mn-lt"/>
              <a:cs typeface="Carlito"/>
            </a:endParaRPr>
          </a:p>
          <a:p>
            <a:pPr marL="756285" lvl="1" indent="-287020">
              <a:lnSpc>
                <a:spcPct val="120000"/>
              </a:lnSpc>
              <a:spcBef>
                <a:spcPts val="575"/>
              </a:spcBef>
              <a:buFont typeface="Arial"/>
              <a:buChar char="–"/>
              <a:tabLst>
                <a:tab pos="756920" algn="l"/>
              </a:tabLst>
            </a:pPr>
            <a:r>
              <a:rPr sz="2000" spc="-15" dirty="0">
                <a:latin typeface="+mn-lt"/>
                <a:cs typeface="Carlito"/>
              </a:rPr>
              <a:t>Interactive</a:t>
            </a:r>
            <a:r>
              <a:rPr lang="en-GB" sz="2000" spc="-15" dirty="0">
                <a:latin typeface="+mn-lt"/>
                <a:cs typeface="Carlito"/>
              </a:rPr>
              <a:t> </a:t>
            </a:r>
            <a:r>
              <a:rPr lang="en-GB" sz="1400" dirty="0"/>
              <a:t>between the user and the application or device, such as responsiveness, naturalness of interaction, communication efficiency, and accessibility</a:t>
            </a:r>
            <a:endParaRPr sz="2000" dirty="0">
              <a:latin typeface="+mn-lt"/>
              <a:cs typeface="Carlito"/>
            </a:endParaRPr>
          </a:p>
        </p:txBody>
      </p:sp>
    </p:spTree>
    <p:extLst>
      <p:ext uri="{BB962C8B-B14F-4D97-AF65-F5344CB8AC3E}">
        <p14:creationId xmlns:p14="http://schemas.microsoft.com/office/powerpoint/2010/main" val="4230644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2942" y="1114291"/>
            <a:ext cx="6425384" cy="566822"/>
          </a:xfrm>
          <a:prstGeom prst="rect">
            <a:avLst/>
          </a:prstGeom>
        </p:spPr>
        <p:txBody>
          <a:bodyPr vert="horz" wrap="square" lIns="0" tIns="12700" rIns="0" bIns="0" rtlCol="0">
            <a:spAutoFit/>
          </a:bodyPr>
          <a:lstStyle/>
          <a:p>
            <a:pPr marL="12700">
              <a:lnSpc>
                <a:spcPct val="100000"/>
              </a:lnSpc>
              <a:spcBef>
                <a:spcPts val="100"/>
              </a:spcBef>
            </a:pPr>
            <a:r>
              <a:rPr spc="-15" dirty="0"/>
              <a:t>Routing</a:t>
            </a:r>
            <a:r>
              <a:rPr spc="-40" dirty="0"/>
              <a:t> </a:t>
            </a:r>
            <a:r>
              <a:rPr spc="-15" dirty="0"/>
              <a:t>Characteristics</a:t>
            </a:r>
            <a:endParaRPr dirty="0"/>
          </a:p>
        </p:txBody>
      </p:sp>
      <p:sp>
        <p:nvSpPr>
          <p:cNvPr id="3" name="object 3"/>
          <p:cNvSpPr txBox="1"/>
          <p:nvPr/>
        </p:nvSpPr>
        <p:spPr>
          <a:xfrm>
            <a:off x="179512" y="1754420"/>
            <a:ext cx="4032448" cy="4626908"/>
          </a:xfrm>
          <a:prstGeom prst="rect">
            <a:avLst/>
          </a:prstGeom>
        </p:spPr>
        <p:txBody>
          <a:bodyPr vert="horz" wrap="square" lIns="0" tIns="104140" rIns="0" bIns="0" rtlCol="0">
            <a:spAutoFit/>
          </a:bodyPr>
          <a:lstStyle/>
          <a:p>
            <a:pPr marL="355600" marR="637540" indent="-343535">
              <a:lnSpc>
                <a:spcPct val="120000"/>
              </a:lnSpc>
              <a:spcBef>
                <a:spcPts val="820"/>
              </a:spcBef>
              <a:buFont typeface="Arial"/>
              <a:buChar char="•"/>
              <a:tabLst>
                <a:tab pos="355600" algn="l"/>
                <a:tab pos="356235" algn="l"/>
              </a:tabLst>
            </a:pPr>
            <a:r>
              <a:rPr sz="2400" spc="-5" dirty="0">
                <a:latin typeface="+mn-lt"/>
                <a:cs typeface="Carlito"/>
              </a:rPr>
              <a:t>The primary function of </a:t>
            </a:r>
            <a:r>
              <a:rPr sz="2400" dirty="0">
                <a:latin typeface="+mn-lt"/>
                <a:cs typeface="Carlito"/>
              </a:rPr>
              <a:t>an </a:t>
            </a:r>
            <a:r>
              <a:rPr sz="2400" spc="-15" dirty="0">
                <a:latin typeface="+mn-lt"/>
                <a:cs typeface="Carlito"/>
              </a:rPr>
              <a:t>internet </a:t>
            </a:r>
            <a:r>
              <a:rPr sz="2400" spc="-5" dirty="0">
                <a:latin typeface="+mn-lt"/>
                <a:cs typeface="Carlito"/>
              </a:rPr>
              <a:t>is </a:t>
            </a:r>
            <a:r>
              <a:rPr sz="2400" spc="-15" dirty="0">
                <a:latin typeface="+mn-lt"/>
                <a:cs typeface="Carlito"/>
              </a:rPr>
              <a:t>to  </a:t>
            </a:r>
            <a:r>
              <a:rPr sz="2400" spc="-5" dirty="0">
                <a:latin typeface="+mn-lt"/>
                <a:cs typeface="Carlito"/>
              </a:rPr>
              <a:t>accept </a:t>
            </a:r>
            <a:r>
              <a:rPr sz="2400" spc="-20" dirty="0">
                <a:latin typeface="+mn-lt"/>
                <a:cs typeface="Carlito"/>
              </a:rPr>
              <a:t>packets from </a:t>
            </a:r>
            <a:r>
              <a:rPr sz="2400" dirty="0">
                <a:latin typeface="+mn-lt"/>
                <a:cs typeface="Carlito"/>
              </a:rPr>
              <a:t>a </a:t>
            </a:r>
            <a:r>
              <a:rPr sz="2400" spc="-15" dirty="0">
                <a:latin typeface="+mn-lt"/>
                <a:cs typeface="Carlito"/>
              </a:rPr>
              <a:t>source station </a:t>
            </a:r>
            <a:r>
              <a:rPr sz="2400" dirty="0">
                <a:latin typeface="+mn-lt"/>
                <a:cs typeface="Carlito"/>
              </a:rPr>
              <a:t>and  </a:t>
            </a:r>
            <a:r>
              <a:rPr sz="2400" spc="-10" dirty="0">
                <a:latin typeface="+mn-lt"/>
                <a:cs typeface="Carlito"/>
              </a:rPr>
              <a:t>deliver </a:t>
            </a:r>
            <a:r>
              <a:rPr sz="2400" spc="-5" dirty="0">
                <a:latin typeface="+mn-lt"/>
                <a:cs typeface="Carlito"/>
              </a:rPr>
              <a:t>them </a:t>
            </a:r>
            <a:r>
              <a:rPr sz="2400" spc="-15" dirty="0">
                <a:latin typeface="+mn-lt"/>
                <a:cs typeface="Carlito"/>
              </a:rPr>
              <a:t>to </a:t>
            </a:r>
            <a:r>
              <a:rPr sz="2400" dirty="0">
                <a:latin typeface="+mn-lt"/>
                <a:cs typeface="Carlito"/>
              </a:rPr>
              <a:t>a </a:t>
            </a:r>
            <a:r>
              <a:rPr sz="2400" spc="-10" dirty="0">
                <a:latin typeface="+mn-lt"/>
                <a:cs typeface="Carlito"/>
              </a:rPr>
              <a:t>destination</a:t>
            </a:r>
            <a:r>
              <a:rPr sz="2400" spc="-30" dirty="0">
                <a:latin typeface="+mn-lt"/>
                <a:cs typeface="Carlito"/>
              </a:rPr>
              <a:t> </a:t>
            </a:r>
            <a:r>
              <a:rPr sz="2400" spc="-15" dirty="0">
                <a:latin typeface="+mn-lt"/>
                <a:cs typeface="Carlito"/>
              </a:rPr>
              <a:t>station</a:t>
            </a:r>
            <a:endParaRPr sz="2400" dirty="0">
              <a:latin typeface="+mn-lt"/>
              <a:cs typeface="Carlito"/>
            </a:endParaRPr>
          </a:p>
          <a:p>
            <a:pPr marL="355600" marR="615950" indent="-343535">
              <a:lnSpc>
                <a:spcPct val="120000"/>
              </a:lnSpc>
              <a:spcBef>
                <a:spcPts val="685"/>
              </a:spcBef>
              <a:buFont typeface="Arial"/>
              <a:buChar char="•"/>
              <a:tabLst>
                <a:tab pos="355600" algn="l"/>
                <a:tab pos="356235" algn="l"/>
              </a:tabLst>
            </a:pPr>
            <a:r>
              <a:rPr sz="2400" spc="-5" dirty="0">
                <a:latin typeface="+mn-lt"/>
                <a:cs typeface="Carlito"/>
              </a:rPr>
              <a:t>Selection of </a:t>
            </a:r>
            <a:r>
              <a:rPr sz="2400" dirty="0">
                <a:latin typeface="+mn-lt"/>
                <a:cs typeface="Carlito"/>
              </a:rPr>
              <a:t>a </a:t>
            </a:r>
            <a:r>
              <a:rPr sz="2400" spc="-20" dirty="0">
                <a:latin typeface="+mn-lt"/>
                <a:cs typeface="Carlito"/>
              </a:rPr>
              <a:t>route </a:t>
            </a:r>
            <a:r>
              <a:rPr sz="2400" dirty="0">
                <a:latin typeface="+mn-lt"/>
                <a:cs typeface="Carlito"/>
              </a:rPr>
              <a:t>is </a:t>
            </a:r>
            <a:r>
              <a:rPr sz="2400" spc="-15" dirty="0">
                <a:latin typeface="+mn-lt"/>
                <a:cs typeface="Carlito"/>
              </a:rPr>
              <a:t>generally </a:t>
            </a:r>
            <a:r>
              <a:rPr sz="2400" spc="-5" dirty="0">
                <a:latin typeface="+mn-lt"/>
                <a:cs typeface="Carlito"/>
              </a:rPr>
              <a:t>based on  some </a:t>
            </a:r>
            <a:r>
              <a:rPr sz="2400" spc="-15" dirty="0">
                <a:latin typeface="+mn-lt"/>
                <a:cs typeface="Carlito"/>
              </a:rPr>
              <a:t>performance</a:t>
            </a:r>
            <a:r>
              <a:rPr sz="2400" spc="-10" dirty="0">
                <a:latin typeface="+mn-lt"/>
                <a:cs typeface="Carlito"/>
              </a:rPr>
              <a:t> criterion</a:t>
            </a:r>
            <a:r>
              <a:rPr lang="en-GB" sz="2400" spc="-10" dirty="0">
                <a:latin typeface="+mn-lt"/>
                <a:cs typeface="Carlito"/>
              </a:rPr>
              <a:t> </a:t>
            </a:r>
          </a:p>
        </p:txBody>
      </p:sp>
      <p:sp>
        <p:nvSpPr>
          <p:cNvPr id="4" name="object 2"/>
          <p:cNvSpPr/>
          <p:nvPr/>
        </p:nvSpPr>
        <p:spPr>
          <a:xfrm>
            <a:off x="3635896" y="1988840"/>
            <a:ext cx="5250243" cy="3289596"/>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272399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203848" y="1071184"/>
            <a:ext cx="5746176" cy="5513964"/>
          </a:xfrm>
          <a:prstGeom prst="rect">
            <a:avLst/>
          </a:prstGeom>
          <a:blipFill>
            <a:blip r:embed="rId3"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07504" y="1334499"/>
            <a:ext cx="8424863" cy="567463"/>
          </a:xfrm>
          <a:prstGeom prst="rect">
            <a:avLst/>
          </a:prstGeom>
        </p:spPr>
        <p:txBody>
          <a:bodyPr vert="horz" wrap="square" lIns="0" tIns="13335" rIns="0" bIns="0" rtlCol="0">
            <a:spAutoFit/>
          </a:bodyPr>
          <a:lstStyle/>
          <a:p>
            <a:pPr marL="12700">
              <a:lnSpc>
                <a:spcPct val="100000"/>
              </a:lnSpc>
              <a:spcBef>
                <a:spcPts val="105"/>
              </a:spcBef>
            </a:pPr>
            <a:r>
              <a:rPr spc="-5" dirty="0"/>
              <a:t>Elements </a:t>
            </a:r>
            <a:r>
              <a:rPr dirty="0"/>
              <a:t>of a</a:t>
            </a:r>
            <a:r>
              <a:rPr spc="-100" dirty="0"/>
              <a:t> </a:t>
            </a:r>
            <a:r>
              <a:rPr spc="-20" dirty="0"/>
              <a:t>Router</a:t>
            </a:r>
            <a:endParaRPr dirty="0"/>
          </a:p>
        </p:txBody>
      </p:sp>
      <p:sp>
        <p:nvSpPr>
          <p:cNvPr id="5" name="Content Placeholder 4"/>
          <p:cNvSpPr>
            <a:spLocks noGrp="1"/>
          </p:cNvSpPr>
          <p:nvPr>
            <p:ph idx="1"/>
          </p:nvPr>
        </p:nvSpPr>
        <p:spPr>
          <a:xfrm>
            <a:off x="179512" y="2924944"/>
            <a:ext cx="3714571" cy="2403801"/>
          </a:xfrm>
        </p:spPr>
        <p:txBody>
          <a:bodyPr/>
          <a:lstStyle/>
          <a:p>
            <a:r>
              <a:rPr lang="en-GB" sz="2800" dirty="0"/>
              <a:t>Packet forwarding</a:t>
            </a:r>
          </a:p>
          <a:p>
            <a:r>
              <a:rPr lang="en-GB" sz="2800" dirty="0"/>
              <a:t>Routing protocols</a:t>
            </a:r>
          </a:p>
          <a:p>
            <a:r>
              <a:rPr lang="en-GB" sz="2800" dirty="0"/>
              <a:t>Congestion control</a:t>
            </a:r>
          </a:p>
          <a:p>
            <a:endParaRPr lang="en-GB" sz="2800" dirty="0"/>
          </a:p>
        </p:txBody>
      </p:sp>
    </p:spTree>
    <p:extLst>
      <p:ext uri="{BB962C8B-B14F-4D97-AF65-F5344CB8AC3E}">
        <p14:creationId xmlns:p14="http://schemas.microsoft.com/office/powerpoint/2010/main" val="2913103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08720"/>
            <a:ext cx="8424863" cy="1143000"/>
          </a:xfrm>
        </p:spPr>
        <p:txBody>
          <a:bodyPr/>
          <a:lstStyle/>
          <a:p>
            <a:r>
              <a:rPr lang="en-GB" spc="-35" dirty="0"/>
              <a:t>Traditional </a:t>
            </a:r>
            <a:r>
              <a:rPr lang="en-GB" spc="-15" dirty="0"/>
              <a:t>Network Architectures</a:t>
            </a:r>
            <a:endParaRPr lang="en-GB" dirty="0"/>
          </a:p>
        </p:txBody>
      </p:sp>
      <p:sp>
        <p:nvSpPr>
          <p:cNvPr id="3" name="Content Placeholder 2"/>
          <p:cNvSpPr>
            <a:spLocks noGrp="1"/>
          </p:cNvSpPr>
          <p:nvPr>
            <p:ph idx="1"/>
          </p:nvPr>
        </p:nvSpPr>
        <p:spPr>
          <a:xfrm>
            <a:off x="251520" y="1844824"/>
            <a:ext cx="8712968" cy="4797152"/>
          </a:xfrm>
        </p:spPr>
        <p:txBody>
          <a:bodyPr/>
          <a:lstStyle/>
          <a:p>
            <a:pPr marL="355600" marR="5080" indent="-342900" algn="just">
              <a:spcBef>
                <a:spcPts val="105"/>
              </a:spcBef>
              <a:buFont typeface="Arial"/>
              <a:buChar char="•"/>
              <a:tabLst>
                <a:tab pos="355600" algn="l"/>
              </a:tabLst>
            </a:pPr>
            <a:r>
              <a:rPr lang="en-GB" sz="2000" dirty="0">
                <a:latin typeface="Carlito"/>
                <a:cs typeface="Carlito"/>
              </a:rPr>
              <a:t>As </a:t>
            </a:r>
            <a:r>
              <a:rPr lang="en-GB" sz="2000" spc="-5" dirty="0" err="1">
                <a:latin typeface="Carlito"/>
                <a:cs typeface="Carlito"/>
              </a:rPr>
              <a:t>QoS</a:t>
            </a:r>
            <a:r>
              <a:rPr lang="en-GB" sz="2000" spc="-5" dirty="0">
                <a:latin typeface="Carlito"/>
                <a:cs typeface="Carlito"/>
              </a:rPr>
              <a:t> </a:t>
            </a:r>
            <a:r>
              <a:rPr lang="en-GB" sz="2000" dirty="0">
                <a:latin typeface="Carlito"/>
                <a:cs typeface="Carlito"/>
              </a:rPr>
              <a:t>and </a:t>
            </a:r>
            <a:r>
              <a:rPr lang="en-GB" sz="2000" spc="-5" dirty="0" err="1">
                <a:latin typeface="Carlito"/>
                <a:cs typeface="Carlito"/>
              </a:rPr>
              <a:t>QoE</a:t>
            </a:r>
            <a:r>
              <a:rPr lang="en-GB" sz="2000" spc="-5" dirty="0">
                <a:latin typeface="Carlito"/>
                <a:cs typeface="Carlito"/>
              </a:rPr>
              <a:t> </a:t>
            </a:r>
            <a:r>
              <a:rPr lang="en-GB" sz="2000" spc="-10" dirty="0">
                <a:latin typeface="Carlito"/>
                <a:cs typeface="Carlito"/>
              </a:rPr>
              <a:t>requirements </a:t>
            </a:r>
            <a:r>
              <a:rPr lang="en-GB" sz="2000" spc="-5" dirty="0">
                <a:latin typeface="Carlito"/>
                <a:cs typeface="Carlito"/>
              </a:rPr>
              <a:t>imposed </a:t>
            </a:r>
            <a:r>
              <a:rPr lang="en-GB" sz="2000" dirty="0">
                <a:latin typeface="Carlito"/>
                <a:cs typeface="Carlito"/>
              </a:rPr>
              <a:t>on the </a:t>
            </a:r>
            <a:r>
              <a:rPr lang="en-GB" sz="2000" spc="-10" dirty="0">
                <a:latin typeface="Carlito"/>
                <a:cs typeface="Carlito"/>
              </a:rPr>
              <a:t>network are expanded </a:t>
            </a:r>
            <a:r>
              <a:rPr lang="en-GB" sz="2000" dirty="0">
                <a:latin typeface="Carlito"/>
                <a:cs typeface="Carlito"/>
              </a:rPr>
              <a:t>as a  </a:t>
            </a:r>
            <a:r>
              <a:rPr lang="en-GB" sz="2000" spc="-10" dirty="0">
                <a:latin typeface="Carlito"/>
                <a:cs typeface="Carlito"/>
              </a:rPr>
              <a:t>result </a:t>
            </a:r>
            <a:r>
              <a:rPr lang="en-GB" sz="2000" spc="-5" dirty="0">
                <a:latin typeface="Carlito"/>
                <a:cs typeface="Carlito"/>
              </a:rPr>
              <a:t>of </a:t>
            </a:r>
            <a:r>
              <a:rPr lang="en-GB" sz="2000" dirty="0">
                <a:latin typeface="Carlito"/>
                <a:cs typeface="Carlito"/>
              </a:rPr>
              <a:t>the </a:t>
            </a:r>
            <a:r>
              <a:rPr lang="en-GB" sz="2000" spc="-10" dirty="0">
                <a:latin typeface="Carlito"/>
                <a:cs typeface="Carlito"/>
              </a:rPr>
              <a:t>variety </a:t>
            </a:r>
            <a:r>
              <a:rPr lang="en-GB" sz="2000" spc="-5" dirty="0">
                <a:latin typeface="Carlito"/>
                <a:cs typeface="Carlito"/>
              </a:rPr>
              <a:t>of applications, </a:t>
            </a:r>
            <a:r>
              <a:rPr lang="en-GB" sz="2000" dirty="0">
                <a:latin typeface="Carlito"/>
                <a:cs typeface="Carlito"/>
              </a:rPr>
              <a:t>the </a:t>
            </a:r>
            <a:r>
              <a:rPr lang="en-GB" sz="2000" spc="-15" dirty="0">
                <a:latin typeface="Carlito"/>
                <a:cs typeface="Carlito"/>
              </a:rPr>
              <a:t>traffic </a:t>
            </a:r>
            <a:r>
              <a:rPr lang="en-GB" sz="2000" dirty="0">
                <a:latin typeface="Carlito"/>
                <a:cs typeface="Carlito"/>
              </a:rPr>
              <a:t>load </a:t>
            </a:r>
            <a:r>
              <a:rPr lang="en-GB" sz="2000" spc="-10" dirty="0">
                <a:latin typeface="Carlito"/>
                <a:cs typeface="Carlito"/>
              </a:rPr>
              <a:t>must </a:t>
            </a:r>
            <a:r>
              <a:rPr lang="en-GB" sz="2000" dirty="0">
                <a:latin typeface="Carlito"/>
                <a:cs typeface="Carlito"/>
              </a:rPr>
              <a:t>be </a:t>
            </a:r>
            <a:r>
              <a:rPr lang="en-GB" sz="2000" spc="-5" dirty="0">
                <a:latin typeface="Carlito"/>
                <a:cs typeface="Carlito"/>
              </a:rPr>
              <a:t>handled </a:t>
            </a:r>
            <a:r>
              <a:rPr lang="en-GB" sz="2000" dirty="0">
                <a:latin typeface="Carlito"/>
                <a:cs typeface="Carlito"/>
              </a:rPr>
              <a:t>in an  </a:t>
            </a:r>
            <a:r>
              <a:rPr lang="en-GB" sz="2000" spc="-5" dirty="0">
                <a:latin typeface="Carlito"/>
                <a:cs typeface="Carlito"/>
              </a:rPr>
              <a:t>increasingly </a:t>
            </a:r>
            <a:r>
              <a:rPr lang="en-GB" sz="2000" spc="-10" dirty="0">
                <a:latin typeface="Carlito"/>
                <a:cs typeface="Carlito"/>
              </a:rPr>
              <a:t>sophisticated </a:t>
            </a:r>
            <a:r>
              <a:rPr lang="en-GB" sz="2000" dirty="0">
                <a:latin typeface="Carlito"/>
                <a:cs typeface="Carlito"/>
              </a:rPr>
              <a:t>and agile</a:t>
            </a:r>
            <a:r>
              <a:rPr lang="en-GB" sz="2000" spc="5" dirty="0">
                <a:latin typeface="Carlito"/>
                <a:cs typeface="Carlito"/>
              </a:rPr>
              <a:t> </a:t>
            </a:r>
            <a:r>
              <a:rPr lang="en-GB" sz="2000" spc="-5" dirty="0">
                <a:latin typeface="Carlito"/>
                <a:cs typeface="Carlito"/>
              </a:rPr>
              <a:t>fashion</a:t>
            </a:r>
            <a:endParaRPr lang="en-GB" sz="2000" dirty="0">
              <a:latin typeface="Carlito"/>
              <a:cs typeface="Carlito"/>
            </a:endParaRPr>
          </a:p>
          <a:p>
            <a:pPr marL="355600" indent="-342900" algn="just">
              <a:spcBef>
                <a:spcPts val="480"/>
              </a:spcBef>
              <a:buFont typeface="Arial"/>
              <a:buChar char="•"/>
              <a:tabLst>
                <a:tab pos="355600" algn="l"/>
              </a:tabLst>
            </a:pPr>
            <a:r>
              <a:rPr lang="en-GB" sz="2000" spc="-5" dirty="0">
                <a:latin typeface="Carlito"/>
                <a:cs typeface="Carlito"/>
              </a:rPr>
              <a:t>The traditional </a:t>
            </a:r>
            <a:r>
              <a:rPr lang="en-GB" sz="2000" spc="-10" dirty="0">
                <a:latin typeface="Carlito"/>
                <a:cs typeface="Carlito"/>
              </a:rPr>
              <a:t>internetworking </a:t>
            </a:r>
            <a:r>
              <a:rPr lang="en-GB" sz="2000" spc="-5" dirty="0">
                <a:latin typeface="Carlito"/>
                <a:cs typeface="Carlito"/>
              </a:rPr>
              <a:t>approach </a:t>
            </a:r>
            <a:r>
              <a:rPr lang="en-GB" sz="2000" dirty="0">
                <a:latin typeface="Carlito"/>
                <a:cs typeface="Carlito"/>
              </a:rPr>
              <a:t>is </a:t>
            </a:r>
            <a:r>
              <a:rPr lang="en-GB" sz="2000" spc="-5" dirty="0">
                <a:latin typeface="Carlito"/>
                <a:cs typeface="Carlito"/>
              </a:rPr>
              <a:t>based on </a:t>
            </a:r>
            <a:r>
              <a:rPr lang="en-GB" sz="2000" dirty="0">
                <a:latin typeface="Carlito"/>
                <a:cs typeface="Carlito"/>
              </a:rPr>
              <a:t>the </a:t>
            </a:r>
            <a:r>
              <a:rPr lang="en-GB" sz="2000" spc="-30" dirty="0">
                <a:latin typeface="Carlito"/>
                <a:cs typeface="Carlito"/>
              </a:rPr>
              <a:t>TCP/IP</a:t>
            </a:r>
            <a:r>
              <a:rPr lang="en-GB" sz="2000" spc="65" dirty="0">
                <a:latin typeface="Carlito"/>
                <a:cs typeface="Carlito"/>
              </a:rPr>
              <a:t> </a:t>
            </a:r>
            <a:r>
              <a:rPr lang="en-GB" sz="2000" spc="-15" dirty="0">
                <a:latin typeface="Carlito"/>
                <a:cs typeface="Carlito"/>
              </a:rPr>
              <a:t>protocol </a:t>
            </a:r>
            <a:r>
              <a:rPr lang="en-GB" sz="2000" spc="-5" dirty="0">
                <a:latin typeface="Carlito"/>
                <a:cs typeface="Carlito"/>
              </a:rPr>
              <a:t>architecture; characteristics </a:t>
            </a:r>
            <a:r>
              <a:rPr lang="en-GB" sz="2000" dirty="0">
                <a:latin typeface="Carlito"/>
                <a:cs typeface="Carlito"/>
              </a:rPr>
              <a:t>of this </a:t>
            </a:r>
            <a:r>
              <a:rPr lang="en-GB" sz="2000" spc="-5" dirty="0">
                <a:latin typeface="Carlito"/>
                <a:cs typeface="Carlito"/>
              </a:rPr>
              <a:t>approach</a:t>
            </a:r>
            <a:r>
              <a:rPr lang="en-GB" sz="2000" dirty="0">
                <a:latin typeface="Carlito"/>
                <a:cs typeface="Carlito"/>
              </a:rPr>
              <a:t> </a:t>
            </a:r>
            <a:r>
              <a:rPr lang="en-GB" sz="2000" spc="-10" dirty="0">
                <a:latin typeface="Carlito"/>
                <a:cs typeface="Carlito"/>
              </a:rPr>
              <a:t>are:</a:t>
            </a:r>
            <a:endParaRPr lang="en-GB" sz="2000" dirty="0">
              <a:latin typeface="Carlito"/>
              <a:cs typeface="Carlito"/>
            </a:endParaRPr>
          </a:p>
          <a:p>
            <a:pPr marL="756285" lvl="1" indent="-287020">
              <a:spcBef>
                <a:spcPts val="480"/>
              </a:spcBef>
              <a:buFont typeface="Arial"/>
              <a:buChar char="–"/>
              <a:tabLst>
                <a:tab pos="756285" algn="l"/>
                <a:tab pos="756920" algn="l"/>
              </a:tabLst>
            </a:pPr>
            <a:r>
              <a:rPr lang="en-GB" sz="2000" spc="-20" dirty="0">
                <a:latin typeface="Carlito"/>
                <a:cs typeface="Carlito"/>
              </a:rPr>
              <a:t>Two-level </a:t>
            </a:r>
            <a:r>
              <a:rPr lang="en-GB" sz="2000" dirty="0">
                <a:latin typeface="Carlito"/>
                <a:cs typeface="Carlito"/>
              </a:rPr>
              <a:t>end </a:t>
            </a:r>
            <a:r>
              <a:rPr lang="en-GB" sz="2000" spc="-20" dirty="0">
                <a:latin typeface="Carlito"/>
                <a:cs typeface="Carlito"/>
              </a:rPr>
              <a:t>system</a:t>
            </a:r>
            <a:r>
              <a:rPr lang="en-GB" sz="2000" spc="40" dirty="0">
                <a:latin typeface="Carlito"/>
                <a:cs typeface="Carlito"/>
              </a:rPr>
              <a:t> </a:t>
            </a:r>
            <a:r>
              <a:rPr lang="en-GB" sz="2000" spc="-5" dirty="0">
                <a:latin typeface="Carlito"/>
                <a:cs typeface="Carlito"/>
              </a:rPr>
              <a:t>addressing</a:t>
            </a:r>
            <a:endParaRPr lang="en-GB" sz="2000" dirty="0">
              <a:latin typeface="Carlito"/>
              <a:cs typeface="Carlito"/>
            </a:endParaRPr>
          </a:p>
          <a:p>
            <a:pPr marL="756285" lvl="1" indent="-287020">
              <a:spcBef>
                <a:spcPts val="480"/>
              </a:spcBef>
              <a:buFont typeface="Arial"/>
              <a:buChar char="–"/>
              <a:tabLst>
                <a:tab pos="756285" algn="l"/>
                <a:tab pos="756920" algn="l"/>
              </a:tabLst>
            </a:pPr>
            <a:r>
              <a:rPr lang="en-GB" sz="2000" spc="-10" dirty="0">
                <a:latin typeface="Carlito"/>
                <a:cs typeface="Carlito"/>
              </a:rPr>
              <a:t>Routing </a:t>
            </a:r>
            <a:r>
              <a:rPr lang="en-GB" sz="2000" spc="-5" dirty="0">
                <a:latin typeface="Carlito"/>
                <a:cs typeface="Carlito"/>
              </a:rPr>
              <a:t>based on</a:t>
            </a:r>
            <a:r>
              <a:rPr lang="en-GB" sz="2000" spc="-40" dirty="0">
                <a:latin typeface="Carlito"/>
                <a:cs typeface="Carlito"/>
              </a:rPr>
              <a:t> </a:t>
            </a:r>
            <a:r>
              <a:rPr lang="en-GB" sz="2000" spc="-5" dirty="0">
                <a:latin typeface="Carlito"/>
                <a:cs typeface="Carlito"/>
              </a:rPr>
              <a:t>destination</a:t>
            </a:r>
            <a:endParaRPr lang="en-GB" sz="2000" dirty="0">
              <a:latin typeface="Carlito"/>
              <a:cs typeface="Carlito"/>
            </a:endParaRPr>
          </a:p>
          <a:p>
            <a:pPr marL="756285" lvl="1" indent="-287020">
              <a:spcBef>
                <a:spcPts val="480"/>
              </a:spcBef>
              <a:buFont typeface="Arial"/>
              <a:buChar char="–"/>
              <a:tabLst>
                <a:tab pos="756285" algn="l"/>
                <a:tab pos="756920" algn="l"/>
              </a:tabLst>
            </a:pPr>
            <a:r>
              <a:rPr lang="en-GB" sz="2000" spc="-5" dirty="0">
                <a:latin typeface="Carlito"/>
                <a:cs typeface="Carlito"/>
              </a:rPr>
              <a:t>Distributed, autonomous</a:t>
            </a:r>
            <a:r>
              <a:rPr lang="en-GB" sz="2000" spc="-20" dirty="0">
                <a:latin typeface="Carlito"/>
                <a:cs typeface="Carlito"/>
              </a:rPr>
              <a:t> </a:t>
            </a:r>
            <a:r>
              <a:rPr lang="en-GB" sz="2000" spc="-15" dirty="0">
                <a:latin typeface="Carlito"/>
                <a:cs typeface="Carlito"/>
              </a:rPr>
              <a:t>control</a:t>
            </a:r>
            <a:endParaRPr lang="en-GB" sz="2000" dirty="0">
              <a:latin typeface="Carlito"/>
              <a:cs typeface="Carlito"/>
            </a:endParaRPr>
          </a:p>
          <a:p>
            <a:pPr marL="355600" marR="212090" indent="-342900">
              <a:spcBef>
                <a:spcPts val="484"/>
              </a:spcBef>
              <a:buFont typeface="Arial"/>
              <a:buChar char="•"/>
              <a:tabLst>
                <a:tab pos="354965" algn="l"/>
                <a:tab pos="355600" algn="l"/>
              </a:tabLst>
            </a:pPr>
            <a:r>
              <a:rPr lang="en-GB" sz="2000" spc="-5" dirty="0">
                <a:latin typeface="Carlito"/>
                <a:cs typeface="Carlito"/>
              </a:rPr>
              <a:t>The Open </a:t>
            </a:r>
            <a:r>
              <a:rPr lang="en-GB" sz="2000" spc="-10" dirty="0">
                <a:latin typeface="Carlito"/>
                <a:cs typeface="Carlito"/>
              </a:rPr>
              <a:t>Networking </a:t>
            </a:r>
            <a:r>
              <a:rPr lang="en-GB" sz="2000" spc="-5" dirty="0">
                <a:latin typeface="Carlito"/>
                <a:cs typeface="Carlito"/>
              </a:rPr>
              <a:t>Foundation </a:t>
            </a:r>
            <a:r>
              <a:rPr lang="en-GB" sz="2000" dirty="0">
                <a:latin typeface="Carlito"/>
                <a:cs typeface="Carlito"/>
              </a:rPr>
              <a:t>(ONF) </a:t>
            </a:r>
            <a:r>
              <a:rPr lang="en-GB" sz="2000" spc="-5" dirty="0">
                <a:latin typeface="Carlito"/>
                <a:cs typeface="Carlito"/>
              </a:rPr>
              <a:t>cites </a:t>
            </a:r>
            <a:r>
              <a:rPr lang="en-GB" sz="2000" spc="-15" dirty="0">
                <a:latin typeface="Carlito"/>
                <a:cs typeface="Carlito"/>
              </a:rPr>
              <a:t>four </a:t>
            </a:r>
            <a:r>
              <a:rPr lang="en-GB" sz="2000" spc="-10" dirty="0">
                <a:latin typeface="Carlito"/>
                <a:cs typeface="Carlito"/>
              </a:rPr>
              <a:t>general </a:t>
            </a:r>
            <a:r>
              <a:rPr lang="en-GB" sz="2000" spc="-5" dirty="0">
                <a:latin typeface="Carlito"/>
                <a:cs typeface="Carlito"/>
              </a:rPr>
              <a:t>limitations of  traditional </a:t>
            </a:r>
            <a:r>
              <a:rPr lang="en-GB" sz="2000" spc="-10" dirty="0">
                <a:latin typeface="Carlito"/>
                <a:cs typeface="Carlito"/>
              </a:rPr>
              <a:t>network</a:t>
            </a:r>
            <a:r>
              <a:rPr lang="en-GB" sz="2000" spc="-15" dirty="0">
                <a:latin typeface="Carlito"/>
                <a:cs typeface="Carlito"/>
              </a:rPr>
              <a:t> </a:t>
            </a:r>
            <a:r>
              <a:rPr lang="en-GB" sz="2000" spc="-5" dirty="0">
                <a:latin typeface="Carlito"/>
                <a:cs typeface="Carlito"/>
              </a:rPr>
              <a:t>architectures:</a:t>
            </a:r>
            <a:endParaRPr lang="en-GB" sz="2000" dirty="0">
              <a:latin typeface="Carlito"/>
              <a:cs typeface="Carlito"/>
            </a:endParaRPr>
          </a:p>
          <a:p>
            <a:pPr marL="756285" lvl="1" indent="-287020">
              <a:spcBef>
                <a:spcPts val="480"/>
              </a:spcBef>
              <a:buFont typeface="Arial"/>
              <a:buChar char="–"/>
              <a:tabLst>
                <a:tab pos="756285" algn="l"/>
                <a:tab pos="756920" algn="l"/>
              </a:tabLst>
            </a:pPr>
            <a:r>
              <a:rPr lang="en-GB" sz="2000" spc="-10" dirty="0">
                <a:latin typeface="Carlito"/>
                <a:cs typeface="Carlito"/>
              </a:rPr>
              <a:t>Static, complex</a:t>
            </a:r>
            <a:r>
              <a:rPr lang="en-GB" sz="2000" spc="5" dirty="0">
                <a:latin typeface="Carlito"/>
                <a:cs typeface="Carlito"/>
              </a:rPr>
              <a:t> </a:t>
            </a:r>
            <a:r>
              <a:rPr lang="en-GB" sz="2000" spc="-10" dirty="0">
                <a:latin typeface="Carlito"/>
                <a:cs typeface="Carlito"/>
              </a:rPr>
              <a:t>architecture</a:t>
            </a:r>
            <a:endParaRPr lang="en-GB" sz="2000" dirty="0">
              <a:latin typeface="Carlito"/>
              <a:cs typeface="Carlito"/>
            </a:endParaRPr>
          </a:p>
          <a:p>
            <a:pPr marL="756285" lvl="1" indent="-287020">
              <a:spcBef>
                <a:spcPts val="480"/>
              </a:spcBef>
              <a:buFont typeface="Arial"/>
              <a:buChar char="–"/>
              <a:tabLst>
                <a:tab pos="756285" algn="l"/>
                <a:tab pos="756920" algn="l"/>
              </a:tabLst>
            </a:pPr>
            <a:r>
              <a:rPr lang="en-GB" sz="2000" spc="-10" dirty="0">
                <a:latin typeface="Carlito"/>
                <a:cs typeface="Carlito"/>
              </a:rPr>
              <a:t>Inconsistent</a:t>
            </a:r>
            <a:r>
              <a:rPr lang="en-GB" sz="2000" spc="-5" dirty="0">
                <a:latin typeface="Carlito"/>
                <a:cs typeface="Carlito"/>
              </a:rPr>
              <a:t> policies</a:t>
            </a:r>
            <a:endParaRPr lang="en-GB" sz="2000" dirty="0">
              <a:latin typeface="Carlito"/>
              <a:cs typeface="Carlito"/>
            </a:endParaRPr>
          </a:p>
          <a:p>
            <a:pPr marL="756285" lvl="1" indent="-287020">
              <a:spcBef>
                <a:spcPts val="480"/>
              </a:spcBef>
              <a:buFont typeface="Arial"/>
              <a:buChar char="–"/>
              <a:tabLst>
                <a:tab pos="756285" algn="l"/>
                <a:tab pos="756920" algn="l"/>
              </a:tabLst>
            </a:pPr>
            <a:r>
              <a:rPr lang="en-GB" sz="2000" dirty="0">
                <a:latin typeface="Carlito"/>
                <a:cs typeface="Carlito"/>
              </a:rPr>
              <a:t>Inability </a:t>
            </a:r>
            <a:r>
              <a:rPr lang="en-GB" sz="2000" spc="-15" dirty="0">
                <a:latin typeface="Carlito"/>
                <a:cs typeface="Carlito"/>
              </a:rPr>
              <a:t>to</a:t>
            </a:r>
            <a:r>
              <a:rPr lang="en-GB" sz="2000" spc="-20" dirty="0">
                <a:latin typeface="Carlito"/>
                <a:cs typeface="Carlito"/>
              </a:rPr>
              <a:t> </a:t>
            </a:r>
            <a:r>
              <a:rPr lang="en-GB" sz="2000" spc="-5" dirty="0">
                <a:latin typeface="Carlito"/>
                <a:cs typeface="Carlito"/>
              </a:rPr>
              <a:t>scale</a:t>
            </a:r>
            <a:endParaRPr lang="en-GB" sz="2000" dirty="0">
              <a:latin typeface="Carlito"/>
              <a:cs typeface="Carlito"/>
            </a:endParaRPr>
          </a:p>
          <a:p>
            <a:pPr marL="756285" lvl="1" indent="-287020">
              <a:spcBef>
                <a:spcPts val="480"/>
              </a:spcBef>
              <a:buFont typeface="Arial"/>
              <a:buChar char="–"/>
              <a:tabLst>
                <a:tab pos="756285" algn="l"/>
                <a:tab pos="756920" algn="l"/>
              </a:tabLst>
            </a:pPr>
            <a:r>
              <a:rPr lang="en-GB" sz="2000" spc="-15" dirty="0">
                <a:latin typeface="Carlito"/>
                <a:cs typeface="Carlito"/>
              </a:rPr>
              <a:t>Vendor</a:t>
            </a:r>
            <a:r>
              <a:rPr lang="en-GB" sz="2000" spc="-25" dirty="0">
                <a:latin typeface="Carlito"/>
                <a:cs typeface="Carlito"/>
              </a:rPr>
              <a:t> </a:t>
            </a:r>
            <a:r>
              <a:rPr lang="en-GB" sz="2000" spc="-5" dirty="0">
                <a:latin typeface="Carlito"/>
                <a:cs typeface="Carlito"/>
              </a:rPr>
              <a:t>dependence</a:t>
            </a:r>
            <a:endParaRPr lang="en-GB" dirty="0"/>
          </a:p>
        </p:txBody>
      </p:sp>
    </p:spTree>
    <p:extLst>
      <p:ext uri="{BB962C8B-B14F-4D97-AF65-F5344CB8AC3E}">
        <p14:creationId xmlns:p14="http://schemas.microsoft.com/office/powerpoint/2010/main" val="2203794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9" y="2060848"/>
            <a:ext cx="4096814" cy="3960439"/>
          </a:xfrm>
        </p:spPr>
        <p:txBody>
          <a:bodyPr/>
          <a:lstStyle/>
          <a:p>
            <a:pPr marL="355600" marR="5080" indent="-342900">
              <a:spcBef>
                <a:spcPts val="95"/>
              </a:spcBef>
              <a:buFont typeface="Arial"/>
              <a:buChar char="•"/>
              <a:tabLst>
                <a:tab pos="354965" algn="l"/>
                <a:tab pos="355600" algn="l"/>
              </a:tabLst>
            </a:pPr>
            <a:r>
              <a:rPr lang="en-GB" sz="2400" spc="-15" dirty="0">
                <a:cs typeface="Carlito"/>
              </a:rPr>
              <a:t>Networks </a:t>
            </a:r>
            <a:r>
              <a:rPr lang="en-GB" sz="2400" spc="-5" dirty="0">
                <a:cs typeface="Carlito"/>
              </a:rPr>
              <a:t>need </a:t>
            </a:r>
            <a:r>
              <a:rPr lang="en-GB" sz="2400" spc="-20" dirty="0">
                <a:cs typeface="Carlito"/>
              </a:rPr>
              <a:t>to </a:t>
            </a:r>
            <a:r>
              <a:rPr lang="en-GB" sz="2400" spc="-5" dirty="0">
                <a:cs typeface="Carlito"/>
              </a:rPr>
              <a:t>be </a:t>
            </a:r>
            <a:r>
              <a:rPr lang="en-GB" sz="2400" spc="-15" dirty="0">
                <a:cs typeface="Carlito"/>
              </a:rPr>
              <a:t>more </a:t>
            </a:r>
            <a:r>
              <a:rPr lang="en-GB" sz="2400" spc="-10" dirty="0">
                <a:cs typeface="Carlito"/>
              </a:rPr>
              <a:t>adaptable </a:t>
            </a:r>
            <a:r>
              <a:rPr lang="en-GB" sz="2400" spc="-5" dirty="0">
                <a:cs typeface="Carlito"/>
              </a:rPr>
              <a:t>and </a:t>
            </a:r>
            <a:r>
              <a:rPr lang="en-GB" sz="2400" spc="-10" dirty="0">
                <a:cs typeface="Carlito"/>
              </a:rPr>
              <a:t>scalable. </a:t>
            </a:r>
          </a:p>
          <a:p>
            <a:pPr marL="355600" marR="5080" indent="-342900">
              <a:spcBef>
                <a:spcPts val="95"/>
              </a:spcBef>
              <a:buFont typeface="Arial"/>
              <a:buChar char="•"/>
              <a:tabLst>
                <a:tab pos="354965" algn="l"/>
                <a:tab pos="355600" algn="l"/>
              </a:tabLst>
            </a:pPr>
            <a:r>
              <a:rPr lang="en-GB" sz="2400" spc="-10" dirty="0">
                <a:cs typeface="Carlito"/>
              </a:rPr>
              <a:t>Two </a:t>
            </a:r>
            <a:r>
              <a:rPr lang="en-GB" sz="2400" spc="-35" dirty="0">
                <a:cs typeface="Carlito"/>
              </a:rPr>
              <a:t>key  </a:t>
            </a:r>
            <a:r>
              <a:rPr lang="en-GB" sz="2400" spc="-10" dirty="0">
                <a:cs typeface="Carlito"/>
              </a:rPr>
              <a:t>technologies </a:t>
            </a:r>
            <a:r>
              <a:rPr lang="en-GB" sz="2400" spc="-20" dirty="0">
                <a:cs typeface="Carlito"/>
              </a:rPr>
              <a:t>are </a:t>
            </a:r>
            <a:r>
              <a:rPr lang="en-GB" sz="2400" spc="-15" dirty="0">
                <a:cs typeface="Carlito"/>
              </a:rPr>
              <a:t>rapidly </a:t>
            </a:r>
            <a:r>
              <a:rPr lang="en-GB" sz="2400" spc="-10" dirty="0">
                <a:cs typeface="Carlito"/>
              </a:rPr>
              <a:t>being </a:t>
            </a:r>
            <a:r>
              <a:rPr lang="en-GB" sz="2400" spc="-15" dirty="0">
                <a:cs typeface="Carlito"/>
              </a:rPr>
              <a:t>deployed by </a:t>
            </a:r>
            <a:r>
              <a:rPr lang="en-GB" sz="2400" spc="-5" dirty="0">
                <a:cs typeface="Carlito"/>
              </a:rPr>
              <a:t>a </a:t>
            </a:r>
            <a:r>
              <a:rPr lang="en-GB" sz="2400" spc="-15" dirty="0">
                <a:cs typeface="Carlito"/>
              </a:rPr>
              <a:t>variety  </a:t>
            </a:r>
            <a:r>
              <a:rPr lang="en-GB" sz="2400" spc="-5" dirty="0">
                <a:cs typeface="Carlito"/>
              </a:rPr>
              <a:t>of </a:t>
            </a:r>
            <a:r>
              <a:rPr lang="en-GB" sz="2400" spc="-10" dirty="0">
                <a:cs typeface="Carlito"/>
              </a:rPr>
              <a:t>network </a:t>
            </a:r>
            <a:r>
              <a:rPr lang="en-GB" sz="2400" spc="-5" dirty="0">
                <a:cs typeface="Carlito"/>
              </a:rPr>
              <a:t>service and </a:t>
            </a:r>
            <a:r>
              <a:rPr lang="en-GB" sz="2400" spc="-10" dirty="0">
                <a:cs typeface="Carlito"/>
              </a:rPr>
              <a:t>application</a:t>
            </a:r>
            <a:r>
              <a:rPr lang="en-GB" sz="2400" spc="50" dirty="0">
                <a:cs typeface="Carlito"/>
              </a:rPr>
              <a:t> </a:t>
            </a:r>
            <a:r>
              <a:rPr lang="en-GB" sz="2400" spc="-20" dirty="0">
                <a:cs typeface="Carlito"/>
              </a:rPr>
              <a:t>providers</a:t>
            </a:r>
            <a:endParaRPr lang="en-GB" sz="2400" dirty="0">
              <a:cs typeface="Carlito"/>
            </a:endParaRPr>
          </a:p>
          <a:p>
            <a:pPr marL="756285" lvl="1" indent="-287020">
              <a:spcBef>
                <a:spcPts val="675"/>
              </a:spcBef>
              <a:buFont typeface="Arial"/>
              <a:buChar char="–"/>
              <a:tabLst>
                <a:tab pos="756920" algn="l"/>
              </a:tabLst>
            </a:pPr>
            <a:r>
              <a:rPr lang="en-GB" sz="2400" spc="-15" dirty="0">
                <a:cs typeface="Carlito"/>
              </a:rPr>
              <a:t>Software-Defined </a:t>
            </a:r>
            <a:r>
              <a:rPr lang="en-GB" sz="2400" spc="-10" dirty="0">
                <a:cs typeface="Carlito"/>
              </a:rPr>
              <a:t>Networking (SDN)</a:t>
            </a:r>
            <a:r>
              <a:rPr lang="en-GB" sz="2400" spc="65" dirty="0">
                <a:cs typeface="Carlito"/>
              </a:rPr>
              <a:t> </a:t>
            </a:r>
            <a:r>
              <a:rPr lang="en-GB" sz="2400" spc="-5" dirty="0">
                <a:cs typeface="Carlito"/>
              </a:rPr>
              <a:t>and</a:t>
            </a:r>
            <a:endParaRPr lang="en-GB" sz="2400" dirty="0">
              <a:cs typeface="Carlito"/>
            </a:endParaRPr>
          </a:p>
          <a:p>
            <a:pPr marL="756285" lvl="1" indent="-287020">
              <a:spcBef>
                <a:spcPts val="675"/>
              </a:spcBef>
              <a:buFont typeface="Arial"/>
              <a:buChar char="–"/>
              <a:tabLst>
                <a:tab pos="756920" algn="l"/>
              </a:tabLst>
            </a:pPr>
            <a:r>
              <a:rPr lang="en-GB" sz="2400" spc="-10" dirty="0">
                <a:cs typeface="Carlito"/>
              </a:rPr>
              <a:t>Network Functions Virtualization</a:t>
            </a:r>
            <a:r>
              <a:rPr lang="en-GB" sz="2400" spc="55" dirty="0">
                <a:cs typeface="Carlito"/>
              </a:rPr>
              <a:t> </a:t>
            </a:r>
            <a:r>
              <a:rPr lang="en-GB" sz="2400" spc="-10" dirty="0">
                <a:cs typeface="Carlito"/>
              </a:rPr>
              <a:t>(NFV)</a:t>
            </a:r>
            <a:endParaRPr lang="en-GB" sz="2400" dirty="0">
              <a:cs typeface="Carlito"/>
            </a:endParaRPr>
          </a:p>
          <a:p>
            <a:endParaRPr lang="en-GB" sz="24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0343" y="1019174"/>
            <a:ext cx="4733925" cy="5838826"/>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a:spLocks/>
          </p:cNvSpPr>
          <p:nvPr/>
        </p:nvSpPr>
        <p:spPr bwMode="auto">
          <a:xfrm>
            <a:off x="107505" y="1129308"/>
            <a:ext cx="6264696" cy="715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Rockwell" pitchFamily="18" charset="0"/>
              </a:defRPr>
            </a:lvl2pPr>
            <a:lvl3pPr algn="l" rtl="0" eaLnBrk="0" fontAlgn="base" hangingPunct="0">
              <a:spcBef>
                <a:spcPct val="0"/>
              </a:spcBef>
              <a:spcAft>
                <a:spcPct val="0"/>
              </a:spcAft>
              <a:defRPr sz="3600">
                <a:solidFill>
                  <a:schemeClr val="tx2"/>
                </a:solidFill>
                <a:latin typeface="Rockwell" pitchFamily="18" charset="0"/>
              </a:defRPr>
            </a:lvl3pPr>
            <a:lvl4pPr algn="l" rtl="0" eaLnBrk="0" fontAlgn="base" hangingPunct="0">
              <a:spcBef>
                <a:spcPct val="0"/>
              </a:spcBef>
              <a:spcAft>
                <a:spcPct val="0"/>
              </a:spcAft>
              <a:defRPr sz="3600">
                <a:solidFill>
                  <a:schemeClr val="tx2"/>
                </a:solidFill>
                <a:latin typeface="Rockwell" pitchFamily="18" charset="0"/>
              </a:defRPr>
            </a:lvl4pPr>
            <a:lvl5pPr algn="l" rtl="0" eaLnBrk="0" fontAlgn="base" hangingPunct="0">
              <a:spcBef>
                <a:spcPct val="0"/>
              </a:spcBef>
              <a:spcAft>
                <a:spcPct val="0"/>
              </a:spcAft>
              <a:defRPr sz="3600">
                <a:solidFill>
                  <a:schemeClr val="tx2"/>
                </a:solidFill>
                <a:latin typeface="Rockwell" pitchFamily="18" charset="0"/>
              </a:defRPr>
            </a:lvl5pPr>
            <a:lvl6pPr marL="457178" algn="l" rtl="0" fontAlgn="base">
              <a:spcBef>
                <a:spcPct val="0"/>
              </a:spcBef>
              <a:spcAft>
                <a:spcPct val="0"/>
              </a:spcAft>
              <a:defRPr sz="3600">
                <a:solidFill>
                  <a:schemeClr val="tx2"/>
                </a:solidFill>
                <a:latin typeface="Rockwell" pitchFamily="18" charset="0"/>
              </a:defRPr>
            </a:lvl6pPr>
            <a:lvl7pPr marL="914355" algn="l" rtl="0" fontAlgn="base">
              <a:spcBef>
                <a:spcPct val="0"/>
              </a:spcBef>
              <a:spcAft>
                <a:spcPct val="0"/>
              </a:spcAft>
              <a:defRPr sz="3600">
                <a:solidFill>
                  <a:schemeClr val="tx2"/>
                </a:solidFill>
                <a:latin typeface="Rockwell" pitchFamily="18" charset="0"/>
              </a:defRPr>
            </a:lvl7pPr>
            <a:lvl8pPr marL="1371532" algn="l" rtl="0" fontAlgn="base">
              <a:spcBef>
                <a:spcPct val="0"/>
              </a:spcBef>
              <a:spcAft>
                <a:spcPct val="0"/>
              </a:spcAft>
              <a:defRPr sz="3600">
                <a:solidFill>
                  <a:schemeClr val="tx2"/>
                </a:solidFill>
                <a:latin typeface="Rockwell" pitchFamily="18" charset="0"/>
              </a:defRPr>
            </a:lvl8pPr>
            <a:lvl9pPr marL="1828709" algn="l" rtl="0" fontAlgn="base">
              <a:spcBef>
                <a:spcPct val="0"/>
              </a:spcBef>
              <a:spcAft>
                <a:spcPct val="0"/>
              </a:spcAft>
              <a:defRPr sz="3600">
                <a:solidFill>
                  <a:schemeClr val="tx2"/>
                </a:solidFill>
                <a:latin typeface="Rockwell" pitchFamily="18" charset="0"/>
              </a:defRPr>
            </a:lvl9pPr>
          </a:lstStyle>
          <a:p>
            <a:r>
              <a:rPr lang="en-GB" kern="0" dirty="0"/>
              <a:t>Modern </a:t>
            </a:r>
            <a:r>
              <a:rPr lang="en-GB" kern="0" spc="-15" dirty="0"/>
              <a:t>Approach </a:t>
            </a:r>
            <a:r>
              <a:rPr lang="en-GB" kern="0" spc="-25" dirty="0"/>
              <a:t>to</a:t>
            </a:r>
            <a:r>
              <a:rPr lang="en-GB" kern="0" spc="5" dirty="0"/>
              <a:t> </a:t>
            </a:r>
            <a:r>
              <a:rPr lang="en-GB" kern="0" spc="-10" dirty="0"/>
              <a:t>Networking</a:t>
            </a:r>
            <a:endParaRPr lang="en-GB" kern="0" dirty="0"/>
          </a:p>
        </p:txBody>
      </p:sp>
    </p:spTree>
    <p:extLst>
      <p:ext uri="{BB962C8B-B14F-4D97-AF65-F5344CB8AC3E}">
        <p14:creationId xmlns:p14="http://schemas.microsoft.com/office/powerpoint/2010/main" val="55984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2" y="764704"/>
            <a:ext cx="8424863" cy="1143000"/>
          </a:xfrm>
        </p:spPr>
        <p:txBody>
          <a:bodyPr/>
          <a:lstStyle/>
          <a:p>
            <a:r>
              <a:rPr lang="en-GB" spc="-15" dirty="0"/>
              <a:t>Software </a:t>
            </a:r>
            <a:r>
              <a:rPr lang="en-GB" spc="-10" dirty="0"/>
              <a:t>Defined</a:t>
            </a:r>
            <a:r>
              <a:rPr lang="en-GB" spc="-50" dirty="0"/>
              <a:t> </a:t>
            </a:r>
            <a:r>
              <a:rPr lang="en-GB" spc="-10" dirty="0"/>
              <a:t>Networking</a:t>
            </a:r>
            <a:endParaRPr lang="en-GB" dirty="0"/>
          </a:p>
        </p:txBody>
      </p:sp>
      <p:sp>
        <p:nvSpPr>
          <p:cNvPr id="5" name="object 2"/>
          <p:cNvSpPr/>
          <p:nvPr/>
        </p:nvSpPr>
        <p:spPr>
          <a:xfrm>
            <a:off x="314369" y="1916832"/>
            <a:ext cx="7974483" cy="4799838"/>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12849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052736"/>
            <a:ext cx="8424863" cy="1143000"/>
          </a:xfrm>
        </p:spPr>
        <p:txBody>
          <a:bodyPr/>
          <a:lstStyle/>
          <a:p>
            <a:r>
              <a:rPr lang="en-GB" spc="-5" dirty="0"/>
              <a:t>The SDN </a:t>
            </a:r>
            <a:r>
              <a:rPr lang="en-GB" spc="-10" dirty="0"/>
              <a:t>Approach-</a:t>
            </a:r>
            <a:r>
              <a:rPr lang="en-GB" spc="-55" dirty="0"/>
              <a:t> </a:t>
            </a:r>
            <a:r>
              <a:rPr lang="en-GB" spc="-15" dirty="0"/>
              <a:t>Requirements</a:t>
            </a:r>
            <a:endParaRPr lang="en-GB" dirty="0"/>
          </a:p>
        </p:txBody>
      </p:sp>
      <p:sp>
        <p:nvSpPr>
          <p:cNvPr id="3" name="Content Placeholder 2"/>
          <p:cNvSpPr>
            <a:spLocks noGrp="1"/>
          </p:cNvSpPr>
          <p:nvPr>
            <p:ph idx="1"/>
          </p:nvPr>
        </p:nvSpPr>
        <p:spPr>
          <a:xfrm>
            <a:off x="395536" y="2132856"/>
            <a:ext cx="8424863" cy="4321175"/>
          </a:xfrm>
        </p:spPr>
        <p:txBody>
          <a:bodyPr/>
          <a:lstStyle/>
          <a:p>
            <a:pPr marL="12700" marR="365760">
              <a:spcBef>
                <a:spcPts val="105"/>
              </a:spcBef>
              <a:buSzPct val="96153"/>
              <a:buFont typeface="Carlito"/>
              <a:buChar char="•"/>
              <a:tabLst>
                <a:tab pos="178435" algn="l"/>
              </a:tabLst>
            </a:pPr>
            <a:r>
              <a:rPr lang="en-GB" sz="2400" spc="-5" dirty="0">
                <a:cs typeface="Carlito"/>
              </a:rPr>
              <a:t>Adaptability – respond dynamically based on needs</a:t>
            </a:r>
          </a:p>
          <a:p>
            <a:pPr marL="12700" marR="365760">
              <a:spcBef>
                <a:spcPts val="105"/>
              </a:spcBef>
              <a:buSzPct val="96153"/>
              <a:buFont typeface="Carlito"/>
              <a:buChar char="•"/>
              <a:tabLst>
                <a:tab pos="178435" algn="l"/>
              </a:tabLst>
            </a:pPr>
            <a:r>
              <a:rPr lang="en-GB" sz="2400" spc="-5" dirty="0">
                <a:cs typeface="Carlito"/>
              </a:rPr>
              <a:t>Automation- policy changes propagated automatically </a:t>
            </a:r>
          </a:p>
          <a:p>
            <a:pPr marL="12700" marR="380365">
              <a:buSzPct val="96153"/>
              <a:buFont typeface="Carlito"/>
              <a:buChar char="•"/>
              <a:tabLst>
                <a:tab pos="178435" algn="l"/>
              </a:tabLst>
            </a:pPr>
            <a:r>
              <a:rPr lang="en-GB" sz="2400" spc="-10" dirty="0">
                <a:cs typeface="Carlito"/>
              </a:rPr>
              <a:t>Maintainability- seamless introduction of patches etc</a:t>
            </a:r>
          </a:p>
          <a:p>
            <a:pPr marL="12700" marR="380365">
              <a:buSzPct val="96153"/>
              <a:buFont typeface="Carlito"/>
              <a:buChar char="•"/>
              <a:tabLst>
                <a:tab pos="178435" algn="l"/>
              </a:tabLst>
            </a:pPr>
            <a:r>
              <a:rPr lang="en-GB" sz="2400" spc="-5" dirty="0">
                <a:cs typeface="Carlito"/>
              </a:rPr>
              <a:t>Model </a:t>
            </a:r>
            <a:r>
              <a:rPr lang="en-GB" sz="2400" spc="-10" dirty="0">
                <a:cs typeface="Carlito"/>
              </a:rPr>
              <a:t>management- changing network model without manually reconfiguring devices</a:t>
            </a:r>
          </a:p>
          <a:p>
            <a:r>
              <a:rPr lang="en-GB" sz="2400" dirty="0"/>
              <a:t>Mobility – must accommodate mobile devices, virtual servers etc.</a:t>
            </a:r>
          </a:p>
          <a:p>
            <a:r>
              <a:rPr lang="en-GB" sz="2400" dirty="0"/>
              <a:t>Integrated security – not an add on solution</a:t>
            </a:r>
          </a:p>
          <a:p>
            <a:r>
              <a:rPr lang="en-GB" sz="2400" dirty="0"/>
              <a:t>On-demand scaling – can increase or decrease services </a:t>
            </a:r>
          </a:p>
        </p:txBody>
      </p:sp>
    </p:spTree>
    <p:extLst>
      <p:ext uri="{BB962C8B-B14F-4D97-AF65-F5344CB8AC3E}">
        <p14:creationId xmlns:p14="http://schemas.microsoft.com/office/powerpoint/2010/main" val="2174006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08720"/>
            <a:ext cx="8424863" cy="1143000"/>
          </a:xfrm>
        </p:spPr>
        <p:txBody>
          <a:bodyPr/>
          <a:lstStyle/>
          <a:p>
            <a:r>
              <a:rPr lang="en-GB" dirty="0"/>
              <a:t>SDN Architecture – analogy with computing systems</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117850"/>
            <a:ext cx="7362825" cy="4638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9338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952344"/>
            <a:ext cx="7488832" cy="414842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a:spLocks/>
          </p:cNvSpPr>
          <p:nvPr/>
        </p:nvSpPr>
        <p:spPr>
          <a:xfrm>
            <a:off x="179512" y="908720"/>
            <a:ext cx="8424863" cy="1143000"/>
          </a:xfrm>
          <a:prstGeom prst="rect">
            <a:avLst/>
          </a:prstGeom>
        </p:spPr>
        <p:txBody>
          <a:bodyPr/>
          <a:lst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Rockwell" pitchFamily="18" charset="0"/>
              </a:defRPr>
            </a:lvl2pPr>
            <a:lvl3pPr algn="l" rtl="0" eaLnBrk="0" fontAlgn="base" hangingPunct="0">
              <a:spcBef>
                <a:spcPct val="0"/>
              </a:spcBef>
              <a:spcAft>
                <a:spcPct val="0"/>
              </a:spcAft>
              <a:defRPr sz="3600">
                <a:solidFill>
                  <a:schemeClr val="tx2"/>
                </a:solidFill>
                <a:latin typeface="Rockwell" pitchFamily="18" charset="0"/>
              </a:defRPr>
            </a:lvl3pPr>
            <a:lvl4pPr algn="l" rtl="0" eaLnBrk="0" fontAlgn="base" hangingPunct="0">
              <a:spcBef>
                <a:spcPct val="0"/>
              </a:spcBef>
              <a:spcAft>
                <a:spcPct val="0"/>
              </a:spcAft>
              <a:defRPr sz="3600">
                <a:solidFill>
                  <a:schemeClr val="tx2"/>
                </a:solidFill>
                <a:latin typeface="Rockwell" pitchFamily="18" charset="0"/>
              </a:defRPr>
            </a:lvl4pPr>
            <a:lvl5pPr algn="l" rtl="0" eaLnBrk="0" fontAlgn="base" hangingPunct="0">
              <a:spcBef>
                <a:spcPct val="0"/>
              </a:spcBef>
              <a:spcAft>
                <a:spcPct val="0"/>
              </a:spcAft>
              <a:defRPr sz="3600">
                <a:solidFill>
                  <a:schemeClr val="tx2"/>
                </a:solidFill>
                <a:latin typeface="Rockwell" pitchFamily="18" charset="0"/>
              </a:defRPr>
            </a:lvl5pPr>
            <a:lvl6pPr marL="457178" algn="l" rtl="0" fontAlgn="base">
              <a:spcBef>
                <a:spcPct val="0"/>
              </a:spcBef>
              <a:spcAft>
                <a:spcPct val="0"/>
              </a:spcAft>
              <a:defRPr sz="3600">
                <a:solidFill>
                  <a:schemeClr val="tx2"/>
                </a:solidFill>
                <a:latin typeface="Rockwell" pitchFamily="18" charset="0"/>
              </a:defRPr>
            </a:lvl6pPr>
            <a:lvl7pPr marL="914355" algn="l" rtl="0" fontAlgn="base">
              <a:spcBef>
                <a:spcPct val="0"/>
              </a:spcBef>
              <a:spcAft>
                <a:spcPct val="0"/>
              </a:spcAft>
              <a:defRPr sz="3600">
                <a:solidFill>
                  <a:schemeClr val="tx2"/>
                </a:solidFill>
                <a:latin typeface="Rockwell" pitchFamily="18" charset="0"/>
              </a:defRPr>
            </a:lvl7pPr>
            <a:lvl8pPr marL="1371532" algn="l" rtl="0" fontAlgn="base">
              <a:spcBef>
                <a:spcPct val="0"/>
              </a:spcBef>
              <a:spcAft>
                <a:spcPct val="0"/>
              </a:spcAft>
              <a:defRPr sz="3600">
                <a:solidFill>
                  <a:schemeClr val="tx2"/>
                </a:solidFill>
                <a:latin typeface="Rockwell" pitchFamily="18" charset="0"/>
              </a:defRPr>
            </a:lvl8pPr>
            <a:lvl9pPr marL="1828709" algn="l" rtl="0" fontAlgn="base">
              <a:spcBef>
                <a:spcPct val="0"/>
              </a:spcBef>
              <a:spcAft>
                <a:spcPct val="0"/>
              </a:spcAft>
              <a:defRPr sz="3600">
                <a:solidFill>
                  <a:schemeClr val="tx2"/>
                </a:solidFill>
                <a:latin typeface="Rockwell" pitchFamily="18" charset="0"/>
              </a:defRPr>
            </a:lvl9pPr>
          </a:lstStyle>
          <a:p>
            <a:r>
              <a:rPr lang="en-GB" kern="0" dirty="0"/>
              <a:t>SDN Architecture</a:t>
            </a:r>
          </a:p>
        </p:txBody>
      </p:sp>
      <p:sp>
        <p:nvSpPr>
          <p:cNvPr id="2" name="TextBox 1">
            <a:extLst>
              <a:ext uri="{FF2B5EF4-FFF2-40B4-BE49-F238E27FC236}">
                <a16:creationId xmlns:a16="http://schemas.microsoft.com/office/drawing/2014/main" id="{F23D16FF-7BB6-9293-1CA2-7120E8F77204}"/>
              </a:ext>
            </a:extLst>
          </p:cNvPr>
          <p:cNvSpPr txBox="1"/>
          <p:nvPr/>
        </p:nvSpPr>
        <p:spPr>
          <a:xfrm>
            <a:off x="1547664" y="2204864"/>
            <a:ext cx="2454518" cy="369332"/>
          </a:xfrm>
          <a:prstGeom prst="rect">
            <a:avLst/>
          </a:prstGeom>
          <a:noFill/>
        </p:spPr>
        <p:txBody>
          <a:bodyPr wrap="none" rtlCol="0">
            <a:spAutoFit/>
          </a:bodyPr>
          <a:lstStyle/>
          <a:p>
            <a:r>
              <a:rPr lang="en-GB" dirty="0">
                <a:solidFill>
                  <a:srgbClr val="FF0000"/>
                </a:solidFill>
              </a:rPr>
              <a:t>Control at device level</a:t>
            </a:r>
          </a:p>
        </p:txBody>
      </p:sp>
      <p:sp>
        <p:nvSpPr>
          <p:cNvPr id="3" name="TextBox 2">
            <a:extLst>
              <a:ext uri="{FF2B5EF4-FFF2-40B4-BE49-F238E27FC236}">
                <a16:creationId xmlns:a16="http://schemas.microsoft.com/office/drawing/2014/main" id="{664B11EB-0E27-D435-CBFD-E84DAA878A3F}"/>
              </a:ext>
            </a:extLst>
          </p:cNvPr>
          <p:cNvSpPr txBox="1"/>
          <p:nvPr/>
        </p:nvSpPr>
        <p:spPr>
          <a:xfrm>
            <a:off x="5004048" y="1414008"/>
            <a:ext cx="4095993" cy="369332"/>
          </a:xfrm>
          <a:prstGeom prst="rect">
            <a:avLst/>
          </a:prstGeom>
          <a:noFill/>
        </p:spPr>
        <p:txBody>
          <a:bodyPr wrap="none" rtlCol="0">
            <a:spAutoFit/>
          </a:bodyPr>
          <a:lstStyle/>
          <a:p>
            <a:r>
              <a:rPr lang="en-GB" dirty="0">
                <a:solidFill>
                  <a:srgbClr val="FF0000"/>
                </a:solidFill>
              </a:rPr>
              <a:t>Control abstracting away from devices</a:t>
            </a:r>
          </a:p>
        </p:txBody>
      </p:sp>
    </p:spTree>
    <p:extLst>
      <p:ext uri="{BB962C8B-B14F-4D97-AF65-F5344CB8AC3E}">
        <p14:creationId xmlns:p14="http://schemas.microsoft.com/office/powerpoint/2010/main" val="3024008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483768" y="-21244"/>
            <a:ext cx="8345488" cy="975783"/>
          </a:xfrm>
        </p:spPr>
        <p:txBody>
          <a:bodyPr/>
          <a:lstStyle/>
          <a:p>
            <a:r>
              <a:rPr lang="en-US" dirty="0">
                <a:solidFill>
                  <a:schemeClr val="bg1"/>
                </a:solidFill>
              </a:rPr>
              <a:t>Control Plane and Data Plane</a:t>
            </a:r>
          </a:p>
        </p:txBody>
      </p:sp>
      <p:sp>
        <p:nvSpPr>
          <p:cNvPr id="4" name="Content Placeholder 3">
            <a:extLst>
              <a:ext uri="{FF2B5EF4-FFF2-40B4-BE49-F238E27FC236}">
                <a16:creationId xmlns:a16="http://schemas.microsoft.com/office/drawing/2014/main" id="{AF7AA0B3-BF2E-0943-8BF7-26E9A4E8670D}"/>
              </a:ext>
            </a:extLst>
          </p:cNvPr>
          <p:cNvSpPr>
            <a:spLocks noGrp="1"/>
          </p:cNvSpPr>
          <p:nvPr>
            <p:ph idx="1"/>
          </p:nvPr>
        </p:nvSpPr>
        <p:spPr>
          <a:xfrm>
            <a:off x="251520" y="1196752"/>
            <a:ext cx="8503200" cy="3906806"/>
          </a:xfrm>
        </p:spPr>
        <p:txBody>
          <a:bodyPr/>
          <a:lstStyle/>
          <a:p>
            <a:pPr marL="0" indent="0" algn="l"/>
            <a:r>
              <a:rPr lang="en-US" dirty="0">
                <a:solidFill>
                  <a:srgbClr val="000000"/>
                </a:solidFill>
              </a:rPr>
              <a:t>A </a:t>
            </a:r>
            <a:r>
              <a:rPr lang="en-US" dirty="0">
                <a:solidFill>
                  <a:srgbClr val="FF0000"/>
                </a:solidFill>
              </a:rPr>
              <a:t>network device </a:t>
            </a:r>
            <a:r>
              <a:rPr lang="en-US" dirty="0">
                <a:solidFill>
                  <a:srgbClr val="000000"/>
                </a:solidFill>
              </a:rPr>
              <a:t>contains the following planes:</a:t>
            </a:r>
          </a:p>
          <a:p>
            <a:pPr marL="342900" indent="-342900" algn="l">
              <a:buFont typeface="Arial" panose="020B0604020202020204" pitchFamily="34" charset="0"/>
              <a:buChar char="•"/>
            </a:pPr>
            <a:r>
              <a:rPr lang="en-US" b="1" dirty="0">
                <a:solidFill>
                  <a:srgbClr val="000000"/>
                </a:solidFill>
              </a:rPr>
              <a:t>Control plane</a:t>
            </a:r>
            <a:r>
              <a:rPr lang="en-US" dirty="0">
                <a:solidFill>
                  <a:srgbClr val="000000"/>
                </a:solidFill>
              </a:rPr>
              <a:t> </a:t>
            </a:r>
          </a:p>
          <a:p>
            <a:pPr marL="800123" lvl="1" indent="-342900">
              <a:buFont typeface="Arial" panose="020B0604020202020204" pitchFamily="34" charset="0"/>
              <a:buChar char="•"/>
            </a:pPr>
            <a:r>
              <a:rPr lang="en-US" sz="2000" dirty="0">
                <a:solidFill>
                  <a:srgbClr val="000000"/>
                </a:solidFill>
              </a:rPr>
              <a:t>is used to make forwarding decisions.</a:t>
            </a:r>
          </a:p>
          <a:p>
            <a:pPr marL="800123" lvl="1" indent="-342900">
              <a:buFont typeface="Arial" panose="020B0604020202020204" pitchFamily="34" charset="0"/>
              <a:buChar char="•"/>
            </a:pPr>
            <a:r>
              <a:rPr lang="en-US" sz="2000" dirty="0">
                <a:solidFill>
                  <a:srgbClr val="000000"/>
                </a:solidFill>
              </a:rPr>
              <a:t>Info sent to this plane is processed by the CPU </a:t>
            </a:r>
          </a:p>
          <a:p>
            <a:pPr marL="800123" lvl="1" indent="-342900">
              <a:buFont typeface="Arial" panose="020B0604020202020204" pitchFamily="34" charset="0"/>
              <a:buChar char="•"/>
            </a:pPr>
            <a:r>
              <a:rPr lang="en-US" sz="2000" dirty="0">
                <a:solidFill>
                  <a:srgbClr val="000000"/>
                </a:solidFill>
              </a:rPr>
              <a:t>The control plane contains Layer 2 and Layer 3 route forwarding mechanisms</a:t>
            </a:r>
          </a:p>
          <a:p>
            <a:pPr marL="1200154" lvl="2" indent="-342900">
              <a:buFont typeface="Arial" panose="020B0604020202020204" pitchFamily="34" charset="0"/>
              <a:buChar char="•"/>
            </a:pPr>
            <a:r>
              <a:rPr lang="en-US" sz="1600" dirty="0">
                <a:solidFill>
                  <a:srgbClr val="000000"/>
                </a:solidFill>
              </a:rPr>
              <a:t>protocol neighbor tables</a:t>
            </a:r>
          </a:p>
          <a:p>
            <a:pPr marL="1200154" lvl="2" indent="-342900">
              <a:buFont typeface="Arial" panose="020B0604020202020204" pitchFamily="34" charset="0"/>
              <a:buChar char="•"/>
            </a:pPr>
            <a:r>
              <a:rPr lang="en-US" sz="1600" dirty="0">
                <a:solidFill>
                  <a:srgbClr val="000000"/>
                </a:solidFill>
              </a:rPr>
              <a:t> topology tables, </a:t>
            </a:r>
          </a:p>
          <a:p>
            <a:pPr marL="1200154" lvl="2" indent="-342900">
              <a:buFont typeface="Arial" panose="020B0604020202020204" pitchFamily="34" charset="0"/>
              <a:buChar char="•"/>
            </a:pPr>
            <a:r>
              <a:rPr lang="en-US" sz="1600" dirty="0">
                <a:solidFill>
                  <a:srgbClr val="000000"/>
                </a:solidFill>
              </a:rPr>
              <a:t>IPv4 and IPv6 routing tables, </a:t>
            </a:r>
          </a:p>
          <a:p>
            <a:pPr marL="1200154" lvl="2" indent="-342900">
              <a:buFont typeface="Arial" panose="020B0604020202020204" pitchFamily="34" charset="0"/>
              <a:buChar char="•"/>
            </a:pPr>
            <a:r>
              <a:rPr lang="en-US" sz="1600" dirty="0">
                <a:solidFill>
                  <a:srgbClr val="000000"/>
                </a:solidFill>
              </a:rPr>
              <a:t>STP, and the ARP table. </a:t>
            </a:r>
          </a:p>
          <a:p>
            <a:pPr marL="342900" indent="-342900" algn="l">
              <a:buFont typeface="Arial" panose="020B0604020202020204" pitchFamily="34" charset="0"/>
              <a:buChar char="•"/>
            </a:pPr>
            <a:r>
              <a:rPr lang="en-US" b="1" dirty="0">
                <a:solidFill>
                  <a:srgbClr val="000000"/>
                </a:solidFill>
              </a:rPr>
              <a:t>Data plane</a:t>
            </a:r>
            <a:r>
              <a:rPr lang="en-US" dirty="0">
                <a:solidFill>
                  <a:srgbClr val="000000"/>
                </a:solidFill>
              </a:rPr>
              <a:t> (forwarding plane)</a:t>
            </a:r>
          </a:p>
          <a:p>
            <a:pPr marL="800123" lvl="1" indent="-342900">
              <a:buFont typeface="Arial" panose="020B0604020202020204" pitchFamily="34" charset="0"/>
              <a:buChar char="•"/>
            </a:pPr>
            <a:r>
              <a:rPr lang="en-US" sz="2000" dirty="0">
                <a:solidFill>
                  <a:srgbClr val="000000"/>
                </a:solidFill>
              </a:rPr>
              <a:t>typically the switch fabric connecting the various network ports on a device. </a:t>
            </a:r>
          </a:p>
          <a:p>
            <a:pPr marL="1200154" lvl="2" indent="-342900">
              <a:buFont typeface="Arial" panose="020B0604020202020204" pitchFamily="34" charset="0"/>
              <a:buChar char="•"/>
            </a:pPr>
            <a:r>
              <a:rPr lang="en-US" sz="1600" dirty="0">
                <a:solidFill>
                  <a:srgbClr val="000000"/>
                </a:solidFill>
              </a:rPr>
              <a:t>used to forward traffic flows. Routers and switches use information from the control plane to forward incoming traffic out the appropriate egress interface.</a:t>
            </a:r>
          </a:p>
          <a:p>
            <a:pPr marL="1200154" lvl="2" indent="-342900">
              <a:buFont typeface="Arial" panose="020B0604020202020204" pitchFamily="34" charset="0"/>
              <a:buChar char="•"/>
            </a:pPr>
            <a:r>
              <a:rPr lang="en-US" sz="1600" dirty="0">
                <a:solidFill>
                  <a:srgbClr val="000000"/>
                </a:solidFill>
              </a:rPr>
              <a:t>Information in the data plane is typically processed by a special data plane processor without the CPU getting involved.</a:t>
            </a:r>
          </a:p>
          <a:p>
            <a:pPr marL="0" indent="0" algn="l"/>
            <a:endParaRPr lang="en-US" dirty="0">
              <a:solidFill>
                <a:srgbClr val="000000"/>
              </a:solidFill>
            </a:endParaRPr>
          </a:p>
        </p:txBody>
      </p:sp>
    </p:spTree>
    <p:custDataLst>
      <p:tags r:id="rId1"/>
    </p:custDataLst>
    <p:extLst>
      <p:ext uri="{BB962C8B-B14F-4D97-AF65-F5344CB8AC3E}">
        <p14:creationId xmlns:p14="http://schemas.microsoft.com/office/powerpoint/2010/main" val="2586057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639322" y="-171400"/>
            <a:ext cx="6413859" cy="1200329"/>
          </a:xfrm>
        </p:spPr>
        <p:txBody>
          <a:bodyPr/>
          <a:lstStyle/>
          <a:p>
            <a:r>
              <a:rPr lang="en-GB" dirty="0">
                <a:solidFill>
                  <a:schemeClr val="bg1"/>
                </a:solidFill>
              </a:rPr>
              <a:t>SDN Architecture</a:t>
            </a:r>
          </a:p>
        </p:txBody>
      </p:sp>
      <p:pic>
        <p:nvPicPr>
          <p:cNvPr id="6146" name="Picture 2" descr="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856" y="901194"/>
            <a:ext cx="6066681" cy="595680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7763ED4-0897-2450-A383-E9D1DA2F65C6}"/>
              </a:ext>
            </a:extLst>
          </p:cNvPr>
          <p:cNvSpPr txBox="1"/>
          <p:nvPr/>
        </p:nvSpPr>
        <p:spPr>
          <a:xfrm>
            <a:off x="313289" y="3140968"/>
            <a:ext cx="2433252" cy="1200329"/>
          </a:xfrm>
          <a:prstGeom prst="rect">
            <a:avLst/>
          </a:prstGeom>
          <a:noFill/>
          <a:ln w="34925">
            <a:solidFill>
              <a:srgbClr val="0070C0"/>
            </a:solidFill>
          </a:ln>
        </p:spPr>
        <p:txBody>
          <a:bodyPr wrap="square" rtlCol="0">
            <a:spAutoFit/>
          </a:bodyPr>
          <a:lstStyle/>
          <a:p>
            <a:r>
              <a:rPr lang="en-GB" dirty="0">
                <a:solidFill>
                  <a:srgbClr val="0070C0"/>
                </a:solidFill>
              </a:rPr>
              <a:t>Controller implemented on a server or virtual server </a:t>
            </a:r>
          </a:p>
        </p:txBody>
      </p:sp>
      <p:sp>
        <p:nvSpPr>
          <p:cNvPr id="3" name="TextBox 2">
            <a:extLst>
              <a:ext uri="{FF2B5EF4-FFF2-40B4-BE49-F238E27FC236}">
                <a16:creationId xmlns:a16="http://schemas.microsoft.com/office/drawing/2014/main" id="{D47DD450-3D49-56EF-E5A4-53BE9C7B264D}"/>
              </a:ext>
            </a:extLst>
          </p:cNvPr>
          <p:cNvSpPr txBox="1"/>
          <p:nvPr/>
        </p:nvSpPr>
        <p:spPr>
          <a:xfrm>
            <a:off x="305495" y="4653136"/>
            <a:ext cx="2314495" cy="2062103"/>
          </a:xfrm>
          <a:prstGeom prst="rect">
            <a:avLst/>
          </a:prstGeom>
          <a:noFill/>
          <a:ln w="28575">
            <a:solidFill>
              <a:srgbClr val="00B050"/>
            </a:solidFill>
          </a:ln>
        </p:spPr>
        <p:txBody>
          <a:bodyPr wrap="square" rtlCol="0">
            <a:spAutoFit/>
          </a:bodyPr>
          <a:lstStyle/>
          <a:p>
            <a:r>
              <a:rPr lang="en-GB" sz="1600" dirty="0">
                <a:solidFill>
                  <a:srgbClr val="00B050"/>
                </a:solidFill>
              </a:rPr>
              <a:t>API allows switch to communicate  northbound packet forwarding details and controller to communicate its control instructions southbound</a:t>
            </a:r>
          </a:p>
        </p:txBody>
      </p:sp>
    </p:spTree>
    <p:extLst>
      <p:ext uri="{BB962C8B-B14F-4D97-AF65-F5344CB8AC3E}">
        <p14:creationId xmlns:p14="http://schemas.microsoft.com/office/powerpoint/2010/main" val="414801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7642C-F00B-7F6A-CCFF-EB94CFA7757F}"/>
              </a:ext>
            </a:extLst>
          </p:cNvPr>
          <p:cNvSpPr>
            <a:spLocks noGrp="1"/>
          </p:cNvSpPr>
          <p:nvPr>
            <p:ph type="title"/>
          </p:nvPr>
        </p:nvSpPr>
        <p:spPr>
          <a:xfrm>
            <a:off x="2699792" y="0"/>
            <a:ext cx="8424863" cy="1143000"/>
          </a:xfrm>
        </p:spPr>
        <p:txBody>
          <a:bodyPr/>
          <a:lstStyle/>
          <a:p>
            <a:r>
              <a:rPr lang="en-GB" dirty="0">
                <a:solidFill>
                  <a:schemeClr val="bg1"/>
                </a:solidFill>
              </a:rPr>
              <a:t>Northbound Interface</a:t>
            </a:r>
          </a:p>
        </p:txBody>
      </p:sp>
      <p:sp>
        <p:nvSpPr>
          <p:cNvPr id="4" name="TextBox 3">
            <a:extLst>
              <a:ext uri="{FF2B5EF4-FFF2-40B4-BE49-F238E27FC236}">
                <a16:creationId xmlns:a16="http://schemas.microsoft.com/office/drawing/2014/main" id="{D43109FD-1F3E-634F-C5C7-5EE207397FED}"/>
              </a:ext>
            </a:extLst>
          </p:cNvPr>
          <p:cNvSpPr txBox="1"/>
          <p:nvPr/>
        </p:nvSpPr>
        <p:spPr>
          <a:xfrm>
            <a:off x="107504" y="1268760"/>
            <a:ext cx="5040560" cy="5078313"/>
          </a:xfrm>
          <a:prstGeom prst="rect">
            <a:avLst/>
          </a:prstGeom>
          <a:noFill/>
        </p:spPr>
        <p:txBody>
          <a:bodyPr wrap="square">
            <a:spAutoFit/>
          </a:bodyPr>
          <a:lstStyle/>
          <a:p>
            <a:pPr marL="285750" indent="-285750" algn="l">
              <a:buFont typeface="Arial" panose="020B0604020202020204" pitchFamily="34" charset="0"/>
              <a:buChar char="•"/>
            </a:pPr>
            <a:r>
              <a:rPr lang="en-GB" b="0" i="0" dirty="0">
                <a:solidFill>
                  <a:srgbClr val="000000"/>
                </a:solidFill>
                <a:effectLst/>
                <a:highlight>
                  <a:srgbClr val="FFFFFF"/>
                </a:highlight>
                <a:latin typeface="Open Sans" panose="020B0606030504020204" pitchFamily="34" charset="0"/>
              </a:rPr>
              <a:t>Used to access the SDN controller itself. </a:t>
            </a:r>
          </a:p>
          <a:p>
            <a:pPr marL="285750" indent="-285750" algn="l">
              <a:buFont typeface="Arial" panose="020B0604020202020204" pitchFamily="34" charset="0"/>
              <a:buChar char="•"/>
            </a:pPr>
            <a:endParaRPr lang="en-GB" b="0" i="0" dirty="0">
              <a:solidFill>
                <a:srgbClr val="000000"/>
              </a:solidFill>
              <a:effectLst/>
              <a:highlight>
                <a:srgbClr val="FFFFFF"/>
              </a:highlight>
              <a:latin typeface="Open Sans" panose="020B0606030504020204" pitchFamily="34" charset="0"/>
            </a:endParaRPr>
          </a:p>
          <a:p>
            <a:pPr marL="285750" indent="-285750" algn="l">
              <a:buFont typeface="Arial" panose="020B0604020202020204" pitchFamily="34" charset="0"/>
              <a:buChar char="•"/>
            </a:pPr>
            <a:r>
              <a:rPr lang="en-GB" b="0" i="0" dirty="0">
                <a:solidFill>
                  <a:srgbClr val="000000"/>
                </a:solidFill>
                <a:effectLst/>
                <a:highlight>
                  <a:srgbClr val="FFFFFF"/>
                </a:highlight>
                <a:latin typeface="Open Sans" panose="020B0606030504020204" pitchFamily="34" charset="0"/>
              </a:rPr>
              <a:t>This allows a network administrator to access the SDN to configure it or to retrieve information from it.</a:t>
            </a:r>
          </a:p>
          <a:p>
            <a:pPr marL="285750" indent="-285750">
              <a:buFont typeface="Arial" panose="020B0604020202020204" pitchFamily="34" charset="0"/>
              <a:buChar char="•"/>
            </a:pPr>
            <a:endParaRPr lang="en-GB" b="0" i="0" dirty="0">
              <a:solidFill>
                <a:srgbClr val="000000"/>
              </a:solidFill>
              <a:effectLst/>
              <a:highlight>
                <a:srgbClr val="FFFFFF"/>
              </a:highlight>
              <a:latin typeface="Open Sans" panose="020B0606030504020204" pitchFamily="34" charset="0"/>
            </a:endParaRPr>
          </a:p>
          <a:p>
            <a:pPr marL="285750" indent="-285750">
              <a:buFont typeface="Arial" panose="020B0604020202020204" pitchFamily="34" charset="0"/>
              <a:buChar char="•"/>
            </a:pPr>
            <a:r>
              <a:rPr lang="en-GB" b="0" i="0" dirty="0">
                <a:solidFill>
                  <a:srgbClr val="000000"/>
                </a:solidFill>
                <a:effectLst/>
                <a:highlight>
                  <a:srgbClr val="FFFFFF"/>
                </a:highlight>
                <a:latin typeface="Open Sans" panose="020B0606030504020204" pitchFamily="34" charset="0"/>
              </a:rPr>
              <a:t>use this to write scripts and automate your network administration. </a:t>
            </a:r>
          </a:p>
          <a:p>
            <a:pPr lvl="1">
              <a:buFont typeface="Arial" panose="020B0604020202020204" pitchFamily="34" charset="0"/>
              <a:buChar char="•"/>
            </a:pPr>
            <a:r>
              <a:rPr lang="en-GB" b="0" i="0" dirty="0">
                <a:solidFill>
                  <a:srgbClr val="000000"/>
                </a:solidFill>
                <a:effectLst/>
                <a:highlight>
                  <a:srgbClr val="FFFFFF"/>
                </a:highlight>
                <a:latin typeface="Open Sans" panose="020B0606030504020204" pitchFamily="34" charset="0"/>
              </a:rPr>
              <a:t>List information from all network devices in your network.</a:t>
            </a:r>
          </a:p>
          <a:p>
            <a:pPr lvl="1">
              <a:buFont typeface="Arial" panose="020B0604020202020204" pitchFamily="34" charset="0"/>
              <a:buChar char="•"/>
            </a:pPr>
            <a:r>
              <a:rPr lang="en-GB" b="0" i="0" dirty="0">
                <a:solidFill>
                  <a:srgbClr val="000000"/>
                </a:solidFill>
                <a:effectLst/>
                <a:highlight>
                  <a:srgbClr val="FFFFFF"/>
                </a:highlight>
                <a:latin typeface="Open Sans" panose="020B0606030504020204" pitchFamily="34" charset="0"/>
              </a:rPr>
              <a:t>Show the status of all physical interfaces in the network.</a:t>
            </a:r>
          </a:p>
          <a:p>
            <a:pPr lvl="1">
              <a:buFont typeface="Arial" panose="020B0604020202020204" pitchFamily="34" charset="0"/>
              <a:buChar char="•"/>
            </a:pPr>
            <a:r>
              <a:rPr lang="en-GB" b="0" i="0" dirty="0">
                <a:solidFill>
                  <a:srgbClr val="000000"/>
                </a:solidFill>
                <a:effectLst/>
                <a:highlight>
                  <a:srgbClr val="FFFFFF"/>
                </a:highlight>
                <a:latin typeface="Open Sans" panose="020B0606030504020204" pitchFamily="34" charset="0"/>
              </a:rPr>
              <a:t>Add a new VLAN on all your switches.</a:t>
            </a:r>
          </a:p>
          <a:p>
            <a:pPr lvl="1">
              <a:buFont typeface="Arial" panose="020B0604020202020204" pitchFamily="34" charset="0"/>
              <a:buChar char="•"/>
            </a:pPr>
            <a:r>
              <a:rPr lang="en-GB" b="0" i="0" dirty="0">
                <a:solidFill>
                  <a:srgbClr val="000000"/>
                </a:solidFill>
                <a:effectLst/>
                <a:highlight>
                  <a:srgbClr val="FFFFFF"/>
                </a:highlight>
                <a:latin typeface="Open Sans" panose="020B0606030504020204" pitchFamily="34" charset="0"/>
              </a:rPr>
              <a:t>Show the topology of your entire network.</a:t>
            </a:r>
          </a:p>
          <a:p>
            <a:pPr lvl="1">
              <a:buFont typeface="Arial" panose="020B0604020202020204" pitchFamily="34" charset="0"/>
              <a:buChar char="•"/>
            </a:pPr>
            <a:r>
              <a:rPr lang="en-GB" b="0" i="0" dirty="0">
                <a:solidFill>
                  <a:srgbClr val="000000"/>
                </a:solidFill>
                <a:effectLst/>
                <a:highlight>
                  <a:srgbClr val="FFFFFF"/>
                </a:highlight>
                <a:latin typeface="Open Sans" panose="020B0606030504020204" pitchFamily="34" charset="0"/>
              </a:rPr>
              <a:t>Automatically configure IP addresses, routing, and access-lists when a new virtual machine is created.</a:t>
            </a:r>
          </a:p>
        </p:txBody>
      </p:sp>
      <p:pic>
        <p:nvPicPr>
          <p:cNvPr id="2050" name="Picture 2" descr="SDN northbound interface api options">
            <a:extLst>
              <a:ext uri="{FF2B5EF4-FFF2-40B4-BE49-F238E27FC236}">
                <a16:creationId xmlns:a16="http://schemas.microsoft.com/office/drawing/2014/main" id="{A69C21C2-7013-D995-7C89-046C1C8BD3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8088" y="1484784"/>
            <a:ext cx="3867150" cy="433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512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80728"/>
            <a:ext cx="8424863" cy="1143000"/>
          </a:xfrm>
        </p:spPr>
        <p:txBody>
          <a:bodyPr/>
          <a:lstStyle/>
          <a:p>
            <a:r>
              <a:rPr lang="en-GB" spc="-20" dirty="0"/>
              <a:t>SDN - Data </a:t>
            </a:r>
            <a:r>
              <a:rPr lang="en-GB" spc="-5" dirty="0"/>
              <a:t>Plane </a:t>
            </a:r>
            <a:r>
              <a:rPr lang="en-GB" spc="-10" dirty="0"/>
              <a:t>Network</a:t>
            </a:r>
            <a:r>
              <a:rPr lang="en-GB" spc="-30" dirty="0"/>
              <a:t> </a:t>
            </a:r>
            <a:r>
              <a:rPr lang="en-GB" spc="-5" dirty="0"/>
              <a:t>Device</a:t>
            </a:r>
            <a:endParaRPr lang="en-GB"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5576" y="2312005"/>
            <a:ext cx="6959668" cy="42484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1DBC330-4214-A8BD-AD18-B581DE913ED4}"/>
              </a:ext>
            </a:extLst>
          </p:cNvPr>
          <p:cNvSpPr txBox="1"/>
          <p:nvPr/>
        </p:nvSpPr>
        <p:spPr>
          <a:xfrm>
            <a:off x="3353639" y="2924944"/>
            <a:ext cx="2018501" cy="369332"/>
          </a:xfrm>
          <a:prstGeom prst="rect">
            <a:avLst/>
          </a:prstGeom>
          <a:noFill/>
        </p:spPr>
        <p:txBody>
          <a:bodyPr wrap="none" rtlCol="0">
            <a:spAutoFit/>
          </a:bodyPr>
          <a:lstStyle/>
          <a:p>
            <a:r>
              <a:rPr lang="en-GB" dirty="0">
                <a:solidFill>
                  <a:srgbClr val="FF0000"/>
                </a:solidFill>
              </a:rPr>
              <a:t>Switches , routers</a:t>
            </a:r>
          </a:p>
        </p:txBody>
      </p:sp>
      <p:sp>
        <p:nvSpPr>
          <p:cNvPr id="4" name="TextBox 3">
            <a:extLst>
              <a:ext uri="{FF2B5EF4-FFF2-40B4-BE49-F238E27FC236}">
                <a16:creationId xmlns:a16="http://schemas.microsoft.com/office/drawing/2014/main" id="{4640D0E5-84BE-F552-4B66-2981FAFEEE1B}"/>
              </a:ext>
            </a:extLst>
          </p:cNvPr>
          <p:cNvSpPr txBox="1"/>
          <p:nvPr/>
        </p:nvSpPr>
        <p:spPr>
          <a:xfrm>
            <a:off x="642358" y="5914146"/>
            <a:ext cx="2746234" cy="646331"/>
          </a:xfrm>
          <a:prstGeom prst="rect">
            <a:avLst/>
          </a:prstGeom>
          <a:noFill/>
        </p:spPr>
        <p:txBody>
          <a:bodyPr wrap="square" rtlCol="0">
            <a:spAutoFit/>
          </a:bodyPr>
          <a:lstStyle/>
          <a:p>
            <a:r>
              <a:rPr lang="en-GB" dirty="0">
                <a:solidFill>
                  <a:srgbClr val="FF0000"/>
                </a:solidFill>
              </a:rPr>
              <a:t>Decision making rules defined by controller</a:t>
            </a:r>
          </a:p>
        </p:txBody>
      </p:sp>
      <p:cxnSp>
        <p:nvCxnSpPr>
          <p:cNvPr id="7" name="Straight Arrow Connector 6">
            <a:extLst>
              <a:ext uri="{FF2B5EF4-FFF2-40B4-BE49-F238E27FC236}">
                <a16:creationId xmlns:a16="http://schemas.microsoft.com/office/drawing/2014/main" id="{E4522628-30C3-D8A8-E9A5-422DD2132998}"/>
              </a:ext>
            </a:extLst>
          </p:cNvPr>
          <p:cNvCxnSpPr/>
          <p:nvPr/>
        </p:nvCxnSpPr>
        <p:spPr>
          <a:xfrm flipV="1">
            <a:off x="3059832" y="6043232"/>
            <a:ext cx="1512168" cy="1940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8F6E38E-644D-E7E5-B880-07871D60A678}"/>
              </a:ext>
            </a:extLst>
          </p:cNvPr>
          <p:cNvSpPr txBox="1"/>
          <p:nvPr/>
        </p:nvSpPr>
        <p:spPr>
          <a:xfrm>
            <a:off x="608373" y="3240559"/>
            <a:ext cx="2979568" cy="646331"/>
          </a:xfrm>
          <a:prstGeom prst="rect">
            <a:avLst/>
          </a:prstGeom>
          <a:noFill/>
        </p:spPr>
        <p:txBody>
          <a:bodyPr wrap="square" rtlCol="0">
            <a:spAutoFit/>
          </a:bodyPr>
          <a:lstStyle/>
          <a:p>
            <a:r>
              <a:rPr lang="en-GB" dirty="0">
                <a:solidFill>
                  <a:srgbClr val="0070C0"/>
                </a:solidFill>
              </a:rPr>
              <a:t>Management / rules passed down by controller</a:t>
            </a:r>
          </a:p>
        </p:txBody>
      </p:sp>
      <p:cxnSp>
        <p:nvCxnSpPr>
          <p:cNvPr id="10" name="Straight Arrow Connector 9">
            <a:extLst>
              <a:ext uri="{FF2B5EF4-FFF2-40B4-BE49-F238E27FC236}">
                <a16:creationId xmlns:a16="http://schemas.microsoft.com/office/drawing/2014/main" id="{D43974B6-5B9A-C079-CBDE-2314B695F4DF}"/>
              </a:ext>
            </a:extLst>
          </p:cNvPr>
          <p:cNvCxnSpPr/>
          <p:nvPr/>
        </p:nvCxnSpPr>
        <p:spPr>
          <a:xfrm>
            <a:off x="3563888" y="3563725"/>
            <a:ext cx="1296144" cy="2261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24623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37766" y="653017"/>
            <a:ext cx="8345488" cy="975783"/>
          </a:xfrm>
        </p:spPr>
        <p:txBody>
          <a:bodyPr/>
          <a:lstStyle/>
          <a:p>
            <a:r>
              <a:rPr lang="en-GB" dirty="0">
                <a:solidFill>
                  <a:schemeClr val="tx1"/>
                </a:solidFill>
              </a:rPr>
              <a:t>Example</a:t>
            </a:r>
          </a:p>
        </p:txBody>
      </p:sp>
      <p:pic>
        <p:nvPicPr>
          <p:cNvPr id="7170" name="Picture 2" descr="https://www.cisco.com/c/dam/global/en_uk/solutions/collateral/data-center-virtualization/application-centric-infrastructure/solution-overview-c22-741487.docx/_jcr_content/renditions/solution-overview-c22-741487_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815902"/>
            <a:ext cx="8190755" cy="3989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54037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3121" y="453618"/>
            <a:ext cx="4574921" cy="5749671"/>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5220072" y="3057524"/>
            <a:ext cx="3672408" cy="1674176"/>
          </a:xfrm>
          <a:prstGeom prst="rect">
            <a:avLst/>
          </a:prstGeom>
        </p:spPr>
        <p:txBody>
          <a:bodyPr vert="horz" wrap="square" lIns="0" tIns="12065" rIns="0" bIns="0" rtlCol="0">
            <a:spAutoFit/>
          </a:bodyPr>
          <a:lstStyle/>
          <a:p>
            <a:pPr marL="12065" marR="5080" algn="ctr">
              <a:lnSpc>
                <a:spcPct val="100000"/>
              </a:lnSpc>
              <a:spcBef>
                <a:spcPts val="95"/>
              </a:spcBef>
            </a:pPr>
            <a:r>
              <a:rPr sz="3600" spc="-10" dirty="0">
                <a:latin typeface="+mj-lt"/>
                <a:cs typeface="Times New Roman"/>
              </a:rPr>
              <a:t>SDN </a:t>
            </a:r>
            <a:r>
              <a:rPr sz="3600" spc="-5" dirty="0">
                <a:latin typeface="+mj-lt"/>
                <a:cs typeface="Times New Roman"/>
              </a:rPr>
              <a:t>and</a:t>
            </a:r>
            <a:r>
              <a:rPr sz="3600" spc="-50" dirty="0">
                <a:latin typeface="+mj-lt"/>
                <a:cs typeface="Times New Roman"/>
              </a:rPr>
              <a:t> </a:t>
            </a:r>
            <a:r>
              <a:rPr sz="3600" spc="-10" dirty="0">
                <a:latin typeface="+mj-lt"/>
                <a:cs typeface="Times New Roman"/>
              </a:rPr>
              <a:t>NFV  </a:t>
            </a:r>
            <a:r>
              <a:rPr sz="3600" spc="-5" dirty="0">
                <a:latin typeface="+mj-lt"/>
                <a:cs typeface="Times New Roman"/>
              </a:rPr>
              <a:t>Standards  Activities</a:t>
            </a:r>
            <a:endParaRPr sz="3600" dirty="0">
              <a:latin typeface="+mj-lt"/>
              <a:cs typeface="Times New Roman"/>
            </a:endParaRPr>
          </a:p>
        </p:txBody>
      </p:sp>
      <p:grpSp>
        <p:nvGrpSpPr>
          <p:cNvPr id="4" name="object 4"/>
          <p:cNvGrpSpPr/>
          <p:nvPr/>
        </p:nvGrpSpPr>
        <p:grpSpPr>
          <a:xfrm>
            <a:off x="4837303" y="605523"/>
            <a:ext cx="4307205" cy="1524000"/>
            <a:chOff x="4837303" y="605523"/>
            <a:chExt cx="4307205" cy="1524000"/>
          </a:xfrm>
        </p:grpSpPr>
        <p:sp>
          <p:nvSpPr>
            <p:cNvPr id="5" name="object 5"/>
            <p:cNvSpPr/>
            <p:nvPr/>
          </p:nvSpPr>
          <p:spPr>
            <a:xfrm>
              <a:off x="4837303" y="735838"/>
              <a:ext cx="4306696" cy="1393651"/>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4837303" y="605523"/>
              <a:ext cx="4306696" cy="260743"/>
            </a:xfrm>
            <a:prstGeom prst="rect">
              <a:avLst/>
            </a:prstGeom>
            <a:blipFill>
              <a:blip r:embed="rId5"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569791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980728"/>
            <a:ext cx="8424863" cy="1143000"/>
          </a:xfrm>
        </p:spPr>
        <p:txBody>
          <a:bodyPr/>
          <a:lstStyle/>
          <a:p>
            <a:r>
              <a:rPr lang="en-GB" dirty="0"/>
              <a:t>OpenFlow Logical Network Device</a:t>
            </a:r>
          </a:p>
        </p:txBody>
      </p:sp>
      <p:sp>
        <p:nvSpPr>
          <p:cNvPr id="3" name="Content Placeholder 2"/>
          <p:cNvSpPr>
            <a:spLocks noGrp="1"/>
          </p:cNvSpPr>
          <p:nvPr>
            <p:ph idx="1"/>
          </p:nvPr>
        </p:nvSpPr>
        <p:spPr>
          <a:xfrm>
            <a:off x="323528" y="2132856"/>
            <a:ext cx="8424863" cy="4321175"/>
          </a:xfrm>
        </p:spPr>
        <p:txBody>
          <a:bodyPr/>
          <a:lstStyle/>
          <a:p>
            <a:r>
              <a:rPr lang="en-GB" sz="2000" dirty="0"/>
              <a:t>SDN practical implementation requires: </a:t>
            </a:r>
          </a:p>
          <a:p>
            <a:pPr lvl="1"/>
            <a:r>
              <a:rPr lang="en-GB" sz="2000" dirty="0"/>
              <a:t>A common logical architecture in all switches, routers, and other network devices to be managed by an SDN controller. </a:t>
            </a:r>
          </a:p>
          <a:p>
            <a:pPr lvl="2"/>
            <a:r>
              <a:rPr lang="en-GB" sz="1800" dirty="0"/>
              <a:t>May be implemented in different ways as long as the SDN controller sees a uniform logical switch functionality. </a:t>
            </a:r>
          </a:p>
          <a:p>
            <a:pPr lvl="1"/>
            <a:r>
              <a:rPr lang="en-GB" sz="2000" dirty="0"/>
              <a:t>A standard, secure protocol is needed between the SDN controller and the network device.</a:t>
            </a:r>
          </a:p>
          <a:p>
            <a:r>
              <a:rPr lang="en-GB" sz="2000" dirty="0"/>
              <a:t>OpenFlow, an open source standard supported by many vendors</a:t>
            </a:r>
            <a:endParaRPr lang="en-GB" sz="1400" dirty="0"/>
          </a:p>
          <a:p>
            <a:pPr lvl="1"/>
            <a:r>
              <a:rPr lang="en-GB" sz="1800" dirty="0"/>
              <a:t>OpenFlow is both a protocol between SDN controllers and network devices and a specification of the logical structure of the network switch functionality. </a:t>
            </a:r>
          </a:p>
          <a:p>
            <a:pPr lvl="1"/>
            <a:r>
              <a:rPr lang="en-GB" sz="1800" dirty="0"/>
              <a:t>OpenFlow is defined in the OpenFlow Switch Specification, published by the Open Networking Foundation (ONF).</a:t>
            </a:r>
          </a:p>
        </p:txBody>
      </p:sp>
    </p:spTree>
    <p:extLst>
      <p:ext uri="{BB962C8B-B14F-4D97-AF65-F5344CB8AC3E}">
        <p14:creationId xmlns:p14="http://schemas.microsoft.com/office/powerpoint/2010/main" val="177223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861827"/>
            <a:ext cx="8424863" cy="1143000"/>
          </a:xfrm>
        </p:spPr>
        <p:txBody>
          <a:bodyPr/>
          <a:lstStyle/>
          <a:p>
            <a:r>
              <a:rPr lang="en-GB" dirty="0"/>
              <a:t>OpenFlow </a:t>
            </a:r>
            <a:r>
              <a:rPr lang="en-GB" spc="-15" dirty="0"/>
              <a:t>Switch</a:t>
            </a:r>
            <a:r>
              <a:rPr lang="en-GB" spc="-80" dirty="0"/>
              <a:t> </a:t>
            </a:r>
            <a:r>
              <a:rPr lang="en-GB" spc="-20" dirty="0"/>
              <a:t>Context</a:t>
            </a:r>
            <a:endParaRPr lang="en-GB" dirty="0"/>
          </a:p>
        </p:txBody>
      </p:sp>
      <p:sp>
        <p:nvSpPr>
          <p:cNvPr id="3" name="Content Placeholder 2"/>
          <p:cNvSpPr>
            <a:spLocks noGrp="1"/>
          </p:cNvSpPr>
          <p:nvPr>
            <p:ph idx="1"/>
          </p:nvPr>
        </p:nvSpPr>
        <p:spPr>
          <a:xfrm>
            <a:off x="251520" y="2060849"/>
            <a:ext cx="7776863" cy="1080119"/>
          </a:xfrm>
        </p:spPr>
        <p:txBody>
          <a:bodyPr/>
          <a:lstStyle/>
          <a:p>
            <a:r>
              <a:rPr lang="en-GB" sz="2000" dirty="0"/>
              <a:t>Main elements of an OpenFlow environment, consisting of SDN controllers that include OpenFlow software, OpenFlow switches, and end systems</a:t>
            </a:r>
          </a:p>
        </p:txBody>
      </p:sp>
      <p:sp>
        <p:nvSpPr>
          <p:cNvPr id="4" name="object 2"/>
          <p:cNvSpPr/>
          <p:nvPr/>
        </p:nvSpPr>
        <p:spPr>
          <a:xfrm>
            <a:off x="2915816" y="2814640"/>
            <a:ext cx="5400600" cy="3926728"/>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045335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980728"/>
            <a:ext cx="8424863" cy="1143000"/>
          </a:xfrm>
        </p:spPr>
        <p:txBody>
          <a:bodyPr/>
          <a:lstStyle/>
          <a:p>
            <a:r>
              <a:rPr lang="en-GB" spc="-5" dirty="0"/>
              <a:t>Main Components of </a:t>
            </a:r>
            <a:r>
              <a:rPr lang="en-GB" dirty="0"/>
              <a:t>an </a:t>
            </a:r>
            <a:r>
              <a:rPr lang="en-GB" spc="-10" dirty="0"/>
              <a:t>OpenFlow (only) </a:t>
            </a:r>
            <a:r>
              <a:rPr lang="en-GB" spc="-20" dirty="0"/>
              <a:t>Switch</a:t>
            </a:r>
            <a:endParaRPr lang="en-GB" dirty="0"/>
          </a:p>
        </p:txBody>
      </p:sp>
      <p:sp>
        <p:nvSpPr>
          <p:cNvPr id="5" name="Content Placeholder 4"/>
          <p:cNvSpPr>
            <a:spLocks noGrp="1"/>
          </p:cNvSpPr>
          <p:nvPr>
            <p:ph idx="1"/>
          </p:nvPr>
        </p:nvSpPr>
        <p:spPr>
          <a:xfrm>
            <a:off x="179513" y="2132856"/>
            <a:ext cx="3024336" cy="4321175"/>
          </a:xfrm>
        </p:spPr>
        <p:txBody>
          <a:bodyPr/>
          <a:lstStyle/>
          <a:p>
            <a:r>
              <a:rPr lang="en-GB" sz="2000" dirty="0"/>
              <a:t>Ports</a:t>
            </a:r>
          </a:p>
          <a:p>
            <a:pPr lvl="1"/>
            <a:r>
              <a:rPr lang="en-GB" sz="2000" dirty="0"/>
              <a:t>Physical, logical and reserved</a:t>
            </a:r>
          </a:p>
          <a:p>
            <a:r>
              <a:rPr lang="en-GB" sz="2000" dirty="0"/>
              <a:t>Tables</a:t>
            </a:r>
          </a:p>
          <a:p>
            <a:pPr lvl="1"/>
            <a:r>
              <a:rPr lang="en-GB" sz="2000" dirty="0"/>
              <a:t>Flow, group and meter</a:t>
            </a:r>
          </a:p>
        </p:txBody>
      </p:sp>
      <p:sp>
        <p:nvSpPr>
          <p:cNvPr id="4" name="object 2"/>
          <p:cNvSpPr/>
          <p:nvPr/>
        </p:nvSpPr>
        <p:spPr>
          <a:xfrm>
            <a:off x="2627784" y="1916832"/>
            <a:ext cx="6535678" cy="3600400"/>
          </a:xfrm>
          <a:prstGeom prst="rect">
            <a:avLst/>
          </a:prstGeom>
          <a:blipFill>
            <a:blip r:embed="rId3" cstate="print"/>
            <a:stretch>
              <a:fillRect/>
            </a:stretch>
          </a:blipFill>
        </p:spPr>
        <p:txBody>
          <a:bodyPr wrap="square" lIns="0" tIns="0" rIns="0" bIns="0" rtlCol="0"/>
          <a:lstStyle/>
          <a:p>
            <a:endParaRPr dirty="0"/>
          </a:p>
        </p:txBody>
      </p:sp>
      <p:sp>
        <p:nvSpPr>
          <p:cNvPr id="6" name="Rectangle 5"/>
          <p:cNvSpPr/>
          <p:nvPr/>
        </p:nvSpPr>
        <p:spPr>
          <a:xfrm>
            <a:off x="251520" y="5597607"/>
            <a:ext cx="6624736" cy="1200329"/>
          </a:xfrm>
          <a:prstGeom prst="rect">
            <a:avLst/>
          </a:prstGeom>
        </p:spPr>
        <p:txBody>
          <a:bodyPr wrap="square">
            <a:spAutoFit/>
          </a:bodyPr>
          <a:lstStyle/>
          <a:p>
            <a:r>
              <a:rPr lang="en-GB" i="1" dirty="0"/>
              <a:t>A flow is a sequence of packets traversing a network that share a set of header field values such as IP addresses or VLAN id</a:t>
            </a:r>
          </a:p>
          <a:p>
            <a:r>
              <a:rPr lang="en-GB" i="1" dirty="0"/>
              <a:t>Typical of what happens when a you require any form of traffic (e.g. downloading a file)</a:t>
            </a:r>
          </a:p>
        </p:txBody>
      </p:sp>
      <p:sp>
        <p:nvSpPr>
          <p:cNvPr id="3" name="TextBox 2">
            <a:extLst>
              <a:ext uri="{FF2B5EF4-FFF2-40B4-BE49-F238E27FC236}">
                <a16:creationId xmlns:a16="http://schemas.microsoft.com/office/drawing/2014/main" id="{3B73B897-8B8A-A5FC-4883-65459B0D5F47}"/>
              </a:ext>
            </a:extLst>
          </p:cNvPr>
          <p:cNvSpPr txBox="1"/>
          <p:nvPr/>
        </p:nvSpPr>
        <p:spPr>
          <a:xfrm>
            <a:off x="7380312" y="1523504"/>
            <a:ext cx="1656184" cy="954107"/>
          </a:xfrm>
          <a:prstGeom prst="rect">
            <a:avLst/>
          </a:prstGeom>
          <a:noFill/>
        </p:spPr>
        <p:txBody>
          <a:bodyPr wrap="square" rtlCol="0">
            <a:spAutoFit/>
          </a:bodyPr>
          <a:lstStyle/>
          <a:p>
            <a:r>
              <a:rPr lang="en-GB" sz="1400" dirty="0">
                <a:solidFill>
                  <a:srgbClr val="FF0000"/>
                </a:solidFill>
              </a:rPr>
              <a:t>Flow may be on group table which then dictates how it is handled</a:t>
            </a:r>
          </a:p>
        </p:txBody>
      </p:sp>
      <p:cxnSp>
        <p:nvCxnSpPr>
          <p:cNvPr id="8" name="Straight Arrow Connector 7">
            <a:extLst>
              <a:ext uri="{FF2B5EF4-FFF2-40B4-BE49-F238E27FC236}">
                <a16:creationId xmlns:a16="http://schemas.microsoft.com/office/drawing/2014/main" id="{AB745691-7CD8-F5BC-2B09-3E0890430EE1}"/>
              </a:ext>
            </a:extLst>
          </p:cNvPr>
          <p:cNvCxnSpPr/>
          <p:nvPr/>
        </p:nvCxnSpPr>
        <p:spPr>
          <a:xfrm flipH="1">
            <a:off x="7236296" y="2492896"/>
            <a:ext cx="783527" cy="12241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633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908720"/>
            <a:ext cx="8424863" cy="1143000"/>
          </a:xfrm>
        </p:spPr>
        <p:txBody>
          <a:bodyPr/>
          <a:lstStyle/>
          <a:p>
            <a:r>
              <a:rPr lang="en-GB" dirty="0"/>
              <a:t>Flow Table Structure</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348880"/>
            <a:ext cx="7362825" cy="3448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31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87824" y="1196752"/>
            <a:ext cx="5509824" cy="5446787"/>
          </a:xfrm>
          <a:prstGeom prst="rect">
            <a:avLst/>
          </a:prstGeom>
          <a:blipFill>
            <a:blip r:embed="rId3"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55000" y="1391924"/>
            <a:ext cx="3393440" cy="1121461"/>
          </a:xfrm>
          <a:prstGeom prst="rect">
            <a:avLst/>
          </a:prstGeom>
        </p:spPr>
        <p:txBody>
          <a:bodyPr vert="horz" wrap="square" lIns="0" tIns="13335" rIns="0" bIns="0" rtlCol="0">
            <a:spAutoFit/>
          </a:bodyPr>
          <a:lstStyle/>
          <a:p>
            <a:pPr marL="12700" marR="5080">
              <a:lnSpc>
                <a:spcPct val="100000"/>
              </a:lnSpc>
              <a:spcBef>
                <a:spcPts val="105"/>
              </a:spcBef>
            </a:pPr>
            <a:r>
              <a:rPr dirty="0"/>
              <a:t>SDN</a:t>
            </a:r>
            <a:r>
              <a:rPr spc="-70" dirty="0"/>
              <a:t> </a:t>
            </a:r>
            <a:r>
              <a:rPr spc="-15" dirty="0"/>
              <a:t>Controller  </a:t>
            </a:r>
            <a:r>
              <a:rPr spc="-20" dirty="0"/>
              <a:t>Interfaces</a:t>
            </a:r>
            <a:endParaRPr dirty="0"/>
          </a:p>
        </p:txBody>
      </p:sp>
    </p:spTree>
    <p:extLst>
      <p:ext uri="{BB962C8B-B14F-4D97-AF65-F5344CB8AC3E}">
        <p14:creationId xmlns:p14="http://schemas.microsoft.com/office/powerpoint/2010/main" val="1775834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980728"/>
            <a:ext cx="8424863" cy="1143000"/>
          </a:xfrm>
        </p:spPr>
        <p:txBody>
          <a:bodyPr/>
          <a:lstStyle/>
          <a:p>
            <a:r>
              <a:rPr lang="en-GB" spc="-5" dirty="0"/>
              <a:t>SDN </a:t>
            </a:r>
            <a:r>
              <a:rPr lang="en-GB" spc="-15" dirty="0"/>
              <a:t>Control </a:t>
            </a:r>
            <a:r>
              <a:rPr lang="en-GB" spc="-5" dirty="0"/>
              <a:t>Plane Functions and  </a:t>
            </a:r>
            <a:r>
              <a:rPr lang="en-GB" spc="-20" dirty="0"/>
              <a:t>Interfaces </a:t>
            </a:r>
            <a:endParaRPr lang="en-GB" dirty="0"/>
          </a:p>
        </p:txBody>
      </p:sp>
      <p:sp>
        <p:nvSpPr>
          <p:cNvPr id="4" name="object 2"/>
          <p:cNvSpPr/>
          <p:nvPr/>
        </p:nvSpPr>
        <p:spPr>
          <a:xfrm>
            <a:off x="2915816" y="2215248"/>
            <a:ext cx="5693990" cy="4022064"/>
          </a:xfrm>
          <a:prstGeom prst="rect">
            <a:avLst/>
          </a:prstGeom>
          <a:blipFill>
            <a:blip r:embed="rId3" cstate="print"/>
            <a:stretch>
              <a:fillRect/>
            </a:stretch>
          </a:blipFill>
        </p:spPr>
        <p:txBody>
          <a:bodyPr wrap="square" lIns="0" tIns="0" rIns="0" bIns="0" rtlCol="0"/>
          <a:lstStyle/>
          <a:p>
            <a:endParaRPr dirty="0"/>
          </a:p>
        </p:txBody>
      </p:sp>
      <p:grpSp>
        <p:nvGrpSpPr>
          <p:cNvPr id="7" name="Group 6">
            <a:extLst>
              <a:ext uri="{FF2B5EF4-FFF2-40B4-BE49-F238E27FC236}">
                <a16:creationId xmlns:a16="http://schemas.microsoft.com/office/drawing/2014/main" id="{C3C45DF9-D86F-F316-92E8-EDCB75EDC327}"/>
              </a:ext>
            </a:extLst>
          </p:cNvPr>
          <p:cNvGrpSpPr/>
          <p:nvPr/>
        </p:nvGrpSpPr>
        <p:grpSpPr>
          <a:xfrm>
            <a:off x="321544" y="2195296"/>
            <a:ext cx="4250456" cy="1143000"/>
            <a:chOff x="321544" y="2195296"/>
            <a:chExt cx="4250456" cy="1233704"/>
          </a:xfrm>
        </p:grpSpPr>
        <p:sp>
          <p:nvSpPr>
            <p:cNvPr id="3" name="TextBox 2">
              <a:extLst>
                <a:ext uri="{FF2B5EF4-FFF2-40B4-BE49-F238E27FC236}">
                  <a16:creationId xmlns:a16="http://schemas.microsoft.com/office/drawing/2014/main" id="{19D98AB5-0198-CED3-4C82-FABACCEB0873}"/>
                </a:ext>
              </a:extLst>
            </p:cNvPr>
            <p:cNvSpPr txBox="1"/>
            <p:nvPr/>
          </p:nvSpPr>
          <p:spPr>
            <a:xfrm>
              <a:off x="321544" y="2195296"/>
              <a:ext cx="2525638" cy="1077218"/>
            </a:xfrm>
            <a:prstGeom prst="rect">
              <a:avLst/>
            </a:prstGeom>
            <a:noFill/>
          </p:spPr>
          <p:txBody>
            <a:bodyPr wrap="square" rtlCol="0">
              <a:spAutoFit/>
            </a:bodyPr>
            <a:lstStyle/>
            <a:p>
              <a:r>
                <a:rPr lang="en-GB" sz="1600" dirty="0">
                  <a:solidFill>
                    <a:srgbClr val="FF0000"/>
                  </a:solidFill>
                </a:rPr>
                <a:t>Uses routing information collected from switches to establish preferred routes. </a:t>
              </a:r>
            </a:p>
          </p:txBody>
        </p:sp>
        <p:cxnSp>
          <p:nvCxnSpPr>
            <p:cNvPr id="6" name="Straight Arrow Connector 5">
              <a:extLst>
                <a:ext uri="{FF2B5EF4-FFF2-40B4-BE49-F238E27FC236}">
                  <a16:creationId xmlns:a16="http://schemas.microsoft.com/office/drawing/2014/main" id="{426BFDC7-DAF6-2109-D8D4-CCFCFCB38146}"/>
                </a:ext>
              </a:extLst>
            </p:cNvPr>
            <p:cNvCxnSpPr>
              <a:cxnSpLocks/>
              <a:stCxn id="3" idx="3"/>
            </p:cNvCxnSpPr>
            <p:nvPr/>
          </p:nvCxnSpPr>
          <p:spPr>
            <a:xfrm>
              <a:off x="2847182" y="2733905"/>
              <a:ext cx="1724818" cy="6950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90C523F1-88C4-2CDE-5584-6B3D37B9DF37}"/>
              </a:ext>
            </a:extLst>
          </p:cNvPr>
          <p:cNvSpPr txBox="1"/>
          <p:nvPr/>
        </p:nvSpPr>
        <p:spPr>
          <a:xfrm>
            <a:off x="107504" y="5157192"/>
            <a:ext cx="2428870" cy="369332"/>
          </a:xfrm>
          <a:prstGeom prst="rect">
            <a:avLst/>
          </a:prstGeom>
          <a:noFill/>
        </p:spPr>
        <p:txBody>
          <a:bodyPr wrap="none" rtlCol="0">
            <a:spAutoFit/>
          </a:bodyPr>
          <a:lstStyle/>
          <a:p>
            <a:r>
              <a:rPr lang="en-GB" dirty="0">
                <a:solidFill>
                  <a:srgbClr val="00B050"/>
                </a:solidFill>
              </a:rPr>
              <a:t>Collects Stats on data</a:t>
            </a:r>
          </a:p>
        </p:txBody>
      </p:sp>
      <p:cxnSp>
        <p:nvCxnSpPr>
          <p:cNvPr id="11" name="Straight Arrow Connector 10">
            <a:extLst>
              <a:ext uri="{FF2B5EF4-FFF2-40B4-BE49-F238E27FC236}">
                <a16:creationId xmlns:a16="http://schemas.microsoft.com/office/drawing/2014/main" id="{39CFE51B-9AEA-5C46-A801-5FF06D82E43B}"/>
              </a:ext>
            </a:extLst>
          </p:cNvPr>
          <p:cNvCxnSpPr>
            <a:stCxn id="9" idx="3"/>
          </p:cNvCxnSpPr>
          <p:nvPr/>
        </p:nvCxnSpPr>
        <p:spPr>
          <a:xfrm flipV="1">
            <a:off x="2536374" y="4734273"/>
            <a:ext cx="3475786" cy="6075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A85FE3A-8304-D955-DD86-5744E1F89EA4}"/>
              </a:ext>
            </a:extLst>
          </p:cNvPr>
          <p:cNvSpPr txBox="1"/>
          <p:nvPr/>
        </p:nvSpPr>
        <p:spPr>
          <a:xfrm>
            <a:off x="4067944" y="6408593"/>
            <a:ext cx="5715026" cy="307777"/>
          </a:xfrm>
          <a:prstGeom prst="rect">
            <a:avLst/>
          </a:prstGeom>
          <a:noFill/>
        </p:spPr>
        <p:txBody>
          <a:bodyPr wrap="none" rtlCol="0">
            <a:spAutoFit/>
          </a:bodyPr>
          <a:lstStyle/>
          <a:p>
            <a:r>
              <a:rPr lang="en-GB" sz="1400" dirty="0">
                <a:solidFill>
                  <a:srgbClr val="0070C0"/>
                </a:solidFill>
              </a:rPr>
              <a:t>Configures switch parameters and attributes and manages flow tables</a:t>
            </a:r>
          </a:p>
        </p:txBody>
      </p:sp>
      <p:cxnSp>
        <p:nvCxnSpPr>
          <p:cNvPr id="14" name="Straight Arrow Connector 13">
            <a:extLst>
              <a:ext uri="{FF2B5EF4-FFF2-40B4-BE49-F238E27FC236}">
                <a16:creationId xmlns:a16="http://schemas.microsoft.com/office/drawing/2014/main" id="{7AA5401B-7D05-5801-02EC-02E636733247}"/>
              </a:ext>
            </a:extLst>
          </p:cNvPr>
          <p:cNvCxnSpPr/>
          <p:nvPr/>
        </p:nvCxnSpPr>
        <p:spPr>
          <a:xfrm flipV="1">
            <a:off x="6012160" y="4879254"/>
            <a:ext cx="1584176" cy="1574082"/>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8C219482-6B9B-13BC-CEB6-599649E8F411}"/>
              </a:ext>
            </a:extLst>
          </p:cNvPr>
          <p:cNvGrpSpPr/>
          <p:nvPr/>
        </p:nvGrpSpPr>
        <p:grpSpPr>
          <a:xfrm>
            <a:off x="179512" y="3487440"/>
            <a:ext cx="4392488" cy="1155313"/>
            <a:chOff x="179512" y="3487440"/>
            <a:chExt cx="4392488" cy="1155313"/>
          </a:xfrm>
        </p:grpSpPr>
        <p:sp>
          <p:nvSpPr>
            <p:cNvPr id="16" name="TextBox 15">
              <a:extLst>
                <a:ext uri="{FF2B5EF4-FFF2-40B4-BE49-F238E27FC236}">
                  <a16:creationId xmlns:a16="http://schemas.microsoft.com/office/drawing/2014/main" id="{D74E9480-3008-E844-4A69-8BB07FECD645}"/>
                </a:ext>
              </a:extLst>
            </p:cNvPr>
            <p:cNvSpPr txBox="1"/>
            <p:nvPr/>
          </p:nvSpPr>
          <p:spPr>
            <a:xfrm>
              <a:off x="179512" y="3487440"/>
              <a:ext cx="2356862" cy="830997"/>
            </a:xfrm>
            <a:prstGeom prst="rect">
              <a:avLst/>
            </a:prstGeom>
            <a:noFill/>
          </p:spPr>
          <p:txBody>
            <a:bodyPr wrap="square" rtlCol="0">
              <a:spAutoFit/>
            </a:bodyPr>
            <a:lstStyle/>
            <a:p>
              <a:r>
                <a:rPr lang="en-GB" sz="1600" dirty="0"/>
                <a:t>Builds and maintains switch interconnection topology information</a:t>
              </a:r>
            </a:p>
          </p:txBody>
        </p:sp>
        <p:cxnSp>
          <p:nvCxnSpPr>
            <p:cNvPr id="18" name="Straight Arrow Connector 17">
              <a:extLst>
                <a:ext uri="{FF2B5EF4-FFF2-40B4-BE49-F238E27FC236}">
                  <a16:creationId xmlns:a16="http://schemas.microsoft.com/office/drawing/2014/main" id="{ADA9BD34-5184-8191-0D36-2CB3BBD4B964}"/>
                </a:ext>
              </a:extLst>
            </p:cNvPr>
            <p:cNvCxnSpPr>
              <a:stCxn id="16" idx="3"/>
            </p:cNvCxnSpPr>
            <p:nvPr/>
          </p:nvCxnSpPr>
          <p:spPr>
            <a:xfrm>
              <a:off x="2536374" y="3902939"/>
              <a:ext cx="2035626" cy="7398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018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7504" y="1052736"/>
            <a:ext cx="8424863" cy="1143000"/>
          </a:xfrm>
        </p:spPr>
        <p:txBody>
          <a:bodyPr/>
          <a:lstStyle/>
          <a:p>
            <a:r>
              <a:rPr lang="en-GB" dirty="0"/>
              <a:t>Routing</a:t>
            </a:r>
          </a:p>
        </p:txBody>
      </p:sp>
      <p:sp>
        <p:nvSpPr>
          <p:cNvPr id="4" name="Content Placeholder 3"/>
          <p:cNvSpPr>
            <a:spLocks noGrp="1"/>
          </p:cNvSpPr>
          <p:nvPr>
            <p:ph idx="1"/>
          </p:nvPr>
        </p:nvSpPr>
        <p:spPr>
          <a:xfrm>
            <a:off x="179512" y="2204864"/>
            <a:ext cx="8424863" cy="4321175"/>
          </a:xfrm>
        </p:spPr>
        <p:txBody>
          <a:bodyPr/>
          <a:lstStyle/>
          <a:p>
            <a:r>
              <a:rPr lang="en-GB" sz="1800" dirty="0"/>
              <a:t>Traditionally the routing function is distributed among  the routers in a network</a:t>
            </a:r>
          </a:p>
          <a:p>
            <a:r>
              <a:rPr lang="en-GB" sz="1800" dirty="0"/>
              <a:t>In an SDN controlled network, it makes sense to  centralize the routing function within the SDN  controller</a:t>
            </a:r>
          </a:p>
          <a:p>
            <a:r>
              <a:rPr lang="en-GB" sz="1800" dirty="0"/>
              <a:t>The controller can develop a consistent view of the  network state for calculating shortest paths and can  implement application aware routing policies</a:t>
            </a:r>
          </a:p>
          <a:p>
            <a:pPr marL="355600" marR="5080" indent="-342900" algn="just">
              <a:lnSpc>
                <a:spcPts val="2920"/>
              </a:lnSpc>
              <a:spcBef>
                <a:spcPts val="685"/>
              </a:spcBef>
              <a:buFont typeface="Arial"/>
              <a:buChar char="•"/>
              <a:tabLst>
                <a:tab pos="355600" algn="l"/>
              </a:tabLst>
            </a:pPr>
            <a:r>
              <a:rPr lang="en-GB" sz="1800" dirty="0"/>
              <a:t>The data plane switches are relieved of the processing  and storage burden associated with routing, leading to  improved performance</a:t>
            </a:r>
          </a:p>
          <a:p>
            <a:pPr marL="12700">
              <a:lnSpc>
                <a:spcPct val="100000"/>
              </a:lnSpc>
              <a:spcBef>
                <a:spcPts val="580"/>
              </a:spcBef>
            </a:pPr>
            <a:r>
              <a:rPr lang="en-GB" sz="1800" spc="-5" dirty="0">
                <a:cs typeface="Carlito"/>
              </a:rPr>
              <a:t>The </a:t>
            </a:r>
            <a:r>
              <a:rPr lang="en-GB" sz="1800" spc="-10" dirty="0">
                <a:cs typeface="Carlito"/>
              </a:rPr>
              <a:t>centralized </a:t>
            </a:r>
            <a:r>
              <a:rPr lang="en-GB" sz="1800" spc="-5" dirty="0">
                <a:cs typeface="Carlito"/>
              </a:rPr>
              <a:t>routing application performs </a:t>
            </a:r>
            <a:r>
              <a:rPr lang="en-GB" sz="1800" spc="-10" dirty="0">
                <a:cs typeface="Carlito"/>
              </a:rPr>
              <a:t>two </a:t>
            </a:r>
            <a:r>
              <a:rPr lang="en-GB" sz="1800" spc="-5" dirty="0">
                <a:cs typeface="Carlito"/>
              </a:rPr>
              <a:t>distinct</a:t>
            </a:r>
            <a:r>
              <a:rPr lang="en-GB" sz="1800" spc="40" dirty="0">
                <a:cs typeface="Carlito"/>
              </a:rPr>
              <a:t> </a:t>
            </a:r>
            <a:r>
              <a:rPr lang="en-GB" sz="1800" dirty="0">
                <a:cs typeface="Carlito"/>
              </a:rPr>
              <a:t>functions:</a:t>
            </a:r>
          </a:p>
          <a:p>
            <a:pPr marL="755629" lvl="1" indent="-343535">
              <a:spcBef>
                <a:spcPts val="480"/>
              </a:spcBef>
              <a:buFont typeface="Arial"/>
              <a:buChar char="•"/>
              <a:tabLst>
                <a:tab pos="355600" algn="l"/>
                <a:tab pos="356235" algn="l"/>
              </a:tabLst>
            </a:pPr>
            <a:r>
              <a:rPr lang="en-GB" sz="2000" spc="-5" dirty="0">
                <a:cs typeface="Carlito"/>
              </a:rPr>
              <a:t>Link</a:t>
            </a:r>
            <a:r>
              <a:rPr lang="en-GB" sz="2000" spc="-15" dirty="0">
                <a:cs typeface="Carlito"/>
              </a:rPr>
              <a:t> </a:t>
            </a:r>
            <a:r>
              <a:rPr lang="en-GB" sz="2000" spc="-5" dirty="0">
                <a:cs typeface="Carlito"/>
              </a:rPr>
              <a:t>discovery</a:t>
            </a:r>
            <a:endParaRPr lang="en-GB" sz="2000" dirty="0">
              <a:cs typeface="Carlito"/>
            </a:endParaRPr>
          </a:p>
          <a:p>
            <a:pPr marL="755629" lvl="1" indent="-343535">
              <a:spcBef>
                <a:spcPts val="480"/>
              </a:spcBef>
              <a:buFont typeface="Arial"/>
              <a:buChar char="•"/>
              <a:tabLst>
                <a:tab pos="355600" algn="l"/>
                <a:tab pos="356235" algn="l"/>
              </a:tabLst>
            </a:pPr>
            <a:r>
              <a:rPr lang="en-GB" sz="2000" spc="-25" dirty="0">
                <a:cs typeface="Carlito"/>
              </a:rPr>
              <a:t>Topology</a:t>
            </a:r>
            <a:r>
              <a:rPr lang="en-GB" sz="2000" spc="-35" dirty="0">
                <a:cs typeface="Carlito"/>
              </a:rPr>
              <a:t> </a:t>
            </a:r>
            <a:r>
              <a:rPr lang="en-GB" sz="2000" dirty="0">
                <a:cs typeface="Carlito"/>
              </a:rPr>
              <a:t>manager</a:t>
            </a:r>
          </a:p>
          <a:p>
            <a:endParaRPr lang="en-GB" dirty="0"/>
          </a:p>
          <a:p>
            <a:endParaRPr lang="en-GB" dirty="0"/>
          </a:p>
        </p:txBody>
      </p:sp>
    </p:spTree>
    <p:extLst>
      <p:ext uri="{BB962C8B-B14F-4D97-AF65-F5344CB8AC3E}">
        <p14:creationId xmlns:p14="http://schemas.microsoft.com/office/powerpoint/2010/main" val="1077919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764704"/>
            <a:ext cx="8424863" cy="1143000"/>
          </a:xfrm>
        </p:spPr>
        <p:txBody>
          <a:bodyPr/>
          <a:lstStyle/>
          <a:p>
            <a:r>
              <a:rPr lang="en-GB" dirty="0"/>
              <a:t>OpenDaylight SDN controller</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97" y="1984969"/>
            <a:ext cx="6648450" cy="4324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8251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908720"/>
            <a:ext cx="8424863" cy="1143000"/>
          </a:xfrm>
        </p:spPr>
        <p:txBody>
          <a:bodyPr/>
          <a:lstStyle/>
          <a:p>
            <a:r>
              <a:rPr lang="en-GB" dirty="0"/>
              <a:t>SDN </a:t>
            </a:r>
            <a:r>
              <a:rPr lang="en-GB" spc="-10" dirty="0"/>
              <a:t>Application</a:t>
            </a:r>
            <a:r>
              <a:rPr lang="en-GB" spc="-40" dirty="0"/>
              <a:t> </a:t>
            </a:r>
            <a:r>
              <a:rPr lang="en-GB" dirty="0"/>
              <a:t>Plane</a:t>
            </a:r>
          </a:p>
        </p:txBody>
      </p:sp>
      <p:sp>
        <p:nvSpPr>
          <p:cNvPr id="4" name="object 2"/>
          <p:cNvSpPr/>
          <p:nvPr/>
        </p:nvSpPr>
        <p:spPr>
          <a:xfrm>
            <a:off x="2123728" y="1988840"/>
            <a:ext cx="6488319" cy="4485121"/>
          </a:xfrm>
          <a:prstGeom prst="rect">
            <a:avLst/>
          </a:prstGeom>
          <a:blipFill>
            <a:blip r:embed="rId3" cstate="print"/>
            <a:stretch>
              <a:fillRect/>
            </a:stretch>
          </a:blipFill>
        </p:spPr>
        <p:txBody>
          <a:bodyPr wrap="square" lIns="0" tIns="0" rIns="0" bIns="0" rtlCol="0"/>
          <a:lstStyle/>
          <a:p>
            <a:endParaRP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532EDDB1-9B2A-B74B-17ED-ACBC87DC6D2E}"/>
                  </a:ext>
                </a:extLst>
              </p14:cNvPr>
              <p14:cNvContentPartPr/>
              <p14:nvPr/>
            </p14:nvContentPartPr>
            <p14:xfrm>
              <a:off x="1657773" y="3261364"/>
              <a:ext cx="372600" cy="950040"/>
            </p14:xfrm>
          </p:contentPart>
        </mc:Choice>
        <mc:Fallback xmlns="">
          <p:pic>
            <p:nvPicPr>
              <p:cNvPr id="5" name="Ink 4">
                <a:extLst>
                  <a:ext uri="{FF2B5EF4-FFF2-40B4-BE49-F238E27FC236}">
                    <a16:creationId xmlns:a16="http://schemas.microsoft.com/office/drawing/2014/main" id="{532EDDB1-9B2A-B74B-17ED-ACBC87DC6D2E}"/>
                  </a:ext>
                </a:extLst>
              </p:cNvPr>
              <p:cNvPicPr/>
              <p:nvPr/>
            </p:nvPicPr>
            <p:blipFill>
              <a:blip r:embed="rId5"/>
              <a:stretch>
                <a:fillRect/>
              </a:stretch>
            </p:blipFill>
            <p:spPr>
              <a:xfrm>
                <a:off x="1651653" y="3255244"/>
                <a:ext cx="384840" cy="962280"/>
              </a:xfrm>
              <a:prstGeom prst="rect">
                <a:avLst/>
              </a:prstGeom>
            </p:spPr>
          </p:pic>
        </mc:Fallback>
      </mc:AlternateContent>
      <p:sp>
        <p:nvSpPr>
          <p:cNvPr id="6" name="TextBox 5">
            <a:extLst>
              <a:ext uri="{FF2B5EF4-FFF2-40B4-BE49-F238E27FC236}">
                <a16:creationId xmlns:a16="http://schemas.microsoft.com/office/drawing/2014/main" id="{3D38182C-EC71-03A0-C64A-9D6BED06168F}"/>
              </a:ext>
            </a:extLst>
          </p:cNvPr>
          <p:cNvSpPr txBox="1"/>
          <p:nvPr/>
        </p:nvSpPr>
        <p:spPr>
          <a:xfrm>
            <a:off x="130705" y="3068960"/>
            <a:ext cx="1634837" cy="923330"/>
          </a:xfrm>
          <a:prstGeom prst="rect">
            <a:avLst/>
          </a:prstGeom>
          <a:noFill/>
        </p:spPr>
        <p:txBody>
          <a:bodyPr wrap="square" rtlCol="0">
            <a:spAutoFit/>
          </a:bodyPr>
          <a:lstStyle/>
          <a:p>
            <a:r>
              <a:rPr lang="en-GB" dirty="0">
                <a:solidFill>
                  <a:srgbClr val="FF0000"/>
                </a:solidFill>
              </a:rPr>
              <a:t>Typical applications used on SDN </a:t>
            </a:r>
          </a:p>
        </p:txBody>
      </p:sp>
      <p:sp>
        <p:nvSpPr>
          <p:cNvPr id="7" name="TextBox 6">
            <a:extLst>
              <a:ext uri="{FF2B5EF4-FFF2-40B4-BE49-F238E27FC236}">
                <a16:creationId xmlns:a16="http://schemas.microsoft.com/office/drawing/2014/main" id="{EB5136E9-928C-478A-0C2C-94C556FA77C4}"/>
              </a:ext>
            </a:extLst>
          </p:cNvPr>
          <p:cNvSpPr txBox="1"/>
          <p:nvPr/>
        </p:nvSpPr>
        <p:spPr>
          <a:xfrm>
            <a:off x="44187" y="4564285"/>
            <a:ext cx="1807872" cy="1384995"/>
          </a:xfrm>
          <a:prstGeom prst="rect">
            <a:avLst/>
          </a:prstGeom>
          <a:noFill/>
        </p:spPr>
        <p:txBody>
          <a:bodyPr wrap="square" rtlCol="0">
            <a:spAutoFit/>
          </a:bodyPr>
          <a:lstStyle/>
          <a:p>
            <a:r>
              <a:rPr lang="en-GB" sz="1400" dirty="0">
                <a:solidFill>
                  <a:srgbClr val="0070C0"/>
                </a:solidFill>
              </a:rPr>
              <a:t>provides an abstract view of network resources that hides the details of the underlying data plane devices</a:t>
            </a:r>
          </a:p>
        </p:txBody>
      </p:sp>
      <p:cxnSp>
        <p:nvCxnSpPr>
          <p:cNvPr id="9" name="Straight Arrow Connector 8">
            <a:extLst>
              <a:ext uri="{FF2B5EF4-FFF2-40B4-BE49-F238E27FC236}">
                <a16:creationId xmlns:a16="http://schemas.microsoft.com/office/drawing/2014/main" id="{26BBAB68-389C-028E-5B96-EF525D722D17}"/>
              </a:ext>
            </a:extLst>
          </p:cNvPr>
          <p:cNvCxnSpPr/>
          <p:nvPr/>
        </p:nvCxnSpPr>
        <p:spPr>
          <a:xfrm>
            <a:off x="1844073" y="5009530"/>
            <a:ext cx="1071743"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9C5CFED-0495-AD53-83DD-10B5427B6ADA}"/>
              </a:ext>
            </a:extLst>
          </p:cNvPr>
          <p:cNvCxnSpPr/>
          <p:nvPr/>
        </p:nvCxnSpPr>
        <p:spPr>
          <a:xfrm flipV="1">
            <a:off x="3851920" y="6309320"/>
            <a:ext cx="0" cy="4320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7BF458C-6382-E7AA-057C-FD425855BCAA}"/>
              </a:ext>
            </a:extLst>
          </p:cNvPr>
          <p:cNvCxnSpPr/>
          <p:nvPr/>
        </p:nvCxnSpPr>
        <p:spPr>
          <a:xfrm flipV="1">
            <a:off x="4260729" y="6334472"/>
            <a:ext cx="0" cy="4320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43AD08A-5A12-FFC8-AC19-7A2EB4889E6B}"/>
              </a:ext>
            </a:extLst>
          </p:cNvPr>
          <p:cNvCxnSpPr/>
          <p:nvPr/>
        </p:nvCxnSpPr>
        <p:spPr>
          <a:xfrm flipV="1">
            <a:off x="4766320" y="6334472"/>
            <a:ext cx="0" cy="4320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74D2CB1-FB92-DE93-B176-C4E5F8DD85BA}"/>
              </a:ext>
            </a:extLst>
          </p:cNvPr>
          <p:cNvCxnSpPr/>
          <p:nvPr/>
        </p:nvCxnSpPr>
        <p:spPr>
          <a:xfrm flipV="1">
            <a:off x="5148064" y="6309320"/>
            <a:ext cx="0" cy="4320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17A06D8-7881-C6DF-3BB5-FEB183A66725}"/>
              </a:ext>
            </a:extLst>
          </p:cNvPr>
          <p:cNvCxnSpPr/>
          <p:nvPr/>
        </p:nvCxnSpPr>
        <p:spPr>
          <a:xfrm flipV="1">
            <a:off x="5796136" y="6309320"/>
            <a:ext cx="0" cy="4320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2987651-0B2B-5D62-A593-2B57C9A1D598}"/>
              </a:ext>
            </a:extLst>
          </p:cNvPr>
          <p:cNvCxnSpPr/>
          <p:nvPr/>
        </p:nvCxnSpPr>
        <p:spPr>
          <a:xfrm flipV="1">
            <a:off x="6300192" y="6309320"/>
            <a:ext cx="0" cy="4320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15E3DB9-D893-5489-1B58-4862352776D5}"/>
              </a:ext>
            </a:extLst>
          </p:cNvPr>
          <p:cNvCxnSpPr/>
          <p:nvPr/>
        </p:nvCxnSpPr>
        <p:spPr>
          <a:xfrm flipV="1">
            <a:off x="6804248" y="6309320"/>
            <a:ext cx="0" cy="4320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72474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052736"/>
            <a:ext cx="8424863" cy="1143000"/>
          </a:xfrm>
        </p:spPr>
        <p:txBody>
          <a:bodyPr/>
          <a:lstStyle/>
          <a:p>
            <a:r>
              <a:rPr lang="en-GB" spc="-10" dirty="0"/>
              <a:t>Network </a:t>
            </a:r>
            <a:r>
              <a:rPr lang="en-GB" spc="-5" dirty="0"/>
              <a:t>Functions </a:t>
            </a:r>
            <a:r>
              <a:rPr lang="en-GB" spc="-10" dirty="0"/>
              <a:t>Virtualization</a:t>
            </a:r>
            <a:r>
              <a:rPr lang="en-GB" spc="5" dirty="0"/>
              <a:t> </a:t>
            </a:r>
            <a:r>
              <a:rPr lang="en-GB" spc="-5" dirty="0"/>
              <a:t>(NFV)</a:t>
            </a:r>
            <a:endParaRPr lang="en-GB" dirty="0"/>
          </a:p>
        </p:txBody>
      </p:sp>
      <p:sp>
        <p:nvSpPr>
          <p:cNvPr id="3" name="Content Placeholder 2"/>
          <p:cNvSpPr>
            <a:spLocks noGrp="1"/>
          </p:cNvSpPr>
          <p:nvPr>
            <p:ph idx="1"/>
          </p:nvPr>
        </p:nvSpPr>
        <p:spPr>
          <a:xfrm>
            <a:off x="323528" y="1988840"/>
            <a:ext cx="8424863" cy="4321175"/>
          </a:xfrm>
        </p:spPr>
        <p:txBody>
          <a:bodyPr/>
          <a:lstStyle/>
          <a:p>
            <a:pPr>
              <a:lnSpc>
                <a:spcPct val="120000"/>
              </a:lnSpc>
            </a:pPr>
            <a:r>
              <a:rPr lang="en-GB" sz="2000" dirty="0"/>
              <a:t>Motivation</a:t>
            </a:r>
          </a:p>
          <a:p>
            <a:pPr lvl="1">
              <a:lnSpc>
                <a:spcPct val="120000"/>
              </a:lnSpc>
            </a:pPr>
            <a:r>
              <a:rPr lang="en-GB" sz="1800" dirty="0"/>
              <a:t>New network services may require additional different types of hardware appliances</a:t>
            </a:r>
          </a:p>
          <a:p>
            <a:pPr lvl="1">
              <a:lnSpc>
                <a:spcPct val="120000"/>
              </a:lnSpc>
            </a:pPr>
            <a:r>
              <a:rPr lang="en-GB" sz="1800" dirty="0"/>
              <a:t>New hardware means additional capital expenditures. </a:t>
            </a:r>
          </a:p>
          <a:p>
            <a:pPr lvl="1">
              <a:lnSpc>
                <a:spcPct val="120000"/>
              </a:lnSpc>
            </a:pPr>
            <a:r>
              <a:rPr lang="en-GB" sz="1800" dirty="0"/>
              <a:t>Skills necessary to design, integrate, and operate increasingly complex hardware-based appliances </a:t>
            </a:r>
          </a:p>
          <a:p>
            <a:pPr lvl="1">
              <a:lnSpc>
                <a:spcPct val="120000"/>
              </a:lnSpc>
            </a:pPr>
            <a:r>
              <a:rPr lang="en-GB" sz="1800" dirty="0"/>
              <a:t>Hardware-based appliances rapidly reach end of life</a:t>
            </a:r>
          </a:p>
          <a:p>
            <a:pPr lvl="1">
              <a:lnSpc>
                <a:spcPct val="120000"/>
              </a:lnSpc>
            </a:pPr>
            <a:r>
              <a:rPr lang="en-GB" sz="1800" dirty="0"/>
              <a:t>The need for an increasing variety of hardware platforms inhibits the introduction of new revenue-earning network services</a:t>
            </a:r>
          </a:p>
          <a:p>
            <a:pPr>
              <a:lnSpc>
                <a:spcPct val="120000"/>
              </a:lnSpc>
            </a:pPr>
            <a:r>
              <a:rPr lang="en-GB" sz="2000" dirty="0"/>
              <a:t>The NFV approach moves away from dependence on a variety of hardware platforms to the use of a small number of standardized platform types, with virtualization techniques used to provide the needed network functionality. </a:t>
            </a:r>
          </a:p>
        </p:txBody>
      </p:sp>
    </p:spTree>
    <p:extLst>
      <p:ext uri="{BB962C8B-B14F-4D97-AF65-F5344CB8AC3E}">
        <p14:creationId xmlns:p14="http://schemas.microsoft.com/office/powerpoint/2010/main" val="1337784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01" y="1052736"/>
            <a:ext cx="8424863" cy="1143000"/>
          </a:xfrm>
        </p:spPr>
        <p:txBody>
          <a:bodyPr/>
          <a:lstStyle/>
          <a:p>
            <a:r>
              <a:rPr lang="en-GB" dirty="0"/>
              <a:t>NVF</a:t>
            </a:r>
          </a:p>
        </p:txBody>
      </p:sp>
      <p:sp>
        <p:nvSpPr>
          <p:cNvPr id="3" name="Content Placeholder 2"/>
          <p:cNvSpPr>
            <a:spLocks noGrp="1"/>
          </p:cNvSpPr>
          <p:nvPr>
            <p:ph idx="1"/>
          </p:nvPr>
        </p:nvSpPr>
        <p:spPr>
          <a:xfrm>
            <a:off x="179512" y="2204864"/>
            <a:ext cx="8424863" cy="4321175"/>
          </a:xfrm>
        </p:spPr>
        <p:txBody>
          <a:bodyPr/>
          <a:lstStyle/>
          <a:p>
            <a:r>
              <a:rPr lang="en-GB" sz="2000" dirty="0"/>
              <a:t>NFV decouples network functions from proprietary hardware appliances so that they can run in software on VMs</a:t>
            </a:r>
          </a:p>
          <a:p>
            <a:pPr lvl="1"/>
            <a:r>
              <a:rPr lang="en-GB" sz="2000" dirty="0"/>
              <a:t>Network function devices: Such as switches, routers, network access points, customer premises equipment (CPE), and deep packet inspectors (for deep packet inspection).</a:t>
            </a:r>
          </a:p>
          <a:p>
            <a:pPr lvl="1"/>
            <a:r>
              <a:rPr lang="en-GB" sz="2000" dirty="0"/>
              <a:t>Network-related compute devices: Such as firewalls, intrusion detection systems, and network management systems. </a:t>
            </a:r>
          </a:p>
          <a:p>
            <a:pPr lvl="1"/>
            <a:r>
              <a:rPr lang="en-GB" sz="2000" dirty="0"/>
              <a:t>Network-attached storage: File and database servers attached to the network.</a:t>
            </a:r>
          </a:p>
          <a:p>
            <a:r>
              <a:rPr lang="en-GB" sz="2000" dirty="0">
                <a:cs typeface="Carlito"/>
              </a:rPr>
              <a:t>Builds </a:t>
            </a:r>
            <a:r>
              <a:rPr lang="en-GB" sz="2000" spc="-5" dirty="0">
                <a:cs typeface="Carlito"/>
              </a:rPr>
              <a:t>on </a:t>
            </a:r>
            <a:r>
              <a:rPr lang="en-GB" sz="2000" spc="-15" dirty="0">
                <a:cs typeface="Carlito"/>
              </a:rPr>
              <a:t>standard </a:t>
            </a:r>
            <a:r>
              <a:rPr lang="en-GB" sz="2000" dirty="0">
                <a:cs typeface="Carlito"/>
              </a:rPr>
              <a:t>VM technologies, </a:t>
            </a:r>
            <a:r>
              <a:rPr lang="en-GB" sz="2000" spc="-10" dirty="0">
                <a:cs typeface="Carlito"/>
              </a:rPr>
              <a:t>extending </a:t>
            </a:r>
            <a:r>
              <a:rPr lang="en-GB" sz="2000" dirty="0">
                <a:cs typeface="Carlito"/>
              </a:rPr>
              <a:t>their</a:t>
            </a:r>
            <a:r>
              <a:rPr lang="en-GB" sz="2000" spc="-105" dirty="0">
                <a:cs typeface="Carlito"/>
              </a:rPr>
              <a:t> </a:t>
            </a:r>
            <a:r>
              <a:rPr lang="en-GB" sz="2000" spc="-5" dirty="0">
                <a:cs typeface="Carlito"/>
              </a:rPr>
              <a:t>use  </a:t>
            </a:r>
            <a:r>
              <a:rPr lang="en-GB" sz="2000" spc="-10" dirty="0">
                <a:cs typeface="Carlito"/>
              </a:rPr>
              <a:t>into </a:t>
            </a:r>
            <a:r>
              <a:rPr lang="en-GB" sz="2000" dirty="0">
                <a:cs typeface="Carlito"/>
              </a:rPr>
              <a:t>the </a:t>
            </a:r>
            <a:r>
              <a:rPr lang="en-GB" sz="2000" spc="-10" dirty="0">
                <a:cs typeface="Carlito"/>
              </a:rPr>
              <a:t>networking</a:t>
            </a:r>
            <a:r>
              <a:rPr lang="en-GB" sz="2000" spc="-30" dirty="0">
                <a:cs typeface="Carlito"/>
              </a:rPr>
              <a:t> </a:t>
            </a:r>
            <a:r>
              <a:rPr lang="en-GB" sz="2000" spc="-5" dirty="0">
                <a:cs typeface="Carlito"/>
              </a:rPr>
              <a:t>domain</a:t>
            </a:r>
            <a:endParaRPr lang="en-GB" sz="2000" dirty="0">
              <a:cs typeface="Carlito"/>
            </a:endParaRPr>
          </a:p>
          <a:p>
            <a:pPr lvl="1"/>
            <a:endParaRPr lang="en-GB" sz="2000" dirty="0"/>
          </a:p>
        </p:txBody>
      </p:sp>
    </p:spTree>
    <p:extLst>
      <p:ext uri="{BB962C8B-B14F-4D97-AF65-F5344CB8AC3E}">
        <p14:creationId xmlns:p14="http://schemas.microsoft.com/office/powerpoint/2010/main" val="35347928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87823" y="1124744"/>
            <a:ext cx="5727131" cy="5405142"/>
          </a:xfrm>
          <a:prstGeom prst="rect">
            <a:avLst/>
          </a:prstGeom>
          <a:blipFill>
            <a:blip r:embed="rId3"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467544" y="1268760"/>
            <a:ext cx="1981835" cy="1244600"/>
          </a:xfrm>
          <a:prstGeom prst="rect">
            <a:avLst/>
          </a:prstGeom>
        </p:spPr>
        <p:txBody>
          <a:bodyPr vert="horz" wrap="square" lIns="0" tIns="12065" rIns="0" bIns="0" rtlCol="0">
            <a:spAutoFit/>
          </a:bodyPr>
          <a:lstStyle/>
          <a:p>
            <a:pPr marL="12700" marR="5080">
              <a:lnSpc>
                <a:spcPct val="100000"/>
              </a:lnSpc>
              <a:spcBef>
                <a:spcPts val="95"/>
              </a:spcBef>
            </a:pPr>
            <a:r>
              <a:rPr spc="-10" dirty="0"/>
              <a:t>Vision</a:t>
            </a:r>
            <a:r>
              <a:rPr spc="-70" dirty="0"/>
              <a:t> </a:t>
            </a:r>
            <a:r>
              <a:rPr spc="-35" dirty="0"/>
              <a:t>for  </a:t>
            </a:r>
            <a:r>
              <a:rPr spc="-5" dirty="0"/>
              <a:t>NFV</a:t>
            </a:r>
          </a:p>
        </p:txBody>
      </p:sp>
    </p:spTree>
    <p:extLst>
      <p:ext uri="{BB962C8B-B14F-4D97-AF65-F5344CB8AC3E}">
        <p14:creationId xmlns:p14="http://schemas.microsoft.com/office/powerpoint/2010/main" val="17562708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idx="4294967295"/>
          </p:nvPr>
        </p:nvSpPr>
        <p:spPr>
          <a:xfrm>
            <a:off x="2627784" y="3429000"/>
            <a:ext cx="3208588" cy="799051"/>
          </a:xfrm>
          <a:prstGeom prst="rect">
            <a:avLst/>
          </a:prstGeom>
        </p:spPr>
        <p:txBody>
          <a:bodyPr vert="horz" wrap="square" lIns="0" tIns="31474" rIns="0" bIns="0" rtlCol="0">
            <a:spAutoFit/>
          </a:bodyPr>
          <a:lstStyle/>
          <a:p>
            <a:pPr marL="25179">
              <a:spcBef>
                <a:spcPts val="248"/>
              </a:spcBef>
            </a:pPr>
            <a:r>
              <a:rPr sz="4900" spc="20" dirty="0"/>
              <a:t>Questions?</a:t>
            </a:r>
            <a:endParaRPr sz="4900" dirty="0"/>
          </a:p>
        </p:txBody>
      </p:sp>
    </p:spTree>
    <p:extLst>
      <p:ext uri="{BB962C8B-B14F-4D97-AF65-F5344CB8AC3E}">
        <p14:creationId xmlns:p14="http://schemas.microsoft.com/office/powerpoint/2010/main" val="28454047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uow2">
  <a:themeElements>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ow2">
      <a:majorFont>
        <a:latin typeface="Rockwel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ow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ow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ow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ow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ow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ow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ow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ow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ow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ow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ow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uow2</Template>
  <TotalTime>41413</TotalTime>
  <Words>11734</Words>
  <Application>Microsoft Office PowerPoint</Application>
  <PresentationFormat>On-screen Show (4:3)</PresentationFormat>
  <Paragraphs>437</Paragraphs>
  <Slides>37</Slides>
  <Notes>36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Carlito</vt:lpstr>
      <vt:lpstr>CiscoSans ExtraLight</vt:lpstr>
      <vt:lpstr>CiscoSansLight</vt:lpstr>
      <vt:lpstr>Helvetica</vt:lpstr>
      <vt:lpstr>Open Sans</vt:lpstr>
      <vt:lpstr>Rockwell</vt:lpstr>
      <vt:lpstr>uow2</vt:lpstr>
      <vt:lpstr>Software Defined Networking</vt:lpstr>
      <vt:lpstr>The Modern Networking Ecosystem</vt:lpstr>
      <vt:lpstr>A Global Network Architecture</vt:lpstr>
      <vt:lpstr>A Typical Network Hierarchy</vt:lpstr>
      <vt:lpstr>Ethernet</vt:lpstr>
      <vt:lpstr>Ethernet in the Office</vt:lpstr>
      <vt:lpstr>PowerPoint Presentation</vt:lpstr>
      <vt:lpstr>Evolving Network Requirements</vt:lpstr>
      <vt:lpstr>PowerPoint Presentation</vt:lpstr>
      <vt:lpstr>Quality of Experience (QoE)</vt:lpstr>
      <vt:lpstr>Routing Characteristics</vt:lpstr>
      <vt:lpstr>Elements of a Router</vt:lpstr>
      <vt:lpstr>Traditional Network Architectures</vt:lpstr>
      <vt:lpstr>PowerPoint Presentation</vt:lpstr>
      <vt:lpstr>Software Defined Networking</vt:lpstr>
      <vt:lpstr>The SDN Approach- Requirements</vt:lpstr>
      <vt:lpstr>SDN Architecture – analogy with computing systems</vt:lpstr>
      <vt:lpstr>PowerPoint Presentation</vt:lpstr>
      <vt:lpstr>Control Plane and Data Plane</vt:lpstr>
      <vt:lpstr>SDN Architecture</vt:lpstr>
      <vt:lpstr>Northbound Interface</vt:lpstr>
      <vt:lpstr>SDN - Data Plane Network Device</vt:lpstr>
      <vt:lpstr>Example</vt:lpstr>
      <vt:lpstr>PowerPoint Presentation</vt:lpstr>
      <vt:lpstr>OpenFlow Logical Network Device</vt:lpstr>
      <vt:lpstr>OpenFlow Switch Context</vt:lpstr>
      <vt:lpstr>Main Components of an OpenFlow (only) Switch</vt:lpstr>
      <vt:lpstr>Flow Table Structure</vt:lpstr>
      <vt:lpstr>SDN Controller  Interfaces</vt:lpstr>
      <vt:lpstr>SDN Control Plane Functions and  Interfaces </vt:lpstr>
      <vt:lpstr>Routing</vt:lpstr>
      <vt:lpstr>OpenDaylight SDN controller</vt:lpstr>
      <vt:lpstr>SDN Application Plane</vt:lpstr>
      <vt:lpstr>Network Functions Virtualization (NFV)</vt:lpstr>
      <vt:lpstr>NVF</vt:lpstr>
      <vt:lpstr>Vision for  NFV</vt:lpstr>
      <vt:lpstr>Questions?</vt:lpstr>
    </vt:vector>
  </TitlesOfParts>
  <Company>University of Wolverhampton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Mbarushimana, Consolee</dc:creator>
  <cp:lastModifiedBy>Coulson, Ian M. (Dr)</cp:lastModifiedBy>
  <cp:revision>603</cp:revision>
  <cp:lastPrinted>2024-04-09T14:24:43Z</cp:lastPrinted>
  <dcterms:created xsi:type="dcterms:W3CDTF">2009-12-02T13:43:23Z</dcterms:created>
  <dcterms:modified xsi:type="dcterms:W3CDTF">2024-04-11T08:37:13Z</dcterms:modified>
</cp:coreProperties>
</file>