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4"/>
  </p:notesMasterIdLst>
  <p:sldIdLst>
    <p:sldId id="256" r:id="rId2"/>
    <p:sldId id="257" r:id="rId3"/>
    <p:sldId id="258" r:id="rId4"/>
    <p:sldId id="259" r:id="rId5"/>
    <p:sldId id="265" r:id="rId6"/>
    <p:sldId id="268" r:id="rId7"/>
    <p:sldId id="266" r:id="rId8"/>
    <p:sldId id="269" r:id="rId9"/>
    <p:sldId id="267" r:id="rId10"/>
    <p:sldId id="270" r:id="rId11"/>
    <p:sldId id="304" r:id="rId12"/>
    <p:sldId id="291" r:id="rId13"/>
    <p:sldId id="261" r:id="rId14"/>
    <p:sldId id="305" r:id="rId15"/>
    <p:sldId id="289" r:id="rId16"/>
    <p:sldId id="290" r:id="rId17"/>
    <p:sldId id="293" r:id="rId18"/>
    <p:sldId id="292" r:id="rId19"/>
    <p:sldId id="273" r:id="rId20"/>
    <p:sldId id="303" r:id="rId21"/>
    <p:sldId id="277" r:id="rId22"/>
    <p:sldId id="278" r:id="rId23"/>
    <p:sldId id="284" r:id="rId24"/>
    <p:sldId id="300" r:id="rId25"/>
    <p:sldId id="285" r:id="rId26"/>
    <p:sldId id="276" r:id="rId27"/>
    <p:sldId id="302" r:id="rId28"/>
    <p:sldId id="280" r:id="rId29"/>
    <p:sldId id="301" r:id="rId30"/>
    <p:sldId id="297" r:id="rId31"/>
    <p:sldId id="296" r:id="rId32"/>
    <p:sldId id="294"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9E86C2-4F0A-4BA4-8546-0C7A02B307BA}" v="9" dt="2022-02-23T11:38:27.0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42" autoAdjust="0"/>
    <p:restoredTop sz="78198" autoAdjust="0"/>
  </p:normalViewPr>
  <p:slideViewPr>
    <p:cSldViewPr>
      <p:cViewPr varScale="1">
        <p:scale>
          <a:sx n="87" d="100"/>
          <a:sy n="87" d="100"/>
        </p:scale>
        <p:origin x="2382" y="90"/>
      </p:cViewPr>
      <p:guideLst>
        <p:guide orient="horz" pos="2160"/>
        <p:guide pos="2880"/>
      </p:guideLst>
    </p:cSldViewPr>
  </p:slideViewPr>
  <p:notesTextViewPr>
    <p:cViewPr>
      <p:scale>
        <a:sx n="1" d="1"/>
        <a:sy n="1" d="1"/>
      </p:scale>
      <p:origin x="0" y="0"/>
    </p:cViewPr>
  </p:notesTextViewPr>
  <p:notesViewPr>
    <p:cSldViewPr>
      <p:cViewPr varScale="1">
        <p:scale>
          <a:sx n="88" d="100"/>
          <a:sy n="88" d="100"/>
        </p:scale>
        <p:origin x="-3822"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ulson, Ian M. (Dr)" userId="a8d3dc85-8701-425a-87df-1f27458d7dd7" providerId="ADAL" clId="{B79E86C2-4F0A-4BA4-8546-0C7A02B307BA}"/>
    <pc:docChg chg="custSel modSld">
      <pc:chgData name="Coulson, Ian M. (Dr)" userId="a8d3dc85-8701-425a-87df-1f27458d7dd7" providerId="ADAL" clId="{B79E86C2-4F0A-4BA4-8546-0C7A02B307BA}" dt="2022-02-23T11:38:45.509" v="85" actId="1076"/>
      <pc:docMkLst>
        <pc:docMk/>
      </pc:docMkLst>
      <pc:sldChg chg="addSp delSp modSp mod">
        <pc:chgData name="Coulson, Ian M. (Dr)" userId="a8d3dc85-8701-425a-87df-1f27458d7dd7" providerId="ADAL" clId="{B79E86C2-4F0A-4BA4-8546-0C7A02B307BA}" dt="2022-02-23T11:38:45.509" v="85" actId="1076"/>
        <pc:sldMkLst>
          <pc:docMk/>
          <pc:sldMk cId="1237661939" sldId="261"/>
        </pc:sldMkLst>
        <pc:spChg chg="mod">
          <ac:chgData name="Coulson, Ian M. (Dr)" userId="a8d3dc85-8701-425a-87df-1f27458d7dd7" providerId="ADAL" clId="{B79E86C2-4F0A-4BA4-8546-0C7A02B307BA}" dt="2022-02-23T11:38:45.509" v="85" actId="1076"/>
          <ac:spMkLst>
            <pc:docMk/>
            <pc:sldMk cId="1237661939" sldId="261"/>
            <ac:spMk id="4" creationId="{00000000-0000-0000-0000-000000000000}"/>
          </ac:spMkLst>
        </pc:spChg>
        <pc:spChg chg="add mod">
          <ac:chgData name="Coulson, Ian M. (Dr)" userId="a8d3dc85-8701-425a-87df-1f27458d7dd7" providerId="ADAL" clId="{B79E86C2-4F0A-4BA4-8546-0C7A02B307BA}" dt="2022-02-23T11:38:41.643" v="84" actId="1076"/>
          <ac:spMkLst>
            <pc:docMk/>
            <pc:sldMk cId="1237661939" sldId="261"/>
            <ac:spMk id="8" creationId="{F3B065A1-E98C-4AC2-8DA2-1BD5CF2011FD}"/>
          </ac:spMkLst>
        </pc:spChg>
        <pc:picChg chg="add mod ord">
          <ac:chgData name="Coulson, Ian M. (Dr)" userId="a8d3dc85-8701-425a-87df-1f27458d7dd7" providerId="ADAL" clId="{B79E86C2-4F0A-4BA4-8546-0C7A02B307BA}" dt="2022-02-23T11:38:32.364" v="83" actId="1076"/>
          <ac:picMkLst>
            <pc:docMk/>
            <pc:sldMk cId="1237661939" sldId="261"/>
            <ac:picMk id="6" creationId="{D662E6AC-336D-4606-AC18-08C08C3165D7}"/>
          </ac:picMkLst>
        </pc:picChg>
        <pc:picChg chg="del mod">
          <ac:chgData name="Coulson, Ian M. (Dr)" userId="a8d3dc85-8701-425a-87df-1f27458d7dd7" providerId="ADAL" clId="{B79E86C2-4F0A-4BA4-8546-0C7A02B307BA}" dt="2022-02-23T11:37:13.996" v="67" actId="478"/>
          <ac:picMkLst>
            <pc:docMk/>
            <pc:sldMk cId="1237661939" sldId="261"/>
            <ac:picMk id="1027" creationId="{00000000-0000-0000-0000-000000000000}"/>
          </ac:picMkLst>
        </pc:picChg>
      </pc:sldChg>
      <pc:sldChg chg="addSp modSp mod modAnim">
        <pc:chgData name="Coulson, Ian M. (Dr)" userId="a8d3dc85-8701-425a-87df-1f27458d7dd7" providerId="ADAL" clId="{B79E86C2-4F0A-4BA4-8546-0C7A02B307BA}" dt="2022-02-23T10:59:38.184" v="65"/>
        <pc:sldMkLst>
          <pc:docMk/>
          <pc:sldMk cId="3370244713" sldId="269"/>
        </pc:sldMkLst>
        <pc:spChg chg="mod">
          <ac:chgData name="Coulson, Ian M. (Dr)" userId="a8d3dc85-8701-425a-87df-1f27458d7dd7" providerId="ADAL" clId="{B79E86C2-4F0A-4BA4-8546-0C7A02B307BA}" dt="2022-02-23T10:59:05.877" v="62" actId="14100"/>
          <ac:spMkLst>
            <pc:docMk/>
            <pc:sldMk cId="3370244713" sldId="269"/>
            <ac:spMk id="7" creationId="{38ABBCA4-F50B-4DD5-BF14-029129341D56}"/>
          </ac:spMkLst>
        </pc:spChg>
        <pc:spChg chg="add mod">
          <ac:chgData name="Coulson, Ian M. (Dr)" userId="a8d3dc85-8701-425a-87df-1f27458d7dd7" providerId="ADAL" clId="{B79E86C2-4F0A-4BA4-8546-0C7A02B307BA}" dt="2022-02-23T10:59:21.062" v="63" actId="164"/>
          <ac:spMkLst>
            <pc:docMk/>
            <pc:sldMk cId="3370244713" sldId="269"/>
            <ac:spMk id="12" creationId="{C0F5D83F-C6BF-4C64-8140-B4B761255469}"/>
          </ac:spMkLst>
        </pc:spChg>
        <pc:spChg chg="add mod">
          <ac:chgData name="Coulson, Ian M. (Dr)" userId="a8d3dc85-8701-425a-87df-1f27458d7dd7" providerId="ADAL" clId="{B79E86C2-4F0A-4BA4-8546-0C7A02B307BA}" dt="2022-02-23T10:59:21.062" v="63" actId="164"/>
          <ac:spMkLst>
            <pc:docMk/>
            <pc:sldMk cId="3370244713" sldId="269"/>
            <ac:spMk id="13" creationId="{057E8F0B-D55C-4017-BED8-1BFB1C77A2BF}"/>
          </ac:spMkLst>
        </pc:spChg>
        <pc:grpChg chg="add mod">
          <ac:chgData name="Coulson, Ian M. (Dr)" userId="a8d3dc85-8701-425a-87df-1f27458d7dd7" providerId="ADAL" clId="{B79E86C2-4F0A-4BA4-8546-0C7A02B307BA}" dt="2022-02-23T10:59:21.062" v="63" actId="164"/>
          <ac:grpSpMkLst>
            <pc:docMk/>
            <pc:sldMk cId="3370244713" sldId="269"/>
            <ac:grpSpMk id="16" creationId="{A657F7DD-D491-48B2-9F1C-16147E42B656}"/>
          </ac:grpSpMkLst>
        </pc:grpChg>
        <pc:cxnChg chg="add mod">
          <ac:chgData name="Coulson, Ian M. (Dr)" userId="a8d3dc85-8701-425a-87df-1f27458d7dd7" providerId="ADAL" clId="{B79E86C2-4F0A-4BA4-8546-0C7A02B307BA}" dt="2022-02-23T10:59:21.062" v="63" actId="164"/>
          <ac:cxnSpMkLst>
            <pc:docMk/>
            <pc:sldMk cId="3370244713" sldId="269"/>
            <ac:cxnSpMk id="15" creationId="{340FE4AC-88F0-412E-AFBC-030E16ED0F4E}"/>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F383E71-0147-49BF-8879-25534572682B}" type="datetimeFigureOut">
              <a:rPr lang="en-GB" smtClean="0"/>
              <a:pPr/>
              <a:t>20/02/2025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FAD51E-5B7F-4F0C-B932-E8F02CABEA27}" type="slidenum">
              <a:rPr lang="en-GB" smtClean="0"/>
              <a:pPr/>
              <a:t>‹#›</a:t>
            </a:fld>
            <a:endParaRPr lang="en-GB"/>
          </a:p>
        </p:txBody>
      </p:sp>
    </p:spTree>
    <p:extLst>
      <p:ext uri="{BB962C8B-B14F-4D97-AF65-F5344CB8AC3E}">
        <p14:creationId xmlns:p14="http://schemas.microsoft.com/office/powerpoint/2010/main" val="1895979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BFAD51E-5B7F-4F0C-B932-E8F02CABEA27}" type="slidenum">
              <a:rPr lang="en-GB" smtClean="0"/>
              <a:pPr/>
              <a:t>19</a:t>
            </a:fld>
            <a:endParaRPr lang="en-GB"/>
          </a:p>
        </p:txBody>
      </p:sp>
    </p:spTree>
    <p:extLst>
      <p:ext uri="{BB962C8B-B14F-4D97-AF65-F5344CB8AC3E}">
        <p14:creationId xmlns:p14="http://schemas.microsoft.com/office/powerpoint/2010/main" val="148358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Once embarked on a the mission to create a DNS infrastructure, you will soon realize that you need a way to isolate certain portions of your DNS hierarchy. Not only will you want a separate DNS server external to your network with limited information, you will want servers distributed throughout your network to prevent unnecessary DNS traffic on the WAN and LAN and reduce lookup latency.</a:t>
            </a:r>
          </a:p>
          <a:p>
            <a:r>
              <a:rPr lang="en-GB" dirty="0"/>
              <a:t>Splitting the internal and external servers will allow you to advertise certain hosts to the outside world and protect your internal hosts. A simple way to do this is by creating a hierarchy. Since you are probably already locked in to your second level domain (first level probably being .com), such as company.com, you will need to add a third level to discern departments, such as acct.company.com and engr.company.com.</a:t>
            </a:r>
          </a:p>
          <a:p>
            <a:r>
              <a:rPr lang="en-GB" dirty="0"/>
              <a:t>Once you have a hierarchy established, you can start thinking about strategic locations for the primary servers for those subdomains. You will want to co-locate them with the bulk of the users in those departments so those users can use the server as an initial DNS contact. More than likely, they will be using mostly machines in their department and those hostnames will reside on their local DNS server.</a:t>
            </a:r>
          </a:p>
          <a:p>
            <a:endParaRPr lang="en-GB" dirty="0"/>
          </a:p>
        </p:txBody>
      </p:sp>
      <p:sp>
        <p:nvSpPr>
          <p:cNvPr id="4" name="Slide Number Placeholder 3"/>
          <p:cNvSpPr>
            <a:spLocks noGrp="1"/>
          </p:cNvSpPr>
          <p:nvPr>
            <p:ph type="sldNum" sz="quarter" idx="10"/>
          </p:nvPr>
        </p:nvSpPr>
        <p:spPr/>
        <p:txBody>
          <a:bodyPr/>
          <a:lstStyle/>
          <a:p>
            <a:fld id="{4BFAD51E-5B7F-4F0C-B932-E8F02CABEA27}" type="slidenum">
              <a:rPr lang="en-GB" smtClean="0"/>
              <a:pPr/>
              <a:t>21</a:t>
            </a:fld>
            <a:endParaRPr lang="en-GB"/>
          </a:p>
        </p:txBody>
      </p:sp>
    </p:spTree>
    <p:extLst>
      <p:ext uri="{BB962C8B-B14F-4D97-AF65-F5344CB8AC3E}">
        <p14:creationId xmlns:p14="http://schemas.microsoft.com/office/powerpoint/2010/main" val="2006016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Latency between the client (user) and DNS resolving server. In most cases this is largely due to the usual round-trip time (RTT) constraints in networked systems: geographical distance between client and server machines; network congestion; packet loss and long retransmit delays (one second on average); overloaded servers, denial-of-service attacks and so on.</a:t>
            </a:r>
          </a:p>
          <a:p>
            <a:r>
              <a:rPr lang="en-GB" dirty="0"/>
              <a:t>Latency between resolving servers and other </a:t>
            </a:r>
            <a:r>
              <a:rPr lang="en-GB" dirty="0" err="1"/>
              <a:t>nameservers</a:t>
            </a:r>
            <a:r>
              <a:rPr lang="en-GB" dirty="0"/>
              <a:t>. This source of latency is caused primarily by the following factors:</a:t>
            </a:r>
          </a:p>
          <a:p>
            <a:pPr lvl="1"/>
            <a:r>
              <a:rPr lang="en-GB" dirty="0"/>
              <a:t>Cache misses. If a response cannot be served from a resolver's cache, but requires recursively querying other </a:t>
            </a:r>
            <a:r>
              <a:rPr lang="en-GB" dirty="0" err="1"/>
              <a:t>nameservers</a:t>
            </a:r>
            <a:r>
              <a:rPr lang="en-GB" dirty="0"/>
              <a:t>, the added network latency is considerable, especially if the authoritative servers are geographically remote.</a:t>
            </a:r>
          </a:p>
          <a:p>
            <a:pPr lvl="1"/>
            <a:r>
              <a:rPr lang="en-GB" dirty="0" err="1"/>
              <a:t>Underprovisioning</a:t>
            </a:r>
            <a:r>
              <a:rPr lang="en-GB" dirty="0"/>
              <a:t>. If DNS resolvers are overloaded, they must queue DNS resolution requests and responses, and may begin dropping and retransmitting packets.</a:t>
            </a:r>
          </a:p>
          <a:p>
            <a:pPr lvl="1"/>
            <a:r>
              <a:rPr lang="en-GB" dirty="0"/>
              <a:t>Malicious traffic. Even if a DNS service is </a:t>
            </a:r>
            <a:r>
              <a:rPr lang="en-GB" dirty="0" err="1"/>
              <a:t>overprovisioned</a:t>
            </a:r>
            <a:r>
              <a:rPr lang="en-GB" dirty="0"/>
              <a:t>, </a:t>
            </a:r>
            <a:r>
              <a:rPr lang="en-GB" dirty="0" err="1"/>
              <a:t>DoS</a:t>
            </a:r>
            <a:r>
              <a:rPr lang="en-GB" dirty="0"/>
              <a:t> traffic can place undue load on the servers. Similarly, </a:t>
            </a:r>
            <a:r>
              <a:rPr lang="en-GB" dirty="0" err="1"/>
              <a:t>Kaminsky</a:t>
            </a:r>
            <a:r>
              <a:rPr lang="en-GB" dirty="0"/>
              <a:t>-style attacks can involve flooding resolvers with queries that are guaranteed to bypass the cache and require outgoing requests for resolution.</a:t>
            </a:r>
          </a:p>
        </p:txBody>
      </p:sp>
      <p:sp>
        <p:nvSpPr>
          <p:cNvPr id="4" name="Slide Number Placeholder 3"/>
          <p:cNvSpPr>
            <a:spLocks noGrp="1"/>
          </p:cNvSpPr>
          <p:nvPr>
            <p:ph type="sldNum" sz="quarter" idx="10"/>
          </p:nvPr>
        </p:nvSpPr>
        <p:spPr/>
        <p:txBody>
          <a:bodyPr/>
          <a:lstStyle/>
          <a:p>
            <a:fld id="{4BFAD51E-5B7F-4F0C-B932-E8F02CABEA27}" type="slidenum">
              <a:rPr lang="en-GB" smtClean="0"/>
              <a:pPr/>
              <a:t>23</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BFAD51E-5B7F-4F0C-B932-E8F02CABEA27}" type="slidenum">
              <a:rPr lang="en-GB" smtClean="0"/>
              <a:pPr/>
              <a:t>26</a:t>
            </a:fld>
            <a:endParaRPr lang="en-GB"/>
          </a:p>
        </p:txBody>
      </p:sp>
    </p:spTree>
    <p:extLst>
      <p:ext uri="{BB962C8B-B14F-4D97-AF65-F5344CB8AC3E}">
        <p14:creationId xmlns:p14="http://schemas.microsoft.com/office/powerpoint/2010/main" val="942517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AA9D6D4-BB49-4B6C-A744-A486FE115E43}" type="datetimeFigureOut">
              <a:rPr lang="en-GB" smtClean="0"/>
              <a:pPr/>
              <a:t>20/02/2025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22E7F2A-75D0-4E25-AA1A-9DD3DF9D41DD}"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A9D6D4-BB49-4B6C-A744-A486FE115E43}" type="datetimeFigureOut">
              <a:rPr lang="en-GB" smtClean="0"/>
              <a:pPr/>
              <a:t>20/02/2025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22E7F2A-75D0-4E25-AA1A-9DD3DF9D41DD}"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AA9D6D4-BB49-4B6C-A744-A486FE115E43}" type="datetimeFigureOut">
              <a:rPr lang="en-GB" smtClean="0"/>
              <a:pPr/>
              <a:t>20/02/2025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22E7F2A-75D0-4E25-AA1A-9DD3DF9D41DD}"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AA9D6D4-BB49-4B6C-A744-A486FE115E43}" type="datetimeFigureOut">
              <a:rPr lang="en-GB" smtClean="0"/>
              <a:pPr/>
              <a:t>20/02/2025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22E7F2A-75D0-4E25-AA1A-9DD3DF9D41DD}"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AA9D6D4-BB49-4B6C-A744-A486FE115E43}" type="datetimeFigureOut">
              <a:rPr lang="en-GB" smtClean="0"/>
              <a:pPr/>
              <a:t>20/02/2025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22E7F2A-75D0-4E25-AA1A-9DD3DF9D41DD}"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AA9D6D4-BB49-4B6C-A744-A486FE115E43}" type="datetimeFigureOut">
              <a:rPr lang="en-GB" smtClean="0"/>
              <a:pPr/>
              <a:t>20/02/2025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22E7F2A-75D0-4E25-AA1A-9DD3DF9D41DD}"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A9D6D4-BB49-4B6C-A744-A486FE115E43}" type="datetimeFigureOut">
              <a:rPr lang="en-GB" smtClean="0"/>
              <a:pPr/>
              <a:t>20/02/2025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22E7F2A-75D0-4E25-AA1A-9DD3DF9D41DD}"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AA9D6D4-BB49-4B6C-A744-A486FE115E43}" type="datetimeFigureOut">
              <a:rPr lang="en-GB" smtClean="0"/>
              <a:pPr/>
              <a:t>20/02/2025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22E7F2A-75D0-4E25-AA1A-9DD3DF9D41DD}" type="slidenum">
              <a:rPr lang="en-GB" smtClean="0"/>
              <a:pPr/>
              <a:t>‹#›</a:t>
            </a:fld>
            <a:endParaRPr lang="en-GB"/>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AA9D6D4-BB49-4B6C-A744-A486FE115E43}" type="datetimeFigureOut">
              <a:rPr lang="en-GB" smtClean="0"/>
              <a:pPr/>
              <a:t>20/02/2025</a:t>
            </a:fld>
            <a:endParaRPr lang="en-GB"/>
          </a:p>
        </p:txBody>
      </p:sp>
      <p:sp>
        <p:nvSpPr>
          <p:cNvPr id="9" name="Slide Number Placeholder 8"/>
          <p:cNvSpPr>
            <a:spLocks noGrp="1"/>
          </p:cNvSpPr>
          <p:nvPr>
            <p:ph type="sldNum" sz="quarter" idx="11"/>
          </p:nvPr>
        </p:nvSpPr>
        <p:spPr/>
        <p:txBody>
          <a:bodyPr/>
          <a:lstStyle/>
          <a:p>
            <a:fld id="{522E7F2A-75D0-4E25-AA1A-9DD3DF9D41DD}" type="slidenum">
              <a:rPr lang="en-GB" smtClean="0"/>
              <a:pPr/>
              <a:t>‹#›</a:t>
            </a:fld>
            <a:endParaRPr lang="en-GB"/>
          </a:p>
        </p:txBody>
      </p:sp>
      <p:sp>
        <p:nvSpPr>
          <p:cNvPr id="10" name="Footer Placeholder 9"/>
          <p:cNvSpPr>
            <a:spLocks noGrp="1"/>
          </p:cNvSpPr>
          <p:nvPr>
            <p:ph type="ftr" sz="quarter" idx="12"/>
          </p:nvPr>
        </p:nvSpPr>
        <p:spPr/>
        <p:txBody>
          <a:bodyPr/>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A9D6D4-BB49-4B6C-A744-A486FE115E43}" type="datetimeFigureOut">
              <a:rPr lang="en-GB" smtClean="0"/>
              <a:pPr/>
              <a:t>20/02/2025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22E7F2A-75D0-4E25-AA1A-9DD3DF9D41DD}"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A9D6D4-BB49-4B6C-A744-A486FE115E43}" type="datetimeFigureOut">
              <a:rPr lang="en-GB" smtClean="0"/>
              <a:pPr/>
              <a:t>20/02/2025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22E7F2A-75D0-4E25-AA1A-9DD3DF9D41DD}"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522E7F2A-75D0-4E25-AA1A-9DD3DF9D41DD}" type="slidenum">
              <a:rPr lang="en-GB" smtClean="0"/>
              <a:pPr/>
              <a:t>‹#›</a:t>
            </a:fld>
            <a:endParaRPr lang="en-GB"/>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GB"/>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1AA9D6D4-BB49-4B6C-A744-A486FE115E43}" type="datetimeFigureOut">
              <a:rPr lang="en-GB" smtClean="0"/>
              <a:pPr/>
              <a:t>20/02/2025</a:t>
            </a:fld>
            <a:endParaRPr lang="en-GB"/>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BOOTP" TargetMode="External"/><Relationship Id="rId2" Type="http://schemas.openxmlformats.org/officeDocument/2006/relationships/hyperlink" Target="https://en.wikipedia.org/wiki/User_Datagram_Protocol" TargetMode="External"/><Relationship Id="rId1" Type="http://schemas.openxmlformats.org/officeDocument/2006/relationships/slideLayout" Target="../slideLayouts/slideLayout7.xml"/><Relationship Id="rId4" Type="http://schemas.openxmlformats.org/officeDocument/2006/relationships/hyperlink" Target="https://en.wikipedia.org/wiki/Magic_cookie"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Magic_cookie" TargetMode="External"/><Relationship Id="rId2" Type="http://schemas.openxmlformats.org/officeDocument/2006/relationships/hyperlink" Target="https://en.wikipedia.org/wiki/BOOTP"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BOOTP" TargetMode="External"/><Relationship Id="rId2" Type="http://schemas.openxmlformats.org/officeDocument/2006/relationships/hyperlink" Target="https://en.wikipedia.org/wiki/Dynamic_Host_Configuration_Protocol" TargetMode="External"/><Relationship Id="rId1" Type="http://schemas.openxmlformats.org/officeDocument/2006/relationships/slideLayout" Target="../slideLayouts/slideLayout2.xml"/><Relationship Id="rId4" Type="http://schemas.openxmlformats.org/officeDocument/2006/relationships/hyperlink" Target="https://en.wikipedia.org/wiki/Magic_cookie"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BOOTP" TargetMode="External"/><Relationship Id="rId2" Type="http://schemas.openxmlformats.org/officeDocument/2006/relationships/hyperlink" Target="https://en.wikipedia.org/wiki/Address_Resolution_Protocol" TargetMode="External"/><Relationship Id="rId1" Type="http://schemas.openxmlformats.org/officeDocument/2006/relationships/slideLayout" Target="../slideLayouts/slideLayout2.xml"/><Relationship Id="rId4" Type="http://schemas.openxmlformats.org/officeDocument/2006/relationships/hyperlink" Target="https://en.wikipedia.org/wiki/Magic_cooki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pkvaTUl5F-Y" TargetMode="External"/><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pcsupport.about.com/od/tipstricks/a/free-public-dns-servers.htm"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evelopers.google.com/speed/pagespeed"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youtube.com/watch?v=Fk2oejzgSVQ&amp;t=114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Systems </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3669829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Objectives</a:t>
            </a:r>
          </a:p>
        </p:txBody>
      </p:sp>
      <p:sp>
        <p:nvSpPr>
          <p:cNvPr id="3" name="Content Placeholder 2"/>
          <p:cNvSpPr>
            <a:spLocks noGrp="1"/>
          </p:cNvSpPr>
          <p:nvPr>
            <p:ph idx="1"/>
          </p:nvPr>
        </p:nvSpPr>
        <p:spPr/>
        <p:txBody>
          <a:bodyPr/>
          <a:lstStyle/>
          <a:p>
            <a:r>
              <a:rPr lang="en-GB" dirty="0"/>
              <a:t>We will look at some services that are provided to make a network operate</a:t>
            </a:r>
          </a:p>
          <a:p>
            <a:pPr lvl="1"/>
            <a:endParaRPr lang="en-GB" dirty="0"/>
          </a:p>
          <a:p>
            <a:pPr lvl="1"/>
            <a:r>
              <a:rPr lang="en-GB" dirty="0"/>
              <a:t>DHCP– dynamic host configuration protocol servers</a:t>
            </a:r>
          </a:p>
          <a:p>
            <a:pPr lvl="2"/>
            <a:r>
              <a:rPr lang="en-GB" dirty="0"/>
              <a:t>To automatically allocate IP addresses to hosts</a:t>
            </a:r>
          </a:p>
          <a:p>
            <a:pPr lvl="1"/>
            <a:r>
              <a:rPr lang="en-GB" dirty="0"/>
              <a:t>DNS  - domain name servers</a:t>
            </a:r>
          </a:p>
          <a:p>
            <a:pPr lvl="2"/>
            <a:r>
              <a:rPr lang="en-GB" dirty="0"/>
              <a:t>To translate web addresses (and other things) to actual IP addresses of the corresponding web servers</a:t>
            </a:r>
          </a:p>
          <a:p>
            <a:pPr lvl="2"/>
            <a:endParaRPr lang="en-GB" dirty="0"/>
          </a:p>
        </p:txBody>
      </p:sp>
    </p:spTree>
    <p:extLst>
      <p:ext uri="{BB962C8B-B14F-4D97-AF65-F5344CB8AC3E}">
        <p14:creationId xmlns:p14="http://schemas.microsoft.com/office/powerpoint/2010/main" val="1224133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DHCP</a:t>
            </a:r>
          </a:p>
        </p:txBody>
      </p:sp>
      <p:sp>
        <p:nvSpPr>
          <p:cNvPr id="3" name="Content Placeholder 2"/>
          <p:cNvSpPr>
            <a:spLocks noGrp="1"/>
          </p:cNvSpPr>
          <p:nvPr>
            <p:ph idx="1"/>
          </p:nvPr>
        </p:nvSpPr>
        <p:spPr/>
        <p:txBody>
          <a:bodyPr/>
          <a:lstStyle/>
          <a:p>
            <a:r>
              <a:rPr lang="en-GB" dirty="0"/>
              <a:t>Why use DHCP</a:t>
            </a:r>
          </a:p>
          <a:p>
            <a:pPr lvl="1"/>
            <a:r>
              <a:rPr lang="en-GB" dirty="0"/>
              <a:t>Automation of configuring IP addresses</a:t>
            </a:r>
          </a:p>
          <a:p>
            <a:pPr lvl="1"/>
            <a:r>
              <a:rPr lang="en-GB" dirty="0">
                <a:solidFill>
                  <a:srgbClr val="0070C0"/>
                </a:solidFill>
              </a:rPr>
              <a:t>Laptops  are dynamic </a:t>
            </a:r>
            <a:r>
              <a:rPr lang="en-GB" dirty="0"/>
              <a:t>and hence need to take on different IP addresses </a:t>
            </a:r>
          </a:p>
          <a:p>
            <a:pPr lvl="1"/>
            <a:r>
              <a:rPr lang="en-GB" dirty="0"/>
              <a:t>Need to  keep a record of the IP addresses that have been assigned. </a:t>
            </a:r>
          </a:p>
          <a:p>
            <a:pPr lvl="1"/>
            <a:r>
              <a:rPr lang="en-GB" dirty="0"/>
              <a:t>Once an IP address has been given out it is no longer available – </a:t>
            </a:r>
            <a:r>
              <a:rPr lang="en-GB" dirty="0">
                <a:solidFill>
                  <a:srgbClr val="00B050"/>
                </a:solidFill>
              </a:rPr>
              <a:t>no chance of duplicate IP addresses on network</a:t>
            </a:r>
          </a:p>
          <a:p>
            <a:pPr lvl="1"/>
            <a:r>
              <a:rPr lang="en-GB" dirty="0"/>
              <a:t>You can </a:t>
            </a:r>
            <a:r>
              <a:rPr lang="en-GB" dirty="0">
                <a:solidFill>
                  <a:srgbClr val="FF0000"/>
                </a:solidFill>
              </a:rPr>
              <a:t>release the IP address </a:t>
            </a:r>
            <a:r>
              <a:rPr lang="en-GB" dirty="0"/>
              <a:t>of host that is offline and reallocate it to another host that comes online</a:t>
            </a:r>
          </a:p>
          <a:p>
            <a:pPr lvl="1"/>
            <a:endParaRPr lang="en-GB" dirty="0"/>
          </a:p>
        </p:txBody>
      </p:sp>
    </p:spTree>
    <p:extLst>
      <p:ext uri="{BB962C8B-B14F-4D97-AF65-F5344CB8AC3E}">
        <p14:creationId xmlns:p14="http://schemas.microsoft.com/office/powerpoint/2010/main" val="2133800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DHCP – Available addresses</a:t>
            </a:r>
          </a:p>
        </p:txBody>
      </p:sp>
      <p:sp>
        <p:nvSpPr>
          <p:cNvPr id="3" name="Content Placeholder 2"/>
          <p:cNvSpPr>
            <a:spLocks noGrp="1"/>
          </p:cNvSpPr>
          <p:nvPr>
            <p:ph idx="1"/>
          </p:nvPr>
        </p:nvSpPr>
        <p:spPr/>
        <p:txBody>
          <a:bodyPr/>
          <a:lstStyle/>
          <a:p>
            <a:r>
              <a:rPr lang="en-GB" dirty="0"/>
              <a:t>When a DHCP server receives a request from a client, it chooses an IP address and other related information from a pool of addresses known as a </a:t>
            </a:r>
            <a:r>
              <a:rPr lang="en-GB" b="1" dirty="0">
                <a:solidFill>
                  <a:srgbClr val="FF0000"/>
                </a:solidFill>
              </a:rPr>
              <a:t>scope</a:t>
            </a:r>
            <a:r>
              <a:rPr lang="en-GB" dirty="0"/>
              <a:t> and offers it to the client.</a:t>
            </a:r>
          </a:p>
          <a:p>
            <a:r>
              <a:rPr lang="en-GB" dirty="0">
                <a:solidFill>
                  <a:srgbClr val="FF0000"/>
                </a:solidFill>
              </a:rPr>
              <a:t>Certain addresses</a:t>
            </a:r>
            <a:r>
              <a:rPr lang="en-GB" dirty="0"/>
              <a:t> within the scope may be </a:t>
            </a:r>
            <a:r>
              <a:rPr lang="en-GB" dirty="0">
                <a:solidFill>
                  <a:srgbClr val="0070C0"/>
                </a:solidFill>
              </a:rPr>
              <a:t>excluded</a:t>
            </a:r>
            <a:r>
              <a:rPr lang="en-GB" dirty="0"/>
              <a:t> from distribution because they have already been assigned as static addresses. </a:t>
            </a:r>
            <a:r>
              <a:rPr lang="en-GB" dirty="0" err="1"/>
              <a:t>E.g</a:t>
            </a:r>
            <a:r>
              <a:rPr lang="en-GB" dirty="0"/>
              <a:t> application servers, printers </a:t>
            </a:r>
            <a:r>
              <a:rPr lang="en-GB" dirty="0" err="1"/>
              <a:t>etc</a:t>
            </a:r>
            <a:endParaRPr lang="en-GB" dirty="0"/>
          </a:p>
          <a:p>
            <a:r>
              <a:rPr lang="en-GB" dirty="0"/>
              <a:t>IP address is </a:t>
            </a:r>
            <a:r>
              <a:rPr lang="en-GB" dirty="0">
                <a:solidFill>
                  <a:srgbClr val="7030A0"/>
                </a:solidFill>
              </a:rPr>
              <a:t>leased to a client </a:t>
            </a:r>
            <a:r>
              <a:rPr lang="en-GB" dirty="0"/>
              <a:t>for a fixed amount of time</a:t>
            </a:r>
          </a:p>
          <a:p>
            <a:pPr lvl="1"/>
            <a:r>
              <a:rPr lang="en-GB" dirty="0"/>
              <a:t>New address obtained if client logs off and in again.</a:t>
            </a:r>
          </a:p>
          <a:p>
            <a:pPr lvl="1"/>
            <a:r>
              <a:rPr lang="en-GB" dirty="0"/>
              <a:t>If the lease period expires without a renewal, the IP address is returned to the pool for reassignment.</a:t>
            </a:r>
          </a:p>
        </p:txBody>
      </p:sp>
    </p:spTree>
    <p:extLst>
      <p:ext uri="{BB962C8B-B14F-4D97-AF65-F5344CB8AC3E}">
        <p14:creationId xmlns:p14="http://schemas.microsoft.com/office/powerpoint/2010/main" val="66541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cm1810\AppData\Local\Microsoft\Windows\Temporary Internet Files\Content.IE5\K6ZXADS2\PC_tower[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22117" y="2736872"/>
            <a:ext cx="881115" cy="97834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36788" y="332656"/>
            <a:ext cx="7620000" cy="1143000"/>
          </a:xfrm>
        </p:spPr>
        <p:txBody>
          <a:bodyPr/>
          <a:lstStyle/>
          <a:p>
            <a:r>
              <a:rPr lang="en-GB" dirty="0">
                <a:solidFill>
                  <a:srgbClr val="FF0000"/>
                </a:solidFill>
              </a:rPr>
              <a:t>D</a:t>
            </a:r>
            <a:r>
              <a:rPr lang="en-GB" dirty="0"/>
              <a:t>ORA   -   </a:t>
            </a:r>
            <a:r>
              <a:rPr lang="en-GB" sz="4800" dirty="0">
                <a:solidFill>
                  <a:srgbClr val="FF0000"/>
                </a:solidFill>
              </a:rPr>
              <a:t>D</a:t>
            </a:r>
            <a:r>
              <a:rPr lang="en-GB" sz="4800" dirty="0"/>
              <a:t>iscover</a:t>
            </a:r>
            <a:endParaRPr lang="en-GB" dirty="0"/>
          </a:p>
        </p:txBody>
      </p:sp>
      <p:pic>
        <p:nvPicPr>
          <p:cNvPr id="1027" name="Picture 3" descr="C:\Users\cm1810\AppData\Local\Microsoft\Windows\Temporary Internet Files\Content.IE5\511CC7OS\computer-silhouette[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584" y="2780928"/>
            <a:ext cx="934286" cy="9342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195736" y="1700808"/>
            <a:ext cx="2636234" cy="646331"/>
          </a:xfrm>
          <a:prstGeom prst="rect">
            <a:avLst/>
          </a:prstGeom>
          <a:noFill/>
        </p:spPr>
        <p:txBody>
          <a:bodyPr wrap="none" rtlCol="0">
            <a:spAutoFit/>
          </a:bodyPr>
          <a:lstStyle/>
          <a:p>
            <a:r>
              <a:rPr lang="en-GB" dirty="0"/>
              <a:t>PC switched on</a:t>
            </a:r>
          </a:p>
          <a:p>
            <a:r>
              <a:rPr lang="en-GB" dirty="0"/>
              <a:t>Sends out Discover packet</a:t>
            </a:r>
          </a:p>
        </p:txBody>
      </p:sp>
      <p:pic>
        <p:nvPicPr>
          <p:cNvPr id="1028" name="Picture 4" descr="C:\Users\cm1810\AppData\Local\Microsoft\Windows\Temporary Internet Files\Content.IE5\4NRWEVSN\Switch-Labelled[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11960" y="3140968"/>
            <a:ext cx="499687" cy="37884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141651" y="3564884"/>
            <a:ext cx="2013243" cy="2246769"/>
          </a:xfrm>
          <a:prstGeom prst="rect">
            <a:avLst/>
          </a:prstGeom>
          <a:noFill/>
          <a:ln>
            <a:solidFill>
              <a:srgbClr val="7030A0"/>
            </a:solidFill>
          </a:ln>
        </p:spPr>
        <p:txBody>
          <a:bodyPr wrap="none" rtlCol="0">
            <a:spAutoFit/>
          </a:bodyPr>
          <a:lstStyle/>
          <a:p>
            <a:r>
              <a:rPr lang="en-GB" sz="1400" dirty="0">
                <a:solidFill>
                  <a:srgbClr val="FF0000"/>
                </a:solidFill>
              </a:rPr>
              <a:t>Destination</a:t>
            </a:r>
            <a:r>
              <a:rPr lang="en-GB" sz="1400" dirty="0"/>
              <a:t> </a:t>
            </a:r>
          </a:p>
          <a:p>
            <a:r>
              <a:rPr lang="en-GB" sz="1400" dirty="0"/>
              <a:t>IP       255.255.255.255</a:t>
            </a:r>
          </a:p>
          <a:p>
            <a:r>
              <a:rPr lang="en-GB" sz="1400" dirty="0"/>
              <a:t>MAC  </a:t>
            </a:r>
            <a:r>
              <a:rPr lang="en-GB" sz="1400" dirty="0">
                <a:solidFill>
                  <a:srgbClr val="7030A0"/>
                </a:solidFill>
              </a:rPr>
              <a:t>FF.FF.FF.FF.FF.FF</a:t>
            </a:r>
          </a:p>
          <a:p>
            <a:r>
              <a:rPr lang="en-GB" sz="1400" dirty="0">
                <a:solidFill>
                  <a:srgbClr val="7030A0"/>
                </a:solidFill>
              </a:rPr>
              <a:t>Port 67</a:t>
            </a:r>
          </a:p>
          <a:p>
            <a:endParaRPr lang="en-GB" sz="1400" dirty="0"/>
          </a:p>
          <a:p>
            <a:r>
              <a:rPr lang="en-GB" sz="1400" dirty="0">
                <a:solidFill>
                  <a:srgbClr val="0070C0"/>
                </a:solidFill>
              </a:rPr>
              <a:t>Source</a:t>
            </a:r>
          </a:p>
          <a:p>
            <a:r>
              <a:rPr lang="en-GB" sz="1400" dirty="0"/>
              <a:t>IP        0.0.0.0</a:t>
            </a:r>
          </a:p>
          <a:p>
            <a:r>
              <a:rPr lang="en-GB" sz="1400" dirty="0"/>
              <a:t>MAC   AB.67.87.45.C5.A1</a:t>
            </a:r>
          </a:p>
          <a:p>
            <a:endParaRPr lang="en-GB" sz="1400" dirty="0"/>
          </a:p>
          <a:p>
            <a:r>
              <a:rPr lang="en-GB" sz="1400" dirty="0">
                <a:solidFill>
                  <a:srgbClr val="00B050"/>
                </a:solidFill>
              </a:rPr>
              <a:t>Port 68</a:t>
            </a:r>
          </a:p>
        </p:txBody>
      </p:sp>
      <p:cxnSp>
        <p:nvCxnSpPr>
          <p:cNvPr id="8" name="Straight Connector 7"/>
          <p:cNvCxnSpPr>
            <a:endCxn id="1028" idx="1"/>
          </p:cNvCxnSpPr>
          <p:nvPr/>
        </p:nvCxnSpPr>
        <p:spPr>
          <a:xfrm flipV="1">
            <a:off x="1761870" y="3330390"/>
            <a:ext cx="2450090" cy="124938"/>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1028" idx="0"/>
            <a:endCxn id="1030" idx="2"/>
          </p:cNvCxnSpPr>
          <p:nvPr/>
        </p:nvCxnSpPr>
        <p:spPr>
          <a:xfrm flipV="1">
            <a:off x="4461804" y="1905004"/>
            <a:ext cx="870645" cy="1235964"/>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8" name="Straight Connector 17"/>
          <p:cNvCxnSpPr>
            <a:endCxn id="12" idx="0"/>
          </p:cNvCxnSpPr>
          <p:nvPr/>
        </p:nvCxnSpPr>
        <p:spPr>
          <a:xfrm flipV="1">
            <a:off x="4572000" y="2139882"/>
            <a:ext cx="930423" cy="1190507"/>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21" name="Straight Connector 20"/>
          <p:cNvCxnSpPr>
            <a:endCxn id="14" idx="1"/>
          </p:cNvCxnSpPr>
          <p:nvPr/>
        </p:nvCxnSpPr>
        <p:spPr>
          <a:xfrm flipV="1">
            <a:off x="4572000" y="2398308"/>
            <a:ext cx="1800200" cy="932081"/>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028" idx="3"/>
            <a:endCxn id="13" idx="2"/>
          </p:cNvCxnSpPr>
          <p:nvPr/>
        </p:nvCxnSpPr>
        <p:spPr>
          <a:xfrm flipV="1">
            <a:off x="4711647" y="2840500"/>
            <a:ext cx="1523776" cy="489890"/>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770584" y="3289230"/>
            <a:ext cx="1086509" cy="82319"/>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15" idx="3"/>
          </p:cNvCxnSpPr>
          <p:nvPr/>
        </p:nvCxnSpPr>
        <p:spPr>
          <a:xfrm flipV="1">
            <a:off x="6177046" y="3289231"/>
            <a:ext cx="1285628" cy="103628"/>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30" name="Straight Connector 29"/>
          <p:cNvCxnSpPr>
            <a:endCxn id="16" idx="2"/>
          </p:cNvCxnSpPr>
          <p:nvPr/>
        </p:nvCxnSpPr>
        <p:spPr>
          <a:xfrm>
            <a:off x="4572000" y="3289230"/>
            <a:ext cx="1322178" cy="779075"/>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024" name="Straight Connector 1023"/>
          <p:cNvCxnSpPr>
            <a:endCxn id="17" idx="2"/>
          </p:cNvCxnSpPr>
          <p:nvPr/>
        </p:nvCxnSpPr>
        <p:spPr>
          <a:xfrm>
            <a:off x="4572000" y="3351699"/>
            <a:ext cx="1086509" cy="1631716"/>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031" name="Straight Arrow Connector 1030"/>
          <p:cNvCxnSpPr>
            <a:stCxn id="1032" idx="1"/>
          </p:cNvCxnSpPr>
          <p:nvPr/>
        </p:nvCxnSpPr>
        <p:spPr>
          <a:xfrm flipH="1" flipV="1">
            <a:off x="3779913" y="4293096"/>
            <a:ext cx="2781132" cy="533673"/>
          </a:xfrm>
          <a:prstGeom prst="straightConnector1">
            <a:avLst/>
          </a:prstGeom>
          <a:ln>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1032" name="TextBox 1031"/>
          <p:cNvSpPr txBox="1"/>
          <p:nvPr/>
        </p:nvSpPr>
        <p:spPr>
          <a:xfrm>
            <a:off x="6561045" y="4365104"/>
            <a:ext cx="1467339" cy="923330"/>
          </a:xfrm>
          <a:prstGeom prst="rect">
            <a:avLst/>
          </a:prstGeom>
          <a:noFill/>
        </p:spPr>
        <p:txBody>
          <a:bodyPr wrap="square" rtlCol="0">
            <a:spAutoFit/>
          </a:bodyPr>
          <a:lstStyle/>
          <a:p>
            <a:r>
              <a:rPr lang="en-GB" dirty="0"/>
              <a:t>Broadcast IP and  MAC address </a:t>
            </a:r>
          </a:p>
        </p:txBody>
      </p:sp>
      <p:cxnSp>
        <p:nvCxnSpPr>
          <p:cNvPr id="1035" name="Straight Connector 1034"/>
          <p:cNvCxnSpPr/>
          <p:nvPr/>
        </p:nvCxnSpPr>
        <p:spPr>
          <a:xfrm>
            <a:off x="2123728" y="4688270"/>
            <a:ext cx="2013243" cy="0"/>
          </a:xfrm>
          <a:prstGeom prst="line">
            <a:avLst/>
          </a:prstGeom>
        </p:spPr>
        <p:style>
          <a:lnRef idx="1">
            <a:schemeClr val="accent1"/>
          </a:lnRef>
          <a:fillRef idx="0">
            <a:schemeClr val="accent1"/>
          </a:fillRef>
          <a:effectRef idx="0">
            <a:schemeClr val="accent1"/>
          </a:effectRef>
          <a:fontRef idx="minor">
            <a:schemeClr val="tx1"/>
          </a:fontRef>
        </p:style>
      </p:cxnSp>
      <p:sp>
        <p:nvSpPr>
          <p:cNvPr id="1039" name="TextBox 1038"/>
          <p:cNvSpPr txBox="1"/>
          <p:nvPr/>
        </p:nvSpPr>
        <p:spPr>
          <a:xfrm>
            <a:off x="2515463" y="5795972"/>
            <a:ext cx="1264449" cy="369332"/>
          </a:xfrm>
          <a:prstGeom prst="rect">
            <a:avLst/>
          </a:prstGeom>
          <a:noFill/>
        </p:spPr>
        <p:txBody>
          <a:bodyPr wrap="none" rtlCol="0">
            <a:spAutoFit/>
          </a:bodyPr>
          <a:lstStyle/>
          <a:p>
            <a:r>
              <a:rPr lang="en-GB" dirty="0"/>
              <a:t>UDP packet</a:t>
            </a:r>
          </a:p>
        </p:txBody>
      </p:sp>
      <p:pic>
        <p:nvPicPr>
          <p:cNvPr id="1030" name="Picture 6" descr="C:\Users\cm1810\AppData\Local\Microsoft\Windows\Temporary Internet Files\Content.IE5\VS2S8Y0D\1392471445[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43604" y="1697747"/>
            <a:ext cx="377690" cy="20725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C:\Users\cm1810\AppData\Local\Microsoft\Windows\Temporary Internet Files\Content.IE5\VS2S8Y0D\1392471445[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46578" y="2633243"/>
            <a:ext cx="377690" cy="20725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C:\Users\cm1810\AppData\Local\Microsoft\Windows\Temporary Internet Files\Content.IE5\VS2S8Y0D\1392471445[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72200" y="2294679"/>
            <a:ext cx="377690" cy="20725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C:\Users\cm1810\AppData\Local\Microsoft\Windows\Temporary Internet Files\Content.IE5\VS2S8Y0D\1392471445[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99356" y="3289230"/>
            <a:ext cx="377690" cy="20725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C:\Users\cm1810\AppData\Local\Microsoft\Windows\Temporary Internet Files\Content.IE5\VS2S8Y0D\1392471445[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05333" y="3861048"/>
            <a:ext cx="377690" cy="20725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C:\Users\cm1810\AppData\Local\Microsoft\Windows\Temporary Internet Files\Content.IE5\VS2S8Y0D\1392471445[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69664" y="4725144"/>
            <a:ext cx="377690" cy="25827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C:\Users\cm1810\AppData\Local\Microsoft\Windows\Temporary Internet Files\Content.IE5\VS2S8Y0D\1392471445[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13578" y="2139882"/>
            <a:ext cx="377690" cy="207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1780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152054521"/>
              </p:ext>
            </p:extLst>
          </p:nvPr>
        </p:nvGraphicFramePr>
        <p:xfrm>
          <a:off x="1043608" y="692696"/>
          <a:ext cx="3390256" cy="4800594"/>
        </p:xfrm>
        <a:graphic>
          <a:graphicData uri="http://schemas.openxmlformats.org/drawingml/2006/table">
            <a:tbl>
              <a:tblPr/>
              <a:tblGrid>
                <a:gridCol w="847564">
                  <a:extLst>
                    <a:ext uri="{9D8B030D-6E8A-4147-A177-3AD203B41FA5}">
                      <a16:colId xmlns:a16="http://schemas.microsoft.com/office/drawing/2014/main" val="20000"/>
                    </a:ext>
                  </a:extLst>
                </a:gridCol>
                <a:gridCol w="847564">
                  <a:extLst>
                    <a:ext uri="{9D8B030D-6E8A-4147-A177-3AD203B41FA5}">
                      <a16:colId xmlns:a16="http://schemas.microsoft.com/office/drawing/2014/main" val="20001"/>
                    </a:ext>
                  </a:extLst>
                </a:gridCol>
                <a:gridCol w="847564">
                  <a:extLst>
                    <a:ext uri="{9D8B030D-6E8A-4147-A177-3AD203B41FA5}">
                      <a16:colId xmlns:a16="http://schemas.microsoft.com/office/drawing/2014/main" val="20002"/>
                    </a:ext>
                  </a:extLst>
                </a:gridCol>
                <a:gridCol w="847564">
                  <a:extLst>
                    <a:ext uri="{9D8B030D-6E8A-4147-A177-3AD203B41FA5}">
                      <a16:colId xmlns:a16="http://schemas.microsoft.com/office/drawing/2014/main" val="20003"/>
                    </a:ext>
                  </a:extLst>
                </a:gridCol>
              </a:tblGrid>
              <a:tr h="162732">
                <a:tc gridSpan="4">
                  <a:txBody>
                    <a:bodyPr/>
                    <a:lstStyle/>
                    <a:p>
                      <a:r>
                        <a:rPr lang="en-GB" sz="800" dirty="0"/>
                        <a:t>DHCPDISCOVER message</a:t>
                      </a:r>
                    </a:p>
                  </a:txBody>
                  <a:tcPr marL="40683" marR="40683" marT="20342" marB="20342" anchor="ctr">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284781">
                <a:tc gridSpan="4">
                  <a:txBody>
                    <a:bodyPr/>
                    <a:lstStyle/>
                    <a:p>
                      <a:r>
                        <a:rPr lang="en-GB" sz="800" u="none" strike="noStrike">
                          <a:solidFill>
                            <a:srgbClr val="0B0080"/>
                          </a:solidFill>
                          <a:effectLst/>
                          <a:hlinkClick r:id="rId2" tooltip="User Datagram Protocol"/>
                        </a:rPr>
                        <a:t>UDP</a:t>
                      </a:r>
                      <a:r>
                        <a:rPr lang="en-GB" sz="800">
                          <a:effectLst/>
                        </a:rPr>
                        <a:t> Src=0.0.0.0 sPort=68</a:t>
                      </a:r>
                      <a:br>
                        <a:rPr lang="en-GB" sz="800">
                          <a:effectLst/>
                        </a:rPr>
                      </a:br>
                      <a:r>
                        <a:rPr lang="en-GB" sz="800">
                          <a:effectLst/>
                        </a:rPr>
                        <a:t>Dest=255.255.255.255 dPort=67</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1"/>
                  </a:ext>
                </a:extLst>
              </a:tr>
              <a:tr h="162732">
                <a:tc>
                  <a:txBody>
                    <a:bodyPr/>
                    <a:lstStyle/>
                    <a:p>
                      <a:pPr algn="ctr"/>
                      <a:r>
                        <a:rPr lang="en-GB" sz="800">
                          <a:effectLst/>
                        </a:rPr>
                        <a:t>OP</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algn="ctr"/>
                      <a:r>
                        <a:rPr lang="en-GB" sz="800">
                          <a:effectLst/>
                        </a:rPr>
                        <a:t>HTYPE</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algn="ctr"/>
                      <a:r>
                        <a:rPr lang="en-GB" sz="800">
                          <a:effectLst/>
                        </a:rPr>
                        <a:t>HLEN</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algn="ctr"/>
                      <a:r>
                        <a:rPr lang="en-GB" sz="800">
                          <a:effectLst/>
                        </a:rPr>
                        <a:t>HOPS</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162732">
                <a:tc>
                  <a:txBody>
                    <a:bodyPr/>
                    <a:lstStyle/>
                    <a:p>
                      <a:r>
                        <a:rPr lang="en-GB" sz="800">
                          <a:effectLst/>
                        </a:rPr>
                        <a:t>0x01</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GB" sz="800">
                          <a:effectLst/>
                        </a:rPr>
                        <a:t>0x01</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GB" sz="800">
                          <a:effectLst/>
                        </a:rPr>
                        <a:t>0x06</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GB" sz="800">
                          <a:effectLst/>
                        </a:rPr>
                        <a:t>0x00</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extLst>
                  <a:ext uri="{0D108BD9-81ED-4DB2-BD59-A6C34878D82A}">
                    <a16:rowId xmlns:a16="http://schemas.microsoft.com/office/drawing/2014/main" val="10003"/>
                  </a:ext>
                </a:extLst>
              </a:tr>
              <a:tr h="162732">
                <a:tc gridSpan="4">
                  <a:txBody>
                    <a:bodyPr/>
                    <a:lstStyle/>
                    <a:p>
                      <a:pPr algn="ctr"/>
                      <a:r>
                        <a:rPr lang="en-GB" sz="800">
                          <a:effectLst/>
                        </a:rPr>
                        <a:t>XID</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4"/>
                  </a:ext>
                </a:extLst>
              </a:tr>
              <a:tr h="162732">
                <a:tc gridSpan="4">
                  <a:txBody>
                    <a:bodyPr/>
                    <a:lstStyle/>
                    <a:p>
                      <a:r>
                        <a:rPr lang="en-GB" sz="800">
                          <a:effectLst/>
                        </a:rPr>
                        <a:t>0x3903F326</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5"/>
                  </a:ext>
                </a:extLst>
              </a:tr>
              <a:tr h="162732">
                <a:tc gridSpan="2">
                  <a:txBody>
                    <a:bodyPr/>
                    <a:lstStyle/>
                    <a:p>
                      <a:pPr algn="ctr"/>
                      <a:r>
                        <a:rPr lang="en-GB" sz="800">
                          <a:effectLst/>
                        </a:rPr>
                        <a:t>SECS</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gridSpan="2">
                  <a:txBody>
                    <a:bodyPr/>
                    <a:lstStyle/>
                    <a:p>
                      <a:pPr algn="ctr"/>
                      <a:r>
                        <a:rPr lang="en-GB" sz="800" dirty="0">
                          <a:effectLst/>
                        </a:rPr>
                        <a:t>FLAGS</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extLst>
                  <a:ext uri="{0D108BD9-81ED-4DB2-BD59-A6C34878D82A}">
                    <a16:rowId xmlns:a16="http://schemas.microsoft.com/office/drawing/2014/main" val="10006"/>
                  </a:ext>
                </a:extLst>
              </a:tr>
              <a:tr h="162732">
                <a:tc gridSpan="2">
                  <a:txBody>
                    <a:bodyPr/>
                    <a:lstStyle/>
                    <a:p>
                      <a:r>
                        <a:rPr lang="en-GB" sz="800">
                          <a:effectLst/>
                        </a:rPr>
                        <a:t>0x0000</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gridSpan="2">
                  <a:txBody>
                    <a:bodyPr/>
                    <a:lstStyle/>
                    <a:p>
                      <a:r>
                        <a:rPr lang="en-GB" sz="800">
                          <a:effectLst/>
                        </a:rPr>
                        <a:t>0x0000</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extLst>
                  <a:ext uri="{0D108BD9-81ED-4DB2-BD59-A6C34878D82A}">
                    <a16:rowId xmlns:a16="http://schemas.microsoft.com/office/drawing/2014/main" val="10007"/>
                  </a:ext>
                </a:extLst>
              </a:tr>
              <a:tr h="162732">
                <a:tc gridSpan="4">
                  <a:txBody>
                    <a:bodyPr/>
                    <a:lstStyle/>
                    <a:p>
                      <a:pPr algn="ctr"/>
                      <a:r>
                        <a:rPr lang="en-GB" sz="800">
                          <a:effectLst/>
                        </a:rPr>
                        <a:t>CIADDR (Client IP address)</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8"/>
                  </a:ext>
                </a:extLst>
              </a:tr>
              <a:tr h="162732">
                <a:tc gridSpan="4">
                  <a:txBody>
                    <a:bodyPr/>
                    <a:lstStyle/>
                    <a:p>
                      <a:r>
                        <a:rPr lang="en-GB" sz="800">
                          <a:effectLst/>
                        </a:rPr>
                        <a:t>0x00000000</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9"/>
                  </a:ext>
                </a:extLst>
              </a:tr>
              <a:tr h="162732">
                <a:tc gridSpan="4">
                  <a:txBody>
                    <a:bodyPr/>
                    <a:lstStyle/>
                    <a:p>
                      <a:pPr algn="ctr"/>
                      <a:r>
                        <a:rPr lang="en-GB" sz="800">
                          <a:effectLst/>
                        </a:rPr>
                        <a:t>YIADDR (Your IP address)</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10"/>
                  </a:ext>
                </a:extLst>
              </a:tr>
              <a:tr h="162732">
                <a:tc gridSpan="4">
                  <a:txBody>
                    <a:bodyPr/>
                    <a:lstStyle/>
                    <a:p>
                      <a:r>
                        <a:rPr lang="en-GB" sz="800">
                          <a:effectLst/>
                        </a:rPr>
                        <a:t>0x00000000</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11"/>
                  </a:ext>
                </a:extLst>
              </a:tr>
              <a:tr h="162732">
                <a:tc gridSpan="4">
                  <a:txBody>
                    <a:bodyPr/>
                    <a:lstStyle/>
                    <a:p>
                      <a:pPr algn="ctr"/>
                      <a:r>
                        <a:rPr lang="en-GB" sz="800">
                          <a:effectLst/>
                        </a:rPr>
                        <a:t>SIADDR (Server IP address)</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12"/>
                  </a:ext>
                </a:extLst>
              </a:tr>
              <a:tr h="162732">
                <a:tc gridSpan="4">
                  <a:txBody>
                    <a:bodyPr/>
                    <a:lstStyle/>
                    <a:p>
                      <a:r>
                        <a:rPr lang="en-GB" sz="800">
                          <a:effectLst/>
                        </a:rPr>
                        <a:t>0x00000000</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13"/>
                  </a:ext>
                </a:extLst>
              </a:tr>
              <a:tr h="162732">
                <a:tc gridSpan="4">
                  <a:txBody>
                    <a:bodyPr/>
                    <a:lstStyle/>
                    <a:p>
                      <a:pPr algn="ctr"/>
                      <a:r>
                        <a:rPr lang="en-GB" sz="800">
                          <a:effectLst/>
                        </a:rPr>
                        <a:t>GIADDR (Gateway IP address)</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14"/>
                  </a:ext>
                </a:extLst>
              </a:tr>
              <a:tr h="162732">
                <a:tc gridSpan="4">
                  <a:txBody>
                    <a:bodyPr/>
                    <a:lstStyle/>
                    <a:p>
                      <a:r>
                        <a:rPr lang="en-GB" sz="800">
                          <a:effectLst/>
                        </a:rPr>
                        <a:t>0x00000000</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15"/>
                  </a:ext>
                </a:extLst>
              </a:tr>
              <a:tr h="162732">
                <a:tc gridSpan="4">
                  <a:txBody>
                    <a:bodyPr/>
                    <a:lstStyle/>
                    <a:p>
                      <a:pPr algn="ctr"/>
                      <a:r>
                        <a:rPr lang="en-GB" sz="800">
                          <a:effectLst/>
                        </a:rPr>
                        <a:t>CHADDR (Client hardware address)</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16"/>
                  </a:ext>
                </a:extLst>
              </a:tr>
              <a:tr h="162732">
                <a:tc gridSpan="4">
                  <a:txBody>
                    <a:bodyPr/>
                    <a:lstStyle/>
                    <a:p>
                      <a:r>
                        <a:rPr lang="en-GB" sz="800">
                          <a:effectLst/>
                        </a:rPr>
                        <a:t>0x00053C04</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17"/>
                  </a:ext>
                </a:extLst>
              </a:tr>
              <a:tr h="162732">
                <a:tc gridSpan="4">
                  <a:txBody>
                    <a:bodyPr/>
                    <a:lstStyle/>
                    <a:p>
                      <a:r>
                        <a:rPr lang="en-GB" sz="800">
                          <a:effectLst/>
                        </a:rPr>
                        <a:t>0x8D590000</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18"/>
                  </a:ext>
                </a:extLst>
              </a:tr>
              <a:tr h="162732">
                <a:tc gridSpan="4">
                  <a:txBody>
                    <a:bodyPr/>
                    <a:lstStyle/>
                    <a:p>
                      <a:r>
                        <a:rPr lang="en-GB" sz="800">
                          <a:effectLst/>
                        </a:rPr>
                        <a:t>0x00000000</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19"/>
                  </a:ext>
                </a:extLst>
              </a:tr>
              <a:tr h="162732">
                <a:tc gridSpan="4">
                  <a:txBody>
                    <a:bodyPr/>
                    <a:lstStyle/>
                    <a:p>
                      <a:r>
                        <a:rPr lang="en-GB" sz="800">
                          <a:effectLst/>
                        </a:rPr>
                        <a:t>0x00000000</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20"/>
                  </a:ext>
                </a:extLst>
              </a:tr>
              <a:tr h="162732">
                <a:tc gridSpan="4">
                  <a:txBody>
                    <a:bodyPr/>
                    <a:lstStyle/>
                    <a:p>
                      <a:r>
                        <a:rPr lang="en-GB" sz="800">
                          <a:effectLst/>
                        </a:rPr>
                        <a:t>192 octets of 0s, or overflow space for additional options. </a:t>
                      </a:r>
                      <a:r>
                        <a:rPr lang="en-GB" sz="800" u="none" strike="noStrike">
                          <a:solidFill>
                            <a:srgbClr val="0B0080"/>
                          </a:solidFill>
                          <a:effectLst/>
                          <a:hlinkClick r:id="rId3" tooltip="BOOTP"/>
                        </a:rPr>
                        <a:t>BOOTP</a:t>
                      </a:r>
                      <a:r>
                        <a:rPr lang="en-GB" sz="800">
                          <a:effectLst/>
                        </a:rPr>
                        <a:t> legacy</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21"/>
                  </a:ext>
                </a:extLst>
              </a:tr>
              <a:tr h="162732">
                <a:tc gridSpan="4">
                  <a:txBody>
                    <a:bodyPr/>
                    <a:lstStyle/>
                    <a:p>
                      <a:pPr algn="ctr"/>
                      <a:r>
                        <a:rPr lang="en-GB" sz="800" u="none" strike="noStrike">
                          <a:solidFill>
                            <a:srgbClr val="0B0080"/>
                          </a:solidFill>
                          <a:effectLst/>
                          <a:hlinkClick r:id="rId4" tooltip="Magic cookie"/>
                        </a:rPr>
                        <a:t>Magic cookie</a:t>
                      </a:r>
                      <a:endParaRPr lang="en-GB" sz="800">
                        <a:effectLst/>
                      </a:endParaRP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22"/>
                  </a:ext>
                </a:extLst>
              </a:tr>
              <a:tr h="162732">
                <a:tc gridSpan="4">
                  <a:txBody>
                    <a:bodyPr/>
                    <a:lstStyle/>
                    <a:p>
                      <a:r>
                        <a:rPr lang="en-GB" sz="800">
                          <a:effectLst/>
                        </a:rPr>
                        <a:t>0x63825363</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23"/>
                  </a:ext>
                </a:extLst>
              </a:tr>
              <a:tr h="162732">
                <a:tc gridSpan="4">
                  <a:txBody>
                    <a:bodyPr/>
                    <a:lstStyle/>
                    <a:p>
                      <a:pPr algn="ctr"/>
                      <a:r>
                        <a:rPr lang="en-GB" sz="800">
                          <a:effectLst/>
                        </a:rPr>
                        <a:t>DHCP Options</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24"/>
                  </a:ext>
                </a:extLst>
              </a:tr>
              <a:tr h="162732">
                <a:tc gridSpan="4">
                  <a:txBody>
                    <a:bodyPr/>
                    <a:lstStyle/>
                    <a:p>
                      <a:r>
                        <a:rPr lang="en-GB" sz="800">
                          <a:effectLst/>
                        </a:rPr>
                        <a:t>DHCP option 53: DHCP Discover</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25"/>
                  </a:ext>
                </a:extLst>
              </a:tr>
              <a:tr h="162732">
                <a:tc gridSpan="4">
                  <a:txBody>
                    <a:bodyPr/>
                    <a:lstStyle/>
                    <a:p>
                      <a:r>
                        <a:rPr lang="en-GB" sz="800">
                          <a:effectLst/>
                        </a:rPr>
                        <a:t>DHCP option 50: 192.168.1.100 requested</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26"/>
                  </a:ext>
                </a:extLst>
              </a:tr>
              <a:tr h="284781">
                <a:tc gridSpan="4">
                  <a:txBody>
                    <a:bodyPr/>
                    <a:lstStyle/>
                    <a:p>
                      <a:r>
                        <a:rPr lang="en-GB" sz="800" dirty="0">
                          <a:effectLst/>
                        </a:rPr>
                        <a:t>DHCP option 55: Parameter Request </a:t>
                      </a:r>
                      <a:r>
                        <a:rPr lang="en-GB" sz="800" dirty="0" err="1">
                          <a:effectLst/>
                        </a:rPr>
                        <a:t>List:Request</a:t>
                      </a:r>
                      <a:r>
                        <a:rPr lang="en-GB" sz="800" dirty="0">
                          <a:effectLst/>
                        </a:rPr>
                        <a:t> Subnet Mask (1), Router (3), Domain Name (15), Domain Name Server (6)</a:t>
                      </a:r>
                    </a:p>
                  </a:txBody>
                  <a:tcPr marL="40683" marR="40683" marT="20342" marB="2034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27"/>
                  </a:ext>
                </a:extLst>
              </a:tr>
            </a:tbl>
          </a:graphicData>
        </a:graphic>
      </p:graphicFrame>
      <p:sp>
        <p:nvSpPr>
          <p:cNvPr id="3" name="Rectangle 2"/>
          <p:cNvSpPr>
            <a:spLocks noChangeArrowheads="1"/>
          </p:cNvSpPr>
          <p:nvPr/>
        </p:nvSpPr>
        <p:spPr bwMode="auto">
          <a:xfrm>
            <a:off x="2571750" y="1600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charset="0"/>
                <a:cs typeface="Arial" charset="0"/>
              </a:rPr>
            </a:br>
            <a:endParaRPr kumimoji="0" lang="en-US" altLang="en-US" sz="1800" b="0" i="0" u="none" strike="noStrike" cap="none" normalizeH="0" baseline="0">
              <a:ln>
                <a:noFill/>
              </a:ln>
              <a:solidFill>
                <a:schemeClr val="tx1"/>
              </a:solidFill>
              <a:effectLst/>
              <a:latin typeface="Arial" charset="0"/>
              <a:cs typeface="Arial" charset="0"/>
            </a:endParaRPr>
          </a:p>
        </p:txBody>
      </p:sp>
      <p:sp>
        <p:nvSpPr>
          <p:cNvPr id="4" name="Rounded Rectangle 3"/>
          <p:cNvSpPr/>
          <p:nvPr/>
        </p:nvSpPr>
        <p:spPr>
          <a:xfrm>
            <a:off x="641277" y="5030704"/>
            <a:ext cx="4464496" cy="14401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p:cNvSpPr txBox="1"/>
          <p:nvPr/>
        </p:nvSpPr>
        <p:spPr>
          <a:xfrm>
            <a:off x="5220072" y="2420888"/>
            <a:ext cx="2785250" cy="400110"/>
          </a:xfrm>
          <a:prstGeom prst="rect">
            <a:avLst/>
          </a:prstGeom>
          <a:noFill/>
          <a:ln w="19050">
            <a:solidFill>
              <a:schemeClr val="tx1"/>
            </a:solidFill>
          </a:ln>
        </p:spPr>
        <p:txBody>
          <a:bodyPr wrap="none" rtlCol="0">
            <a:spAutoFit/>
          </a:bodyPr>
          <a:lstStyle/>
          <a:p>
            <a:r>
              <a:rPr lang="en-GB" sz="2000" dirty="0"/>
              <a:t>DHCPDISCOVER message</a:t>
            </a:r>
          </a:p>
        </p:txBody>
      </p:sp>
      <p:sp>
        <p:nvSpPr>
          <p:cNvPr id="6" name="Rectangle 5">
            <a:extLst>
              <a:ext uri="{FF2B5EF4-FFF2-40B4-BE49-F238E27FC236}">
                <a16:creationId xmlns:a16="http://schemas.microsoft.com/office/drawing/2014/main" id="{8D5526C6-59B1-40EB-9678-68AAC76FC74F}"/>
              </a:ext>
            </a:extLst>
          </p:cNvPr>
          <p:cNvSpPr/>
          <p:nvPr/>
        </p:nvSpPr>
        <p:spPr>
          <a:xfrm>
            <a:off x="755576" y="836712"/>
            <a:ext cx="1816174" cy="28803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AB300782-CFB8-4C21-BDEC-6DADD4E3ED82}"/>
              </a:ext>
            </a:extLst>
          </p:cNvPr>
          <p:cNvSpPr/>
          <p:nvPr/>
        </p:nvSpPr>
        <p:spPr>
          <a:xfrm>
            <a:off x="641277" y="3429000"/>
            <a:ext cx="3792587" cy="28802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02718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
            </a:r>
            <a:r>
              <a:rPr lang="en-GB" dirty="0">
                <a:solidFill>
                  <a:srgbClr val="FF0000"/>
                </a:solidFill>
              </a:rPr>
              <a:t>O</a:t>
            </a:r>
            <a:r>
              <a:rPr lang="en-GB" dirty="0"/>
              <a:t>RA   -  </a:t>
            </a:r>
            <a:r>
              <a:rPr lang="en-GB" dirty="0">
                <a:solidFill>
                  <a:srgbClr val="FF0000"/>
                </a:solidFill>
              </a:rPr>
              <a:t>O</a:t>
            </a:r>
            <a:r>
              <a:rPr lang="en-GB" dirty="0"/>
              <a:t>ffer</a:t>
            </a:r>
          </a:p>
        </p:txBody>
      </p:sp>
      <p:pic>
        <p:nvPicPr>
          <p:cNvPr id="4" name="Picture 2" descr="C:\Users\cm1810\AppData\Local\Microsoft\Windows\Temporary Internet Files\Content.IE5\K6ZXADS2\PC_tower[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22117" y="2736872"/>
            <a:ext cx="881115" cy="97834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C:\Users\cm1810\AppData\Local\Microsoft\Windows\Temporary Internet Files\Content.IE5\511CC7OS\computer-silhouette[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584" y="2780928"/>
            <a:ext cx="934286" cy="934286"/>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p:cNvCxnSpPr>
            <a:endCxn id="6" idx="1"/>
          </p:cNvCxnSpPr>
          <p:nvPr/>
        </p:nvCxnSpPr>
        <p:spPr>
          <a:xfrm flipV="1">
            <a:off x="1761870" y="3330390"/>
            <a:ext cx="2450090" cy="124938"/>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6" idx="0"/>
          </p:cNvCxnSpPr>
          <p:nvPr/>
        </p:nvCxnSpPr>
        <p:spPr>
          <a:xfrm flipV="1">
            <a:off x="4461804" y="1905004"/>
            <a:ext cx="870645" cy="1235964"/>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4572000" y="2139882"/>
            <a:ext cx="930423" cy="1190508"/>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4572000" y="2398308"/>
            <a:ext cx="1800200" cy="932082"/>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6" idx="3"/>
          </p:cNvCxnSpPr>
          <p:nvPr/>
        </p:nvCxnSpPr>
        <p:spPr>
          <a:xfrm flipV="1">
            <a:off x="4711647" y="2840500"/>
            <a:ext cx="1523776" cy="489890"/>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770584" y="3289230"/>
            <a:ext cx="2692090" cy="0"/>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72000" y="3289230"/>
            <a:ext cx="1322178" cy="779075"/>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572000" y="3351699"/>
            <a:ext cx="1086509" cy="1631716"/>
          </a:xfrm>
          <a:prstGeom prst="line">
            <a:avLst/>
          </a:prstGeom>
          <a:ln w="34925"/>
        </p:spPr>
        <p:style>
          <a:lnRef idx="1">
            <a:schemeClr val="accent1"/>
          </a:lnRef>
          <a:fillRef idx="0">
            <a:schemeClr val="accent1"/>
          </a:fillRef>
          <a:effectRef idx="0">
            <a:schemeClr val="accent1"/>
          </a:effectRef>
          <a:fontRef idx="minor">
            <a:schemeClr val="tx1"/>
          </a:fontRef>
        </p:style>
      </p:cxnSp>
      <p:pic>
        <p:nvPicPr>
          <p:cNvPr id="26" name="Picture 6" descr="C:\Users\cm1810\AppData\Local\Microsoft\Windows\Temporary Internet Files\Content.IE5\VS2S8Y0D\1392471445[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98070" y="3289230"/>
            <a:ext cx="377690" cy="207257"/>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6062079" y="4156805"/>
            <a:ext cx="2013243" cy="1815882"/>
          </a:xfrm>
          <a:prstGeom prst="rect">
            <a:avLst/>
          </a:prstGeom>
          <a:noFill/>
          <a:ln>
            <a:solidFill>
              <a:srgbClr val="7030A0"/>
            </a:solidFill>
          </a:ln>
        </p:spPr>
        <p:txBody>
          <a:bodyPr wrap="none" rtlCol="0">
            <a:spAutoFit/>
          </a:bodyPr>
          <a:lstStyle/>
          <a:p>
            <a:r>
              <a:rPr lang="en-GB" sz="1400" dirty="0">
                <a:solidFill>
                  <a:srgbClr val="FF0000"/>
                </a:solidFill>
              </a:rPr>
              <a:t>Destination</a:t>
            </a:r>
            <a:r>
              <a:rPr lang="en-GB" sz="1400" dirty="0"/>
              <a:t> (PC)</a:t>
            </a:r>
          </a:p>
          <a:p>
            <a:r>
              <a:rPr lang="en-GB" sz="1400" dirty="0"/>
              <a:t>IP       255.255.255.255</a:t>
            </a:r>
          </a:p>
          <a:p>
            <a:r>
              <a:rPr lang="en-GB" sz="1400" dirty="0"/>
              <a:t>MAC  AB.67.87.45.C5.A1</a:t>
            </a:r>
          </a:p>
          <a:p>
            <a:r>
              <a:rPr lang="en-GB" sz="1400" dirty="0"/>
              <a:t>Port 68</a:t>
            </a:r>
          </a:p>
          <a:p>
            <a:r>
              <a:rPr lang="en-GB" sz="1400" dirty="0">
                <a:solidFill>
                  <a:srgbClr val="0070C0"/>
                </a:solidFill>
              </a:rPr>
              <a:t>Source (server)</a:t>
            </a:r>
          </a:p>
          <a:p>
            <a:r>
              <a:rPr lang="en-GB" sz="1400" dirty="0"/>
              <a:t>IP        172.177.91.42</a:t>
            </a:r>
          </a:p>
          <a:p>
            <a:r>
              <a:rPr lang="en-GB" sz="1400" dirty="0"/>
              <a:t>MAC   F1.87.90.12.DE.5A</a:t>
            </a:r>
          </a:p>
          <a:p>
            <a:r>
              <a:rPr lang="en-GB" sz="1400" dirty="0">
                <a:solidFill>
                  <a:srgbClr val="00B050"/>
                </a:solidFill>
              </a:rPr>
              <a:t>Port 67</a:t>
            </a:r>
          </a:p>
        </p:txBody>
      </p:sp>
      <p:sp>
        <p:nvSpPr>
          <p:cNvPr id="28" name="TextBox 27"/>
          <p:cNvSpPr txBox="1"/>
          <p:nvPr/>
        </p:nvSpPr>
        <p:spPr>
          <a:xfrm>
            <a:off x="395536" y="5153057"/>
            <a:ext cx="4837553" cy="923330"/>
          </a:xfrm>
          <a:prstGeom prst="rect">
            <a:avLst/>
          </a:prstGeom>
          <a:noFill/>
        </p:spPr>
        <p:txBody>
          <a:bodyPr wrap="square" rtlCol="0">
            <a:spAutoFit/>
          </a:bodyPr>
          <a:lstStyle/>
          <a:p>
            <a:r>
              <a:rPr lang="en-GB" dirty="0"/>
              <a:t>The PC may actually get many offers from different DHCP servers</a:t>
            </a:r>
          </a:p>
          <a:p>
            <a:r>
              <a:rPr lang="en-GB" dirty="0"/>
              <a:t> </a:t>
            </a:r>
          </a:p>
        </p:txBody>
      </p:sp>
      <p:sp>
        <p:nvSpPr>
          <p:cNvPr id="29" name="TextBox 28"/>
          <p:cNvSpPr txBox="1"/>
          <p:nvPr/>
        </p:nvSpPr>
        <p:spPr>
          <a:xfrm>
            <a:off x="568138" y="4068305"/>
            <a:ext cx="3715056" cy="369332"/>
          </a:xfrm>
          <a:prstGeom prst="rect">
            <a:avLst/>
          </a:prstGeom>
          <a:noFill/>
        </p:spPr>
        <p:txBody>
          <a:bodyPr wrap="none" rtlCol="0">
            <a:spAutoFit/>
          </a:bodyPr>
          <a:lstStyle/>
          <a:p>
            <a:r>
              <a:rPr lang="en-GB" dirty="0"/>
              <a:t>Offer will have a lease for a fixed time</a:t>
            </a:r>
          </a:p>
        </p:txBody>
      </p:sp>
      <p:pic>
        <p:nvPicPr>
          <p:cNvPr id="6" name="Picture 4" descr="C:\Users\cm1810\AppData\Local\Microsoft\Windows\Temporary Internet Files\Content.IE5\4NRWEVSN\Switch-Labelled[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11960" y="3140968"/>
            <a:ext cx="499687" cy="378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86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355402221"/>
              </p:ext>
            </p:extLst>
          </p:nvPr>
        </p:nvGraphicFramePr>
        <p:xfrm>
          <a:off x="1979712" y="764704"/>
          <a:ext cx="3252440" cy="4950420"/>
        </p:xfrm>
        <a:graphic>
          <a:graphicData uri="http://schemas.openxmlformats.org/drawingml/2006/table">
            <a:tbl>
              <a:tblPr/>
              <a:tblGrid>
                <a:gridCol w="650488">
                  <a:extLst>
                    <a:ext uri="{9D8B030D-6E8A-4147-A177-3AD203B41FA5}">
                      <a16:colId xmlns:a16="http://schemas.microsoft.com/office/drawing/2014/main" val="20000"/>
                    </a:ext>
                  </a:extLst>
                </a:gridCol>
                <a:gridCol w="650488">
                  <a:extLst>
                    <a:ext uri="{9D8B030D-6E8A-4147-A177-3AD203B41FA5}">
                      <a16:colId xmlns:a16="http://schemas.microsoft.com/office/drawing/2014/main" val="20001"/>
                    </a:ext>
                  </a:extLst>
                </a:gridCol>
                <a:gridCol w="650488">
                  <a:extLst>
                    <a:ext uri="{9D8B030D-6E8A-4147-A177-3AD203B41FA5}">
                      <a16:colId xmlns:a16="http://schemas.microsoft.com/office/drawing/2014/main" val="20002"/>
                    </a:ext>
                  </a:extLst>
                </a:gridCol>
                <a:gridCol w="650488">
                  <a:extLst>
                    <a:ext uri="{9D8B030D-6E8A-4147-A177-3AD203B41FA5}">
                      <a16:colId xmlns:a16="http://schemas.microsoft.com/office/drawing/2014/main" val="20003"/>
                    </a:ext>
                  </a:extLst>
                </a:gridCol>
                <a:gridCol w="650488">
                  <a:extLst>
                    <a:ext uri="{9D8B030D-6E8A-4147-A177-3AD203B41FA5}">
                      <a16:colId xmlns:a16="http://schemas.microsoft.com/office/drawing/2014/main" val="20004"/>
                    </a:ext>
                  </a:extLst>
                </a:gridCol>
              </a:tblGrid>
              <a:tr h="273205">
                <a:tc gridSpan="4">
                  <a:txBody>
                    <a:bodyPr/>
                    <a:lstStyle/>
                    <a:p>
                      <a:r>
                        <a:rPr lang="en-GB" sz="800">
                          <a:effectLst/>
                        </a:rPr>
                        <a:t>UDP Src=192.168.1.1 sPort=67</a:t>
                      </a:r>
                      <a:br>
                        <a:rPr lang="en-GB" sz="800">
                          <a:effectLst/>
                        </a:rPr>
                      </a:br>
                      <a:r>
                        <a:rPr lang="en-GB" sz="800">
                          <a:effectLst/>
                        </a:rPr>
                        <a:t>Dest=255.255.255.255 | dPort=68</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0"/>
                  </a:ext>
                </a:extLst>
              </a:tr>
              <a:tr h="156117">
                <a:tc>
                  <a:txBody>
                    <a:bodyPr/>
                    <a:lstStyle/>
                    <a:p>
                      <a:pPr algn="ctr"/>
                      <a:r>
                        <a:rPr lang="en-GB" sz="800">
                          <a:effectLst/>
                        </a:rPr>
                        <a:t>OP</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algn="ctr"/>
                      <a:r>
                        <a:rPr lang="en-GB" sz="800">
                          <a:effectLst/>
                        </a:rPr>
                        <a:t>HTYPE</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algn="ctr"/>
                      <a:r>
                        <a:rPr lang="en-GB" sz="800">
                          <a:effectLst/>
                        </a:rPr>
                        <a:t>HLEN</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algn="ctr"/>
                      <a:r>
                        <a:rPr lang="en-GB" sz="800">
                          <a:effectLst/>
                        </a:rPr>
                        <a:t>HOPS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1"/>
                  </a:ext>
                </a:extLst>
              </a:tr>
              <a:tr h="156117">
                <a:tc>
                  <a:txBody>
                    <a:bodyPr/>
                    <a:lstStyle/>
                    <a:p>
                      <a:r>
                        <a:rPr lang="en-GB" sz="800">
                          <a:effectLst/>
                        </a:rPr>
                        <a:t>0x02</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GB" sz="800">
                          <a:effectLst/>
                        </a:rPr>
                        <a:t>0x01</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GB" sz="800">
                          <a:effectLst/>
                        </a:rPr>
                        <a:t>0x06</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GB" sz="800">
                          <a:effectLst/>
                        </a:rPr>
                        <a:t>0x00</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2"/>
                  </a:ext>
                </a:extLst>
              </a:tr>
              <a:tr h="156117">
                <a:tc gridSpan="4">
                  <a:txBody>
                    <a:bodyPr/>
                    <a:lstStyle/>
                    <a:p>
                      <a:pPr algn="ctr"/>
                      <a:r>
                        <a:rPr lang="en-GB" sz="800">
                          <a:effectLst/>
                        </a:rPr>
                        <a:t>XID</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3"/>
                  </a:ext>
                </a:extLst>
              </a:tr>
              <a:tr h="156117">
                <a:tc gridSpan="4">
                  <a:txBody>
                    <a:bodyPr/>
                    <a:lstStyle/>
                    <a:p>
                      <a:r>
                        <a:rPr lang="en-GB" sz="800">
                          <a:effectLst/>
                        </a:rPr>
                        <a:t>0x3903F326</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4"/>
                  </a:ext>
                </a:extLst>
              </a:tr>
              <a:tr h="156117">
                <a:tc gridSpan="2">
                  <a:txBody>
                    <a:bodyPr/>
                    <a:lstStyle/>
                    <a:p>
                      <a:pPr algn="ctr"/>
                      <a:r>
                        <a:rPr lang="en-GB" sz="800">
                          <a:effectLst/>
                        </a:rPr>
                        <a:t>SECS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gridSpan="2">
                  <a:txBody>
                    <a:bodyPr/>
                    <a:lstStyle/>
                    <a:p>
                      <a:pPr algn="ctr"/>
                      <a:r>
                        <a:rPr lang="en-GB" sz="800">
                          <a:effectLst/>
                        </a:rPr>
                        <a:t>FLAGS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5"/>
                  </a:ext>
                </a:extLst>
              </a:tr>
              <a:tr h="156117">
                <a:tc gridSpan="2">
                  <a:txBody>
                    <a:bodyPr/>
                    <a:lstStyle/>
                    <a:p>
                      <a:r>
                        <a:rPr lang="en-GB" sz="800">
                          <a:effectLst/>
                        </a:rPr>
                        <a:t>0x0000</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gridSpan="2">
                  <a:txBody>
                    <a:bodyPr/>
                    <a:lstStyle/>
                    <a:p>
                      <a:r>
                        <a:rPr lang="en-GB" sz="800">
                          <a:effectLst/>
                        </a:rPr>
                        <a:t>0x0000</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6"/>
                  </a:ext>
                </a:extLst>
              </a:tr>
              <a:tr h="156117">
                <a:tc gridSpan="4">
                  <a:txBody>
                    <a:bodyPr/>
                    <a:lstStyle/>
                    <a:p>
                      <a:pPr algn="ctr"/>
                      <a:r>
                        <a:rPr lang="en-GB" sz="800">
                          <a:effectLst/>
                        </a:rPr>
                        <a:t>CIADDR (Client IP address)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7"/>
                  </a:ext>
                </a:extLst>
              </a:tr>
              <a:tr h="156117">
                <a:tc gridSpan="4">
                  <a:txBody>
                    <a:bodyPr/>
                    <a:lstStyle/>
                    <a:p>
                      <a:r>
                        <a:rPr lang="en-GB" sz="800">
                          <a:effectLst/>
                        </a:rPr>
                        <a:t>0x00000000</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8"/>
                  </a:ext>
                </a:extLst>
              </a:tr>
              <a:tr h="156117">
                <a:tc gridSpan="5">
                  <a:txBody>
                    <a:bodyPr/>
                    <a:lstStyle/>
                    <a:p>
                      <a:pPr algn="ctr"/>
                      <a:r>
                        <a:rPr lang="en-GB" sz="800">
                          <a:effectLst/>
                        </a:rPr>
                        <a:t>YIADDR (Your IP address)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9"/>
                  </a:ext>
                </a:extLst>
              </a:tr>
              <a:tr h="156117">
                <a:tc gridSpan="5">
                  <a:txBody>
                    <a:bodyPr/>
                    <a:lstStyle/>
                    <a:p>
                      <a:r>
                        <a:rPr lang="en-GB" sz="800">
                          <a:effectLst/>
                        </a:rPr>
                        <a:t>0xC0A80164</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10"/>
                  </a:ext>
                </a:extLst>
              </a:tr>
              <a:tr h="156117">
                <a:tc gridSpan="4">
                  <a:txBody>
                    <a:bodyPr/>
                    <a:lstStyle/>
                    <a:p>
                      <a:pPr algn="ctr"/>
                      <a:r>
                        <a:rPr lang="en-GB" sz="800">
                          <a:effectLst/>
                        </a:rPr>
                        <a:t>SIADDR (Server IP address)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lnT w="9525" cap="flat" cmpd="sng" algn="ctr">
                      <a:solidFill>
                        <a:srgbClr val="AAAAAA"/>
                      </a:solidFill>
                      <a:prstDash val="solid"/>
                      <a:round/>
                      <a:headEnd type="none" w="med" len="med"/>
                      <a:tailEnd type="none" w="med" len="med"/>
                    </a:lnT>
                  </a:tcPr>
                </a:tc>
                <a:extLst>
                  <a:ext uri="{0D108BD9-81ED-4DB2-BD59-A6C34878D82A}">
                    <a16:rowId xmlns:a16="http://schemas.microsoft.com/office/drawing/2014/main" val="10011"/>
                  </a:ext>
                </a:extLst>
              </a:tr>
              <a:tr h="156117">
                <a:tc gridSpan="4">
                  <a:txBody>
                    <a:bodyPr/>
                    <a:lstStyle/>
                    <a:p>
                      <a:r>
                        <a:rPr lang="en-GB" sz="800">
                          <a:effectLst/>
                        </a:rPr>
                        <a:t>0xC0A80101</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2"/>
                  </a:ext>
                </a:extLst>
              </a:tr>
              <a:tr h="156117">
                <a:tc gridSpan="4">
                  <a:txBody>
                    <a:bodyPr/>
                    <a:lstStyle/>
                    <a:p>
                      <a:pPr algn="ctr"/>
                      <a:r>
                        <a:rPr lang="en-GB" sz="800">
                          <a:effectLst/>
                        </a:rPr>
                        <a:t>GIADDR (Gateway IP address)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3"/>
                  </a:ext>
                </a:extLst>
              </a:tr>
              <a:tr h="156117">
                <a:tc gridSpan="4">
                  <a:txBody>
                    <a:bodyPr/>
                    <a:lstStyle/>
                    <a:p>
                      <a:r>
                        <a:rPr lang="en-GB" sz="800">
                          <a:effectLst/>
                        </a:rPr>
                        <a:t>0x00000000</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4"/>
                  </a:ext>
                </a:extLst>
              </a:tr>
              <a:tr h="156117">
                <a:tc gridSpan="4">
                  <a:txBody>
                    <a:bodyPr/>
                    <a:lstStyle/>
                    <a:p>
                      <a:pPr algn="ctr"/>
                      <a:r>
                        <a:rPr lang="en-GB" sz="800">
                          <a:effectLst/>
                        </a:rPr>
                        <a:t>CHADDR (Client hardware address)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5"/>
                  </a:ext>
                </a:extLst>
              </a:tr>
              <a:tr h="156117">
                <a:tc gridSpan="4">
                  <a:txBody>
                    <a:bodyPr/>
                    <a:lstStyle/>
                    <a:p>
                      <a:r>
                        <a:rPr lang="en-GB" sz="800">
                          <a:effectLst/>
                        </a:rPr>
                        <a:t>0x00053C04</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6"/>
                  </a:ext>
                </a:extLst>
              </a:tr>
              <a:tr h="156117">
                <a:tc gridSpan="4">
                  <a:txBody>
                    <a:bodyPr/>
                    <a:lstStyle/>
                    <a:p>
                      <a:r>
                        <a:rPr lang="en-GB" sz="800">
                          <a:effectLst/>
                        </a:rPr>
                        <a:t>0x8D590000</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7"/>
                  </a:ext>
                </a:extLst>
              </a:tr>
              <a:tr h="156117">
                <a:tc gridSpan="4">
                  <a:txBody>
                    <a:bodyPr/>
                    <a:lstStyle/>
                    <a:p>
                      <a:r>
                        <a:rPr lang="en-GB" sz="800">
                          <a:effectLst/>
                        </a:rPr>
                        <a:t>0x00000000</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8"/>
                  </a:ext>
                </a:extLst>
              </a:tr>
              <a:tr h="156117">
                <a:tc gridSpan="4">
                  <a:txBody>
                    <a:bodyPr/>
                    <a:lstStyle/>
                    <a:p>
                      <a:r>
                        <a:rPr lang="en-GB" sz="800">
                          <a:effectLst/>
                        </a:rPr>
                        <a:t>0x00000000</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9"/>
                  </a:ext>
                </a:extLst>
              </a:tr>
              <a:tr h="156117">
                <a:tc gridSpan="4">
                  <a:txBody>
                    <a:bodyPr/>
                    <a:lstStyle/>
                    <a:p>
                      <a:r>
                        <a:rPr lang="en-GB" sz="800">
                          <a:effectLst/>
                        </a:rPr>
                        <a:t>192 octets of 0s. </a:t>
                      </a:r>
                      <a:r>
                        <a:rPr lang="en-GB" sz="800" u="none" strike="noStrike">
                          <a:solidFill>
                            <a:srgbClr val="0B0080"/>
                          </a:solidFill>
                          <a:effectLst/>
                          <a:hlinkClick r:id="rId2" tooltip="BOOTP"/>
                        </a:rPr>
                        <a:t>BOOTP</a:t>
                      </a:r>
                      <a:r>
                        <a:rPr lang="en-GB" sz="800">
                          <a:effectLst/>
                        </a:rPr>
                        <a:t> legacy</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0"/>
                  </a:ext>
                </a:extLst>
              </a:tr>
              <a:tr h="156117">
                <a:tc gridSpan="4">
                  <a:txBody>
                    <a:bodyPr/>
                    <a:lstStyle/>
                    <a:p>
                      <a:pPr algn="ctr"/>
                      <a:r>
                        <a:rPr lang="en-GB" sz="800" u="none" strike="noStrike">
                          <a:solidFill>
                            <a:srgbClr val="0B0080"/>
                          </a:solidFill>
                          <a:effectLst/>
                          <a:hlinkClick r:id="rId3" tooltip="Magic cookie"/>
                        </a:rPr>
                        <a:t>Magic cookie</a:t>
                      </a:r>
                      <a:endParaRPr lang="en-GB" sz="800">
                        <a:effectLst/>
                      </a:endParaRP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1"/>
                  </a:ext>
                </a:extLst>
              </a:tr>
              <a:tr h="156117">
                <a:tc gridSpan="4">
                  <a:txBody>
                    <a:bodyPr/>
                    <a:lstStyle/>
                    <a:p>
                      <a:r>
                        <a:rPr lang="en-GB" sz="800">
                          <a:effectLst/>
                        </a:rPr>
                        <a:t>0x63825363</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2"/>
                  </a:ext>
                </a:extLst>
              </a:tr>
              <a:tr h="156117">
                <a:tc gridSpan="4">
                  <a:txBody>
                    <a:bodyPr/>
                    <a:lstStyle/>
                    <a:p>
                      <a:pPr algn="ctr"/>
                      <a:r>
                        <a:rPr lang="en-GB" sz="800">
                          <a:effectLst/>
                        </a:rPr>
                        <a:t>DHCP Options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3"/>
                  </a:ext>
                </a:extLst>
              </a:tr>
              <a:tr h="156117">
                <a:tc gridSpan="4">
                  <a:txBody>
                    <a:bodyPr/>
                    <a:lstStyle/>
                    <a:p>
                      <a:r>
                        <a:rPr lang="en-GB" sz="800">
                          <a:effectLst/>
                        </a:rPr>
                        <a:t>DHCP option 53: DHCP Offer</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4"/>
                  </a:ext>
                </a:extLst>
              </a:tr>
              <a:tr h="156117">
                <a:tc gridSpan="4">
                  <a:txBody>
                    <a:bodyPr/>
                    <a:lstStyle/>
                    <a:p>
                      <a:r>
                        <a:rPr lang="da-DK" sz="800">
                          <a:effectLst/>
                        </a:rPr>
                        <a:t>DHCP option 1: 255.255.255.0 subnet mask</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5"/>
                  </a:ext>
                </a:extLst>
              </a:tr>
              <a:tr h="156117">
                <a:tc gridSpan="4">
                  <a:txBody>
                    <a:bodyPr/>
                    <a:lstStyle/>
                    <a:p>
                      <a:r>
                        <a:rPr lang="fr-FR" sz="800">
                          <a:effectLst/>
                        </a:rPr>
                        <a:t>DHCP option 3: 192.168.1.1 router</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6"/>
                  </a:ext>
                </a:extLst>
              </a:tr>
              <a:tr h="156117">
                <a:tc gridSpan="4">
                  <a:txBody>
                    <a:bodyPr/>
                    <a:lstStyle/>
                    <a:p>
                      <a:r>
                        <a:rPr lang="en-GB" sz="800">
                          <a:effectLst/>
                        </a:rPr>
                        <a:t>DHCP option 51: 86400s (1 day) IP address lease time</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7"/>
                  </a:ext>
                </a:extLst>
              </a:tr>
              <a:tr h="156117">
                <a:tc gridSpan="4">
                  <a:txBody>
                    <a:bodyPr/>
                    <a:lstStyle/>
                    <a:p>
                      <a:r>
                        <a:rPr lang="en-GB" sz="800">
                          <a:effectLst/>
                        </a:rPr>
                        <a:t>DHCP option 54: 192.168.1.1 DHCP server</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8"/>
                  </a:ext>
                </a:extLst>
              </a:tr>
              <a:tr h="156117">
                <a:tc gridSpan="4">
                  <a:txBody>
                    <a:bodyPr/>
                    <a:lstStyle/>
                    <a:p>
                      <a:r>
                        <a:rPr lang="fr-FR" sz="800">
                          <a:effectLst/>
                        </a:rPr>
                        <a:t>DHCP option 6: DNS servers 9.7.10.15, 9.7.10.16, 9.7.10.18</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dirty="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9"/>
                  </a:ext>
                </a:extLst>
              </a:tr>
            </a:tbl>
          </a:graphicData>
        </a:graphic>
      </p:graphicFrame>
      <p:sp>
        <p:nvSpPr>
          <p:cNvPr id="5" name="Rounded Rectangle 4"/>
          <p:cNvSpPr/>
          <p:nvPr/>
        </p:nvSpPr>
        <p:spPr>
          <a:xfrm>
            <a:off x="1115616" y="4581128"/>
            <a:ext cx="4464496" cy="122413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p:cNvSpPr txBox="1"/>
          <p:nvPr/>
        </p:nvSpPr>
        <p:spPr>
          <a:xfrm>
            <a:off x="5628303" y="2420888"/>
            <a:ext cx="2328073" cy="707886"/>
          </a:xfrm>
          <a:prstGeom prst="rect">
            <a:avLst/>
          </a:prstGeom>
          <a:noFill/>
          <a:ln w="19050">
            <a:solidFill>
              <a:schemeClr val="tx1"/>
            </a:solidFill>
          </a:ln>
        </p:spPr>
        <p:txBody>
          <a:bodyPr wrap="square" rtlCol="0">
            <a:spAutoFit/>
          </a:bodyPr>
          <a:lstStyle/>
          <a:p>
            <a:r>
              <a:rPr lang="en-GB" sz="2000" dirty="0"/>
              <a:t>DHCP Offer message From the Sever</a:t>
            </a:r>
          </a:p>
        </p:txBody>
      </p:sp>
      <p:sp>
        <p:nvSpPr>
          <p:cNvPr id="3" name="Rectangle: Rounded Corners 2">
            <a:extLst>
              <a:ext uri="{FF2B5EF4-FFF2-40B4-BE49-F238E27FC236}">
                <a16:creationId xmlns:a16="http://schemas.microsoft.com/office/drawing/2014/main" id="{BF131863-5879-416B-B248-7D44CCDEBEA0}"/>
              </a:ext>
            </a:extLst>
          </p:cNvPr>
          <p:cNvSpPr/>
          <p:nvPr/>
        </p:nvSpPr>
        <p:spPr>
          <a:xfrm>
            <a:off x="1475656" y="620688"/>
            <a:ext cx="4152647" cy="43204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B8F613AA-2F04-45DF-B461-15ED661AA9B1}"/>
              </a:ext>
            </a:extLst>
          </p:cNvPr>
          <p:cNvGrpSpPr/>
          <p:nvPr/>
        </p:nvGrpSpPr>
        <p:grpSpPr>
          <a:xfrm>
            <a:off x="1835696" y="1484784"/>
            <a:ext cx="6402591" cy="1192198"/>
            <a:chOff x="1835696" y="1484784"/>
            <a:chExt cx="6402591" cy="1192198"/>
          </a:xfrm>
        </p:grpSpPr>
        <p:sp>
          <p:nvSpPr>
            <p:cNvPr id="2" name="Rectangle 1">
              <a:extLst>
                <a:ext uri="{FF2B5EF4-FFF2-40B4-BE49-F238E27FC236}">
                  <a16:creationId xmlns:a16="http://schemas.microsoft.com/office/drawing/2014/main" id="{7C63DF93-A08F-42FC-8088-4D05103A41C1}"/>
                </a:ext>
              </a:extLst>
            </p:cNvPr>
            <p:cNvSpPr/>
            <p:nvPr/>
          </p:nvSpPr>
          <p:spPr>
            <a:xfrm>
              <a:off x="1835696" y="2276872"/>
              <a:ext cx="3600400" cy="4001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38ABBCA4-F50B-4DD5-BF14-029129341D56}"/>
                </a:ext>
              </a:extLst>
            </p:cNvPr>
            <p:cNvSpPr txBox="1"/>
            <p:nvPr/>
          </p:nvSpPr>
          <p:spPr>
            <a:xfrm>
              <a:off x="6228185" y="1484784"/>
              <a:ext cx="2010102" cy="923330"/>
            </a:xfrm>
            <a:prstGeom prst="rect">
              <a:avLst/>
            </a:prstGeom>
            <a:noFill/>
            <a:ln>
              <a:solidFill>
                <a:srgbClr val="FF0000"/>
              </a:solidFill>
            </a:ln>
          </p:spPr>
          <p:txBody>
            <a:bodyPr wrap="square" rtlCol="0">
              <a:spAutoFit/>
            </a:bodyPr>
            <a:lstStyle/>
            <a:p>
              <a:r>
                <a:rPr lang="en-GB" dirty="0"/>
                <a:t>Client offered IP address</a:t>
              </a:r>
            </a:p>
            <a:p>
              <a:r>
                <a:rPr lang="en-GB" dirty="0"/>
                <a:t>192.168.1.100</a:t>
              </a:r>
            </a:p>
          </p:txBody>
        </p:sp>
        <p:cxnSp>
          <p:nvCxnSpPr>
            <p:cNvPr id="9" name="Straight Connector 8">
              <a:extLst>
                <a:ext uri="{FF2B5EF4-FFF2-40B4-BE49-F238E27FC236}">
                  <a16:creationId xmlns:a16="http://schemas.microsoft.com/office/drawing/2014/main" id="{CD1D9FAE-24D7-405A-B3E9-FE366B7F192E}"/>
                </a:ext>
              </a:extLst>
            </p:cNvPr>
            <p:cNvCxnSpPr/>
            <p:nvPr/>
          </p:nvCxnSpPr>
          <p:spPr>
            <a:xfrm flipH="1">
              <a:off x="5436096" y="1854116"/>
              <a:ext cx="792088" cy="422756"/>
            </a:xfrm>
            <a:prstGeom prst="line">
              <a:avLst/>
            </a:prstGeom>
            <a:ln>
              <a:solidFill>
                <a:srgbClr val="FF0000"/>
              </a:solidFill>
            </a:ln>
          </p:spPr>
          <p:style>
            <a:lnRef idx="1">
              <a:schemeClr val="dk1"/>
            </a:lnRef>
            <a:fillRef idx="0">
              <a:schemeClr val="dk1"/>
            </a:fillRef>
            <a:effectRef idx="0">
              <a:schemeClr val="dk1"/>
            </a:effectRef>
            <a:fontRef idx="minor">
              <a:schemeClr val="tx1"/>
            </a:fontRef>
          </p:style>
        </p:cxnSp>
      </p:grpSp>
      <p:grpSp>
        <p:nvGrpSpPr>
          <p:cNvPr id="16" name="Group 15">
            <a:extLst>
              <a:ext uri="{FF2B5EF4-FFF2-40B4-BE49-F238E27FC236}">
                <a16:creationId xmlns:a16="http://schemas.microsoft.com/office/drawing/2014/main" id="{A657F7DD-D491-48B2-9F1C-16147E42B656}"/>
              </a:ext>
            </a:extLst>
          </p:cNvPr>
          <p:cNvGrpSpPr/>
          <p:nvPr/>
        </p:nvGrpSpPr>
        <p:grpSpPr>
          <a:xfrm>
            <a:off x="1475656" y="3429000"/>
            <a:ext cx="6762630" cy="441340"/>
            <a:chOff x="1475656" y="3429000"/>
            <a:chExt cx="6762630" cy="441340"/>
          </a:xfrm>
        </p:grpSpPr>
        <p:sp>
          <p:nvSpPr>
            <p:cNvPr id="12" name="Rectangle: Rounded Corners 11">
              <a:extLst>
                <a:ext uri="{FF2B5EF4-FFF2-40B4-BE49-F238E27FC236}">
                  <a16:creationId xmlns:a16="http://schemas.microsoft.com/office/drawing/2014/main" id="{C0F5D83F-C6BF-4C64-8140-B4B761255469}"/>
                </a:ext>
              </a:extLst>
            </p:cNvPr>
            <p:cNvSpPr/>
            <p:nvPr/>
          </p:nvSpPr>
          <p:spPr>
            <a:xfrm>
              <a:off x="1475656" y="3429000"/>
              <a:ext cx="4392488" cy="26654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057E8F0B-D55C-4017-BED8-1BFB1C77A2BF}"/>
                </a:ext>
              </a:extLst>
            </p:cNvPr>
            <p:cNvSpPr txBox="1"/>
            <p:nvPr/>
          </p:nvSpPr>
          <p:spPr>
            <a:xfrm>
              <a:off x="6228184" y="3501008"/>
              <a:ext cx="2010102" cy="369332"/>
            </a:xfrm>
            <a:prstGeom prst="rect">
              <a:avLst/>
            </a:prstGeom>
            <a:noFill/>
            <a:ln w="25400">
              <a:solidFill>
                <a:srgbClr val="FF0000"/>
              </a:solidFill>
            </a:ln>
          </p:spPr>
          <p:txBody>
            <a:bodyPr wrap="none" rtlCol="0">
              <a:spAutoFit/>
            </a:bodyPr>
            <a:lstStyle/>
            <a:p>
              <a:r>
                <a:rPr lang="en-GB" dirty="0"/>
                <a:t>Client MAC address</a:t>
              </a:r>
            </a:p>
          </p:txBody>
        </p:sp>
        <p:cxnSp>
          <p:nvCxnSpPr>
            <p:cNvPr id="15" name="Straight Connector 14">
              <a:extLst>
                <a:ext uri="{FF2B5EF4-FFF2-40B4-BE49-F238E27FC236}">
                  <a16:creationId xmlns:a16="http://schemas.microsoft.com/office/drawing/2014/main" id="{340FE4AC-88F0-412E-AFBC-030E16ED0F4E}"/>
                </a:ext>
              </a:extLst>
            </p:cNvPr>
            <p:cNvCxnSpPr>
              <a:stCxn id="13" idx="1"/>
              <a:endCxn id="12" idx="3"/>
            </p:cNvCxnSpPr>
            <p:nvPr/>
          </p:nvCxnSpPr>
          <p:spPr>
            <a:xfrm flipH="1" flipV="1">
              <a:off x="5868144" y="3562273"/>
              <a:ext cx="360040" cy="12340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70244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DO</a:t>
            </a:r>
            <a:r>
              <a:rPr lang="en-GB" dirty="0">
                <a:solidFill>
                  <a:srgbClr val="FF0000"/>
                </a:solidFill>
              </a:rPr>
              <a:t>R</a:t>
            </a:r>
            <a:r>
              <a:rPr lang="en-GB" dirty="0"/>
              <a:t>A   - </a:t>
            </a:r>
            <a:r>
              <a:rPr lang="en-GB" dirty="0">
                <a:solidFill>
                  <a:srgbClr val="FF0000"/>
                </a:solidFill>
              </a:rPr>
              <a:t>R</a:t>
            </a:r>
            <a:r>
              <a:rPr lang="en-GB" dirty="0"/>
              <a:t>equest</a:t>
            </a:r>
          </a:p>
        </p:txBody>
      </p:sp>
      <p:sp>
        <p:nvSpPr>
          <p:cNvPr id="5" name="Rectangle 4"/>
          <p:cNvSpPr/>
          <p:nvPr/>
        </p:nvSpPr>
        <p:spPr>
          <a:xfrm>
            <a:off x="395536" y="1582341"/>
            <a:ext cx="4464496" cy="4247317"/>
          </a:xfrm>
          <a:prstGeom prst="rect">
            <a:avLst/>
          </a:prstGeom>
        </p:spPr>
        <p:txBody>
          <a:bodyPr wrap="square">
            <a:spAutoFit/>
          </a:bodyPr>
          <a:lstStyle/>
          <a:p>
            <a:pPr marL="285750" indent="-285750">
              <a:buFont typeface="Arial" panose="020B0604020202020204" pitchFamily="34" charset="0"/>
              <a:buChar char="•"/>
            </a:pPr>
            <a:r>
              <a:rPr lang="en-GB" dirty="0"/>
              <a:t>Client now replies with a DHCP request, </a:t>
            </a:r>
            <a:r>
              <a:rPr lang="en-GB" dirty="0">
                <a:solidFill>
                  <a:srgbClr val="FF0000"/>
                </a:solidFill>
              </a:rPr>
              <a:t>broadcast </a:t>
            </a:r>
            <a:r>
              <a:rPr lang="en-GB" dirty="0"/>
              <a:t>to the server, requesting the offered address. </a:t>
            </a:r>
          </a:p>
          <a:p>
            <a:pPr marL="285750" indent="-285750">
              <a:buFont typeface="Arial" panose="020B0604020202020204" pitchFamily="34" charset="0"/>
              <a:buChar char="•"/>
            </a:pPr>
            <a:r>
              <a:rPr lang="en-GB" dirty="0"/>
              <a:t>A client can receive DHCP offers from multiple servers, but it will accept only one DHCP offer.</a:t>
            </a:r>
          </a:p>
          <a:p>
            <a:pPr marL="285750" indent="-285750">
              <a:buFont typeface="Arial" panose="020B0604020202020204" pitchFamily="34" charset="0"/>
              <a:buChar char="•"/>
            </a:pPr>
            <a:r>
              <a:rPr lang="en-GB" dirty="0"/>
              <a:t>Based on required </a:t>
            </a:r>
            <a:r>
              <a:rPr lang="en-GB" i="1" dirty="0"/>
              <a:t>server identification </a:t>
            </a:r>
            <a:r>
              <a:rPr lang="en-GB" dirty="0"/>
              <a:t>option in the request and </a:t>
            </a:r>
            <a:r>
              <a:rPr lang="en-GB" dirty="0">
                <a:solidFill>
                  <a:srgbClr val="FF0000"/>
                </a:solidFill>
              </a:rPr>
              <a:t>broadcast messaging</a:t>
            </a:r>
            <a:r>
              <a:rPr lang="en-GB" dirty="0"/>
              <a:t>, servers are informed whose offer the client has accepted. </a:t>
            </a:r>
          </a:p>
          <a:p>
            <a:pPr marL="285750" indent="-285750">
              <a:buFont typeface="Arial" panose="020B0604020202020204" pitchFamily="34" charset="0"/>
              <a:buChar char="•"/>
            </a:pPr>
            <a:r>
              <a:rPr lang="en-GB" dirty="0"/>
              <a:t>When other DHCP servers receive this message, they withdraw any offers that they might have made to the client and return the offered address to the pool of available addresses.</a:t>
            </a:r>
          </a:p>
        </p:txBody>
      </p:sp>
      <p:graphicFrame>
        <p:nvGraphicFramePr>
          <p:cNvPr id="6" name="Table 5"/>
          <p:cNvGraphicFramePr>
            <a:graphicFrameLocks noGrp="1"/>
          </p:cNvGraphicFramePr>
          <p:nvPr>
            <p:extLst>
              <p:ext uri="{D42A27DB-BD31-4B8C-83A1-F6EECF244321}">
                <p14:modId xmlns:p14="http://schemas.microsoft.com/office/powerpoint/2010/main" val="3719121227"/>
              </p:ext>
            </p:extLst>
          </p:nvPr>
        </p:nvGraphicFramePr>
        <p:xfrm>
          <a:off x="5004048" y="1305704"/>
          <a:ext cx="3478695" cy="4800589"/>
        </p:xfrm>
        <a:graphic>
          <a:graphicData uri="http://schemas.openxmlformats.org/drawingml/2006/table">
            <a:tbl>
              <a:tblPr/>
              <a:tblGrid>
                <a:gridCol w="695739">
                  <a:extLst>
                    <a:ext uri="{9D8B030D-6E8A-4147-A177-3AD203B41FA5}">
                      <a16:colId xmlns:a16="http://schemas.microsoft.com/office/drawing/2014/main" val="20000"/>
                    </a:ext>
                  </a:extLst>
                </a:gridCol>
                <a:gridCol w="695739">
                  <a:extLst>
                    <a:ext uri="{9D8B030D-6E8A-4147-A177-3AD203B41FA5}">
                      <a16:colId xmlns:a16="http://schemas.microsoft.com/office/drawing/2014/main" val="20001"/>
                    </a:ext>
                  </a:extLst>
                </a:gridCol>
                <a:gridCol w="695739">
                  <a:extLst>
                    <a:ext uri="{9D8B030D-6E8A-4147-A177-3AD203B41FA5}">
                      <a16:colId xmlns:a16="http://schemas.microsoft.com/office/drawing/2014/main" val="20002"/>
                    </a:ext>
                  </a:extLst>
                </a:gridCol>
                <a:gridCol w="695739">
                  <a:extLst>
                    <a:ext uri="{9D8B030D-6E8A-4147-A177-3AD203B41FA5}">
                      <a16:colId xmlns:a16="http://schemas.microsoft.com/office/drawing/2014/main" val="20003"/>
                    </a:ext>
                  </a:extLst>
                </a:gridCol>
                <a:gridCol w="695739">
                  <a:extLst>
                    <a:ext uri="{9D8B030D-6E8A-4147-A177-3AD203B41FA5}">
                      <a16:colId xmlns:a16="http://schemas.microsoft.com/office/drawing/2014/main" val="20004"/>
                    </a:ext>
                  </a:extLst>
                </a:gridCol>
              </a:tblGrid>
              <a:tr h="166977">
                <a:tc gridSpan="5">
                  <a:txBody>
                    <a:bodyPr/>
                    <a:lstStyle/>
                    <a:p>
                      <a:r>
                        <a:rPr lang="en-GB" sz="800" dirty="0"/>
                        <a:t>DHCPREQUEST message</a:t>
                      </a:r>
                    </a:p>
                  </a:txBody>
                  <a:tcPr marL="41744" marR="41744" marT="20872" marB="20872" anchor="ctr">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292210">
                <a:tc gridSpan="4">
                  <a:txBody>
                    <a:bodyPr/>
                    <a:lstStyle/>
                    <a:p>
                      <a:r>
                        <a:rPr lang="fr-FR" sz="800" dirty="0">
                          <a:effectLst/>
                        </a:rPr>
                        <a:t>UDP </a:t>
                      </a:r>
                      <a:r>
                        <a:rPr lang="fr-FR" sz="800" dirty="0" err="1">
                          <a:effectLst/>
                        </a:rPr>
                        <a:t>Src</a:t>
                      </a:r>
                      <a:r>
                        <a:rPr lang="fr-FR" sz="800" dirty="0">
                          <a:effectLst/>
                        </a:rPr>
                        <a:t>=0.0.0.0 </a:t>
                      </a:r>
                      <a:r>
                        <a:rPr lang="fr-FR" sz="800" dirty="0" err="1">
                          <a:effectLst/>
                        </a:rPr>
                        <a:t>sPort</a:t>
                      </a:r>
                      <a:r>
                        <a:rPr lang="fr-FR" sz="800" dirty="0">
                          <a:effectLst/>
                        </a:rPr>
                        <a:t>=68</a:t>
                      </a:r>
                      <a:br>
                        <a:rPr lang="fr-FR" sz="800" dirty="0">
                          <a:effectLst/>
                        </a:rPr>
                      </a:br>
                      <a:r>
                        <a:rPr lang="fr-FR" sz="800" dirty="0">
                          <a:effectLst/>
                        </a:rPr>
                        <a:t>Dest=255.255.255.255</a:t>
                      </a:r>
                      <a:r>
                        <a:rPr lang="fr-FR" sz="800" b="0" i="0" u="none" strike="noStrike" baseline="30000" dirty="0">
                          <a:solidFill>
                            <a:srgbClr val="0B0080"/>
                          </a:solidFill>
                          <a:effectLst/>
                          <a:hlinkClick r:id="rId2"/>
                        </a:rPr>
                        <a:t>[a]</a:t>
                      </a:r>
                      <a:r>
                        <a:rPr lang="fr-FR" sz="800" dirty="0">
                          <a:effectLst/>
                        </a:rPr>
                        <a:t> </a:t>
                      </a:r>
                      <a:r>
                        <a:rPr lang="fr-FR" sz="800" dirty="0" err="1">
                          <a:effectLst/>
                        </a:rPr>
                        <a:t>dPort</a:t>
                      </a:r>
                      <a:r>
                        <a:rPr lang="fr-FR" sz="800" dirty="0">
                          <a:effectLst/>
                        </a:rPr>
                        <a:t>=67</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1"/>
                  </a:ext>
                </a:extLst>
              </a:tr>
              <a:tr h="166977">
                <a:tc>
                  <a:txBody>
                    <a:bodyPr/>
                    <a:lstStyle/>
                    <a:p>
                      <a:pPr algn="ctr"/>
                      <a:r>
                        <a:rPr lang="en-GB" sz="800">
                          <a:effectLst/>
                        </a:rPr>
                        <a:t>OP</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algn="ctr"/>
                      <a:r>
                        <a:rPr lang="en-GB" sz="800">
                          <a:effectLst/>
                        </a:rPr>
                        <a:t>HTYPE</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algn="ctr"/>
                      <a:r>
                        <a:rPr lang="en-GB" sz="800">
                          <a:effectLst/>
                        </a:rPr>
                        <a:t>HLEN</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algn="ctr"/>
                      <a:r>
                        <a:rPr lang="en-GB" sz="800">
                          <a:effectLst/>
                        </a:rPr>
                        <a:t>HOPS</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2"/>
                  </a:ext>
                </a:extLst>
              </a:tr>
              <a:tr h="166977">
                <a:tc>
                  <a:txBody>
                    <a:bodyPr/>
                    <a:lstStyle/>
                    <a:p>
                      <a:r>
                        <a:rPr lang="en-GB" sz="800">
                          <a:effectLst/>
                        </a:rPr>
                        <a:t>0x01</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GB" sz="800">
                          <a:effectLst/>
                        </a:rPr>
                        <a:t>0x01</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GB" sz="800">
                          <a:effectLst/>
                        </a:rPr>
                        <a:t>0x06</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GB" sz="800">
                          <a:effectLst/>
                        </a:rPr>
                        <a:t>0x00</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3"/>
                  </a:ext>
                </a:extLst>
              </a:tr>
              <a:tr h="166977">
                <a:tc gridSpan="5">
                  <a:txBody>
                    <a:bodyPr/>
                    <a:lstStyle/>
                    <a:p>
                      <a:pPr algn="ctr"/>
                      <a:r>
                        <a:rPr lang="en-GB" sz="800">
                          <a:effectLst/>
                        </a:rPr>
                        <a:t>XID</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4"/>
                  </a:ext>
                </a:extLst>
              </a:tr>
              <a:tr h="166977">
                <a:tc gridSpan="5">
                  <a:txBody>
                    <a:bodyPr/>
                    <a:lstStyle/>
                    <a:p>
                      <a:r>
                        <a:rPr lang="en-GB" sz="800">
                          <a:effectLst/>
                        </a:rPr>
                        <a:t>0x3903F326</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5"/>
                  </a:ext>
                </a:extLst>
              </a:tr>
              <a:tr h="166977">
                <a:tc gridSpan="2">
                  <a:txBody>
                    <a:bodyPr/>
                    <a:lstStyle/>
                    <a:p>
                      <a:pPr algn="ctr"/>
                      <a:r>
                        <a:rPr lang="en-GB" sz="800">
                          <a:effectLst/>
                        </a:rPr>
                        <a:t>SECS</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gridSpan="2">
                  <a:txBody>
                    <a:bodyPr/>
                    <a:lstStyle/>
                    <a:p>
                      <a:pPr algn="ctr"/>
                      <a:r>
                        <a:rPr lang="en-GB" sz="800">
                          <a:effectLst/>
                        </a:rPr>
                        <a:t>FLAGS</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lnT w="9525" cap="flat" cmpd="sng" algn="ctr">
                      <a:solidFill>
                        <a:srgbClr val="AAAAAA"/>
                      </a:solidFill>
                      <a:prstDash val="solid"/>
                      <a:round/>
                      <a:headEnd type="none" w="med" len="med"/>
                      <a:tailEnd type="none" w="med" len="med"/>
                    </a:lnT>
                  </a:tcPr>
                </a:tc>
                <a:extLst>
                  <a:ext uri="{0D108BD9-81ED-4DB2-BD59-A6C34878D82A}">
                    <a16:rowId xmlns:a16="http://schemas.microsoft.com/office/drawing/2014/main" val="10006"/>
                  </a:ext>
                </a:extLst>
              </a:tr>
              <a:tr h="166977">
                <a:tc gridSpan="2">
                  <a:txBody>
                    <a:bodyPr/>
                    <a:lstStyle/>
                    <a:p>
                      <a:r>
                        <a:rPr lang="en-GB" sz="800">
                          <a:effectLst/>
                        </a:rPr>
                        <a:t>0x0000</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gridSpan="2">
                  <a:txBody>
                    <a:bodyPr/>
                    <a:lstStyle/>
                    <a:p>
                      <a:r>
                        <a:rPr lang="en-GB" sz="800">
                          <a:effectLst/>
                        </a:rPr>
                        <a:t>0x0000</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7"/>
                  </a:ext>
                </a:extLst>
              </a:tr>
              <a:tr h="166977">
                <a:tc gridSpan="4">
                  <a:txBody>
                    <a:bodyPr/>
                    <a:lstStyle/>
                    <a:p>
                      <a:pPr algn="ctr"/>
                      <a:r>
                        <a:rPr lang="en-GB" sz="800">
                          <a:effectLst/>
                        </a:rPr>
                        <a:t>CIADDR (Client IP address)</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8"/>
                  </a:ext>
                </a:extLst>
              </a:tr>
              <a:tr h="166977">
                <a:tc gridSpan="4">
                  <a:txBody>
                    <a:bodyPr/>
                    <a:lstStyle/>
                    <a:p>
                      <a:r>
                        <a:rPr lang="en-GB" sz="800">
                          <a:effectLst/>
                        </a:rPr>
                        <a:t>0x00000000</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9"/>
                  </a:ext>
                </a:extLst>
              </a:tr>
              <a:tr h="166977">
                <a:tc gridSpan="4">
                  <a:txBody>
                    <a:bodyPr/>
                    <a:lstStyle/>
                    <a:p>
                      <a:pPr algn="ctr"/>
                      <a:r>
                        <a:rPr lang="en-GB" sz="800">
                          <a:effectLst/>
                        </a:rPr>
                        <a:t>YIADDR (Your IP address)</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0"/>
                  </a:ext>
                </a:extLst>
              </a:tr>
              <a:tr h="166977">
                <a:tc gridSpan="4">
                  <a:txBody>
                    <a:bodyPr/>
                    <a:lstStyle/>
                    <a:p>
                      <a:r>
                        <a:rPr lang="en-GB" sz="800">
                          <a:effectLst/>
                        </a:rPr>
                        <a:t>0x00000000</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1"/>
                  </a:ext>
                </a:extLst>
              </a:tr>
              <a:tr h="166977">
                <a:tc gridSpan="4">
                  <a:txBody>
                    <a:bodyPr/>
                    <a:lstStyle/>
                    <a:p>
                      <a:pPr algn="ctr"/>
                      <a:r>
                        <a:rPr lang="en-GB" sz="800">
                          <a:effectLst/>
                        </a:rPr>
                        <a:t>SIADDR (Server IP address)</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2"/>
                  </a:ext>
                </a:extLst>
              </a:tr>
              <a:tr h="166977">
                <a:tc gridSpan="4">
                  <a:txBody>
                    <a:bodyPr/>
                    <a:lstStyle/>
                    <a:p>
                      <a:r>
                        <a:rPr lang="en-GB" sz="800">
                          <a:effectLst/>
                        </a:rPr>
                        <a:t>0xC0A80101</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3"/>
                  </a:ext>
                </a:extLst>
              </a:tr>
              <a:tr h="166977">
                <a:tc gridSpan="4">
                  <a:txBody>
                    <a:bodyPr/>
                    <a:lstStyle/>
                    <a:p>
                      <a:pPr algn="ctr"/>
                      <a:r>
                        <a:rPr lang="en-GB" sz="800">
                          <a:effectLst/>
                        </a:rPr>
                        <a:t>GIADDR (Gateway IP address)</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4"/>
                  </a:ext>
                </a:extLst>
              </a:tr>
              <a:tr h="166977">
                <a:tc gridSpan="4">
                  <a:txBody>
                    <a:bodyPr/>
                    <a:lstStyle/>
                    <a:p>
                      <a:r>
                        <a:rPr lang="en-GB" sz="800">
                          <a:effectLst/>
                        </a:rPr>
                        <a:t>0x00000000</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5"/>
                  </a:ext>
                </a:extLst>
              </a:tr>
              <a:tr h="166977">
                <a:tc gridSpan="4">
                  <a:txBody>
                    <a:bodyPr/>
                    <a:lstStyle/>
                    <a:p>
                      <a:pPr algn="ctr"/>
                      <a:r>
                        <a:rPr lang="en-GB" sz="800">
                          <a:effectLst/>
                        </a:rPr>
                        <a:t>CHADDR (Client hardware address)</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6"/>
                  </a:ext>
                </a:extLst>
              </a:tr>
              <a:tr h="166977">
                <a:tc gridSpan="4">
                  <a:txBody>
                    <a:bodyPr/>
                    <a:lstStyle/>
                    <a:p>
                      <a:r>
                        <a:rPr lang="en-GB" sz="800">
                          <a:effectLst/>
                        </a:rPr>
                        <a:t>0x00053C04</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7"/>
                  </a:ext>
                </a:extLst>
              </a:tr>
              <a:tr h="166977">
                <a:tc gridSpan="4">
                  <a:txBody>
                    <a:bodyPr/>
                    <a:lstStyle/>
                    <a:p>
                      <a:r>
                        <a:rPr lang="en-GB" sz="800">
                          <a:effectLst/>
                        </a:rPr>
                        <a:t>0x8D590000</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8"/>
                  </a:ext>
                </a:extLst>
              </a:tr>
              <a:tr h="166977">
                <a:tc gridSpan="4">
                  <a:txBody>
                    <a:bodyPr/>
                    <a:lstStyle/>
                    <a:p>
                      <a:r>
                        <a:rPr lang="en-GB" sz="800">
                          <a:effectLst/>
                        </a:rPr>
                        <a:t>0x00000000</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9"/>
                  </a:ext>
                </a:extLst>
              </a:tr>
              <a:tr h="166977">
                <a:tc gridSpan="4">
                  <a:txBody>
                    <a:bodyPr/>
                    <a:lstStyle/>
                    <a:p>
                      <a:r>
                        <a:rPr lang="en-GB" sz="800">
                          <a:effectLst/>
                        </a:rPr>
                        <a:t>0x00000000</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0"/>
                  </a:ext>
                </a:extLst>
              </a:tr>
              <a:tr h="166977">
                <a:tc gridSpan="4">
                  <a:txBody>
                    <a:bodyPr/>
                    <a:lstStyle/>
                    <a:p>
                      <a:r>
                        <a:rPr lang="en-GB" sz="800">
                          <a:effectLst/>
                        </a:rPr>
                        <a:t>192 octets of 0s. </a:t>
                      </a:r>
                      <a:r>
                        <a:rPr lang="en-GB" sz="800" u="none" strike="noStrike">
                          <a:solidFill>
                            <a:srgbClr val="0B0080"/>
                          </a:solidFill>
                          <a:effectLst/>
                          <a:hlinkClick r:id="rId3" tooltip="BOOTP"/>
                        </a:rPr>
                        <a:t>BOOTP</a:t>
                      </a:r>
                      <a:r>
                        <a:rPr lang="en-GB" sz="800">
                          <a:effectLst/>
                        </a:rPr>
                        <a:t> legacy</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1"/>
                  </a:ext>
                </a:extLst>
              </a:tr>
              <a:tr h="166977">
                <a:tc gridSpan="4">
                  <a:txBody>
                    <a:bodyPr/>
                    <a:lstStyle/>
                    <a:p>
                      <a:pPr algn="ctr"/>
                      <a:r>
                        <a:rPr lang="en-GB" sz="800" u="none" strike="noStrike">
                          <a:solidFill>
                            <a:srgbClr val="0B0080"/>
                          </a:solidFill>
                          <a:effectLst/>
                          <a:hlinkClick r:id="rId4" tooltip="Magic cookie"/>
                        </a:rPr>
                        <a:t>Magic cookie</a:t>
                      </a:r>
                      <a:endParaRPr lang="en-GB" sz="800">
                        <a:effectLst/>
                      </a:endParaRP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2"/>
                  </a:ext>
                </a:extLst>
              </a:tr>
              <a:tr h="166977">
                <a:tc gridSpan="4">
                  <a:txBody>
                    <a:bodyPr/>
                    <a:lstStyle/>
                    <a:p>
                      <a:r>
                        <a:rPr lang="en-GB" sz="800">
                          <a:effectLst/>
                        </a:rPr>
                        <a:t>0x63825363</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3"/>
                  </a:ext>
                </a:extLst>
              </a:tr>
              <a:tr h="166977">
                <a:tc gridSpan="4">
                  <a:txBody>
                    <a:bodyPr/>
                    <a:lstStyle/>
                    <a:p>
                      <a:pPr algn="ctr"/>
                      <a:r>
                        <a:rPr lang="en-GB" sz="800">
                          <a:effectLst/>
                        </a:rPr>
                        <a:t>DHCP Options</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4"/>
                  </a:ext>
                </a:extLst>
              </a:tr>
              <a:tr h="166977">
                <a:tc gridSpan="4">
                  <a:txBody>
                    <a:bodyPr/>
                    <a:lstStyle/>
                    <a:p>
                      <a:r>
                        <a:rPr lang="fr-FR" sz="800">
                          <a:effectLst/>
                        </a:rPr>
                        <a:t>DHCP option 53: DHCP Request</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5"/>
                  </a:ext>
                </a:extLst>
              </a:tr>
              <a:tr h="166977">
                <a:tc gridSpan="4">
                  <a:txBody>
                    <a:bodyPr/>
                    <a:lstStyle/>
                    <a:p>
                      <a:r>
                        <a:rPr lang="en-GB" sz="800">
                          <a:effectLst/>
                        </a:rPr>
                        <a:t>DHCP option 50: 192.168.1.100 requested</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6"/>
                  </a:ext>
                </a:extLst>
              </a:tr>
              <a:tr h="166977">
                <a:tc gridSpan="4">
                  <a:txBody>
                    <a:bodyPr/>
                    <a:lstStyle/>
                    <a:p>
                      <a:r>
                        <a:rPr lang="en-GB" sz="800">
                          <a:effectLst/>
                        </a:rPr>
                        <a:t>DHCP option 54: 192.168.1.1 DHCP server.</a:t>
                      </a:r>
                    </a:p>
                  </a:txBody>
                  <a:tcPr marL="41744" marR="41744" marT="20872" marB="20872"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dirty="0"/>
                    </a:p>
                  </a:txBody>
                  <a:tcPr marL="41744" marR="41744" marT="20872" marB="20872">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7"/>
                  </a:ext>
                </a:extLst>
              </a:tr>
            </a:tbl>
          </a:graphicData>
        </a:graphic>
      </p:graphicFrame>
      <p:sp>
        <p:nvSpPr>
          <p:cNvPr id="7" name="Rounded Rectangle 6"/>
          <p:cNvSpPr/>
          <p:nvPr/>
        </p:nvSpPr>
        <p:spPr>
          <a:xfrm>
            <a:off x="4860032" y="5229200"/>
            <a:ext cx="3024336" cy="100811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7029066B-8A1F-4D22-BB4B-B58A60CCAA66}"/>
              </a:ext>
            </a:extLst>
          </p:cNvPr>
          <p:cNvGrpSpPr/>
          <p:nvPr/>
        </p:nvGrpSpPr>
        <p:grpSpPr>
          <a:xfrm>
            <a:off x="4932040" y="436022"/>
            <a:ext cx="2592288" cy="3353018"/>
            <a:chOff x="4932040" y="436022"/>
            <a:chExt cx="2592288" cy="3353018"/>
          </a:xfrm>
        </p:grpSpPr>
        <p:sp>
          <p:nvSpPr>
            <p:cNvPr id="4" name="Rectangle: Rounded Corners 3">
              <a:extLst>
                <a:ext uri="{FF2B5EF4-FFF2-40B4-BE49-F238E27FC236}">
                  <a16:creationId xmlns:a16="http://schemas.microsoft.com/office/drawing/2014/main" id="{022955DD-C20D-414F-A15F-3876124D6D15}"/>
                </a:ext>
              </a:extLst>
            </p:cNvPr>
            <p:cNvSpPr/>
            <p:nvPr/>
          </p:nvSpPr>
          <p:spPr>
            <a:xfrm>
              <a:off x="4932040" y="3429000"/>
              <a:ext cx="2592288" cy="3600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3B59B212-00C7-4F8A-B3F2-A3688DA48FA2}"/>
                </a:ext>
              </a:extLst>
            </p:cNvPr>
            <p:cNvSpPr txBox="1"/>
            <p:nvPr/>
          </p:nvSpPr>
          <p:spPr>
            <a:xfrm>
              <a:off x="5608209" y="436022"/>
              <a:ext cx="1527982" cy="369332"/>
            </a:xfrm>
            <a:prstGeom prst="rect">
              <a:avLst/>
            </a:prstGeom>
            <a:noFill/>
            <a:ln w="28575">
              <a:solidFill>
                <a:srgbClr val="FF0000"/>
              </a:solidFill>
            </a:ln>
          </p:spPr>
          <p:txBody>
            <a:bodyPr wrap="none" rtlCol="0">
              <a:spAutoFit/>
            </a:bodyPr>
            <a:lstStyle/>
            <a:p>
              <a:r>
                <a:rPr lang="en-GB" dirty="0"/>
                <a:t>192.168.1.100</a:t>
              </a:r>
            </a:p>
          </p:txBody>
        </p:sp>
        <p:cxnSp>
          <p:nvCxnSpPr>
            <p:cNvPr id="11" name="Straight Connector 10">
              <a:extLst>
                <a:ext uri="{FF2B5EF4-FFF2-40B4-BE49-F238E27FC236}">
                  <a16:creationId xmlns:a16="http://schemas.microsoft.com/office/drawing/2014/main" id="{3F96941E-3476-4912-97BF-19B8E0F7B9D7}"/>
                </a:ext>
              </a:extLst>
            </p:cNvPr>
            <p:cNvCxnSpPr/>
            <p:nvPr/>
          </p:nvCxnSpPr>
          <p:spPr>
            <a:xfrm>
              <a:off x="5940152" y="805354"/>
              <a:ext cx="504056" cy="2623646"/>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9014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DOR</a:t>
            </a:r>
            <a:r>
              <a:rPr lang="en-GB" dirty="0">
                <a:solidFill>
                  <a:srgbClr val="FF0000"/>
                </a:solidFill>
              </a:rPr>
              <a:t>A - A</a:t>
            </a:r>
            <a:r>
              <a:rPr lang="en-GB" dirty="0">
                <a:solidFill>
                  <a:schemeClr val="tx1"/>
                </a:solidFill>
              </a:rPr>
              <a:t>cknowledgment</a:t>
            </a:r>
            <a:endParaRPr lang="en-GB" dirty="0">
              <a:solidFill>
                <a:srgbClr val="FF0000"/>
              </a:solidFill>
            </a:endParaRPr>
          </a:p>
        </p:txBody>
      </p:sp>
      <p:sp>
        <p:nvSpPr>
          <p:cNvPr id="4" name="TextBox 3"/>
          <p:cNvSpPr txBox="1"/>
          <p:nvPr/>
        </p:nvSpPr>
        <p:spPr>
          <a:xfrm>
            <a:off x="539552" y="1340768"/>
            <a:ext cx="4104456" cy="5632311"/>
          </a:xfrm>
          <a:prstGeom prst="rect">
            <a:avLst/>
          </a:prstGeom>
          <a:noFill/>
        </p:spPr>
        <p:txBody>
          <a:bodyPr wrap="square" rtlCol="0">
            <a:spAutoFit/>
          </a:bodyPr>
          <a:lstStyle/>
          <a:p>
            <a:pPr marL="285750" indent="-285750">
              <a:buFont typeface="Arial" panose="020B0604020202020204" pitchFamily="34" charset="0"/>
              <a:buChar char="•"/>
            </a:pPr>
            <a:r>
              <a:rPr lang="en-GB" dirty="0"/>
              <a:t>The acknowledgement phase involves sending a DHCPACK packet to the client. </a:t>
            </a:r>
          </a:p>
          <a:p>
            <a:pPr marL="285750" indent="-285750">
              <a:buFont typeface="Arial" panose="020B0604020202020204" pitchFamily="34" charset="0"/>
              <a:buChar char="•"/>
            </a:pPr>
            <a:r>
              <a:rPr lang="en-GB" dirty="0"/>
              <a:t>Packet includes </a:t>
            </a:r>
          </a:p>
          <a:p>
            <a:pPr marL="742950" lvl="1" indent="-285750">
              <a:buFont typeface="Arial" panose="020B0604020202020204" pitchFamily="34" charset="0"/>
              <a:buChar char="•"/>
            </a:pPr>
            <a:r>
              <a:rPr lang="en-GB" dirty="0"/>
              <a:t>lease duration </a:t>
            </a:r>
          </a:p>
          <a:p>
            <a:pPr marL="742950" lvl="1" indent="-285750">
              <a:buFont typeface="Arial" panose="020B0604020202020204" pitchFamily="34" charset="0"/>
              <a:buChar char="•"/>
            </a:pPr>
            <a:r>
              <a:rPr lang="en-GB" dirty="0"/>
              <a:t>any other configuration information that the client might have requested.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The protocol expects the DHCP client to configure its network interface with the negotiated parameters.</a:t>
            </a:r>
          </a:p>
          <a:p>
            <a:pPr marL="285750" indent="-285750">
              <a:buFont typeface="Arial" panose="020B0604020202020204" pitchFamily="34" charset="0"/>
              <a:buChar char="•"/>
            </a:pPr>
            <a:r>
              <a:rPr lang="en-GB" dirty="0"/>
              <a:t>After the client obtains an IP address, it should probe the newly received address</a:t>
            </a:r>
            <a:r>
              <a:rPr lang="en-GB" baseline="30000" dirty="0"/>
              <a:t> </a:t>
            </a:r>
            <a:r>
              <a:rPr lang="en-GB" dirty="0"/>
              <a:t> (e.g. with ARP </a:t>
            </a:r>
            <a:r>
              <a:rPr lang="en-GB" dirty="0">
                <a:hlinkClick r:id="rId2" tooltip="Address Resolution Protocol"/>
              </a:rPr>
              <a:t>Address Resolution Protocol</a:t>
            </a:r>
            <a:r>
              <a:rPr lang="en-GB" dirty="0"/>
              <a:t>) to prevent address conflicts caused by overlapping address pools of DHCP servers.</a:t>
            </a:r>
          </a:p>
          <a:p>
            <a:pPr marL="285750" indent="-285750">
              <a:buFont typeface="Arial" panose="020B0604020202020204" pitchFamily="34" charset="0"/>
              <a:buChar char="•"/>
            </a:pPr>
            <a:endParaRPr lang="en-GB" dirty="0"/>
          </a:p>
        </p:txBody>
      </p:sp>
      <p:graphicFrame>
        <p:nvGraphicFramePr>
          <p:cNvPr id="3" name="Table 2"/>
          <p:cNvGraphicFramePr>
            <a:graphicFrameLocks noGrp="1"/>
          </p:cNvGraphicFramePr>
          <p:nvPr>
            <p:extLst>
              <p:ext uri="{D42A27DB-BD31-4B8C-83A1-F6EECF244321}">
                <p14:modId xmlns:p14="http://schemas.microsoft.com/office/powerpoint/2010/main" val="1528809885"/>
              </p:ext>
            </p:extLst>
          </p:nvPr>
        </p:nvGraphicFramePr>
        <p:xfrm>
          <a:off x="5076056" y="1268760"/>
          <a:ext cx="3252440" cy="5134942"/>
        </p:xfrm>
        <a:graphic>
          <a:graphicData uri="http://schemas.openxmlformats.org/drawingml/2006/table">
            <a:tbl>
              <a:tblPr/>
              <a:tblGrid>
                <a:gridCol w="650488">
                  <a:extLst>
                    <a:ext uri="{9D8B030D-6E8A-4147-A177-3AD203B41FA5}">
                      <a16:colId xmlns:a16="http://schemas.microsoft.com/office/drawing/2014/main" val="20000"/>
                    </a:ext>
                  </a:extLst>
                </a:gridCol>
                <a:gridCol w="650488">
                  <a:extLst>
                    <a:ext uri="{9D8B030D-6E8A-4147-A177-3AD203B41FA5}">
                      <a16:colId xmlns:a16="http://schemas.microsoft.com/office/drawing/2014/main" val="20001"/>
                    </a:ext>
                  </a:extLst>
                </a:gridCol>
                <a:gridCol w="650488">
                  <a:extLst>
                    <a:ext uri="{9D8B030D-6E8A-4147-A177-3AD203B41FA5}">
                      <a16:colId xmlns:a16="http://schemas.microsoft.com/office/drawing/2014/main" val="20002"/>
                    </a:ext>
                  </a:extLst>
                </a:gridCol>
                <a:gridCol w="650488">
                  <a:extLst>
                    <a:ext uri="{9D8B030D-6E8A-4147-A177-3AD203B41FA5}">
                      <a16:colId xmlns:a16="http://schemas.microsoft.com/office/drawing/2014/main" val="20003"/>
                    </a:ext>
                  </a:extLst>
                </a:gridCol>
                <a:gridCol w="650488">
                  <a:extLst>
                    <a:ext uri="{9D8B030D-6E8A-4147-A177-3AD203B41FA5}">
                      <a16:colId xmlns:a16="http://schemas.microsoft.com/office/drawing/2014/main" val="20004"/>
                    </a:ext>
                  </a:extLst>
                </a:gridCol>
              </a:tblGrid>
              <a:tr h="467392">
                <a:tc gridSpan="4">
                  <a:txBody>
                    <a:bodyPr/>
                    <a:lstStyle/>
                    <a:p>
                      <a:r>
                        <a:rPr lang="en-GB" sz="800" dirty="0">
                          <a:effectLst/>
                        </a:rPr>
                        <a:t>UDP </a:t>
                      </a:r>
                      <a:r>
                        <a:rPr lang="en-GB" sz="800" dirty="0" err="1">
                          <a:effectLst/>
                        </a:rPr>
                        <a:t>Src</a:t>
                      </a:r>
                      <a:r>
                        <a:rPr lang="en-GB" sz="800" dirty="0">
                          <a:effectLst/>
                        </a:rPr>
                        <a:t>=192.168.1.1 </a:t>
                      </a:r>
                      <a:r>
                        <a:rPr lang="en-GB" sz="800" dirty="0" err="1">
                          <a:effectLst/>
                        </a:rPr>
                        <a:t>sPort</a:t>
                      </a:r>
                      <a:r>
                        <a:rPr lang="en-GB" sz="800" dirty="0">
                          <a:effectLst/>
                        </a:rPr>
                        <a:t>=67</a:t>
                      </a:r>
                      <a:br>
                        <a:rPr lang="en-GB" sz="800" dirty="0">
                          <a:effectLst/>
                        </a:rPr>
                      </a:br>
                      <a:r>
                        <a:rPr lang="en-GB" sz="800" dirty="0" err="1">
                          <a:effectLst/>
                        </a:rPr>
                        <a:t>Dest</a:t>
                      </a:r>
                      <a:r>
                        <a:rPr lang="en-GB" sz="800" dirty="0">
                          <a:effectLst/>
                        </a:rPr>
                        <a:t>=255.255.255.255 </a:t>
                      </a:r>
                      <a:r>
                        <a:rPr lang="en-GB" sz="800" dirty="0" err="1">
                          <a:effectLst/>
                        </a:rPr>
                        <a:t>dPort</a:t>
                      </a:r>
                      <a:r>
                        <a:rPr lang="en-GB" sz="800" dirty="0">
                          <a:effectLst/>
                        </a:rPr>
                        <a:t>=68</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dirty="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0"/>
                  </a:ext>
                </a:extLst>
              </a:tr>
              <a:tr h="156117">
                <a:tc>
                  <a:txBody>
                    <a:bodyPr/>
                    <a:lstStyle/>
                    <a:p>
                      <a:pPr algn="ctr"/>
                      <a:r>
                        <a:rPr lang="en-GB" sz="800">
                          <a:effectLst/>
                        </a:rPr>
                        <a:t>OP</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algn="ctr"/>
                      <a:r>
                        <a:rPr lang="en-GB" sz="800">
                          <a:effectLst/>
                        </a:rPr>
                        <a:t>HTYPE</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algn="ctr"/>
                      <a:r>
                        <a:rPr lang="en-GB" sz="800">
                          <a:effectLst/>
                        </a:rPr>
                        <a:t>HLEN</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pPr algn="ctr"/>
                      <a:r>
                        <a:rPr lang="en-GB" sz="800">
                          <a:effectLst/>
                        </a:rPr>
                        <a:t>HOPS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1"/>
                  </a:ext>
                </a:extLst>
              </a:tr>
              <a:tr h="156117">
                <a:tc>
                  <a:txBody>
                    <a:bodyPr/>
                    <a:lstStyle/>
                    <a:p>
                      <a:r>
                        <a:rPr lang="en-GB" sz="800">
                          <a:effectLst/>
                        </a:rPr>
                        <a:t>0x02</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GB" sz="800">
                          <a:effectLst/>
                        </a:rPr>
                        <a:t>0x01</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GB" sz="800">
                          <a:effectLst/>
                        </a:rPr>
                        <a:t>0x06</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r>
                        <a:rPr lang="en-GB" sz="800">
                          <a:effectLst/>
                        </a:rPr>
                        <a:t>0x00</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lnB w="9525"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2"/>
                  </a:ext>
                </a:extLst>
              </a:tr>
              <a:tr h="156117">
                <a:tc gridSpan="5">
                  <a:txBody>
                    <a:bodyPr/>
                    <a:lstStyle/>
                    <a:p>
                      <a:pPr algn="ctr"/>
                      <a:r>
                        <a:rPr lang="en-GB" sz="800">
                          <a:effectLst/>
                        </a:rPr>
                        <a:t>XID</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3"/>
                  </a:ext>
                </a:extLst>
              </a:tr>
              <a:tr h="156117">
                <a:tc gridSpan="5">
                  <a:txBody>
                    <a:bodyPr/>
                    <a:lstStyle/>
                    <a:p>
                      <a:r>
                        <a:rPr lang="en-GB" sz="800">
                          <a:effectLst/>
                        </a:rPr>
                        <a:t>0x3903F326</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4"/>
                  </a:ext>
                </a:extLst>
              </a:tr>
              <a:tr h="156117">
                <a:tc gridSpan="3">
                  <a:txBody>
                    <a:bodyPr/>
                    <a:lstStyle/>
                    <a:p>
                      <a:pPr algn="ctr"/>
                      <a:r>
                        <a:rPr lang="en-GB" sz="800">
                          <a:effectLst/>
                        </a:rPr>
                        <a:t>SECS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gridSpan="2">
                  <a:txBody>
                    <a:bodyPr/>
                    <a:lstStyle/>
                    <a:p>
                      <a:pPr algn="ctr"/>
                      <a:r>
                        <a:rPr lang="en-GB" sz="800">
                          <a:effectLst/>
                        </a:rPr>
                        <a:t>FLAGS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extLst>
                  <a:ext uri="{0D108BD9-81ED-4DB2-BD59-A6C34878D82A}">
                    <a16:rowId xmlns:a16="http://schemas.microsoft.com/office/drawing/2014/main" val="10005"/>
                  </a:ext>
                </a:extLst>
              </a:tr>
              <a:tr h="156117">
                <a:tc gridSpan="2">
                  <a:txBody>
                    <a:bodyPr/>
                    <a:lstStyle/>
                    <a:p>
                      <a:r>
                        <a:rPr lang="en-GB" sz="800">
                          <a:effectLst/>
                        </a:rPr>
                        <a:t>0x0000</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gridSpan="2">
                  <a:txBody>
                    <a:bodyPr/>
                    <a:lstStyle/>
                    <a:p>
                      <a:r>
                        <a:rPr lang="en-GB" sz="800">
                          <a:effectLst/>
                        </a:rPr>
                        <a:t>0x0000</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lnT w="9525" cap="flat" cmpd="sng" algn="ctr">
                      <a:solidFill>
                        <a:srgbClr val="AAAAAA"/>
                      </a:solidFill>
                      <a:prstDash val="solid"/>
                      <a:round/>
                      <a:headEnd type="none" w="med" len="med"/>
                      <a:tailEnd type="none" w="med" len="med"/>
                    </a:lnT>
                  </a:tcPr>
                </a:tc>
                <a:extLst>
                  <a:ext uri="{0D108BD9-81ED-4DB2-BD59-A6C34878D82A}">
                    <a16:rowId xmlns:a16="http://schemas.microsoft.com/office/drawing/2014/main" val="10006"/>
                  </a:ext>
                </a:extLst>
              </a:tr>
              <a:tr h="156117">
                <a:tc gridSpan="4">
                  <a:txBody>
                    <a:bodyPr/>
                    <a:lstStyle/>
                    <a:p>
                      <a:pPr algn="ctr"/>
                      <a:r>
                        <a:rPr lang="en-GB" sz="800">
                          <a:effectLst/>
                        </a:rPr>
                        <a:t>CIADDR (Client IP address)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7"/>
                  </a:ext>
                </a:extLst>
              </a:tr>
              <a:tr h="156117">
                <a:tc gridSpan="4">
                  <a:txBody>
                    <a:bodyPr/>
                    <a:lstStyle/>
                    <a:p>
                      <a:r>
                        <a:rPr lang="en-GB" sz="800">
                          <a:effectLst/>
                        </a:rPr>
                        <a:t>0x00000000</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8"/>
                  </a:ext>
                </a:extLst>
              </a:tr>
              <a:tr h="156117">
                <a:tc gridSpan="4">
                  <a:txBody>
                    <a:bodyPr/>
                    <a:lstStyle/>
                    <a:p>
                      <a:pPr algn="ctr"/>
                      <a:r>
                        <a:rPr lang="en-GB" sz="800">
                          <a:effectLst/>
                        </a:rPr>
                        <a:t>YIADDR (Your IP address)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09"/>
                  </a:ext>
                </a:extLst>
              </a:tr>
              <a:tr h="156117">
                <a:tc gridSpan="4">
                  <a:txBody>
                    <a:bodyPr/>
                    <a:lstStyle/>
                    <a:p>
                      <a:r>
                        <a:rPr lang="en-GB" sz="800">
                          <a:effectLst/>
                        </a:rPr>
                        <a:t>0xC0A80164</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0"/>
                  </a:ext>
                </a:extLst>
              </a:tr>
              <a:tr h="156117">
                <a:tc gridSpan="4">
                  <a:txBody>
                    <a:bodyPr/>
                    <a:lstStyle/>
                    <a:p>
                      <a:pPr algn="ctr"/>
                      <a:r>
                        <a:rPr lang="en-GB" sz="800">
                          <a:effectLst/>
                        </a:rPr>
                        <a:t>SIADDR (Server IP address)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1"/>
                  </a:ext>
                </a:extLst>
              </a:tr>
              <a:tr h="156117">
                <a:tc gridSpan="4">
                  <a:txBody>
                    <a:bodyPr/>
                    <a:lstStyle/>
                    <a:p>
                      <a:r>
                        <a:rPr lang="en-GB" sz="800">
                          <a:effectLst/>
                        </a:rPr>
                        <a:t>0xC0A80101</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2"/>
                  </a:ext>
                </a:extLst>
              </a:tr>
              <a:tr h="156117">
                <a:tc gridSpan="4">
                  <a:txBody>
                    <a:bodyPr/>
                    <a:lstStyle/>
                    <a:p>
                      <a:pPr algn="ctr"/>
                      <a:r>
                        <a:rPr lang="en-GB" sz="800">
                          <a:effectLst/>
                        </a:rPr>
                        <a:t>GIADDR (Gateway IP address switched by relay)</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3"/>
                  </a:ext>
                </a:extLst>
              </a:tr>
              <a:tr h="156117">
                <a:tc gridSpan="4">
                  <a:txBody>
                    <a:bodyPr/>
                    <a:lstStyle/>
                    <a:p>
                      <a:r>
                        <a:rPr lang="en-GB" sz="800">
                          <a:effectLst/>
                        </a:rPr>
                        <a:t>0x00000000</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4"/>
                  </a:ext>
                </a:extLst>
              </a:tr>
              <a:tr h="156117">
                <a:tc gridSpan="4">
                  <a:txBody>
                    <a:bodyPr/>
                    <a:lstStyle/>
                    <a:p>
                      <a:pPr algn="ctr"/>
                      <a:r>
                        <a:rPr lang="en-GB" sz="800">
                          <a:effectLst/>
                        </a:rPr>
                        <a:t>CHADDR (Client hardware address)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5"/>
                  </a:ext>
                </a:extLst>
              </a:tr>
              <a:tr h="156117">
                <a:tc gridSpan="4">
                  <a:txBody>
                    <a:bodyPr/>
                    <a:lstStyle/>
                    <a:p>
                      <a:r>
                        <a:rPr lang="en-GB" sz="800">
                          <a:effectLst/>
                        </a:rPr>
                        <a:t>0x00053C04</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6"/>
                  </a:ext>
                </a:extLst>
              </a:tr>
              <a:tr h="156117">
                <a:tc gridSpan="4">
                  <a:txBody>
                    <a:bodyPr/>
                    <a:lstStyle/>
                    <a:p>
                      <a:r>
                        <a:rPr lang="en-GB" sz="800">
                          <a:effectLst/>
                        </a:rPr>
                        <a:t>0x8D590000</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7"/>
                  </a:ext>
                </a:extLst>
              </a:tr>
              <a:tr h="156117">
                <a:tc gridSpan="4">
                  <a:txBody>
                    <a:bodyPr/>
                    <a:lstStyle/>
                    <a:p>
                      <a:r>
                        <a:rPr lang="en-GB" sz="800">
                          <a:effectLst/>
                        </a:rPr>
                        <a:t>0x00000000</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8"/>
                  </a:ext>
                </a:extLst>
              </a:tr>
              <a:tr h="156117">
                <a:tc gridSpan="4">
                  <a:txBody>
                    <a:bodyPr/>
                    <a:lstStyle/>
                    <a:p>
                      <a:r>
                        <a:rPr lang="en-GB" sz="800">
                          <a:effectLst/>
                        </a:rPr>
                        <a:t>0x00000000</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19"/>
                  </a:ext>
                </a:extLst>
              </a:tr>
              <a:tr h="156117">
                <a:tc gridSpan="4">
                  <a:txBody>
                    <a:bodyPr/>
                    <a:lstStyle/>
                    <a:p>
                      <a:r>
                        <a:rPr lang="en-GB" sz="800">
                          <a:effectLst/>
                        </a:rPr>
                        <a:t>192 octets of 0s. </a:t>
                      </a:r>
                      <a:r>
                        <a:rPr lang="en-GB" sz="800" u="none" strike="noStrike">
                          <a:solidFill>
                            <a:srgbClr val="0B0080"/>
                          </a:solidFill>
                          <a:effectLst/>
                          <a:hlinkClick r:id="rId3" tooltip="BOOTP"/>
                        </a:rPr>
                        <a:t>BOOTP</a:t>
                      </a:r>
                      <a:r>
                        <a:rPr lang="en-GB" sz="800">
                          <a:effectLst/>
                        </a:rPr>
                        <a:t> legacy</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0"/>
                  </a:ext>
                </a:extLst>
              </a:tr>
              <a:tr h="156117">
                <a:tc gridSpan="4">
                  <a:txBody>
                    <a:bodyPr/>
                    <a:lstStyle/>
                    <a:p>
                      <a:pPr algn="ctr"/>
                      <a:r>
                        <a:rPr lang="en-GB" sz="800" u="none" strike="noStrike">
                          <a:solidFill>
                            <a:srgbClr val="0B0080"/>
                          </a:solidFill>
                          <a:effectLst/>
                          <a:hlinkClick r:id="rId4" tooltip="Magic cookie"/>
                        </a:rPr>
                        <a:t>Magic cookie</a:t>
                      </a:r>
                      <a:endParaRPr lang="en-GB" sz="800">
                        <a:effectLst/>
                      </a:endParaRP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1"/>
                  </a:ext>
                </a:extLst>
              </a:tr>
              <a:tr h="156117">
                <a:tc gridSpan="4">
                  <a:txBody>
                    <a:bodyPr/>
                    <a:lstStyle/>
                    <a:p>
                      <a:r>
                        <a:rPr lang="en-GB" sz="800">
                          <a:effectLst/>
                        </a:rPr>
                        <a:t>0x63825363</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2"/>
                  </a:ext>
                </a:extLst>
              </a:tr>
              <a:tr h="156117">
                <a:tc gridSpan="4">
                  <a:txBody>
                    <a:bodyPr/>
                    <a:lstStyle/>
                    <a:p>
                      <a:pPr algn="ctr"/>
                      <a:r>
                        <a:rPr lang="en-GB" sz="800">
                          <a:effectLst/>
                        </a:rPr>
                        <a:t>DHCP Options</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2F2F2"/>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3"/>
                  </a:ext>
                </a:extLst>
              </a:tr>
              <a:tr h="156117">
                <a:tc gridSpan="4">
                  <a:txBody>
                    <a:bodyPr/>
                    <a:lstStyle/>
                    <a:p>
                      <a:r>
                        <a:rPr lang="en-GB" sz="800">
                          <a:effectLst/>
                        </a:rPr>
                        <a:t>DHCP option 53: DHCP ACK (value=5) or DHCP NAK (value=6)</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4"/>
                  </a:ext>
                </a:extLst>
              </a:tr>
              <a:tr h="156117">
                <a:tc gridSpan="4">
                  <a:txBody>
                    <a:bodyPr/>
                    <a:lstStyle/>
                    <a:p>
                      <a:r>
                        <a:rPr lang="da-DK" sz="800">
                          <a:effectLst/>
                        </a:rPr>
                        <a:t>DHCP option 1: 255.255.255.0 subnet mask</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5"/>
                  </a:ext>
                </a:extLst>
              </a:tr>
              <a:tr h="156117">
                <a:tc gridSpan="4">
                  <a:txBody>
                    <a:bodyPr/>
                    <a:lstStyle/>
                    <a:p>
                      <a:r>
                        <a:rPr lang="fr-FR" sz="800">
                          <a:effectLst/>
                        </a:rPr>
                        <a:t>DHCP option 3: 192.168.1.1 router</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6"/>
                  </a:ext>
                </a:extLst>
              </a:tr>
              <a:tr h="156117">
                <a:tc gridSpan="4">
                  <a:txBody>
                    <a:bodyPr/>
                    <a:lstStyle/>
                    <a:p>
                      <a:r>
                        <a:rPr lang="en-GB" sz="800">
                          <a:effectLst/>
                        </a:rPr>
                        <a:t>DHCP option 51: 86400s (1 day) IP address lease time</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7"/>
                  </a:ext>
                </a:extLst>
              </a:tr>
              <a:tr h="156117">
                <a:tc gridSpan="4">
                  <a:txBody>
                    <a:bodyPr/>
                    <a:lstStyle/>
                    <a:p>
                      <a:r>
                        <a:rPr lang="en-GB" sz="800">
                          <a:effectLst/>
                        </a:rPr>
                        <a:t>DHCP option 54: 192.168.1.1 DHCP server</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8"/>
                  </a:ext>
                </a:extLst>
              </a:tr>
              <a:tr h="156117">
                <a:tc gridSpan="4">
                  <a:txBody>
                    <a:bodyPr/>
                    <a:lstStyle/>
                    <a:p>
                      <a:r>
                        <a:rPr lang="fr-FR" sz="800">
                          <a:effectLst/>
                        </a:rPr>
                        <a:t>DHCP option 6: DNS servers 9.7.10.15, 9.7.10.16, 9.7.10.18</a:t>
                      </a:r>
                    </a:p>
                  </a:txBody>
                  <a:tcPr marL="39029" marR="39029" marT="19515" marB="19515" anchor="ctr">
                    <a:lnL w="9525" cap="flat" cmpd="sng" algn="ctr">
                      <a:solidFill>
                        <a:srgbClr val="AAAAAA"/>
                      </a:solidFill>
                      <a:prstDash val="solid"/>
                      <a:round/>
                      <a:headEnd type="none" w="med" len="med"/>
                      <a:tailEnd type="none" w="med" len="med"/>
                    </a:lnL>
                    <a:lnR w="9525" cap="flat" cmpd="sng" algn="ctr">
                      <a:solidFill>
                        <a:srgbClr val="AAAAAA"/>
                      </a:solidFill>
                      <a:prstDash val="solid"/>
                      <a:round/>
                      <a:headEnd type="none" w="med" len="med"/>
                      <a:tailEnd type="none" w="med" len="med"/>
                    </a:lnR>
                    <a:lnT w="9525" cap="flat" cmpd="sng" algn="ctr">
                      <a:solidFill>
                        <a:srgbClr val="AAAAAA"/>
                      </a:solidFill>
                      <a:prstDash val="solid"/>
                      <a:round/>
                      <a:headEnd type="none" w="med" len="med"/>
                      <a:tailEnd type="none" w="med" len="med"/>
                    </a:lnT>
                    <a:lnB w="9525" cap="flat" cmpd="sng" algn="ctr">
                      <a:solidFill>
                        <a:srgbClr val="AAAAAA"/>
                      </a:solidFill>
                      <a:prstDash val="solid"/>
                      <a:round/>
                      <a:headEnd type="none" w="med" len="med"/>
                      <a:tailEnd type="none" w="med" len="med"/>
                    </a:lnB>
                    <a:solidFill>
                      <a:srgbClr val="F9F9F9"/>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endParaRPr lang="en-GB" sz="800" dirty="0"/>
                    </a:p>
                  </a:txBody>
                  <a:tcPr marL="39029" marR="39029" marT="19515" marB="19515">
                    <a:lnL w="9525" cap="flat" cmpd="sng" algn="ctr">
                      <a:solidFill>
                        <a:srgbClr val="AAAAAA"/>
                      </a:solidFill>
                      <a:prstDash val="solid"/>
                      <a:round/>
                      <a:headEnd type="none" w="med" len="med"/>
                      <a:tailEnd type="none" w="med" len="med"/>
                    </a:lnL>
                  </a:tcPr>
                </a:tc>
                <a:extLst>
                  <a:ext uri="{0D108BD9-81ED-4DB2-BD59-A6C34878D82A}">
                    <a16:rowId xmlns:a16="http://schemas.microsoft.com/office/drawing/2014/main" val="10029"/>
                  </a:ext>
                </a:extLst>
              </a:tr>
            </a:tbl>
          </a:graphicData>
        </a:graphic>
      </p:graphicFrame>
    </p:spTree>
    <p:extLst>
      <p:ext uri="{BB962C8B-B14F-4D97-AF65-F5344CB8AC3E}">
        <p14:creationId xmlns:p14="http://schemas.microsoft.com/office/powerpoint/2010/main" val="4099283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96E2F-9A2F-40D7-8F6F-9A0BEAB74E61}"/>
              </a:ext>
            </a:extLst>
          </p:cNvPr>
          <p:cNvSpPr>
            <a:spLocks noGrp="1"/>
          </p:cNvSpPr>
          <p:nvPr>
            <p:ph type="title"/>
          </p:nvPr>
        </p:nvSpPr>
        <p:spPr/>
        <p:txBody>
          <a:bodyPr/>
          <a:lstStyle/>
          <a:p>
            <a:r>
              <a:rPr lang="en-US" dirty="0"/>
              <a:t>Addresses to troubleshoot</a:t>
            </a:r>
            <a:endParaRPr lang="en-GB" dirty="0"/>
          </a:p>
        </p:txBody>
      </p:sp>
      <p:sp>
        <p:nvSpPr>
          <p:cNvPr id="3" name="Content Placeholder 2">
            <a:extLst>
              <a:ext uri="{FF2B5EF4-FFF2-40B4-BE49-F238E27FC236}">
                <a16:creationId xmlns:a16="http://schemas.microsoft.com/office/drawing/2014/main" id="{3111671D-AC51-4F27-AB1A-F22D9EFE46E3}"/>
              </a:ext>
            </a:extLst>
          </p:cNvPr>
          <p:cNvSpPr>
            <a:spLocks noGrp="1"/>
          </p:cNvSpPr>
          <p:nvPr>
            <p:ph idx="1"/>
          </p:nvPr>
        </p:nvSpPr>
        <p:spPr/>
        <p:txBody>
          <a:bodyPr>
            <a:normAutofit lnSpcReduction="10000"/>
          </a:bodyPr>
          <a:lstStyle/>
          <a:p>
            <a:r>
              <a:rPr lang="en-US" b="1" dirty="0"/>
              <a:t>169.254.x.x:</a:t>
            </a:r>
            <a:r>
              <a:rPr lang="en-US" dirty="0"/>
              <a:t> This is what's called an Automatic Private IP address. </a:t>
            </a:r>
          </a:p>
          <a:p>
            <a:pPr lvl="1"/>
            <a:r>
              <a:rPr lang="en-US" dirty="0"/>
              <a:t>An IP in this range means that the computer cannot obtain an address from the DHCP server.  </a:t>
            </a:r>
          </a:p>
          <a:p>
            <a:pPr lvl="2"/>
            <a:r>
              <a:rPr lang="en-US" dirty="0"/>
              <a:t>DHCP server is down or not </a:t>
            </a:r>
            <a:r>
              <a:rPr lang="en-US" dirty="0" err="1"/>
              <a:t>repsonding</a:t>
            </a:r>
            <a:endParaRPr lang="en-US" dirty="0"/>
          </a:p>
          <a:p>
            <a:pPr lvl="1"/>
            <a:r>
              <a:rPr lang="en-US" dirty="0"/>
              <a:t> In those cases, the computer will actually give itself an IP starting with 169.254, since it must assign itself some sort of number. </a:t>
            </a:r>
          </a:p>
          <a:p>
            <a:pPr lvl="1"/>
            <a:r>
              <a:rPr lang="en-US" dirty="0"/>
              <a:t>Gives you basic comms to other resources with 169.254 IP addresses, but will periodically send out a DHCP request</a:t>
            </a:r>
          </a:p>
          <a:p>
            <a:r>
              <a:rPr lang="en-US" b="1" dirty="0"/>
              <a:t>0.0.0.0 on a client - </a:t>
            </a:r>
            <a:r>
              <a:rPr lang="en-GB" b="0" i="0" dirty="0">
                <a:solidFill>
                  <a:srgbClr val="242729"/>
                </a:solidFill>
                <a:effectLst/>
                <a:latin typeface="Jost"/>
              </a:rPr>
              <a:t>PCs and other client devices normally </a:t>
            </a:r>
            <a:r>
              <a:rPr lang="en-GB" dirty="0">
                <a:solidFill>
                  <a:srgbClr val="242729"/>
                </a:solidFill>
                <a:latin typeface="Jost"/>
              </a:rPr>
              <a:t>show this </a:t>
            </a:r>
            <a:r>
              <a:rPr lang="en-GB" b="0" i="0" dirty="0">
                <a:solidFill>
                  <a:srgbClr val="242729"/>
                </a:solidFill>
                <a:effectLst/>
                <a:latin typeface="Jost"/>
              </a:rPr>
              <a:t>address </a:t>
            </a:r>
            <a:r>
              <a:rPr lang="en-GB" b="0" i="0" dirty="0">
                <a:solidFill>
                  <a:srgbClr val="FF0000"/>
                </a:solidFill>
                <a:effectLst/>
                <a:latin typeface="Jost"/>
              </a:rPr>
              <a:t>when not connected to a </a:t>
            </a:r>
            <a:r>
              <a:rPr lang="en-GB" b="0" i="0" u="sng" dirty="0">
                <a:solidFill>
                  <a:srgbClr val="FF0000"/>
                </a:solidFill>
                <a:effectLst/>
                <a:latin typeface="Jost"/>
              </a:rPr>
              <a:t>TCP/IP</a:t>
            </a:r>
            <a:r>
              <a:rPr lang="en-GB" b="0" i="0" dirty="0">
                <a:solidFill>
                  <a:srgbClr val="FF0000"/>
                </a:solidFill>
                <a:effectLst/>
                <a:latin typeface="Jost"/>
              </a:rPr>
              <a:t> network</a:t>
            </a:r>
            <a:r>
              <a:rPr lang="en-GB" b="0" i="0" dirty="0">
                <a:solidFill>
                  <a:srgbClr val="242729"/>
                </a:solidFill>
                <a:effectLst/>
                <a:latin typeface="Jost"/>
              </a:rPr>
              <a:t>. A device might give itself this address by default whenever it is offline.</a:t>
            </a:r>
          </a:p>
          <a:p>
            <a:pPr algn="l"/>
            <a:r>
              <a:rPr lang="en-GB" b="0" i="0" dirty="0">
                <a:solidFill>
                  <a:srgbClr val="242729"/>
                </a:solidFill>
                <a:effectLst/>
                <a:latin typeface="Jost"/>
              </a:rPr>
              <a:t>It might also be automatically assigned by </a:t>
            </a:r>
            <a:r>
              <a:rPr lang="en-GB" b="0" i="0" u="sng" dirty="0">
                <a:solidFill>
                  <a:srgbClr val="501445"/>
                </a:solidFill>
                <a:effectLst/>
                <a:latin typeface="Jost"/>
              </a:rPr>
              <a:t>DHCP</a:t>
            </a:r>
            <a:r>
              <a:rPr lang="en-GB" b="0" i="0" dirty="0">
                <a:solidFill>
                  <a:srgbClr val="242729"/>
                </a:solidFill>
                <a:effectLst/>
                <a:latin typeface="Jost"/>
              </a:rPr>
              <a:t> in the case of address assignment failures. </a:t>
            </a:r>
          </a:p>
          <a:p>
            <a:endParaRPr lang="en-GB" dirty="0"/>
          </a:p>
        </p:txBody>
      </p:sp>
    </p:spTree>
    <p:extLst>
      <p:ext uri="{BB962C8B-B14F-4D97-AF65-F5344CB8AC3E}">
        <p14:creationId xmlns:p14="http://schemas.microsoft.com/office/powerpoint/2010/main" val="2569118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FF0000"/>
                </a:solidFill>
              </a:rPr>
              <a:t>D</a:t>
            </a:r>
            <a:r>
              <a:rPr lang="en-GB" dirty="0"/>
              <a:t>omain </a:t>
            </a:r>
            <a:r>
              <a:rPr lang="en-GB" dirty="0">
                <a:solidFill>
                  <a:srgbClr val="FF0000"/>
                </a:solidFill>
              </a:rPr>
              <a:t>N</a:t>
            </a:r>
            <a:r>
              <a:rPr lang="en-GB" dirty="0"/>
              <a:t>amespace </a:t>
            </a:r>
            <a:r>
              <a:rPr lang="en-GB" dirty="0">
                <a:solidFill>
                  <a:srgbClr val="FF0000"/>
                </a:solidFill>
              </a:rPr>
              <a:t>S</a:t>
            </a:r>
            <a:r>
              <a:rPr lang="en-GB" dirty="0"/>
              <a:t>ystem </a:t>
            </a:r>
          </a:p>
        </p:txBody>
      </p:sp>
      <p:sp>
        <p:nvSpPr>
          <p:cNvPr id="3" name="Content Placeholder 2"/>
          <p:cNvSpPr>
            <a:spLocks noGrp="1"/>
          </p:cNvSpPr>
          <p:nvPr>
            <p:ph idx="1"/>
          </p:nvPr>
        </p:nvSpPr>
        <p:spPr>
          <a:xfrm>
            <a:off x="457200" y="1340768"/>
            <a:ext cx="7620000" cy="4800600"/>
          </a:xfrm>
        </p:spPr>
        <p:txBody>
          <a:bodyPr>
            <a:normAutofit/>
          </a:bodyPr>
          <a:lstStyle/>
          <a:p>
            <a:r>
              <a:rPr lang="en-GB" dirty="0"/>
              <a:t>The </a:t>
            </a:r>
            <a:r>
              <a:rPr lang="en-GB" b="1" dirty="0"/>
              <a:t>DNS Namespace</a:t>
            </a:r>
            <a:r>
              <a:rPr lang="en-GB" dirty="0"/>
              <a:t> is based on a "tree" structure, with a small number of generic </a:t>
            </a:r>
            <a:r>
              <a:rPr lang="en-GB" b="1" dirty="0"/>
              <a:t>Top Level Domains</a:t>
            </a:r>
            <a:r>
              <a:rPr lang="en-GB" dirty="0"/>
              <a:t> (</a:t>
            </a:r>
            <a:r>
              <a:rPr lang="en-GB" dirty="0" err="1"/>
              <a:t>eg</a:t>
            </a:r>
            <a:r>
              <a:rPr lang="en-GB" dirty="0"/>
              <a:t>, </a:t>
            </a:r>
            <a:r>
              <a:rPr lang="en-GB" b="1" dirty="0"/>
              <a:t>.com</a:t>
            </a:r>
            <a:r>
              <a:rPr lang="en-GB" dirty="0"/>
              <a:t>, </a:t>
            </a:r>
            <a:r>
              <a:rPr lang="en-GB" b="1" dirty="0"/>
              <a:t>.</a:t>
            </a:r>
            <a:r>
              <a:rPr lang="en-GB" b="1" dirty="0" err="1"/>
              <a:t>edu</a:t>
            </a:r>
            <a:r>
              <a:rPr lang="en-GB" dirty="0"/>
              <a:t>, </a:t>
            </a:r>
            <a:r>
              <a:rPr lang="en-GB" b="1" dirty="0"/>
              <a:t>.org</a:t>
            </a:r>
            <a:r>
              <a:rPr lang="en-GB" dirty="0"/>
              <a:t>) and a large number of country-based domains </a:t>
            </a:r>
          </a:p>
          <a:p>
            <a:r>
              <a:rPr lang="en-GB" dirty="0"/>
              <a:t>(</a:t>
            </a:r>
            <a:r>
              <a:rPr lang="en-GB" dirty="0" err="1"/>
              <a:t>eg</a:t>
            </a:r>
            <a:r>
              <a:rPr lang="en-GB" dirty="0"/>
              <a:t> </a:t>
            </a:r>
            <a:r>
              <a:rPr lang="en-GB" b="1" dirty="0"/>
              <a:t>.au</a:t>
            </a:r>
            <a:r>
              <a:rPr lang="en-GB" dirty="0"/>
              <a:t>, </a:t>
            </a:r>
            <a:r>
              <a:rPr lang="en-GB" b="1" dirty="0"/>
              <a:t>.my</a:t>
            </a:r>
            <a:r>
              <a:rPr lang="en-GB" dirty="0"/>
              <a:t>, </a:t>
            </a:r>
            <a:r>
              <a:rPr lang="en-GB" b="1" dirty="0"/>
              <a:t>.</a:t>
            </a:r>
            <a:r>
              <a:rPr lang="en-GB" b="1" dirty="0" err="1"/>
              <a:t>uk</a:t>
            </a:r>
            <a:r>
              <a:rPr lang="en-GB" dirty="0"/>
              <a:t>). Each TLD supports a group of "second-level" domains, and so on, all the way down to individual hosts.</a:t>
            </a:r>
          </a:p>
        </p:txBody>
      </p:sp>
      <p:pic>
        <p:nvPicPr>
          <p:cNvPr id="1026" name="Picture 2">
            <a:extLst>
              <a:ext uri="{FF2B5EF4-FFF2-40B4-BE49-F238E27FC236}">
                <a16:creationId xmlns:a16="http://schemas.microsoft.com/office/drawing/2014/main" id="{E7407969-B629-4964-870C-FA70F78099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3501008"/>
            <a:ext cx="6270106" cy="3024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0946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662E6AC-336D-4606-AC18-08C08C3165D7}"/>
              </a:ext>
            </a:extLst>
          </p:cNvPr>
          <p:cNvPicPr>
            <a:picLocks noChangeAspect="1"/>
          </p:cNvPicPr>
          <p:nvPr/>
        </p:nvPicPr>
        <p:blipFill>
          <a:blip r:embed="rId2"/>
          <a:stretch>
            <a:fillRect/>
          </a:stretch>
        </p:blipFill>
        <p:spPr>
          <a:xfrm>
            <a:off x="611560" y="3501008"/>
            <a:ext cx="7007899" cy="3246517"/>
          </a:xfrm>
          <a:prstGeom prst="rect">
            <a:avLst/>
          </a:prstGeom>
        </p:spPr>
      </p:pic>
      <p:sp>
        <p:nvSpPr>
          <p:cNvPr id="2" name="Title 1"/>
          <p:cNvSpPr>
            <a:spLocks noGrp="1"/>
          </p:cNvSpPr>
          <p:nvPr>
            <p:ph type="title"/>
          </p:nvPr>
        </p:nvSpPr>
        <p:spPr/>
        <p:txBody>
          <a:bodyPr/>
          <a:lstStyle/>
          <a:p>
            <a:r>
              <a:rPr lang="en-US" dirty="0"/>
              <a:t>Domain Name Servers</a:t>
            </a:r>
            <a:endParaRPr lang="en-GB" dirty="0"/>
          </a:p>
        </p:txBody>
      </p:sp>
      <p:sp>
        <p:nvSpPr>
          <p:cNvPr id="3" name="Content Placeholder 2"/>
          <p:cNvSpPr>
            <a:spLocks noGrp="1"/>
          </p:cNvSpPr>
          <p:nvPr>
            <p:ph idx="1"/>
          </p:nvPr>
        </p:nvSpPr>
        <p:spPr/>
        <p:txBody>
          <a:bodyPr/>
          <a:lstStyle/>
          <a:p>
            <a:r>
              <a:rPr lang="en-US" dirty="0"/>
              <a:t>Need to translate the web address used in a browser such as www.wlv.ac.uk  into actual IP address so a request can be made to that web browser to access a web page</a:t>
            </a:r>
          </a:p>
          <a:p>
            <a:r>
              <a:rPr lang="en-US" dirty="0"/>
              <a:t>The DNS system is the mechanism by which this happens</a:t>
            </a:r>
          </a:p>
          <a:p>
            <a:pPr marL="114300" indent="0">
              <a:buNone/>
            </a:pPr>
            <a:endParaRPr lang="en-GB" dirty="0"/>
          </a:p>
        </p:txBody>
      </p:sp>
      <p:sp>
        <p:nvSpPr>
          <p:cNvPr id="4" name="Rectangle 3"/>
          <p:cNvSpPr/>
          <p:nvPr/>
        </p:nvSpPr>
        <p:spPr>
          <a:xfrm>
            <a:off x="899592" y="5665373"/>
            <a:ext cx="4464496" cy="288032"/>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F3B065A1-E98C-4AC2-8DA2-1BD5CF2011FD}"/>
              </a:ext>
            </a:extLst>
          </p:cNvPr>
          <p:cNvSpPr/>
          <p:nvPr/>
        </p:nvSpPr>
        <p:spPr>
          <a:xfrm>
            <a:off x="611560" y="4942924"/>
            <a:ext cx="4464496" cy="288032"/>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37661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8958C-C3AF-4E19-B8DF-4EC36FE96755}"/>
              </a:ext>
            </a:extLst>
          </p:cNvPr>
          <p:cNvSpPr>
            <a:spLocks noGrp="1"/>
          </p:cNvSpPr>
          <p:nvPr>
            <p:ph type="title"/>
          </p:nvPr>
        </p:nvSpPr>
        <p:spPr/>
        <p:txBody>
          <a:bodyPr/>
          <a:lstStyle/>
          <a:p>
            <a:r>
              <a:rPr lang="en-GB" dirty="0"/>
              <a:t>Types of DNS resolvers</a:t>
            </a:r>
          </a:p>
        </p:txBody>
      </p:sp>
      <p:sp>
        <p:nvSpPr>
          <p:cNvPr id="3" name="Content Placeholder 2">
            <a:extLst>
              <a:ext uri="{FF2B5EF4-FFF2-40B4-BE49-F238E27FC236}">
                <a16:creationId xmlns:a16="http://schemas.microsoft.com/office/drawing/2014/main" id="{96D6EEBB-9310-4822-A711-4014206FAD4C}"/>
              </a:ext>
            </a:extLst>
          </p:cNvPr>
          <p:cNvSpPr>
            <a:spLocks noGrp="1"/>
          </p:cNvSpPr>
          <p:nvPr>
            <p:ph idx="1"/>
          </p:nvPr>
        </p:nvSpPr>
        <p:spPr/>
        <p:txBody>
          <a:bodyPr/>
          <a:lstStyle/>
          <a:p>
            <a:r>
              <a:rPr lang="en-GB" b="0" i="0" dirty="0">
                <a:solidFill>
                  <a:srgbClr val="666666"/>
                </a:solidFill>
                <a:effectLst/>
                <a:latin typeface="Arial" panose="020B0604020202020204" pitchFamily="34" charset="0"/>
              </a:rPr>
              <a:t>A </a:t>
            </a:r>
            <a:r>
              <a:rPr lang="en-GB" b="0" i="0" dirty="0">
                <a:solidFill>
                  <a:srgbClr val="FF0000"/>
                </a:solidFill>
                <a:effectLst/>
                <a:latin typeface="Arial" panose="020B0604020202020204" pitchFamily="34" charset="0"/>
              </a:rPr>
              <a:t>stub resolver</a:t>
            </a:r>
            <a:r>
              <a:rPr lang="en-GB" b="0" i="0" dirty="0">
                <a:solidFill>
                  <a:srgbClr val="666666"/>
                </a:solidFill>
                <a:effectLst/>
                <a:latin typeface="Arial" panose="020B0604020202020204" pitchFamily="34" charset="0"/>
              </a:rPr>
              <a:t> is a software component normally found in endpoint hosts that generates DNS queries when application programs running on desktop computers or mobile devices need to resolve DNS domain names.</a:t>
            </a:r>
          </a:p>
          <a:p>
            <a:r>
              <a:rPr lang="en-GB" dirty="0">
                <a:solidFill>
                  <a:srgbClr val="666666"/>
                </a:solidFill>
                <a:latin typeface="Arial" panose="020B0604020202020204" pitchFamily="34" charset="0"/>
              </a:rPr>
              <a:t>Keeps a cache of recently resolved queries</a:t>
            </a:r>
            <a:endParaRPr lang="en-GB" b="0" i="0" dirty="0">
              <a:solidFill>
                <a:srgbClr val="666666"/>
              </a:solidFill>
              <a:effectLst/>
              <a:latin typeface="Arial" panose="020B0604020202020204" pitchFamily="34" charset="0"/>
            </a:endParaRPr>
          </a:p>
          <a:p>
            <a:endParaRPr lang="en-GB" dirty="0">
              <a:solidFill>
                <a:srgbClr val="666666"/>
              </a:solidFill>
              <a:latin typeface="Arial" panose="020B0604020202020204" pitchFamily="34" charset="0"/>
            </a:endParaRPr>
          </a:p>
          <a:p>
            <a:r>
              <a:rPr lang="en-GB" b="0" i="0" dirty="0">
                <a:solidFill>
                  <a:srgbClr val="666666"/>
                </a:solidFill>
                <a:effectLst/>
                <a:latin typeface="Arial" panose="020B0604020202020204" pitchFamily="34" charset="0"/>
              </a:rPr>
              <a:t>The </a:t>
            </a:r>
            <a:r>
              <a:rPr lang="en-GB" b="0" i="0" u="sng" dirty="0">
                <a:solidFill>
                  <a:srgbClr val="00B3AC"/>
                </a:solidFill>
                <a:effectLst/>
                <a:latin typeface="Arial" panose="020B0604020202020204" pitchFamily="34" charset="0"/>
              </a:rPr>
              <a:t>recursive resolver</a:t>
            </a:r>
            <a:r>
              <a:rPr lang="en-GB" b="0" i="0" dirty="0">
                <a:solidFill>
                  <a:srgbClr val="666666"/>
                </a:solidFill>
                <a:effectLst/>
                <a:latin typeface="Arial" panose="020B0604020202020204" pitchFamily="34" charset="0"/>
              </a:rPr>
              <a:t> may reside in a home router, be hosted by an internet service provider or be provided by a third party, such as Google's Public DNS recursive resolver at 8.8.8.8 or the </a:t>
            </a:r>
            <a:r>
              <a:rPr lang="en-GB" b="0" i="0" u="sng" dirty="0">
                <a:solidFill>
                  <a:srgbClr val="00B3AC"/>
                </a:solidFill>
                <a:effectLst/>
                <a:latin typeface="Arial" panose="020B0604020202020204" pitchFamily="34" charset="0"/>
              </a:rPr>
              <a:t>Cloudflare DNS service</a:t>
            </a:r>
            <a:r>
              <a:rPr lang="en-GB" b="0" i="0" dirty="0">
                <a:solidFill>
                  <a:srgbClr val="666666"/>
                </a:solidFill>
                <a:effectLst/>
                <a:latin typeface="Arial" panose="020B0604020202020204" pitchFamily="34" charset="0"/>
              </a:rPr>
              <a:t> at 1.1.1.1.</a:t>
            </a:r>
            <a:endParaRPr lang="en-GB" dirty="0"/>
          </a:p>
        </p:txBody>
      </p:sp>
    </p:spTree>
    <p:extLst>
      <p:ext uri="{BB962C8B-B14F-4D97-AF65-F5344CB8AC3E}">
        <p14:creationId xmlns:p14="http://schemas.microsoft.com/office/powerpoint/2010/main" val="2847859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652462" y="260648"/>
            <a:ext cx="7839075" cy="6115050"/>
          </a:xfrm>
          <a:prstGeom prst="rect">
            <a:avLst/>
          </a:prstGeom>
          <a:noFill/>
          <a:ln w="9525">
            <a:noFill/>
            <a:miter lim="800000"/>
            <a:headEnd/>
            <a:tailEnd/>
          </a:ln>
        </p:spPr>
      </p:pic>
      <p:sp>
        <p:nvSpPr>
          <p:cNvPr id="2" name="TextBox 1">
            <a:extLst>
              <a:ext uri="{FF2B5EF4-FFF2-40B4-BE49-F238E27FC236}">
                <a16:creationId xmlns:a16="http://schemas.microsoft.com/office/drawing/2014/main" id="{9C6C760B-F8D0-4516-BE95-72BC48D8F036}"/>
              </a:ext>
            </a:extLst>
          </p:cNvPr>
          <p:cNvSpPr txBox="1"/>
          <p:nvPr/>
        </p:nvSpPr>
        <p:spPr>
          <a:xfrm>
            <a:off x="539552" y="764704"/>
            <a:ext cx="3312368" cy="1754326"/>
          </a:xfrm>
          <a:prstGeom prst="rect">
            <a:avLst/>
          </a:prstGeom>
          <a:noFill/>
        </p:spPr>
        <p:txBody>
          <a:bodyPr wrap="square" rtlCol="0">
            <a:spAutoFit/>
          </a:bodyPr>
          <a:lstStyle/>
          <a:p>
            <a:r>
              <a:rPr lang="en-GB" b="0" i="0" dirty="0">
                <a:solidFill>
                  <a:srgbClr val="222222"/>
                </a:solidFill>
                <a:effectLst/>
                <a:latin typeface="-apple-system"/>
              </a:rPr>
              <a:t>Local DNS server - “Hey, I need the IP address for this domain. Please let me know the address of the next DNS server in the lookup process so I can look it up myself.”</a:t>
            </a:r>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79512" y="836712"/>
            <a:ext cx="8220075" cy="5587329"/>
          </a:xfrm>
          <a:prstGeom prst="rect">
            <a:avLst/>
          </a:prstGeom>
          <a:noFill/>
          <a:ln w="9525">
            <a:noFill/>
            <a:miter lim="800000"/>
            <a:headEnd/>
            <a:tailEnd/>
          </a:ln>
        </p:spPr>
      </p:pic>
      <p:sp>
        <p:nvSpPr>
          <p:cNvPr id="3" name="TextBox 2"/>
          <p:cNvSpPr txBox="1"/>
          <p:nvPr/>
        </p:nvSpPr>
        <p:spPr>
          <a:xfrm>
            <a:off x="180592" y="1338588"/>
            <a:ext cx="2951247" cy="1477328"/>
          </a:xfrm>
          <a:prstGeom prst="rect">
            <a:avLst/>
          </a:prstGeom>
          <a:noFill/>
        </p:spPr>
        <p:txBody>
          <a:bodyPr wrap="square" rtlCol="0">
            <a:spAutoFit/>
          </a:bodyPr>
          <a:lstStyle/>
          <a:p>
            <a:r>
              <a:rPr lang="en-GB" dirty="0"/>
              <a:t>Local </a:t>
            </a:r>
            <a:r>
              <a:rPr lang="en-GB" dirty="0" err="1"/>
              <a:t>Dns</a:t>
            </a:r>
            <a:r>
              <a:rPr lang="en-GB" dirty="0"/>
              <a:t> Server - </a:t>
            </a:r>
            <a:r>
              <a:rPr lang="en-GB" b="0" i="0" dirty="0">
                <a:solidFill>
                  <a:srgbClr val="222222"/>
                </a:solidFill>
                <a:effectLst/>
                <a:latin typeface="-apple-system"/>
              </a:rPr>
              <a:t>“Hey, I need the IP address for this domain, please hunt it down and don’t get back to me until you have it.”</a:t>
            </a:r>
            <a:endParaRPr lang="en-GB" dirty="0"/>
          </a:p>
        </p:txBody>
      </p:sp>
      <p:sp>
        <p:nvSpPr>
          <p:cNvPr id="2" name="TextBox 1">
            <a:extLst>
              <a:ext uri="{FF2B5EF4-FFF2-40B4-BE49-F238E27FC236}">
                <a16:creationId xmlns:a16="http://schemas.microsoft.com/office/drawing/2014/main" id="{85FD7CC7-47DE-46FC-8929-2644EF3F2A49}"/>
              </a:ext>
            </a:extLst>
          </p:cNvPr>
          <p:cNvSpPr txBox="1"/>
          <p:nvPr/>
        </p:nvSpPr>
        <p:spPr>
          <a:xfrm>
            <a:off x="395536" y="3594790"/>
            <a:ext cx="2448272" cy="1200329"/>
          </a:xfrm>
          <a:prstGeom prst="rect">
            <a:avLst/>
          </a:prstGeom>
          <a:noFill/>
        </p:spPr>
        <p:txBody>
          <a:bodyPr wrap="square" rtlCol="0">
            <a:spAutoFit/>
          </a:bodyPr>
          <a:lstStyle/>
          <a:p>
            <a:r>
              <a:rPr lang="en-GB" dirty="0"/>
              <a:t>Generally faster than iterative, but vulnerable to amplification and DNS poisoning attacks</a:t>
            </a:r>
          </a:p>
        </p:txBody>
      </p:sp>
      <p:sp>
        <p:nvSpPr>
          <p:cNvPr id="4" name="TextBox 3">
            <a:hlinkClick r:id="rId3"/>
            <a:extLst>
              <a:ext uri="{FF2B5EF4-FFF2-40B4-BE49-F238E27FC236}">
                <a16:creationId xmlns:a16="http://schemas.microsoft.com/office/drawing/2014/main" id="{4DD969DB-7BCC-695F-682C-9F5AEBF9BE17}"/>
              </a:ext>
            </a:extLst>
          </p:cNvPr>
          <p:cNvSpPr txBox="1"/>
          <p:nvPr/>
        </p:nvSpPr>
        <p:spPr>
          <a:xfrm>
            <a:off x="769700" y="6398687"/>
            <a:ext cx="4816960" cy="369332"/>
          </a:xfrm>
          <a:prstGeom prst="rect">
            <a:avLst/>
          </a:prstGeom>
          <a:noFill/>
        </p:spPr>
        <p:txBody>
          <a:bodyPr wrap="none" rtlCol="0">
            <a:spAutoFit/>
          </a:bodyPr>
          <a:lstStyle/>
          <a:p>
            <a:r>
              <a:rPr lang="en-GB" dirty="0"/>
              <a:t>https://www.youtube.com/watch?v=pkvaTUl5F-Y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DNS Caching</a:t>
            </a:r>
          </a:p>
        </p:txBody>
      </p:sp>
      <p:sp>
        <p:nvSpPr>
          <p:cNvPr id="3" name="Content Placeholder 2"/>
          <p:cNvSpPr>
            <a:spLocks noGrp="1"/>
          </p:cNvSpPr>
          <p:nvPr>
            <p:ph idx="1"/>
          </p:nvPr>
        </p:nvSpPr>
        <p:spPr/>
        <p:txBody>
          <a:bodyPr>
            <a:normAutofit/>
          </a:bodyPr>
          <a:lstStyle/>
          <a:p>
            <a:r>
              <a:rPr lang="en-GB" sz="2400" dirty="0"/>
              <a:t>Caching can substantially reduce overhead – The top-level servers very rarely change – Popular sites visited often – Local DNS server often has the information cached </a:t>
            </a:r>
          </a:p>
          <a:p>
            <a:r>
              <a:rPr lang="en-GB" sz="2400" dirty="0"/>
              <a:t> How DNS caching works – DNS servers cache responses to queries – Response includes a TTL field – Server deletes the cached entry after TTL expires (typically 12 hours)</a:t>
            </a:r>
          </a:p>
          <a:p>
            <a:r>
              <a:rPr lang="en-GB" sz="2400" dirty="0"/>
              <a:t> DNS negative queries are cached – Save time for non-existent sites, e.g., misspelling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DIRECTING WEB CLIENTS TO REPLICAS</a:t>
            </a:r>
          </a:p>
        </p:txBody>
      </p:sp>
      <p:sp>
        <p:nvSpPr>
          <p:cNvPr id="3" name="Content Placeholder 2"/>
          <p:cNvSpPr>
            <a:spLocks noGrp="1"/>
          </p:cNvSpPr>
          <p:nvPr>
            <p:ph idx="1"/>
          </p:nvPr>
        </p:nvSpPr>
        <p:spPr/>
        <p:txBody>
          <a:bodyPr/>
          <a:lstStyle/>
          <a:p>
            <a:r>
              <a:rPr lang="en-GB" dirty="0"/>
              <a:t>Large websites use multiple </a:t>
            </a:r>
            <a:r>
              <a:rPr lang="en-GB" dirty="0" err="1"/>
              <a:t>webservers</a:t>
            </a:r>
            <a:r>
              <a:rPr lang="en-GB" dirty="0"/>
              <a:t> - replicas</a:t>
            </a:r>
          </a:p>
          <a:p>
            <a:r>
              <a:rPr lang="en-GB" dirty="0"/>
              <a:t>Simple approach: different names – www1.cnn.com, www2.cnn.com, www3.cnn.com – But, this requires users to select specific replicas </a:t>
            </a:r>
          </a:p>
          <a:p>
            <a:r>
              <a:rPr lang="en-GB" dirty="0"/>
              <a:t>More elegant approach: different IP addresses – Single name (e.g., www.cnn.com), multiple addresses – E.g., 64.236.16.20, 64.236.16.52, 64.236.16.84, … </a:t>
            </a:r>
          </a:p>
          <a:p>
            <a:r>
              <a:rPr lang="en-GB" dirty="0"/>
              <a:t>Authoritative DNS server returns many addresses – The local DNS server selects one address – Authoritative server may vary the order of addresses </a:t>
            </a:r>
          </a:p>
          <a:p>
            <a:r>
              <a:rPr lang="en-GB" dirty="0"/>
              <a:t>Load balancing based on performance and proximity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Zones</a:t>
            </a:r>
          </a:p>
        </p:txBody>
      </p:sp>
      <p:sp>
        <p:nvSpPr>
          <p:cNvPr id="3" name="Content Placeholder 2"/>
          <p:cNvSpPr>
            <a:spLocks noGrp="1"/>
          </p:cNvSpPr>
          <p:nvPr>
            <p:ph idx="1"/>
          </p:nvPr>
        </p:nvSpPr>
        <p:spPr>
          <a:xfrm>
            <a:off x="457200" y="1196752"/>
            <a:ext cx="7715200" cy="5328592"/>
          </a:xfrm>
        </p:spPr>
        <p:txBody>
          <a:bodyPr>
            <a:normAutofit fontScale="92500" lnSpcReduction="20000"/>
          </a:bodyPr>
          <a:lstStyle/>
          <a:p>
            <a:endParaRPr lang="en-GB" sz="2800" dirty="0"/>
          </a:p>
          <a:p>
            <a:r>
              <a:rPr lang="en-US" sz="2600" dirty="0">
                <a:solidFill>
                  <a:srgbClr val="FF0000"/>
                </a:solidFill>
              </a:rPr>
              <a:t>A DNS zone </a:t>
            </a:r>
            <a:r>
              <a:rPr lang="en-US" sz="2600" dirty="0"/>
              <a:t>is a distinct part of the domain namespace which is delegated to a legal entity—a person, organization or company, who are responsible for maintaining the DNS zone. </a:t>
            </a:r>
            <a:endParaRPr lang="en-GB" sz="2600" dirty="0"/>
          </a:p>
          <a:p>
            <a:r>
              <a:rPr lang="en-US" sz="2600" dirty="0"/>
              <a:t>The Domain Name System (DNS) defines a domain namespace, which specifies Top Level Domains (such as “.com”), second-level domains, (such as “acme.com”) and lower-level domains, also called subdomains (such as “support.acme.com”). Each of these levels can be a DNS zone.</a:t>
            </a:r>
            <a:endParaRPr lang="en-GB" sz="2600" dirty="0"/>
          </a:p>
          <a:p>
            <a:r>
              <a:rPr lang="en-GB" sz="2600" dirty="0"/>
              <a:t>The name servers in their respective zones are responsible for answering queries for their zones. </a:t>
            </a:r>
          </a:p>
          <a:p>
            <a:r>
              <a:rPr lang="en-GB" sz="2600" dirty="0"/>
              <a:t>There is usually one primary </a:t>
            </a:r>
            <a:r>
              <a:rPr lang="en-GB" sz="2600" b="1" dirty="0">
                <a:solidFill>
                  <a:srgbClr val="FF0000"/>
                </a:solidFill>
              </a:rPr>
              <a:t>nameserver</a:t>
            </a:r>
            <a:r>
              <a:rPr lang="en-GB" sz="2600" dirty="0">
                <a:solidFill>
                  <a:srgbClr val="FF0000"/>
                </a:solidFill>
              </a:rPr>
              <a:t> </a:t>
            </a:r>
            <a:r>
              <a:rPr lang="en-GB" sz="2600" dirty="0"/>
              <a:t>and one or more secondary nameservers.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Zone transfer</a:t>
            </a:r>
          </a:p>
        </p:txBody>
      </p:sp>
      <p:sp>
        <p:nvSpPr>
          <p:cNvPr id="3" name="Content Placeholder 2"/>
          <p:cNvSpPr>
            <a:spLocks noGrp="1"/>
          </p:cNvSpPr>
          <p:nvPr>
            <p:ph idx="1"/>
          </p:nvPr>
        </p:nvSpPr>
        <p:spPr/>
        <p:txBody>
          <a:bodyPr>
            <a:normAutofit fontScale="92500"/>
          </a:bodyPr>
          <a:lstStyle/>
          <a:p>
            <a:r>
              <a:rPr lang="en-GB" dirty="0"/>
              <a:t>A primary server will have an administrator entering the records or receive dynamic updates </a:t>
            </a:r>
          </a:p>
          <a:p>
            <a:r>
              <a:rPr lang="en-GB" dirty="0"/>
              <a:t>A secondary server gets a copy of all the records by a taking a copy –  </a:t>
            </a:r>
            <a:r>
              <a:rPr lang="en-GB" dirty="0">
                <a:solidFill>
                  <a:srgbClr val="FF0000"/>
                </a:solidFill>
              </a:rPr>
              <a:t>zone transfer</a:t>
            </a:r>
          </a:p>
          <a:p>
            <a:r>
              <a:rPr lang="en-GB" dirty="0"/>
              <a:t>A Zone transfer will occur during any of the following scenarios:</a:t>
            </a:r>
          </a:p>
          <a:p>
            <a:endParaRPr lang="en-GB" dirty="0"/>
          </a:p>
          <a:p>
            <a:pPr lvl="1"/>
            <a:r>
              <a:rPr lang="en-GB" dirty="0"/>
              <a:t>When starting the DNS Service on the secondary DNS server.</a:t>
            </a:r>
          </a:p>
          <a:p>
            <a:pPr lvl="1"/>
            <a:r>
              <a:rPr lang="en-GB" dirty="0"/>
              <a:t>When the refresh time expires.</a:t>
            </a:r>
          </a:p>
          <a:p>
            <a:pPr lvl="1"/>
            <a:r>
              <a:rPr lang="en-GB" dirty="0"/>
              <a:t>When changes are saved to the Primary Zone file and there is a Notify List.</a:t>
            </a:r>
          </a:p>
          <a:p>
            <a:pPr lvl="1"/>
            <a:r>
              <a:rPr lang="en-GB" dirty="0"/>
              <a:t>Zone Transfers are always initiated by the secondary DNS server. The primary DNS server simply answers the request for a Zone Transfer. </a:t>
            </a:r>
            <a:br>
              <a:rPr lang="en-GB" dirty="0"/>
            </a:br>
            <a:endParaRPr lang="en-GB" dirty="0"/>
          </a:p>
        </p:txBody>
      </p:sp>
    </p:spTree>
    <p:extLst>
      <p:ext uri="{BB962C8B-B14F-4D97-AF65-F5344CB8AC3E}">
        <p14:creationId xmlns:p14="http://schemas.microsoft.com/office/powerpoint/2010/main" val="1067375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Architecture</a:t>
            </a:r>
          </a:p>
        </p:txBody>
      </p:sp>
      <p:pic>
        <p:nvPicPr>
          <p:cNvPr id="1026" name="Picture 2"/>
          <p:cNvPicPr>
            <a:picLocks noGrp="1" noChangeAspect="1" noChangeArrowheads="1"/>
          </p:cNvPicPr>
          <p:nvPr>
            <p:ph idx="4294967295"/>
          </p:nvPr>
        </p:nvPicPr>
        <p:blipFill>
          <a:blip r:embed="rId3" cstate="print">
            <a:extLst>
              <a:ext uri="{28A0092B-C50C-407E-A947-70E740481C1C}">
                <a14:useLocalDpi xmlns:a14="http://schemas.microsoft.com/office/drawing/2010/main" val="0"/>
              </a:ext>
            </a:extLst>
          </a:blip>
          <a:srcRect/>
          <a:stretch>
            <a:fillRect/>
          </a:stretch>
        </p:blipFill>
        <p:spPr bwMode="auto">
          <a:xfrm>
            <a:off x="899120" y="1557338"/>
            <a:ext cx="6553200"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4788024" y="620688"/>
            <a:ext cx="3096344" cy="923330"/>
          </a:xfrm>
          <a:prstGeom prst="rect">
            <a:avLst/>
          </a:prstGeom>
          <a:noFill/>
        </p:spPr>
        <p:txBody>
          <a:bodyPr wrap="square" rtlCol="0">
            <a:spAutoFit/>
          </a:bodyPr>
          <a:lstStyle/>
          <a:p>
            <a:r>
              <a:rPr lang="en-GB" dirty="0"/>
              <a:t>Having local DNSs reduces traffic in network and lookup latency</a:t>
            </a:r>
          </a:p>
        </p:txBody>
      </p:sp>
      <p:sp>
        <p:nvSpPr>
          <p:cNvPr id="4" name="TextBox 3"/>
          <p:cNvSpPr txBox="1"/>
          <p:nvPr/>
        </p:nvSpPr>
        <p:spPr>
          <a:xfrm>
            <a:off x="3184586" y="5849838"/>
            <a:ext cx="5319279" cy="646331"/>
          </a:xfrm>
          <a:prstGeom prst="rect">
            <a:avLst/>
          </a:prstGeom>
          <a:noFill/>
        </p:spPr>
        <p:txBody>
          <a:bodyPr wrap="square" rtlCol="0">
            <a:spAutoFit/>
          </a:bodyPr>
          <a:lstStyle/>
          <a:p>
            <a:r>
              <a:rPr lang="en-GB" dirty="0"/>
              <a:t>Outward facing DNS advertises certain outside hosts to world – MI-Linux.wlv.ac.uk</a:t>
            </a:r>
          </a:p>
        </p:txBody>
      </p:sp>
    </p:spTree>
    <p:extLst>
      <p:ext uri="{BB962C8B-B14F-4D97-AF65-F5344CB8AC3E}">
        <p14:creationId xmlns:p14="http://schemas.microsoft.com/office/powerpoint/2010/main" val="66505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6856" y="125760"/>
            <a:ext cx="7620000" cy="1143000"/>
          </a:xfrm>
        </p:spPr>
        <p:txBody>
          <a:bodyPr/>
          <a:lstStyle/>
          <a:p>
            <a:r>
              <a:rPr lang="en-GB" dirty="0"/>
              <a:t>DNS proxy</a:t>
            </a:r>
          </a:p>
        </p:txBody>
      </p:sp>
      <p:sp>
        <p:nvSpPr>
          <p:cNvPr id="3" name="Content Placeholder 2"/>
          <p:cNvSpPr>
            <a:spLocks noGrp="1"/>
          </p:cNvSpPr>
          <p:nvPr>
            <p:ph idx="1"/>
          </p:nvPr>
        </p:nvSpPr>
        <p:spPr>
          <a:xfrm>
            <a:off x="425922" y="1028700"/>
            <a:ext cx="7620000" cy="4800600"/>
          </a:xfrm>
        </p:spPr>
        <p:txBody>
          <a:bodyPr>
            <a:normAutofit/>
          </a:bodyPr>
          <a:lstStyle/>
          <a:p>
            <a:r>
              <a:rPr lang="en-GB" sz="1800" b="1" dirty="0"/>
              <a:t>Faster DNS resolution</a:t>
            </a:r>
            <a:r>
              <a:rPr lang="en-GB" sz="1800" dirty="0"/>
              <a:t>. Because it caches information about previously accessed domain names, a DNS proxy server can return results more quickly.</a:t>
            </a:r>
          </a:p>
          <a:p>
            <a:r>
              <a:rPr lang="en-GB" sz="1800" b="1" dirty="0"/>
              <a:t>Less latency</a:t>
            </a:r>
            <a:r>
              <a:rPr lang="en-GB" sz="1800" dirty="0"/>
              <a:t>. By enabling name resolution from a DNS cache, DNS proxies also help reduce network latency.</a:t>
            </a:r>
          </a:p>
          <a:p>
            <a:r>
              <a:rPr lang="en-GB" sz="1800" b="1" dirty="0"/>
              <a:t>Easier management</a:t>
            </a:r>
            <a:r>
              <a:rPr lang="en-GB" sz="1800" dirty="0"/>
              <a:t>. DNS proxies may help IT teams to simplify management of DNS configuration.</a:t>
            </a:r>
          </a:p>
          <a:p>
            <a:r>
              <a:rPr lang="en-GB" sz="1800" b="1" dirty="0"/>
              <a:t>Stronger security</a:t>
            </a:r>
            <a:r>
              <a:rPr lang="en-GB" sz="1800" dirty="0"/>
              <a:t>. A DNS proxy may offer security features that help protect networks from cyberattacks such as domain hijacking and DNS spoofing.</a:t>
            </a:r>
          </a:p>
        </p:txBody>
      </p:sp>
      <p:pic>
        <p:nvPicPr>
          <p:cNvPr id="1026" name="Picture 2">
            <a:extLst>
              <a:ext uri="{FF2B5EF4-FFF2-40B4-BE49-F238E27FC236}">
                <a16:creationId xmlns:a16="http://schemas.microsoft.com/office/drawing/2014/main" id="{6D633159-D730-22AE-3109-C919BEF51C7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5221" y="3785599"/>
            <a:ext cx="5472608" cy="3078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261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Free and Public  DNS</a:t>
            </a:r>
          </a:p>
        </p:txBody>
      </p:sp>
      <p:sp>
        <p:nvSpPr>
          <p:cNvPr id="3" name="Content Placeholder 2"/>
          <p:cNvSpPr>
            <a:spLocks noGrp="1"/>
          </p:cNvSpPr>
          <p:nvPr>
            <p:ph idx="1"/>
          </p:nvPr>
        </p:nvSpPr>
        <p:spPr>
          <a:xfrm>
            <a:off x="457200" y="1600200"/>
            <a:ext cx="7620000" cy="4997152"/>
          </a:xfrm>
        </p:spPr>
        <p:txBody>
          <a:bodyPr>
            <a:normAutofit/>
          </a:bodyPr>
          <a:lstStyle/>
          <a:p>
            <a:r>
              <a:rPr lang="en-GB" dirty="0"/>
              <a:t>Public DNS servers are alternative to ones given by your ISP</a:t>
            </a:r>
          </a:p>
          <a:p>
            <a:pPr lvl="1"/>
            <a:r>
              <a:rPr lang="en-GB" dirty="0"/>
              <a:t>Google DNS and </a:t>
            </a:r>
            <a:r>
              <a:rPr lang="en-GB" dirty="0" err="1"/>
              <a:t>OpenDns</a:t>
            </a:r>
            <a:r>
              <a:rPr lang="en-GB" dirty="0"/>
              <a:t> are the reported to be the best and most reliable </a:t>
            </a:r>
          </a:p>
          <a:p>
            <a:pPr lvl="1"/>
            <a:r>
              <a:rPr lang="en-GB" dirty="0">
                <a:hlinkClick r:id="rId3"/>
              </a:rPr>
              <a:t>http://pcsupport.about.com/od/tipstricks/a/free-public-dns-servers.htm</a:t>
            </a:r>
            <a:endParaRPr lang="en-GB" dirty="0"/>
          </a:p>
          <a:p>
            <a:pPr lvl="1"/>
            <a:r>
              <a:rPr lang="en-GB" dirty="0"/>
              <a:t>These 2 most famous have geographically distributed servers with enough clusters and load balancing to reduce latency</a:t>
            </a:r>
          </a:p>
          <a:p>
            <a:pPr lvl="3"/>
            <a:endParaRPr lang="en-GB" dirty="0"/>
          </a:p>
          <a:p>
            <a:pPr lvl="1"/>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DNS latency</a:t>
            </a:r>
          </a:p>
        </p:txBody>
      </p:sp>
      <p:sp>
        <p:nvSpPr>
          <p:cNvPr id="3" name="Content Placeholder 2"/>
          <p:cNvSpPr>
            <a:spLocks noGrp="1"/>
          </p:cNvSpPr>
          <p:nvPr>
            <p:ph idx="1"/>
          </p:nvPr>
        </p:nvSpPr>
        <p:spPr/>
        <p:txBody>
          <a:bodyPr/>
          <a:lstStyle/>
          <a:p>
            <a:pPr lvl="1"/>
            <a:r>
              <a:rPr lang="en-GB" dirty="0"/>
              <a:t>Complex webpages need multiple DNS lookups – each one introduces a delay </a:t>
            </a:r>
          </a:p>
          <a:p>
            <a:pPr lvl="1"/>
            <a:r>
              <a:rPr lang="en-GB" dirty="0"/>
              <a:t>There are two components to DNS latency:</a:t>
            </a:r>
          </a:p>
          <a:p>
            <a:pPr lvl="2"/>
            <a:r>
              <a:rPr lang="en-GB" dirty="0">
                <a:solidFill>
                  <a:srgbClr val="FF0000"/>
                </a:solidFill>
              </a:rPr>
              <a:t>Between client and DNS resolving server </a:t>
            </a:r>
            <a:r>
              <a:rPr lang="en-GB" dirty="0"/>
              <a:t>– usually due to round trip time in network </a:t>
            </a:r>
            <a:r>
              <a:rPr lang="en-GB" dirty="0" err="1"/>
              <a:t>etc</a:t>
            </a:r>
            <a:endParaRPr lang="en-GB" dirty="0"/>
          </a:p>
          <a:p>
            <a:pPr lvl="2"/>
            <a:r>
              <a:rPr lang="en-GB" dirty="0">
                <a:solidFill>
                  <a:srgbClr val="FF0000"/>
                </a:solidFill>
              </a:rPr>
              <a:t>Between resolving servers</a:t>
            </a:r>
          </a:p>
          <a:p>
            <a:pPr lvl="3"/>
            <a:r>
              <a:rPr lang="en-GB" dirty="0"/>
              <a:t>– cache misses  require further recursive queries to other </a:t>
            </a:r>
            <a:r>
              <a:rPr lang="en-GB" dirty="0" err="1"/>
              <a:t>nameservers</a:t>
            </a:r>
            <a:r>
              <a:rPr lang="en-GB" dirty="0"/>
              <a:t> and can cause considerable latency as more </a:t>
            </a:r>
            <a:r>
              <a:rPr lang="en-GB" dirty="0" err="1"/>
              <a:t>authoritive</a:t>
            </a:r>
            <a:r>
              <a:rPr lang="en-GB" dirty="0"/>
              <a:t> </a:t>
            </a:r>
            <a:r>
              <a:rPr lang="en-GB" dirty="0" err="1"/>
              <a:t>nameservers</a:t>
            </a:r>
            <a:r>
              <a:rPr lang="en-GB" dirty="0"/>
              <a:t> may be geographically far away</a:t>
            </a:r>
          </a:p>
          <a:p>
            <a:pPr lvl="3"/>
            <a:r>
              <a:rPr lang="en-GB" dirty="0"/>
              <a:t>Under-</a:t>
            </a:r>
            <a:r>
              <a:rPr lang="en-GB" dirty="0" err="1"/>
              <a:t>provissioning</a:t>
            </a:r>
            <a:r>
              <a:rPr lang="en-GB" dirty="0"/>
              <a:t> – if servers cannot cope they will queue or may even drop requests and require retransmissions</a:t>
            </a:r>
          </a:p>
          <a:p>
            <a:pPr lvl="3"/>
            <a:r>
              <a:rPr lang="en-GB" dirty="0"/>
              <a:t>Malicious traffic – DNS traffic can slow down responses even they cannot overwhelm the server</a:t>
            </a:r>
          </a:p>
        </p:txBody>
      </p:sp>
    </p:spTree>
    <p:extLst>
      <p:ext uri="{BB962C8B-B14F-4D97-AF65-F5344CB8AC3E}">
        <p14:creationId xmlns:p14="http://schemas.microsoft.com/office/powerpoint/2010/main" val="2333655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developers.google.com/speed/public-dns/images/dns.png"/>
          <p:cNvPicPr>
            <a:picLocks noChangeAspect="1" noChangeArrowheads="1"/>
          </p:cNvPicPr>
          <p:nvPr/>
        </p:nvPicPr>
        <p:blipFill>
          <a:blip r:embed="rId2" cstate="print"/>
          <a:srcRect/>
          <a:stretch>
            <a:fillRect/>
          </a:stretch>
        </p:blipFill>
        <p:spPr bwMode="auto">
          <a:xfrm>
            <a:off x="2987824" y="188640"/>
            <a:ext cx="5162550" cy="6669360"/>
          </a:xfrm>
          <a:prstGeom prst="rect">
            <a:avLst/>
          </a:prstGeom>
          <a:noFill/>
        </p:spPr>
      </p:pic>
      <p:sp>
        <p:nvSpPr>
          <p:cNvPr id="5" name="Rectangle 4"/>
          <p:cNvSpPr/>
          <p:nvPr/>
        </p:nvSpPr>
        <p:spPr>
          <a:xfrm>
            <a:off x="683568" y="692696"/>
            <a:ext cx="2520280" cy="2031325"/>
          </a:xfrm>
          <a:prstGeom prst="rect">
            <a:avLst/>
          </a:prstGeom>
        </p:spPr>
        <p:txBody>
          <a:bodyPr wrap="square">
            <a:spAutoFit/>
          </a:bodyPr>
          <a:lstStyle/>
          <a:p>
            <a:r>
              <a:rPr lang="en-GB" dirty="0"/>
              <a:t>the following screen shot shows the timings reported by the </a:t>
            </a:r>
            <a:r>
              <a:rPr lang="en-GB" dirty="0">
                <a:hlinkClick r:id="rId3"/>
              </a:rPr>
              <a:t>Page Speed</a:t>
            </a:r>
            <a:r>
              <a:rPr lang="en-GB" dirty="0"/>
              <a:t> web performance measurement tool. </a:t>
            </a:r>
          </a:p>
          <a:p>
            <a:r>
              <a:rPr lang="en-GB" dirty="0"/>
              <a:t>the black segments indicate DNS lookups</a:t>
            </a:r>
          </a:p>
        </p:txBody>
      </p:sp>
      <p:sp>
        <p:nvSpPr>
          <p:cNvPr id="7" name="TextBox 6"/>
          <p:cNvSpPr txBox="1"/>
          <p:nvPr/>
        </p:nvSpPr>
        <p:spPr>
          <a:xfrm>
            <a:off x="971600" y="3933056"/>
            <a:ext cx="1695144" cy="2031325"/>
          </a:xfrm>
          <a:prstGeom prst="rect">
            <a:avLst/>
          </a:prstGeom>
          <a:noFill/>
        </p:spPr>
        <p:txBody>
          <a:bodyPr wrap="none" rtlCol="0">
            <a:spAutoFit/>
          </a:bodyPr>
          <a:lstStyle/>
          <a:p>
            <a:r>
              <a:rPr lang="en-GB" dirty="0"/>
              <a:t>11 </a:t>
            </a:r>
            <a:r>
              <a:rPr lang="en-GB" dirty="0" err="1"/>
              <a:t>secs</a:t>
            </a:r>
            <a:r>
              <a:rPr lang="en-GB" dirty="0"/>
              <a:t> to load</a:t>
            </a:r>
          </a:p>
          <a:p>
            <a:endParaRPr lang="en-GB" dirty="0"/>
          </a:p>
          <a:p>
            <a:r>
              <a:rPr lang="en-GB" dirty="0"/>
              <a:t>13 lookups</a:t>
            </a:r>
          </a:p>
          <a:p>
            <a:endParaRPr lang="en-GB" dirty="0"/>
          </a:p>
          <a:p>
            <a:r>
              <a:rPr lang="en-GB" dirty="0"/>
              <a:t>Some in parallel</a:t>
            </a:r>
          </a:p>
          <a:p>
            <a:endParaRPr lang="en-GB" dirty="0"/>
          </a:p>
          <a:p>
            <a:r>
              <a:rPr lang="en-GB" dirty="0"/>
              <a:t>5 serial look ups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Weaknesses in the DNS system</a:t>
            </a:r>
          </a:p>
        </p:txBody>
      </p:sp>
      <p:sp>
        <p:nvSpPr>
          <p:cNvPr id="3" name="Content Placeholder 2"/>
          <p:cNvSpPr>
            <a:spLocks noGrp="1"/>
          </p:cNvSpPr>
          <p:nvPr>
            <p:ph idx="1"/>
          </p:nvPr>
        </p:nvSpPr>
        <p:spPr/>
        <p:txBody>
          <a:bodyPr>
            <a:normAutofit/>
          </a:bodyPr>
          <a:lstStyle/>
          <a:p>
            <a:endParaRPr lang="en-GB" dirty="0"/>
          </a:p>
          <a:p>
            <a:r>
              <a:rPr lang="en-GB" dirty="0"/>
              <a:t>DNS queries and responses may be sent over UDP, </a:t>
            </a:r>
            <a:r>
              <a:rPr lang="en-GB" dirty="0">
                <a:solidFill>
                  <a:srgbClr val="0070C0"/>
                </a:solidFill>
              </a:rPr>
              <a:t>unencrypted and unsigned</a:t>
            </a:r>
          </a:p>
          <a:p>
            <a:pPr lvl="1"/>
            <a:r>
              <a:rPr lang="en-GB" dirty="0"/>
              <a:t>eavesdropping on sensitive DNS data</a:t>
            </a:r>
          </a:p>
          <a:p>
            <a:pPr lvl="1"/>
            <a:r>
              <a:rPr lang="en-GB" dirty="0"/>
              <a:t>queries or responses can be injected or modified, and will be treated as valid</a:t>
            </a:r>
          </a:p>
          <a:p>
            <a:r>
              <a:rPr lang="en-GB" dirty="0"/>
              <a:t>DNS responses contain additional information</a:t>
            </a:r>
          </a:p>
          <a:p>
            <a:pPr lvl="1"/>
            <a:r>
              <a:rPr lang="en-GB" dirty="0"/>
              <a:t>attacker may return the correct answer to a query, but include </a:t>
            </a:r>
            <a:r>
              <a:rPr lang="en-GB" dirty="0">
                <a:solidFill>
                  <a:srgbClr val="0070C0"/>
                </a:solidFill>
              </a:rPr>
              <a:t>spoofed authority or additional records</a:t>
            </a:r>
          </a:p>
        </p:txBody>
      </p:sp>
    </p:spTree>
    <p:extLst>
      <p:ext uri="{BB962C8B-B14F-4D97-AF65-F5344CB8AC3E}">
        <p14:creationId xmlns:p14="http://schemas.microsoft.com/office/powerpoint/2010/main" val="3384479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DNS weaknesses  </a:t>
            </a:r>
          </a:p>
        </p:txBody>
      </p:sp>
      <p:sp>
        <p:nvSpPr>
          <p:cNvPr id="3" name="Content Placeholder 2"/>
          <p:cNvSpPr>
            <a:spLocks noGrp="1"/>
          </p:cNvSpPr>
          <p:nvPr>
            <p:ph idx="1"/>
          </p:nvPr>
        </p:nvSpPr>
        <p:spPr/>
        <p:txBody>
          <a:bodyPr/>
          <a:lstStyle/>
          <a:p>
            <a:r>
              <a:rPr lang="en-GB" dirty="0">
                <a:solidFill>
                  <a:srgbClr val="FF0000"/>
                </a:solidFill>
              </a:rPr>
              <a:t>subverting</a:t>
            </a:r>
            <a:r>
              <a:rPr lang="en-GB" dirty="0"/>
              <a:t> a DNS proxy, or a DNS server near the root of the DNS tree would also be an excellent attack</a:t>
            </a:r>
          </a:p>
          <a:p>
            <a:r>
              <a:rPr lang="en-GB" dirty="0"/>
              <a:t>DNS, like much of the Internet, is susceptible to DOS and </a:t>
            </a:r>
            <a:r>
              <a:rPr lang="en-GB" dirty="0">
                <a:solidFill>
                  <a:srgbClr val="FF0000"/>
                </a:solidFill>
              </a:rPr>
              <a:t>distributed DOS</a:t>
            </a:r>
          </a:p>
          <a:p>
            <a:r>
              <a:rPr lang="en-GB" dirty="0"/>
              <a:t>Finally, DNS allows a client to request </a:t>
            </a:r>
            <a:r>
              <a:rPr lang="en-GB" dirty="0">
                <a:solidFill>
                  <a:srgbClr val="FF0000"/>
                </a:solidFill>
              </a:rPr>
              <a:t>a full zone transfer </a:t>
            </a:r>
            <a:r>
              <a:rPr lang="en-GB" dirty="0"/>
              <a:t>from the zone's SOA (start of authority – zones </a:t>
            </a:r>
            <a:r>
              <a:rPr lang="en-GB" dirty="0" err="1"/>
              <a:t>authorative</a:t>
            </a:r>
            <a:r>
              <a:rPr lang="en-GB" dirty="0"/>
              <a:t> DNS) server). </a:t>
            </a:r>
          </a:p>
          <a:p>
            <a:r>
              <a:rPr lang="en-GB" dirty="0"/>
              <a:t>This allows an attacker to learn all sorts of useful information about the zone: names, IP addresses, aliases etc.</a:t>
            </a:r>
          </a:p>
          <a:p>
            <a:r>
              <a:rPr lang="en-GB" dirty="0"/>
              <a:t>Can be mitigated by only allowing zone transfers to certain IP addresses </a:t>
            </a:r>
          </a:p>
        </p:txBody>
      </p:sp>
    </p:spTree>
    <p:extLst>
      <p:ext uri="{BB962C8B-B14F-4D97-AF65-F5344CB8AC3E}">
        <p14:creationId xmlns:p14="http://schemas.microsoft.com/office/powerpoint/2010/main" val="1629711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DNS security</a:t>
            </a:r>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1556792"/>
            <a:ext cx="7248525"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323528" y="4741584"/>
            <a:ext cx="1872208" cy="738664"/>
          </a:xfrm>
          <a:prstGeom prst="rect">
            <a:avLst/>
          </a:prstGeom>
          <a:noFill/>
          <a:ln>
            <a:solidFill>
              <a:srgbClr val="FF0000"/>
            </a:solidFill>
          </a:ln>
        </p:spPr>
        <p:txBody>
          <a:bodyPr wrap="square" rtlCol="0">
            <a:spAutoFit/>
          </a:bodyPr>
          <a:lstStyle/>
          <a:p>
            <a:r>
              <a:rPr lang="en-GB" sz="1400" dirty="0"/>
              <a:t>Trojan horse attack will alter resolver and send you to spoof </a:t>
            </a:r>
            <a:r>
              <a:rPr lang="en-GB" sz="1400" dirty="0" err="1"/>
              <a:t>paypal</a:t>
            </a:r>
            <a:r>
              <a:rPr lang="en-GB" sz="1400" dirty="0"/>
              <a:t> </a:t>
            </a:r>
            <a:r>
              <a:rPr lang="en-GB" sz="1400" dirty="0" err="1"/>
              <a:t>etc</a:t>
            </a:r>
            <a:endParaRPr lang="en-GB" sz="1400" dirty="0"/>
          </a:p>
        </p:txBody>
      </p:sp>
      <p:cxnSp>
        <p:nvCxnSpPr>
          <p:cNvPr id="5" name="Straight Arrow Connector 4"/>
          <p:cNvCxnSpPr/>
          <p:nvPr/>
        </p:nvCxnSpPr>
        <p:spPr>
          <a:xfrm flipV="1">
            <a:off x="1043608" y="4293096"/>
            <a:ext cx="576064" cy="4484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771800" y="5110916"/>
            <a:ext cx="2016224" cy="954107"/>
          </a:xfrm>
          <a:prstGeom prst="rect">
            <a:avLst/>
          </a:prstGeom>
          <a:noFill/>
        </p:spPr>
        <p:txBody>
          <a:bodyPr wrap="square" rtlCol="0">
            <a:spAutoFit/>
          </a:bodyPr>
          <a:lstStyle/>
          <a:p>
            <a:r>
              <a:rPr lang="en-GB" sz="1400" dirty="0"/>
              <a:t>Overwhelm slave -   believe it is receiving a </a:t>
            </a:r>
            <a:r>
              <a:rPr lang="en-GB" sz="1400" dirty="0" err="1"/>
              <a:t>dns</a:t>
            </a:r>
            <a:r>
              <a:rPr lang="en-GB" sz="1400" dirty="0"/>
              <a:t> entry from </a:t>
            </a:r>
            <a:r>
              <a:rPr lang="en-GB" sz="1400" dirty="0" err="1"/>
              <a:t>authorative</a:t>
            </a:r>
            <a:r>
              <a:rPr lang="en-GB" sz="1400" dirty="0"/>
              <a:t> server </a:t>
            </a:r>
          </a:p>
        </p:txBody>
      </p:sp>
      <p:cxnSp>
        <p:nvCxnSpPr>
          <p:cNvPr id="8" name="Straight Arrow Connector 7"/>
          <p:cNvCxnSpPr/>
          <p:nvPr/>
        </p:nvCxnSpPr>
        <p:spPr>
          <a:xfrm flipH="1" flipV="1">
            <a:off x="2915816" y="4293096"/>
            <a:ext cx="504056" cy="8178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004049" y="4941168"/>
            <a:ext cx="2592288" cy="523220"/>
          </a:xfrm>
          <a:prstGeom prst="rect">
            <a:avLst/>
          </a:prstGeom>
          <a:noFill/>
        </p:spPr>
        <p:txBody>
          <a:bodyPr wrap="square" rtlCol="0">
            <a:spAutoFit/>
          </a:bodyPr>
          <a:lstStyle/>
          <a:p>
            <a:r>
              <a:rPr lang="en-GB" sz="1400" dirty="0"/>
              <a:t>Spoofing  of master IP address to inject false DNS entries</a:t>
            </a:r>
          </a:p>
        </p:txBody>
      </p:sp>
      <p:cxnSp>
        <p:nvCxnSpPr>
          <p:cNvPr id="11" name="Straight Arrow Connector 10"/>
          <p:cNvCxnSpPr/>
          <p:nvPr/>
        </p:nvCxnSpPr>
        <p:spPr>
          <a:xfrm flipH="1" flipV="1">
            <a:off x="5220072" y="4293096"/>
            <a:ext cx="504056" cy="6480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flipV="1">
            <a:off x="4067944" y="4221088"/>
            <a:ext cx="1152128" cy="6480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6084168" y="4293096"/>
            <a:ext cx="72008" cy="6480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1FB74FD-5F90-4D2C-ABC7-B3FDB7B78ECD}"/>
              </a:ext>
            </a:extLst>
          </p:cNvPr>
          <p:cNvSpPr txBox="1"/>
          <p:nvPr/>
        </p:nvSpPr>
        <p:spPr>
          <a:xfrm>
            <a:off x="1043608" y="1417638"/>
            <a:ext cx="1566134" cy="369332"/>
          </a:xfrm>
          <a:prstGeom prst="rect">
            <a:avLst/>
          </a:prstGeom>
          <a:noFill/>
        </p:spPr>
        <p:txBody>
          <a:bodyPr wrap="none" rtlCol="0">
            <a:spAutoFit/>
          </a:bodyPr>
          <a:lstStyle/>
          <a:p>
            <a:r>
              <a:rPr lang="en-US" dirty="0"/>
              <a:t>Local OS on PC</a:t>
            </a:r>
            <a:endParaRPr lang="en-GB" dirty="0"/>
          </a:p>
        </p:txBody>
      </p:sp>
      <p:cxnSp>
        <p:nvCxnSpPr>
          <p:cNvPr id="10" name="Straight Arrow Connector 9">
            <a:extLst>
              <a:ext uri="{FF2B5EF4-FFF2-40B4-BE49-F238E27FC236}">
                <a16:creationId xmlns:a16="http://schemas.microsoft.com/office/drawing/2014/main" id="{CDE59A6D-273A-4AAE-8690-987FEEAA6EDA}"/>
              </a:ext>
            </a:extLst>
          </p:cNvPr>
          <p:cNvCxnSpPr/>
          <p:nvPr/>
        </p:nvCxnSpPr>
        <p:spPr>
          <a:xfrm flipH="1">
            <a:off x="1427931" y="1844824"/>
            <a:ext cx="191741" cy="72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C0906A0-5D32-45E9-80BB-A61741147D6A}"/>
              </a:ext>
            </a:extLst>
          </p:cNvPr>
          <p:cNvSpPr txBox="1"/>
          <p:nvPr/>
        </p:nvSpPr>
        <p:spPr>
          <a:xfrm>
            <a:off x="1931988" y="1844824"/>
            <a:ext cx="1579728" cy="369332"/>
          </a:xfrm>
          <a:prstGeom prst="rect">
            <a:avLst/>
          </a:prstGeom>
          <a:noFill/>
        </p:spPr>
        <p:txBody>
          <a:bodyPr wrap="none" rtlCol="0">
            <a:spAutoFit/>
          </a:bodyPr>
          <a:lstStyle/>
          <a:p>
            <a:r>
              <a:rPr lang="en-US" dirty="0"/>
              <a:t>DNS Db Device</a:t>
            </a:r>
            <a:endParaRPr lang="en-GB" dirty="0"/>
          </a:p>
        </p:txBody>
      </p:sp>
      <p:cxnSp>
        <p:nvCxnSpPr>
          <p:cNvPr id="16" name="Straight Arrow Connector 15">
            <a:extLst>
              <a:ext uri="{FF2B5EF4-FFF2-40B4-BE49-F238E27FC236}">
                <a16:creationId xmlns:a16="http://schemas.microsoft.com/office/drawing/2014/main" id="{6412EE9D-62A1-4D67-819E-760FBC2C1043}"/>
              </a:ext>
            </a:extLst>
          </p:cNvPr>
          <p:cNvCxnSpPr/>
          <p:nvPr/>
        </p:nvCxnSpPr>
        <p:spPr>
          <a:xfrm>
            <a:off x="2771800" y="2204864"/>
            <a:ext cx="144016" cy="36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7248642-9E73-4BB0-AEC8-471F3201F489}"/>
              </a:ext>
            </a:extLst>
          </p:cNvPr>
          <p:cNvSpPr txBox="1"/>
          <p:nvPr/>
        </p:nvSpPr>
        <p:spPr>
          <a:xfrm>
            <a:off x="4087291" y="681336"/>
            <a:ext cx="2296141" cy="369332"/>
          </a:xfrm>
          <a:prstGeom prst="rect">
            <a:avLst/>
          </a:prstGeom>
          <a:noFill/>
        </p:spPr>
        <p:txBody>
          <a:bodyPr wrap="none" rtlCol="0">
            <a:spAutoFit/>
          </a:bodyPr>
          <a:lstStyle/>
          <a:p>
            <a:r>
              <a:rPr lang="en-US" dirty="0" err="1"/>
              <a:t>Authorative</a:t>
            </a:r>
            <a:r>
              <a:rPr lang="en-US" dirty="0"/>
              <a:t> DNS sever</a:t>
            </a:r>
            <a:endParaRPr lang="en-GB" dirty="0"/>
          </a:p>
        </p:txBody>
      </p:sp>
      <p:cxnSp>
        <p:nvCxnSpPr>
          <p:cNvPr id="19" name="Straight Arrow Connector 18">
            <a:extLst>
              <a:ext uri="{FF2B5EF4-FFF2-40B4-BE49-F238E27FC236}">
                <a16:creationId xmlns:a16="http://schemas.microsoft.com/office/drawing/2014/main" id="{C2FB839F-D0CF-4E76-A5E0-96354436E872}"/>
              </a:ext>
            </a:extLst>
          </p:cNvPr>
          <p:cNvCxnSpPr/>
          <p:nvPr/>
        </p:nvCxnSpPr>
        <p:spPr>
          <a:xfrm flipH="1">
            <a:off x="4644008" y="1050668"/>
            <a:ext cx="360041" cy="978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83821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4EA3DE3-7DF1-4D03-958F-B2441D6D037B}"/>
              </a:ext>
            </a:extLst>
          </p:cNvPr>
          <p:cNvSpPr>
            <a:spLocks noGrp="1"/>
          </p:cNvSpPr>
          <p:nvPr>
            <p:ph type="title"/>
          </p:nvPr>
        </p:nvSpPr>
        <p:spPr/>
        <p:txBody>
          <a:bodyPr/>
          <a:lstStyle/>
          <a:p>
            <a:r>
              <a:rPr lang="en-GB" dirty="0"/>
              <a:t>DNS poisoning attack</a:t>
            </a:r>
          </a:p>
        </p:txBody>
      </p:sp>
      <p:sp>
        <p:nvSpPr>
          <p:cNvPr id="3" name="Content Placeholder 2"/>
          <p:cNvSpPr>
            <a:spLocks noGrp="1"/>
          </p:cNvSpPr>
          <p:nvPr>
            <p:ph idx="1"/>
          </p:nvPr>
        </p:nvSpPr>
        <p:spPr>
          <a:xfrm>
            <a:off x="457200" y="1268760"/>
            <a:ext cx="7620000" cy="4800600"/>
          </a:xfrm>
        </p:spPr>
        <p:txBody>
          <a:bodyPr>
            <a:normAutofit/>
          </a:bodyPr>
          <a:lstStyle/>
          <a:p>
            <a:r>
              <a:rPr lang="en-GB" dirty="0"/>
              <a:t>Without eavesdropping, an attacker can still spoof and poison a DNS server:</a:t>
            </a:r>
          </a:p>
          <a:p>
            <a:pPr lvl="1"/>
            <a:r>
              <a:rPr lang="en-GB" dirty="0"/>
              <a:t>Attacker queries the server for a name that it doesn't know</a:t>
            </a:r>
          </a:p>
          <a:p>
            <a:pPr lvl="1"/>
            <a:r>
              <a:rPr lang="en-GB" dirty="0"/>
              <a:t>Then attacker floods the server with faked responses with authoritative data for that name.</a:t>
            </a:r>
          </a:p>
          <a:p>
            <a:pPr lvl="1"/>
            <a:r>
              <a:rPr lang="en-GB" dirty="0"/>
              <a:t>Attacker has to guess the transaction ID for the response to be valid, but with only 32 bits, this is quickly done in 64K responses.</a:t>
            </a:r>
          </a:p>
          <a:p>
            <a:endParaRPr lang="en-GB" dirty="0"/>
          </a:p>
        </p:txBody>
      </p:sp>
      <p:pic>
        <p:nvPicPr>
          <p:cNvPr id="4" name="Picture 3">
            <a:extLst>
              <a:ext uri="{FF2B5EF4-FFF2-40B4-BE49-F238E27FC236}">
                <a16:creationId xmlns:a16="http://schemas.microsoft.com/office/drawing/2014/main" id="{2151B3EA-F1AF-43B5-B430-9A9B0C4F3A72}"/>
              </a:ext>
            </a:extLst>
          </p:cNvPr>
          <p:cNvPicPr>
            <a:picLocks noChangeAspect="1"/>
          </p:cNvPicPr>
          <p:nvPr/>
        </p:nvPicPr>
        <p:blipFill>
          <a:blip r:embed="rId2"/>
          <a:stretch>
            <a:fillRect/>
          </a:stretch>
        </p:blipFill>
        <p:spPr>
          <a:xfrm>
            <a:off x="2195736" y="4437112"/>
            <a:ext cx="3726960" cy="2016224"/>
          </a:xfrm>
          <a:prstGeom prst="rect">
            <a:avLst/>
          </a:prstGeom>
        </p:spPr>
      </p:pic>
    </p:spTree>
    <p:extLst>
      <p:ext uri="{BB962C8B-B14F-4D97-AF65-F5344CB8AC3E}">
        <p14:creationId xmlns:p14="http://schemas.microsoft.com/office/powerpoint/2010/main" val="1351729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800" dirty="0">
                <a:solidFill>
                  <a:srgbClr val="FF0000"/>
                </a:solidFill>
              </a:rPr>
              <a:t>REFLECTION ATTACK</a:t>
            </a:r>
            <a:endParaRPr lang="en-GB" dirty="0"/>
          </a:p>
        </p:txBody>
      </p:sp>
      <p:sp>
        <p:nvSpPr>
          <p:cNvPr id="3" name="Content Placeholder 2"/>
          <p:cNvSpPr>
            <a:spLocks noGrp="1"/>
          </p:cNvSpPr>
          <p:nvPr>
            <p:ph idx="1"/>
          </p:nvPr>
        </p:nvSpPr>
        <p:spPr>
          <a:xfrm>
            <a:off x="457200" y="1417638"/>
            <a:ext cx="7620000" cy="4800600"/>
          </a:xfrm>
        </p:spPr>
        <p:txBody>
          <a:bodyPr/>
          <a:lstStyle/>
          <a:p>
            <a:pPr lvl="1"/>
            <a:r>
              <a:rPr lang="en-GB" dirty="0"/>
              <a:t>Attacker sends packets to a known service on the intermediary with a spoofed source address of the actual target system </a:t>
            </a:r>
          </a:p>
          <a:p>
            <a:pPr lvl="1"/>
            <a:r>
              <a:rPr lang="en-GB" dirty="0"/>
              <a:t>When intermediary responds, the response is sent to the target </a:t>
            </a:r>
          </a:p>
          <a:p>
            <a:pPr lvl="1"/>
            <a:r>
              <a:rPr lang="en-GB" dirty="0"/>
              <a:t> “Reflects” the attack off the intermediary (reflector) </a:t>
            </a:r>
          </a:p>
          <a:p>
            <a:pPr lvl="1"/>
            <a:r>
              <a:rPr lang="en-GB" dirty="0"/>
              <a:t> Goal is to generate enough volumes of packets to flood the link to the target system without alerting the intermediary</a:t>
            </a:r>
            <a:endParaRPr lang="en-GB" dirty="0">
              <a:solidFill>
                <a:srgbClr val="FF0000"/>
              </a:solidFill>
            </a:endParaRPr>
          </a:p>
        </p:txBody>
      </p:sp>
      <p:pic>
        <p:nvPicPr>
          <p:cNvPr id="4" name="Picture 3">
            <a:extLst>
              <a:ext uri="{FF2B5EF4-FFF2-40B4-BE49-F238E27FC236}">
                <a16:creationId xmlns:a16="http://schemas.microsoft.com/office/drawing/2014/main" id="{A489F393-4CA8-444A-A4DF-1A1BE9F4D441}"/>
              </a:ext>
            </a:extLst>
          </p:cNvPr>
          <p:cNvPicPr>
            <a:picLocks noChangeAspect="1"/>
          </p:cNvPicPr>
          <p:nvPr/>
        </p:nvPicPr>
        <p:blipFill>
          <a:blip r:embed="rId2"/>
          <a:stretch>
            <a:fillRect/>
          </a:stretch>
        </p:blipFill>
        <p:spPr>
          <a:xfrm>
            <a:off x="1259632" y="3717032"/>
            <a:ext cx="5044762" cy="295986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a:solidFill>
                  <a:srgbClr val="FF0000"/>
                </a:solidFill>
              </a:rPr>
              <a:t>Amplification attack </a:t>
            </a:r>
            <a:endParaRPr lang="en-GB" dirty="0"/>
          </a:p>
        </p:txBody>
      </p:sp>
      <p:sp>
        <p:nvSpPr>
          <p:cNvPr id="6" name="Content Placeholder 5"/>
          <p:cNvSpPr>
            <a:spLocks noGrp="1"/>
          </p:cNvSpPr>
          <p:nvPr>
            <p:ph idx="1"/>
          </p:nvPr>
        </p:nvSpPr>
        <p:spPr/>
        <p:txBody>
          <a:bodyPr/>
          <a:lstStyle/>
          <a:p>
            <a:pPr marL="411480" lvl="1" indent="0">
              <a:buNone/>
            </a:pPr>
            <a:endParaRPr lang="en-GB" dirty="0"/>
          </a:p>
          <a:p>
            <a:pPr lvl="2"/>
            <a:r>
              <a:rPr lang="en-GB" dirty="0"/>
              <a:t>Variation of the reflection attack</a:t>
            </a:r>
          </a:p>
          <a:p>
            <a:pPr lvl="2"/>
            <a:r>
              <a:rPr lang="en-GB" dirty="0"/>
              <a:t>Use packet(s) directed at a legitimate DNS server as the intermediary system – a vulnerable DNS may allow a zone transfer</a:t>
            </a:r>
          </a:p>
          <a:p>
            <a:pPr lvl="2"/>
            <a:r>
              <a:rPr lang="en-GB" dirty="0"/>
              <a:t>Exploit DNS behaviour to convert a small request to a much larger response (amplification) – 60 bytes query </a:t>
            </a:r>
          </a:p>
          <a:p>
            <a:pPr lvl="2"/>
            <a:r>
              <a:rPr lang="en-GB" dirty="0"/>
              <a:t>512 bytes answer (8.5x) – RFC 2671 allows larger answers </a:t>
            </a:r>
          </a:p>
          <a:p>
            <a:pPr lvl="2"/>
            <a:r>
              <a:rPr lang="en-GB" dirty="0"/>
              <a:t>Answers larger than 4000 bytes possible (&gt;60x) </a:t>
            </a:r>
          </a:p>
          <a:p>
            <a:pPr lvl="2"/>
            <a:r>
              <a:rPr lang="en-GB" dirty="0"/>
              <a:t>Target is flooded with amplified response(s)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6">
                                            <p:txEl>
                                              <p:pRg st="3" end="3"/>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6">
                                            <p:txEl>
                                              <p:pRg st="5" end="5"/>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DNSSEC</a:t>
            </a:r>
          </a:p>
        </p:txBody>
      </p:sp>
      <p:sp>
        <p:nvSpPr>
          <p:cNvPr id="3" name="Content Placeholder 2"/>
          <p:cNvSpPr>
            <a:spLocks noGrp="1"/>
          </p:cNvSpPr>
          <p:nvPr>
            <p:ph idx="1"/>
          </p:nvPr>
        </p:nvSpPr>
        <p:spPr/>
        <p:txBody>
          <a:bodyPr/>
          <a:lstStyle/>
          <a:p>
            <a:r>
              <a:rPr lang="en-GB" dirty="0"/>
              <a:t> Guarantees – Authenticity of DNS answer origin – Integrity of reply</a:t>
            </a:r>
          </a:p>
          <a:p>
            <a:r>
              <a:rPr lang="en-GB" dirty="0"/>
              <a:t>Accomplishes this by signing DNS replies at each step of the way </a:t>
            </a:r>
          </a:p>
          <a:p>
            <a:pPr lvl="1"/>
            <a:r>
              <a:rPr lang="en-GB" dirty="0"/>
              <a:t>Uses public-key cryptography to sign responses </a:t>
            </a:r>
          </a:p>
          <a:p>
            <a:pPr lvl="1"/>
            <a:r>
              <a:rPr lang="en-GB" dirty="0"/>
              <a:t>DNSSEC does not provide – Confidentiality</a:t>
            </a:r>
          </a:p>
        </p:txBody>
      </p:sp>
      <p:sp>
        <p:nvSpPr>
          <p:cNvPr id="4" name="TextBox 3">
            <a:extLst>
              <a:ext uri="{FF2B5EF4-FFF2-40B4-BE49-F238E27FC236}">
                <a16:creationId xmlns:a16="http://schemas.microsoft.com/office/drawing/2014/main" id="{2A1D2C2E-38C8-1E52-0483-4D4F7180B564}"/>
              </a:ext>
            </a:extLst>
          </p:cNvPr>
          <p:cNvSpPr txBox="1"/>
          <p:nvPr/>
        </p:nvSpPr>
        <p:spPr>
          <a:xfrm>
            <a:off x="1691680" y="4725144"/>
            <a:ext cx="5656998" cy="369332"/>
          </a:xfrm>
          <a:prstGeom prst="rect">
            <a:avLst/>
          </a:prstGeom>
          <a:noFill/>
        </p:spPr>
        <p:txBody>
          <a:bodyPr wrap="none" rtlCol="0">
            <a:spAutoFit/>
          </a:bodyPr>
          <a:lstStyle/>
          <a:p>
            <a:r>
              <a:rPr lang="en-GB" dirty="0"/>
              <a:t>https://www.</a:t>
            </a:r>
            <a:r>
              <a:rPr lang="en-GB" dirty="0">
                <a:hlinkClick r:id="rId2"/>
              </a:rPr>
              <a:t>youtube</a:t>
            </a:r>
            <a:r>
              <a:rPr lang="en-GB" dirty="0"/>
              <a:t>.com/watch?v=Fk2oejzgSVQ&amp;t=114s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TM10001115[[fn=Parcel]]</Template>
  <TotalTime>71495</TotalTime>
  <Words>3135</Words>
  <Application>Microsoft Office PowerPoint</Application>
  <PresentationFormat>On-screen Show (4:3)</PresentationFormat>
  <Paragraphs>350</Paragraphs>
  <Slides>32</Slides>
  <Notes>4</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-apple-system</vt:lpstr>
      <vt:lpstr>Arial</vt:lpstr>
      <vt:lpstr>Calibri</vt:lpstr>
      <vt:lpstr>Cambria</vt:lpstr>
      <vt:lpstr>Jost</vt:lpstr>
      <vt:lpstr>Adjacency</vt:lpstr>
      <vt:lpstr>Systems </vt:lpstr>
      <vt:lpstr>Objectives</vt:lpstr>
      <vt:lpstr>DHCP</vt:lpstr>
      <vt:lpstr>DHCP – Available addresses</vt:lpstr>
      <vt:lpstr>DORA   -   Discover</vt:lpstr>
      <vt:lpstr>PowerPoint Presentation</vt:lpstr>
      <vt:lpstr>DORA   -  Offer</vt:lpstr>
      <vt:lpstr>PowerPoint Presentation</vt:lpstr>
      <vt:lpstr>DORA   - Request</vt:lpstr>
      <vt:lpstr>DORA - Acknowledgment</vt:lpstr>
      <vt:lpstr>Addresses to troubleshoot</vt:lpstr>
      <vt:lpstr>Domain Namespace System </vt:lpstr>
      <vt:lpstr>Domain Name Servers</vt:lpstr>
      <vt:lpstr>Types of DNS resolvers</vt:lpstr>
      <vt:lpstr>PowerPoint Presentation</vt:lpstr>
      <vt:lpstr>PowerPoint Presentation</vt:lpstr>
      <vt:lpstr>DNS Caching</vt:lpstr>
      <vt:lpstr>DIRECTING WEB CLIENTS TO REPLICAS</vt:lpstr>
      <vt:lpstr>Zones</vt:lpstr>
      <vt:lpstr>Zone transfer</vt:lpstr>
      <vt:lpstr>Architecture</vt:lpstr>
      <vt:lpstr>DNS proxy</vt:lpstr>
      <vt:lpstr>Free and Public  DNS</vt:lpstr>
      <vt:lpstr>DNS latency</vt:lpstr>
      <vt:lpstr>PowerPoint Presentation</vt:lpstr>
      <vt:lpstr>Weaknesses in the DNS system</vt:lpstr>
      <vt:lpstr>DNS weaknesses  </vt:lpstr>
      <vt:lpstr>DNS security</vt:lpstr>
      <vt:lpstr>DNS poisoning attack</vt:lpstr>
      <vt:lpstr>REFLECTION ATTACK</vt:lpstr>
      <vt:lpstr>Amplification attack </vt:lpstr>
      <vt:lpstr>DNSSEC</vt:lpstr>
    </vt:vector>
  </TitlesOfParts>
  <Company>University of Wolverhampton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Servers</dc:title>
  <dc:creator>Coulson, Ian M. (Dr)</dc:creator>
  <cp:lastModifiedBy>Coulson, Ian M. (Dr)</cp:lastModifiedBy>
  <cp:revision>127</cp:revision>
  <dcterms:created xsi:type="dcterms:W3CDTF">2014-07-28T13:09:47Z</dcterms:created>
  <dcterms:modified xsi:type="dcterms:W3CDTF">2025-02-20T09:54:14Z</dcterms:modified>
</cp:coreProperties>
</file>