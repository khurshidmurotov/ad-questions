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9.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60" r:id="rId2"/>
    <p:sldId id="289" r:id="rId3"/>
    <p:sldId id="281" r:id="rId4"/>
    <p:sldId id="282" r:id="rId5"/>
    <p:sldId id="283" r:id="rId6"/>
    <p:sldId id="284" r:id="rId7"/>
    <p:sldId id="285" r:id="rId8"/>
    <p:sldId id="286"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306" r:id="rId22"/>
    <p:sldId id="273" r:id="rId23"/>
    <p:sldId id="274" r:id="rId24"/>
    <p:sldId id="294" r:id="rId25"/>
    <p:sldId id="275" r:id="rId26"/>
    <p:sldId id="290" r:id="rId27"/>
    <p:sldId id="291" r:id="rId28"/>
    <p:sldId id="292" r:id="rId29"/>
    <p:sldId id="277" r:id="rId30"/>
    <p:sldId id="293" r:id="rId31"/>
    <p:sldId id="295" r:id="rId32"/>
    <p:sldId id="296" r:id="rId33"/>
    <p:sldId id="298" r:id="rId34"/>
    <p:sldId id="299" r:id="rId35"/>
    <p:sldId id="300" r:id="rId36"/>
    <p:sldId id="297" r:id="rId37"/>
    <p:sldId id="301" r:id="rId38"/>
    <p:sldId id="302" r:id="rId39"/>
    <p:sldId id="303" r:id="rId40"/>
    <p:sldId id="304" r:id="rId41"/>
    <p:sldId id="278" r:id="rId42"/>
    <p:sldId id="279" r:id="rId43"/>
    <p:sldId id="305" r:id="rId44"/>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814"/>
    <a:srgbClr val="FACB18"/>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B89DA-9B68-4099-9812-C2CE59EB82AF}" v="232" dt="2025-02-06T09:45:23.2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07" autoAdjust="0"/>
    <p:restoredTop sz="70743" autoAdjust="0"/>
  </p:normalViewPr>
  <p:slideViewPr>
    <p:cSldViewPr>
      <p:cViewPr varScale="1">
        <p:scale>
          <a:sx n="78" d="100"/>
          <a:sy n="78" d="100"/>
        </p:scale>
        <p:origin x="2172"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ulson, Ian M. (Dr)" userId="a8d3dc85-8701-425a-87df-1f27458d7dd7" providerId="ADAL" clId="{C6AB89DA-9B68-4099-9812-C2CE59EB82AF}"/>
    <pc:docChg chg="undo custSel modSld">
      <pc:chgData name="Coulson, Ian M. (Dr)" userId="a8d3dc85-8701-425a-87df-1f27458d7dd7" providerId="ADAL" clId="{C6AB89DA-9B68-4099-9812-C2CE59EB82AF}" dt="2025-02-06T09:47:37.418" v="1177" actId="729"/>
      <pc:docMkLst>
        <pc:docMk/>
      </pc:docMkLst>
      <pc:sldChg chg="modSp mod">
        <pc:chgData name="Coulson, Ian M. (Dr)" userId="a8d3dc85-8701-425a-87df-1f27458d7dd7" providerId="ADAL" clId="{C6AB89DA-9B68-4099-9812-C2CE59EB82AF}" dt="2025-02-05T14:40:53.507" v="49" actId="1076"/>
        <pc:sldMkLst>
          <pc:docMk/>
          <pc:sldMk cId="954275033" sldId="262"/>
        </pc:sldMkLst>
        <pc:spChg chg="mod">
          <ac:chgData name="Coulson, Ian M. (Dr)" userId="a8d3dc85-8701-425a-87df-1f27458d7dd7" providerId="ADAL" clId="{C6AB89DA-9B68-4099-9812-C2CE59EB82AF}" dt="2025-02-05T14:40:53.507" v="49" actId="1076"/>
          <ac:spMkLst>
            <pc:docMk/>
            <pc:sldMk cId="954275033" sldId="262"/>
            <ac:spMk id="5" creationId="{69095558-2FAF-491D-B5FA-86655B0DCF89}"/>
          </ac:spMkLst>
        </pc:spChg>
      </pc:sldChg>
      <pc:sldChg chg="addSp delSp modSp mod">
        <pc:chgData name="Coulson, Ian M. (Dr)" userId="a8d3dc85-8701-425a-87df-1f27458d7dd7" providerId="ADAL" clId="{C6AB89DA-9B68-4099-9812-C2CE59EB82AF}" dt="2025-02-05T14:43:27.320" v="156"/>
        <pc:sldMkLst>
          <pc:docMk/>
          <pc:sldMk cId="568944476" sldId="263"/>
        </pc:sldMkLst>
        <pc:spChg chg="mod">
          <ac:chgData name="Coulson, Ian M. (Dr)" userId="a8d3dc85-8701-425a-87df-1f27458d7dd7" providerId="ADAL" clId="{C6AB89DA-9B68-4099-9812-C2CE59EB82AF}" dt="2025-02-05T14:43:21.020" v="154" actId="14"/>
          <ac:spMkLst>
            <pc:docMk/>
            <pc:sldMk cId="568944476" sldId="263"/>
            <ac:spMk id="3" creationId="{BF5DC122-3F6B-4D5F-AC55-349C491D350D}"/>
          </ac:spMkLst>
        </pc:spChg>
        <pc:spChg chg="add del mod">
          <ac:chgData name="Coulson, Ian M. (Dr)" userId="a8d3dc85-8701-425a-87df-1f27458d7dd7" providerId="ADAL" clId="{C6AB89DA-9B68-4099-9812-C2CE59EB82AF}" dt="2025-02-05T14:43:27.320" v="156"/>
          <ac:spMkLst>
            <pc:docMk/>
            <pc:sldMk cId="568944476" sldId="263"/>
            <ac:spMk id="4" creationId="{CEDDD7D5-30B9-23CF-C41A-F1514B27FE9D}"/>
          </ac:spMkLst>
        </pc:spChg>
      </pc:sldChg>
      <pc:sldChg chg="modSp mod">
        <pc:chgData name="Coulson, Ian M. (Dr)" userId="a8d3dc85-8701-425a-87df-1f27458d7dd7" providerId="ADAL" clId="{C6AB89DA-9B68-4099-9812-C2CE59EB82AF}" dt="2025-02-05T14:47:56.422" v="363" actId="20577"/>
        <pc:sldMkLst>
          <pc:docMk/>
          <pc:sldMk cId="349037060" sldId="264"/>
        </pc:sldMkLst>
        <pc:spChg chg="mod">
          <ac:chgData name="Coulson, Ian M. (Dr)" userId="a8d3dc85-8701-425a-87df-1f27458d7dd7" providerId="ADAL" clId="{C6AB89DA-9B68-4099-9812-C2CE59EB82AF}" dt="2025-02-05T14:47:56.422" v="363" actId="20577"/>
          <ac:spMkLst>
            <pc:docMk/>
            <pc:sldMk cId="349037060" sldId="264"/>
            <ac:spMk id="4" creationId="{A40789E9-4443-4287-83BD-EFFEFEA7BC56}"/>
          </ac:spMkLst>
        </pc:spChg>
      </pc:sldChg>
      <pc:sldChg chg="addSp modSp mod">
        <pc:chgData name="Coulson, Ian M. (Dr)" userId="a8d3dc85-8701-425a-87df-1f27458d7dd7" providerId="ADAL" clId="{C6AB89DA-9B68-4099-9812-C2CE59EB82AF}" dt="2025-02-05T14:51:48.630" v="428" actId="20577"/>
        <pc:sldMkLst>
          <pc:docMk/>
          <pc:sldMk cId="1294028100" sldId="265"/>
        </pc:sldMkLst>
        <pc:spChg chg="add mod">
          <ac:chgData name="Coulson, Ian M. (Dr)" userId="a8d3dc85-8701-425a-87df-1f27458d7dd7" providerId="ADAL" clId="{C6AB89DA-9B68-4099-9812-C2CE59EB82AF}" dt="2025-02-05T14:51:21.782" v="412" actId="1076"/>
          <ac:spMkLst>
            <pc:docMk/>
            <pc:sldMk cId="1294028100" sldId="265"/>
            <ac:spMk id="4" creationId="{EDF040F2-BDE0-2F84-037B-87E7A28E6466}"/>
          </ac:spMkLst>
        </pc:spChg>
        <pc:spChg chg="add mod">
          <ac:chgData name="Coulson, Ian M. (Dr)" userId="a8d3dc85-8701-425a-87df-1f27458d7dd7" providerId="ADAL" clId="{C6AB89DA-9B68-4099-9812-C2CE59EB82AF}" dt="2025-02-05T14:51:42.422" v="422" actId="1076"/>
          <ac:spMkLst>
            <pc:docMk/>
            <pc:sldMk cId="1294028100" sldId="265"/>
            <ac:spMk id="5" creationId="{7EDE4F0C-D110-050A-3B1D-69133F77E87B}"/>
          </ac:spMkLst>
        </pc:spChg>
        <pc:spChg chg="add mod">
          <ac:chgData name="Coulson, Ian M. (Dr)" userId="a8d3dc85-8701-425a-87df-1f27458d7dd7" providerId="ADAL" clId="{C6AB89DA-9B68-4099-9812-C2CE59EB82AF}" dt="2025-02-05T14:51:48.630" v="428" actId="20577"/>
          <ac:spMkLst>
            <pc:docMk/>
            <pc:sldMk cId="1294028100" sldId="265"/>
            <ac:spMk id="6" creationId="{D4C1EBC8-E382-64E5-6E8C-BFB46F3637CE}"/>
          </ac:spMkLst>
        </pc:spChg>
      </pc:sldChg>
      <pc:sldChg chg="addSp modSp mod">
        <pc:chgData name="Coulson, Ian M. (Dr)" userId="a8d3dc85-8701-425a-87df-1f27458d7dd7" providerId="ADAL" clId="{C6AB89DA-9B68-4099-9812-C2CE59EB82AF}" dt="2025-02-05T14:53:02.631" v="472" actId="20577"/>
        <pc:sldMkLst>
          <pc:docMk/>
          <pc:sldMk cId="2888508329" sldId="266"/>
        </pc:sldMkLst>
        <pc:spChg chg="add mod">
          <ac:chgData name="Coulson, Ian M. (Dr)" userId="a8d3dc85-8701-425a-87df-1f27458d7dd7" providerId="ADAL" clId="{C6AB89DA-9B68-4099-9812-C2CE59EB82AF}" dt="2025-02-05T14:52:21.038" v="439" actId="1076"/>
          <ac:spMkLst>
            <pc:docMk/>
            <pc:sldMk cId="2888508329" sldId="266"/>
            <ac:spMk id="4" creationId="{AF7FFB83-C05B-C406-F963-A956B3809527}"/>
          </ac:spMkLst>
        </pc:spChg>
        <pc:spChg chg="add mod">
          <ac:chgData name="Coulson, Ian M. (Dr)" userId="a8d3dc85-8701-425a-87df-1f27458d7dd7" providerId="ADAL" clId="{C6AB89DA-9B68-4099-9812-C2CE59EB82AF}" dt="2025-02-05T14:52:36.607" v="452" actId="20577"/>
          <ac:spMkLst>
            <pc:docMk/>
            <pc:sldMk cId="2888508329" sldId="266"/>
            <ac:spMk id="5" creationId="{5611AB8E-3929-A63B-6DC4-A4A53227B03B}"/>
          </ac:spMkLst>
        </pc:spChg>
        <pc:spChg chg="add mod">
          <ac:chgData name="Coulson, Ian M. (Dr)" userId="a8d3dc85-8701-425a-87df-1f27458d7dd7" providerId="ADAL" clId="{C6AB89DA-9B68-4099-9812-C2CE59EB82AF}" dt="2025-02-05T14:53:02.631" v="472" actId="20577"/>
          <ac:spMkLst>
            <pc:docMk/>
            <pc:sldMk cId="2888508329" sldId="266"/>
            <ac:spMk id="6" creationId="{B23E8FAD-381D-9073-E35D-34E02E6F4135}"/>
          </ac:spMkLst>
        </pc:spChg>
      </pc:sldChg>
      <pc:sldChg chg="modSp mod">
        <pc:chgData name="Coulson, Ian M. (Dr)" userId="a8d3dc85-8701-425a-87df-1f27458d7dd7" providerId="ADAL" clId="{C6AB89DA-9B68-4099-9812-C2CE59EB82AF}" dt="2025-02-05T15:00:50.764" v="682" actId="6549"/>
        <pc:sldMkLst>
          <pc:docMk/>
          <pc:sldMk cId="1046571665" sldId="269"/>
        </pc:sldMkLst>
        <pc:spChg chg="mod">
          <ac:chgData name="Coulson, Ian M. (Dr)" userId="a8d3dc85-8701-425a-87df-1f27458d7dd7" providerId="ADAL" clId="{C6AB89DA-9B68-4099-9812-C2CE59EB82AF}" dt="2025-02-05T15:00:50.764" v="682" actId="6549"/>
          <ac:spMkLst>
            <pc:docMk/>
            <pc:sldMk cId="1046571665" sldId="269"/>
            <ac:spMk id="3" creationId="{00000000-0000-0000-0000-000000000000}"/>
          </ac:spMkLst>
        </pc:spChg>
      </pc:sldChg>
      <pc:sldChg chg="modSp mod">
        <pc:chgData name="Coulson, Ian M. (Dr)" userId="a8d3dc85-8701-425a-87df-1f27458d7dd7" providerId="ADAL" clId="{C6AB89DA-9B68-4099-9812-C2CE59EB82AF}" dt="2025-02-05T15:04:01.291" v="700" actId="20577"/>
        <pc:sldMkLst>
          <pc:docMk/>
          <pc:sldMk cId="438769002" sldId="270"/>
        </pc:sldMkLst>
        <pc:spChg chg="mod">
          <ac:chgData name="Coulson, Ian M. (Dr)" userId="a8d3dc85-8701-425a-87df-1f27458d7dd7" providerId="ADAL" clId="{C6AB89DA-9B68-4099-9812-C2CE59EB82AF}" dt="2025-02-05T15:04:01.291" v="700" actId="20577"/>
          <ac:spMkLst>
            <pc:docMk/>
            <pc:sldMk cId="438769002" sldId="270"/>
            <ac:spMk id="3" creationId="{338A10C4-D5BA-4933-ACCF-435B9755C657}"/>
          </ac:spMkLst>
        </pc:spChg>
      </pc:sldChg>
      <pc:sldChg chg="modSp mod">
        <pc:chgData name="Coulson, Ian M. (Dr)" userId="a8d3dc85-8701-425a-87df-1f27458d7dd7" providerId="ADAL" clId="{C6AB89DA-9B68-4099-9812-C2CE59EB82AF}" dt="2025-02-05T15:06:20.827" v="789" actId="20577"/>
        <pc:sldMkLst>
          <pc:docMk/>
          <pc:sldMk cId="1584491629" sldId="271"/>
        </pc:sldMkLst>
        <pc:graphicFrameChg chg="modGraphic">
          <ac:chgData name="Coulson, Ian M. (Dr)" userId="a8d3dc85-8701-425a-87df-1f27458d7dd7" providerId="ADAL" clId="{C6AB89DA-9B68-4099-9812-C2CE59EB82AF}" dt="2025-02-05T15:06:20.827" v="789" actId="20577"/>
          <ac:graphicFrameMkLst>
            <pc:docMk/>
            <pc:sldMk cId="1584491629" sldId="271"/>
            <ac:graphicFrameMk id="4" creationId="{D071642C-7343-40F4-8586-0ABE81D44DA0}"/>
          </ac:graphicFrameMkLst>
        </pc:graphicFrameChg>
      </pc:sldChg>
      <pc:sldChg chg="modSp mod">
        <pc:chgData name="Coulson, Ian M. (Dr)" userId="a8d3dc85-8701-425a-87df-1f27458d7dd7" providerId="ADAL" clId="{C6AB89DA-9B68-4099-9812-C2CE59EB82AF}" dt="2025-02-05T15:08:50.636" v="813" actId="20577"/>
        <pc:sldMkLst>
          <pc:docMk/>
          <pc:sldMk cId="1122909730" sldId="272"/>
        </pc:sldMkLst>
        <pc:spChg chg="mod">
          <ac:chgData name="Coulson, Ian M. (Dr)" userId="a8d3dc85-8701-425a-87df-1f27458d7dd7" providerId="ADAL" clId="{C6AB89DA-9B68-4099-9812-C2CE59EB82AF}" dt="2025-02-05T15:08:50.636" v="813" actId="20577"/>
          <ac:spMkLst>
            <pc:docMk/>
            <pc:sldMk cId="1122909730" sldId="272"/>
            <ac:spMk id="3" creationId="{3B4199F6-679B-4873-A9B1-48558067158E}"/>
          </ac:spMkLst>
        </pc:spChg>
      </pc:sldChg>
      <pc:sldChg chg="modSp mod">
        <pc:chgData name="Coulson, Ian M. (Dr)" userId="a8d3dc85-8701-425a-87df-1f27458d7dd7" providerId="ADAL" clId="{C6AB89DA-9B68-4099-9812-C2CE59EB82AF}" dt="2025-02-05T15:14:11.285" v="889" actId="404"/>
        <pc:sldMkLst>
          <pc:docMk/>
          <pc:sldMk cId="213154464" sldId="273"/>
        </pc:sldMkLst>
        <pc:spChg chg="mod">
          <ac:chgData name="Coulson, Ian M. (Dr)" userId="a8d3dc85-8701-425a-87df-1f27458d7dd7" providerId="ADAL" clId="{C6AB89DA-9B68-4099-9812-C2CE59EB82AF}" dt="2025-02-05T15:14:11.285" v="889" actId="404"/>
          <ac:spMkLst>
            <pc:docMk/>
            <pc:sldMk cId="213154464" sldId="273"/>
            <ac:spMk id="3" creationId="{00000000-0000-0000-0000-000000000000}"/>
          </ac:spMkLst>
        </pc:spChg>
      </pc:sldChg>
      <pc:sldChg chg="addSp modSp mod">
        <pc:chgData name="Coulson, Ian M. (Dr)" userId="a8d3dc85-8701-425a-87df-1f27458d7dd7" providerId="ADAL" clId="{C6AB89DA-9B68-4099-9812-C2CE59EB82AF}" dt="2025-02-05T15:22:09.970" v="939" actId="14100"/>
        <pc:sldMkLst>
          <pc:docMk/>
          <pc:sldMk cId="3488693193" sldId="274"/>
        </pc:sldMkLst>
        <pc:spChg chg="mod">
          <ac:chgData name="Coulson, Ian M. (Dr)" userId="a8d3dc85-8701-425a-87df-1f27458d7dd7" providerId="ADAL" clId="{C6AB89DA-9B68-4099-9812-C2CE59EB82AF}" dt="2025-02-05T15:16:20.322" v="890" actId="207"/>
          <ac:spMkLst>
            <pc:docMk/>
            <pc:sldMk cId="3488693193" sldId="274"/>
            <ac:spMk id="3" creationId="{00000000-0000-0000-0000-000000000000}"/>
          </ac:spMkLst>
        </pc:spChg>
        <pc:spChg chg="add mod">
          <ac:chgData name="Coulson, Ian M. (Dr)" userId="a8d3dc85-8701-425a-87df-1f27458d7dd7" providerId="ADAL" clId="{C6AB89DA-9B68-4099-9812-C2CE59EB82AF}" dt="2025-02-05T15:20:51.694" v="925" actId="207"/>
          <ac:spMkLst>
            <pc:docMk/>
            <pc:sldMk cId="3488693193" sldId="274"/>
            <ac:spMk id="6" creationId="{32E07F91-7AF9-6302-B0AA-0C76400994EB}"/>
          </ac:spMkLst>
        </pc:spChg>
        <pc:cxnChg chg="add mod">
          <ac:chgData name="Coulson, Ian M. (Dr)" userId="a8d3dc85-8701-425a-87df-1f27458d7dd7" providerId="ADAL" clId="{C6AB89DA-9B68-4099-9812-C2CE59EB82AF}" dt="2025-02-05T15:21:38.329" v="929" actId="14100"/>
          <ac:cxnSpMkLst>
            <pc:docMk/>
            <pc:sldMk cId="3488693193" sldId="274"/>
            <ac:cxnSpMk id="8" creationId="{7DEB7DFA-C620-8D12-D03C-70671A3C4254}"/>
          </ac:cxnSpMkLst>
        </pc:cxnChg>
        <pc:cxnChg chg="add mod">
          <ac:chgData name="Coulson, Ian M. (Dr)" userId="a8d3dc85-8701-425a-87df-1f27458d7dd7" providerId="ADAL" clId="{C6AB89DA-9B68-4099-9812-C2CE59EB82AF}" dt="2025-02-05T15:21:43.410" v="931" actId="14100"/>
          <ac:cxnSpMkLst>
            <pc:docMk/>
            <pc:sldMk cId="3488693193" sldId="274"/>
            <ac:cxnSpMk id="10" creationId="{62278B54-0D89-DE9D-7A49-E6F3931D9C57}"/>
          </ac:cxnSpMkLst>
        </pc:cxnChg>
        <pc:cxnChg chg="add mod">
          <ac:chgData name="Coulson, Ian M. (Dr)" userId="a8d3dc85-8701-425a-87df-1f27458d7dd7" providerId="ADAL" clId="{C6AB89DA-9B68-4099-9812-C2CE59EB82AF}" dt="2025-02-05T15:21:47.802" v="933" actId="14100"/>
          <ac:cxnSpMkLst>
            <pc:docMk/>
            <pc:sldMk cId="3488693193" sldId="274"/>
            <ac:cxnSpMk id="12" creationId="{7514A91E-73FC-392E-5663-5754E85900EC}"/>
          </ac:cxnSpMkLst>
        </pc:cxnChg>
        <pc:cxnChg chg="add mod">
          <ac:chgData name="Coulson, Ian M. (Dr)" userId="a8d3dc85-8701-425a-87df-1f27458d7dd7" providerId="ADAL" clId="{C6AB89DA-9B68-4099-9812-C2CE59EB82AF}" dt="2025-02-05T15:21:54.218" v="935" actId="14100"/>
          <ac:cxnSpMkLst>
            <pc:docMk/>
            <pc:sldMk cId="3488693193" sldId="274"/>
            <ac:cxnSpMk id="14" creationId="{C7122E42-199C-931C-E0C5-DD4ACDE2C3A7}"/>
          </ac:cxnSpMkLst>
        </pc:cxnChg>
        <pc:cxnChg chg="add mod">
          <ac:chgData name="Coulson, Ian M. (Dr)" userId="a8d3dc85-8701-425a-87df-1f27458d7dd7" providerId="ADAL" clId="{C6AB89DA-9B68-4099-9812-C2CE59EB82AF}" dt="2025-02-05T15:21:59.386" v="937" actId="14100"/>
          <ac:cxnSpMkLst>
            <pc:docMk/>
            <pc:sldMk cId="3488693193" sldId="274"/>
            <ac:cxnSpMk id="16" creationId="{22806816-D6C2-9895-EDC8-9ED091F46259}"/>
          </ac:cxnSpMkLst>
        </pc:cxnChg>
        <pc:cxnChg chg="add mod">
          <ac:chgData name="Coulson, Ian M. (Dr)" userId="a8d3dc85-8701-425a-87df-1f27458d7dd7" providerId="ADAL" clId="{C6AB89DA-9B68-4099-9812-C2CE59EB82AF}" dt="2025-02-05T15:22:09.970" v="939" actId="14100"/>
          <ac:cxnSpMkLst>
            <pc:docMk/>
            <pc:sldMk cId="3488693193" sldId="274"/>
            <ac:cxnSpMk id="18" creationId="{C825E085-352F-9DB3-D770-E93ED560DFC8}"/>
          </ac:cxnSpMkLst>
        </pc:cxnChg>
      </pc:sldChg>
      <pc:sldChg chg="modSp mod">
        <pc:chgData name="Coulson, Ian M. (Dr)" userId="a8d3dc85-8701-425a-87df-1f27458d7dd7" providerId="ADAL" clId="{C6AB89DA-9B68-4099-9812-C2CE59EB82AF}" dt="2025-02-05T15:40:37.990" v="1053" actId="1076"/>
        <pc:sldMkLst>
          <pc:docMk/>
          <pc:sldMk cId="256899998" sldId="277"/>
        </pc:sldMkLst>
        <pc:spChg chg="mod">
          <ac:chgData name="Coulson, Ian M. (Dr)" userId="a8d3dc85-8701-425a-87df-1f27458d7dd7" providerId="ADAL" clId="{C6AB89DA-9B68-4099-9812-C2CE59EB82AF}" dt="2025-02-05T15:40:37.990" v="1053" actId="1076"/>
          <ac:spMkLst>
            <pc:docMk/>
            <pc:sldMk cId="256899998" sldId="277"/>
            <ac:spMk id="3" creationId="{00000000-0000-0000-0000-000000000000}"/>
          </ac:spMkLst>
        </pc:spChg>
      </pc:sldChg>
      <pc:sldChg chg="addSp modSp mod">
        <pc:chgData name="Coulson, Ian M. (Dr)" userId="a8d3dc85-8701-425a-87df-1f27458d7dd7" providerId="ADAL" clId="{C6AB89DA-9B68-4099-9812-C2CE59EB82AF}" dt="2025-02-05T14:40:37.524" v="48" actId="33524"/>
        <pc:sldMkLst>
          <pc:docMk/>
          <pc:sldMk cId="103610867" sldId="281"/>
        </pc:sldMkLst>
        <pc:spChg chg="add mod">
          <ac:chgData name="Coulson, Ian M. (Dr)" userId="a8d3dc85-8701-425a-87df-1f27458d7dd7" providerId="ADAL" clId="{C6AB89DA-9B68-4099-9812-C2CE59EB82AF}" dt="2025-02-05T14:40:37.524" v="48" actId="33524"/>
          <ac:spMkLst>
            <pc:docMk/>
            <pc:sldMk cId="103610867" sldId="281"/>
            <ac:spMk id="3" creationId="{4F13B376-0D0A-3E84-9FA9-FB2C7F4FAD4A}"/>
          </ac:spMkLst>
        </pc:spChg>
      </pc:sldChg>
      <pc:sldChg chg="modSp mod">
        <pc:chgData name="Coulson, Ian M. (Dr)" userId="a8d3dc85-8701-425a-87df-1f27458d7dd7" providerId="ADAL" clId="{C6AB89DA-9B68-4099-9812-C2CE59EB82AF}" dt="2025-02-05T15:25:37.215" v="941" actId="207"/>
        <pc:sldMkLst>
          <pc:docMk/>
          <pc:sldMk cId="1337104925" sldId="290"/>
        </pc:sldMkLst>
        <pc:spChg chg="mod">
          <ac:chgData name="Coulson, Ian M. (Dr)" userId="a8d3dc85-8701-425a-87df-1f27458d7dd7" providerId="ADAL" clId="{C6AB89DA-9B68-4099-9812-C2CE59EB82AF}" dt="2025-02-05T15:25:37.215" v="941" actId="207"/>
          <ac:spMkLst>
            <pc:docMk/>
            <pc:sldMk cId="1337104925" sldId="290"/>
            <ac:spMk id="3" creationId="{00000000-0000-0000-0000-000000000000}"/>
          </ac:spMkLst>
        </pc:spChg>
      </pc:sldChg>
      <pc:sldChg chg="addSp modSp mod">
        <pc:chgData name="Coulson, Ian M. (Dr)" userId="a8d3dc85-8701-425a-87df-1f27458d7dd7" providerId="ADAL" clId="{C6AB89DA-9B68-4099-9812-C2CE59EB82AF}" dt="2025-02-06T09:46:13.728" v="1176" actId="207"/>
        <pc:sldMkLst>
          <pc:docMk/>
          <pc:sldMk cId="4185901814" sldId="291"/>
        </pc:sldMkLst>
        <pc:spChg chg="add mod">
          <ac:chgData name="Coulson, Ian M. (Dr)" userId="a8d3dc85-8701-425a-87df-1f27458d7dd7" providerId="ADAL" clId="{C6AB89DA-9B68-4099-9812-C2CE59EB82AF}" dt="2025-02-06T09:44:53.322" v="1112" actId="20577"/>
          <ac:spMkLst>
            <pc:docMk/>
            <pc:sldMk cId="4185901814" sldId="291"/>
            <ac:spMk id="6" creationId="{5BE82832-D28A-7FA6-B917-B04AC2F4FC4D}"/>
          </ac:spMkLst>
        </pc:spChg>
        <pc:spChg chg="add mod">
          <ac:chgData name="Coulson, Ian M. (Dr)" userId="a8d3dc85-8701-425a-87df-1f27458d7dd7" providerId="ADAL" clId="{C6AB89DA-9B68-4099-9812-C2CE59EB82AF}" dt="2025-02-06T09:46:13.728" v="1176" actId="207"/>
          <ac:spMkLst>
            <pc:docMk/>
            <pc:sldMk cId="4185901814" sldId="291"/>
            <ac:spMk id="7" creationId="{9ECF2DFB-1F24-C962-5BF9-4168870AA294}"/>
          </ac:spMkLst>
        </pc:spChg>
        <pc:spChg chg="mod">
          <ac:chgData name="Coulson, Ian M. (Dr)" userId="a8d3dc85-8701-425a-87df-1f27458d7dd7" providerId="ADAL" clId="{C6AB89DA-9B68-4099-9812-C2CE59EB82AF}" dt="2025-02-05T15:33:05.474" v="971" actId="1076"/>
          <ac:spMkLst>
            <pc:docMk/>
            <pc:sldMk cId="4185901814" sldId="291"/>
            <ac:spMk id="8" creationId="{83FDC4B5-0DDC-4C55-94AF-BB4B26A6EDCB}"/>
          </ac:spMkLst>
        </pc:spChg>
        <pc:spChg chg="mod">
          <ac:chgData name="Coulson, Ian M. (Dr)" userId="a8d3dc85-8701-425a-87df-1f27458d7dd7" providerId="ADAL" clId="{C6AB89DA-9B68-4099-9812-C2CE59EB82AF}" dt="2025-02-05T15:33:18.931" v="974" actId="1076"/>
          <ac:spMkLst>
            <pc:docMk/>
            <pc:sldMk cId="4185901814" sldId="291"/>
            <ac:spMk id="10" creationId="{80C34727-99DD-4F6D-A610-D97FC6BEF6AB}"/>
          </ac:spMkLst>
        </pc:spChg>
        <pc:spChg chg="mod">
          <ac:chgData name="Coulson, Ian M. (Dr)" userId="a8d3dc85-8701-425a-87df-1f27458d7dd7" providerId="ADAL" clId="{C6AB89DA-9B68-4099-9812-C2CE59EB82AF}" dt="2025-02-05T15:33:15.171" v="973" actId="1076"/>
          <ac:spMkLst>
            <pc:docMk/>
            <pc:sldMk cId="4185901814" sldId="291"/>
            <ac:spMk id="11" creationId="{46D67F3D-3AB5-4DD1-9D3B-FEE869B7A312}"/>
          </ac:spMkLst>
        </pc:spChg>
        <pc:picChg chg="mod">
          <ac:chgData name="Coulson, Ian M. (Dr)" userId="a8d3dc85-8701-425a-87df-1f27458d7dd7" providerId="ADAL" clId="{C6AB89DA-9B68-4099-9812-C2CE59EB82AF}" dt="2025-02-05T15:33:09.827" v="972" actId="1076"/>
          <ac:picMkLst>
            <pc:docMk/>
            <pc:sldMk cId="4185901814" sldId="291"/>
            <ac:picMk id="2" creationId="{F352E4AF-5CCD-4C58-B7A5-A292750E4231}"/>
          </ac:picMkLst>
        </pc:picChg>
        <pc:picChg chg="mod">
          <ac:chgData name="Coulson, Ian M. (Dr)" userId="a8d3dc85-8701-425a-87df-1f27458d7dd7" providerId="ADAL" clId="{C6AB89DA-9B68-4099-9812-C2CE59EB82AF}" dt="2025-02-05T15:33:22.716" v="975" actId="1076"/>
          <ac:picMkLst>
            <pc:docMk/>
            <pc:sldMk cId="4185901814" sldId="291"/>
            <ac:picMk id="5" creationId="{3CD64307-DA76-48E6-8AF5-8D33C8BDA407}"/>
          </ac:picMkLst>
        </pc:picChg>
      </pc:sldChg>
      <pc:sldChg chg="mod modShow">
        <pc:chgData name="Coulson, Ian M. (Dr)" userId="a8d3dc85-8701-425a-87df-1f27458d7dd7" providerId="ADAL" clId="{C6AB89DA-9B68-4099-9812-C2CE59EB82AF}" dt="2025-02-06T09:47:37.418" v="1177" actId="729"/>
        <pc:sldMkLst>
          <pc:docMk/>
          <pc:sldMk cId="253788317" sldId="293"/>
        </pc:sldMkLst>
      </pc:sldChg>
      <pc:sldChg chg="addSp modSp mod">
        <pc:chgData name="Coulson, Ian M. (Dr)" userId="a8d3dc85-8701-425a-87df-1f27458d7dd7" providerId="ADAL" clId="{C6AB89DA-9B68-4099-9812-C2CE59EB82AF}" dt="2025-02-05T15:49:08.737" v="1059" actId="14100"/>
        <pc:sldMkLst>
          <pc:docMk/>
          <pc:sldMk cId="3325218135" sldId="297"/>
        </pc:sldMkLst>
        <pc:spChg chg="mod">
          <ac:chgData name="Coulson, Ian M. (Dr)" userId="a8d3dc85-8701-425a-87df-1f27458d7dd7" providerId="ADAL" clId="{C6AB89DA-9B68-4099-9812-C2CE59EB82AF}" dt="2025-02-05T15:49:02.299" v="1058" actId="404"/>
          <ac:spMkLst>
            <pc:docMk/>
            <pc:sldMk cId="3325218135" sldId="297"/>
            <ac:spMk id="4" creationId="{50693879-5816-3444-9D50-A12F1F37F5DE}"/>
          </ac:spMkLst>
        </pc:spChg>
        <pc:picChg chg="add mod">
          <ac:chgData name="Coulson, Ian M. (Dr)" userId="a8d3dc85-8701-425a-87df-1f27458d7dd7" providerId="ADAL" clId="{C6AB89DA-9B68-4099-9812-C2CE59EB82AF}" dt="2025-02-05T15:49:08.737" v="1059" actId="14100"/>
          <ac:picMkLst>
            <pc:docMk/>
            <pc:sldMk cId="3325218135" sldId="297"/>
            <ac:picMk id="2" creationId="{1B8E053B-5303-BE29-80C4-205542BC80C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a:t>
            </a:fld>
            <a:endParaRPr lang="en-GB"/>
          </a:p>
        </p:txBody>
      </p:sp>
    </p:spTree>
    <p:extLst>
      <p:ext uri="{BB962C8B-B14F-4D97-AF65-F5344CB8AC3E}">
        <p14:creationId xmlns:p14="http://schemas.microsoft.com/office/powerpoint/2010/main" val="3153157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Our digital world has changed. The ability to access the internet and the corporate network is no longer confined to physical offices, geographical locations, or time zones. In today’s globalized workplace, employees can access resources from anywhere in the world and information must be available at any time, and on any device. These requirements drive the need to build next-generation networks that are secure, reliable, and highly available.</a:t>
            </a:r>
          </a:p>
          <a:p>
            <a:r>
              <a:rPr lang="en-GB" sz="1200" b="0" i="0" kern="1200" dirty="0">
                <a:solidFill>
                  <a:schemeClr val="tx1"/>
                </a:solidFill>
                <a:effectLst/>
                <a:latin typeface="Arial" charset="0"/>
                <a:ea typeface="+mn-ea"/>
                <a:cs typeface="+mn-cs"/>
              </a:rPr>
              <a:t>These next-generation networks must not only support current expectations and equipment but must also be able to integrate legacy platforms. Businesses increasingly rely on their network infrastructure to provide mission-critical services. As businesses grow and evolve, they hire more employees, open branch offices, and expand into global markets. These changes directly affect the requirements of a network which must be able to scale to meet the needs of business.</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a:t>
            </a:fld>
            <a:endParaRPr lang="en-GB"/>
          </a:p>
        </p:txBody>
      </p:sp>
    </p:spTree>
    <p:extLst>
      <p:ext uri="{BB962C8B-B14F-4D97-AF65-F5344CB8AC3E}">
        <p14:creationId xmlns:p14="http://schemas.microsoft.com/office/powerpoint/2010/main" val="940570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a:t>
            </a:fld>
            <a:endParaRPr lang="en-GB"/>
          </a:p>
        </p:txBody>
      </p:sp>
    </p:spTree>
    <p:extLst>
      <p:ext uri="{BB962C8B-B14F-4D97-AF65-F5344CB8AC3E}">
        <p14:creationId xmlns:p14="http://schemas.microsoft.com/office/powerpoint/2010/main" val="2247830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4</a:t>
            </a:fld>
            <a:endParaRPr lang="en-GB"/>
          </a:p>
        </p:txBody>
      </p:sp>
    </p:spTree>
    <p:extLst>
      <p:ext uri="{BB962C8B-B14F-4D97-AF65-F5344CB8AC3E}">
        <p14:creationId xmlns:p14="http://schemas.microsoft.com/office/powerpoint/2010/main" val="224783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Or covid happens and ways of working change forever</a:t>
            </a:r>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7</a:t>
            </a:fld>
            <a:endParaRPr lang="en-GB"/>
          </a:p>
        </p:txBody>
      </p:sp>
    </p:spTree>
    <p:extLst>
      <p:ext uri="{BB962C8B-B14F-4D97-AF65-F5344CB8AC3E}">
        <p14:creationId xmlns:p14="http://schemas.microsoft.com/office/powerpoint/2010/main" val="869054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8</a:t>
            </a:fld>
            <a:endParaRPr lang="en-GB"/>
          </a:p>
        </p:txBody>
      </p:sp>
    </p:spTree>
    <p:extLst>
      <p:ext uri="{BB962C8B-B14F-4D97-AF65-F5344CB8AC3E}">
        <p14:creationId xmlns:p14="http://schemas.microsoft.com/office/powerpoint/2010/main" val="1091524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algn="l"/>
            <a:r>
              <a:rPr lang="en-GB" b="0" i="0" dirty="0">
                <a:solidFill>
                  <a:srgbClr val="212529"/>
                </a:solidFill>
                <a:effectLst/>
                <a:latin typeface="Roboto" panose="02000000000000000000" pitchFamily="2" charset="0"/>
              </a:rPr>
              <a:t>Terminal/Host Traffic Flow</a:t>
            </a:r>
          </a:p>
          <a:p>
            <a:pPr algn="l"/>
            <a:r>
              <a:rPr lang="en-GB" b="0" i="0" dirty="0">
                <a:solidFill>
                  <a:srgbClr val="212529"/>
                </a:solidFill>
                <a:effectLst/>
                <a:latin typeface="Roboto" panose="02000000000000000000" pitchFamily="2" charset="0"/>
              </a:rPr>
              <a:t>Terminal/host traffic is usually asymmetric. The terminal sends a few characters and the host sends many characters. </a:t>
            </a:r>
            <a:r>
              <a:rPr lang="en-GB" b="0" i="0">
                <a:solidFill>
                  <a:srgbClr val="212529"/>
                </a:solidFill>
                <a:effectLst/>
                <a:latin typeface="Roboto" panose="02000000000000000000" pitchFamily="2" charset="0"/>
              </a:rPr>
              <a:t>Telnet/SSH </a:t>
            </a:r>
            <a:r>
              <a:rPr lang="en-GB" b="0" i="0" dirty="0">
                <a:solidFill>
                  <a:srgbClr val="212529"/>
                </a:solidFill>
                <a:effectLst/>
                <a:latin typeface="Roboto" panose="02000000000000000000" pitchFamily="2" charset="0"/>
              </a:rPr>
              <a:t>is an example of an application that generates terminal/host traffic. The default </a:t>
            </a:r>
            <a:r>
              <a:rPr lang="en-GB" b="0" i="0" dirty="0" err="1">
                <a:solidFill>
                  <a:srgbClr val="212529"/>
                </a:solidFill>
                <a:effectLst/>
                <a:latin typeface="Roboto" panose="02000000000000000000" pitchFamily="2" charset="0"/>
              </a:rPr>
              <a:t>behavior</a:t>
            </a:r>
            <a:r>
              <a:rPr lang="en-GB" b="0" i="0" dirty="0">
                <a:solidFill>
                  <a:srgbClr val="212529"/>
                </a:solidFill>
                <a:effectLst/>
                <a:latin typeface="Roboto" panose="02000000000000000000" pitchFamily="2" charset="0"/>
              </a:rPr>
              <a:t> for Telnet is that the terminal sends in a single packet each character a user types. The host returns multiple characters, depending on what the user typed. As an illustration, consider the beginning of a Telnet session that starts with the user typing a username. Once the host receives each packet for the characters in the name, the host sends back a message (such as Password Required) in one packet.</a:t>
            </a:r>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With the increasing demands of the converged network, the network must be developed with an architectural approach that embeds intelligence, simplifies operations, and is scalable to meet future demands. One of the more recent developments in network design is the Cisco Borderless Network.</a:t>
            </a:r>
          </a:p>
          <a:p>
            <a:r>
              <a:rPr lang="en-GB" sz="1200" b="0" i="0" kern="1200" dirty="0">
                <a:solidFill>
                  <a:schemeClr val="tx1"/>
                </a:solidFill>
                <a:effectLst/>
                <a:latin typeface="Arial" charset="0"/>
                <a:ea typeface="+mn-ea"/>
                <a:cs typeface="+mn-cs"/>
              </a:rPr>
              <a:t>The Cisco Borderless Network is a network architecture that combines innovation and design. It allows organizations to support a borderless network that can connect anyone, anywhere, anytime, on any device; securely, reliably, and seamlessly. This architecture is designed to address IT and business challenges, such as supporting the converged network and changing work patterns.</a:t>
            </a:r>
          </a:p>
          <a:p>
            <a:r>
              <a:rPr lang="en-GB" sz="1200" b="0" i="0" kern="1200" dirty="0">
                <a:solidFill>
                  <a:schemeClr val="tx1"/>
                </a:solidFill>
                <a:effectLst/>
                <a:latin typeface="Arial" charset="0"/>
                <a:ea typeface="+mn-ea"/>
                <a:cs typeface="+mn-cs"/>
              </a:rPr>
              <a:t>The Cisco Borderless Network provides the framework to unify wired and wireless access, including policy, access control, and performance management across many different device types. Using this architecture, the borderless network, shown in the figure, is built on a hierarchical infrastructure of hardware that is scalable and resilient.</a:t>
            </a:r>
          </a:p>
          <a:p>
            <a:r>
              <a:rPr lang="en-GB" sz="1200" b="0" i="0" kern="1200" dirty="0">
                <a:solidFill>
                  <a:schemeClr val="tx1"/>
                </a:solidFill>
                <a:effectLst/>
                <a:latin typeface="Arial" charset="0"/>
                <a:ea typeface="+mn-ea"/>
                <a:cs typeface="+mn-cs"/>
              </a:rPr>
              <a:t>By combining this hardware infrastructure with policy-based software solutions, the Cisco Borderless Network provides two primary sets of services: network services, and user and endpoint services under the umbrella of an integrated management solution. It enables different network elements to work together, and allows users to access resources from any place, at any time, while providing optimization, scalability, and security.</a:t>
            </a:r>
          </a:p>
          <a:p>
            <a:r>
              <a:rPr lang="en-GB" sz="1200" b="0" i="0" kern="1200" dirty="0">
                <a:solidFill>
                  <a:schemeClr val="tx1"/>
                </a:solidFill>
                <a:effectLst/>
                <a:latin typeface="Arial" charset="0"/>
                <a:ea typeface="+mn-ea"/>
                <a:cs typeface="+mn-cs"/>
              </a:rPr>
              <a:t>Creating a borderless switched network requires that sound network design principles are used to ensure maximum availability, flexibility, security, and manageability. The borderless switched network must deliver on current requirements and future required services and technologies. Borderless switched network design guidelines are built upon the following principles:</a:t>
            </a:r>
          </a:p>
          <a:p>
            <a:r>
              <a:rPr lang="en-GB" sz="1200" b="1" i="0" kern="1200" dirty="0">
                <a:solidFill>
                  <a:schemeClr val="tx1"/>
                </a:solidFill>
                <a:effectLst/>
                <a:latin typeface="Arial" charset="0"/>
                <a:ea typeface="+mn-ea"/>
                <a:cs typeface="+mn-cs"/>
              </a:rPr>
              <a:t>Hierarchical</a:t>
            </a:r>
            <a:r>
              <a:rPr lang="en-GB" sz="1200" b="0" i="0" kern="1200" dirty="0">
                <a:solidFill>
                  <a:schemeClr val="tx1"/>
                </a:solidFill>
                <a:effectLst/>
                <a:latin typeface="Arial" charset="0"/>
                <a:ea typeface="+mn-ea"/>
                <a:cs typeface="+mn-cs"/>
              </a:rPr>
              <a:t> - The design facilitates understanding the role of each device at every tier, simplifies deployment, operation, and management, and reduces fault domains at every tier.</a:t>
            </a:r>
          </a:p>
          <a:p>
            <a:r>
              <a:rPr lang="en-GB" sz="1200" b="1" i="0" kern="1200" dirty="0">
                <a:solidFill>
                  <a:schemeClr val="tx1"/>
                </a:solidFill>
                <a:effectLst/>
                <a:latin typeface="Arial" charset="0"/>
                <a:ea typeface="+mn-ea"/>
                <a:cs typeface="+mn-cs"/>
              </a:rPr>
              <a:t>Modularity</a:t>
            </a:r>
            <a:r>
              <a:rPr lang="en-GB" sz="1200" b="0" i="0" kern="1200" dirty="0">
                <a:solidFill>
                  <a:schemeClr val="tx1"/>
                </a:solidFill>
                <a:effectLst/>
                <a:latin typeface="Arial" charset="0"/>
                <a:ea typeface="+mn-ea"/>
                <a:cs typeface="+mn-cs"/>
              </a:rPr>
              <a:t> - The design allows seamless network expansion and integrated service enablement on an on-demand basis.</a:t>
            </a:r>
          </a:p>
          <a:p>
            <a:r>
              <a:rPr lang="en-GB" sz="1200" b="1" i="0" kern="1200" dirty="0">
                <a:solidFill>
                  <a:schemeClr val="tx1"/>
                </a:solidFill>
                <a:effectLst/>
                <a:latin typeface="Arial" charset="0"/>
                <a:ea typeface="+mn-ea"/>
                <a:cs typeface="+mn-cs"/>
              </a:rPr>
              <a:t>Resiliency</a:t>
            </a:r>
            <a:r>
              <a:rPr lang="en-GB" sz="1200" b="0" i="0" kern="1200" dirty="0">
                <a:solidFill>
                  <a:schemeClr val="tx1"/>
                </a:solidFill>
                <a:effectLst/>
                <a:latin typeface="Arial" charset="0"/>
                <a:ea typeface="+mn-ea"/>
                <a:cs typeface="+mn-cs"/>
              </a:rPr>
              <a:t> - The design satisfies user expectations for keeping the network always on.</a:t>
            </a:r>
          </a:p>
          <a:p>
            <a:r>
              <a:rPr lang="en-GB" sz="1200" b="1" i="0" kern="1200" dirty="0">
                <a:solidFill>
                  <a:schemeClr val="tx1"/>
                </a:solidFill>
                <a:effectLst/>
                <a:latin typeface="Arial" charset="0"/>
                <a:ea typeface="+mn-ea"/>
                <a:cs typeface="+mn-cs"/>
              </a:rPr>
              <a:t>Flexibility</a:t>
            </a:r>
            <a:r>
              <a:rPr lang="en-GB" sz="1200" b="0" i="0" kern="1200" dirty="0">
                <a:solidFill>
                  <a:schemeClr val="tx1"/>
                </a:solidFill>
                <a:effectLst/>
                <a:latin typeface="Arial" charset="0"/>
                <a:ea typeface="+mn-ea"/>
                <a:cs typeface="+mn-cs"/>
              </a:rPr>
              <a:t> - The design allows intelligent traffic load sharing by using all network resources.</a:t>
            </a:r>
          </a:p>
          <a:p>
            <a:r>
              <a:rPr lang="en-GB" sz="1200" b="0" i="0" kern="1200" dirty="0">
                <a:solidFill>
                  <a:schemeClr val="tx1"/>
                </a:solidFill>
                <a:effectLst/>
                <a:latin typeface="Arial" charset="0"/>
                <a:ea typeface="+mn-ea"/>
                <a:cs typeface="+mn-cs"/>
              </a:rPr>
              <a:t>These are not independent principles. Understanding how each principle fits in the context of the others is critical. Designing a borderless switched network in a hierarchical fashion creates a foundation that allows network designers to overlay security, mobility, and unified communication features. Two time-tested and proven hierarchical design frameworks for campus networks are the three-tier layer and the two-tier layer models.</a:t>
            </a:r>
          </a:p>
          <a:p>
            <a:r>
              <a:rPr lang="en-GB" sz="1200" b="0" i="0" kern="1200" dirty="0">
                <a:solidFill>
                  <a:schemeClr val="tx1"/>
                </a:solidFill>
                <a:effectLst/>
                <a:latin typeface="Arial" charset="0"/>
                <a:ea typeface="+mn-ea"/>
                <a:cs typeface="+mn-cs"/>
              </a:rPr>
              <a:t>The three critical layers within these tiered designs are the access, distribution, and core layers. Each layer can be seen as a well-defined, structured module with specific roles and functions in the campus network. Introducing modularity into the campus hierarchical design further ensures that the campus network remains resilient and flexible enough to provide critical network services. Modularity also helps to allow for growth and changes that occur over time.</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26</a:t>
            </a:fld>
            <a:endParaRPr lang="en-GB"/>
          </a:p>
        </p:txBody>
      </p:sp>
    </p:spTree>
    <p:extLst>
      <p:ext uri="{BB962C8B-B14F-4D97-AF65-F5344CB8AC3E}">
        <p14:creationId xmlns:p14="http://schemas.microsoft.com/office/powerpoint/2010/main" val="40190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CA" sz="2400" dirty="0">
                <a:solidFill>
                  <a:srgbClr val="000000"/>
                </a:solidFill>
              </a:rPr>
              <a:t>There are two time-tested and proven hierarchical design frameworks for campus networks.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2160936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CA" sz="1200" dirty="0">
                <a:solidFill>
                  <a:schemeClr val="accent5">
                    <a:lumMod val="40000"/>
                    <a:lumOff val="60000"/>
                  </a:schemeClr>
                </a:solidFill>
              </a:rPr>
              <a:t>Network Design</a:t>
            </a:r>
            <a:endParaRPr lang="en-US" dirty="0"/>
          </a:p>
          <a:p>
            <a:r>
              <a:rPr lang="en-CA" dirty="0"/>
              <a:t>11.1 – Hierarchical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11.1.5 – </a:t>
            </a:r>
            <a:r>
              <a:rPr lang="en-CA" sz="1200" b="0" i="0" kern="1200" dirty="0">
                <a:solidFill>
                  <a:schemeClr val="tx1"/>
                </a:solidFill>
                <a:effectLst/>
                <a:latin typeface="+mn-lt"/>
                <a:ea typeface="+mn-ea"/>
                <a:cs typeface="+mn-cs"/>
              </a:rPr>
              <a:t>Access, Distribution, and Core Layer Functions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65354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972698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CA" dirty="0"/>
              <a:t>11 – Network Design</a:t>
            </a:r>
          </a:p>
          <a:p>
            <a:r>
              <a:rPr lang="en-CA" dirty="0"/>
              <a:t>11.2 – Scalable Networks</a:t>
            </a:r>
          </a:p>
          <a:p>
            <a:r>
              <a:rPr lang="en-US" dirty="0"/>
              <a:t>11.2.1 – Design for Scalability</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CA" dirty="0"/>
              <a:t>11 – Network Design</a:t>
            </a:r>
          </a:p>
          <a:p>
            <a:r>
              <a:rPr lang="en-CA" dirty="0"/>
              <a:t>11.2 – Scalable Networks</a:t>
            </a:r>
          </a:p>
          <a:p>
            <a:r>
              <a:rPr lang="en-US" dirty="0"/>
              <a:t>11.2.2 – Plan for Redundancy</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073167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Because a failure at the core layer of a network can have a potentially large impact, the network designer often concentrates on efforts to prevent failures. These efforts can greatly increase the cost of implementing the network. In the hierarchical design model, it is easiest and usually least expensive to control the size of a failure domain in the distribution layer. In the distribution layer, network errors can be contained to a smaller area; thus, affecting fewer users. When using Layer 3 devices at the distribution layer, every router functions as a gateway for a limited number of access layer users.</a:t>
            </a:r>
          </a:p>
          <a:p>
            <a:r>
              <a:rPr lang="en-GB" sz="1200" b="1" i="0" kern="1200" dirty="0">
                <a:solidFill>
                  <a:schemeClr val="tx1"/>
                </a:solidFill>
                <a:effectLst/>
                <a:latin typeface="Arial" charset="0"/>
                <a:ea typeface="+mn-ea"/>
                <a:cs typeface="+mn-cs"/>
              </a:rPr>
              <a:t>Switch Block Deployment</a:t>
            </a:r>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Routers, or multilayer switches, are usually deployed in pairs, with access layer switches evenly divided between them. This configuration is referred to as a building, or departmental, switch block. Each switch block acts independently of the others. As a result, the failure of a single device does not cause the network to go down. Even the failure of an entire switch block does not affect a significant number of end users.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029693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742892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356214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710609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6007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95536" y="2512921"/>
            <a:ext cx="7772400" cy="1470025"/>
          </a:xfrm>
        </p:spPr>
        <p:txBody>
          <a:bodyPr/>
          <a:lstStyle>
            <a:lvl1pPr algn="l">
              <a:defRPr b="1">
                <a:solidFill>
                  <a:schemeClr val="bg1"/>
                </a:solidFill>
              </a:defRPr>
            </a:lvl1pPr>
          </a:lstStyle>
          <a:p>
            <a:pPr lvl="0"/>
            <a:r>
              <a:rPr lang="en-GB" noProof="0" dirty="0"/>
              <a:t>Click to edit Master title style</a:t>
            </a:r>
          </a:p>
        </p:txBody>
      </p:sp>
      <p:sp>
        <p:nvSpPr>
          <p:cNvPr id="4099" name="Rectangle 3"/>
          <p:cNvSpPr>
            <a:spLocks noGrp="1" noChangeArrowheads="1"/>
          </p:cNvSpPr>
          <p:nvPr>
            <p:ph type="subTitle" idx="1"/>
          </p:nvPr>
        </p:nvSpPr>
        <p:spPr>
          <a:xfrm>
            <a:off x="395536" y="4268688"/>
            <a:ext cx="6400800" cy="1752600"/>
          </a:xfrm>
        </p:spPr>
        <p:txBody>
          <a:bodyPr/>
          <a:lstStyle>
            <a:lvl1pPr marL="0" indent="0" algn="l">
              <a:buFontTx/>
              <a:buNone/>
              <a:defRPr>
                <a:solidFill>
                  <a:schemeClr val="bg1"/>
                </a:solidFill>
                <a:latin typeface="Rockwell" pitchFamily="18" charset="0"/>
              </a:defRPr>
            </a:lvl1pPr>
          </a:lstStyle>
          <a:p>
            <a:pPr lvl="0"/>
            <a:r>
              <a:rPr lang="en-GB" noProof="0" dirty="0"/>
              <a:t>Click to edit Master subtitle style</a:t>
            </a:r>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62" y="1940981"/>
            <a:ext cx="8424863"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323850" y="2852247"/>
            <a:ext cx="4135438"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1700" y="2852247"/>
            <a:ext cx="4137025"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513913"/>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2774389"/>
            <a:ext cx="4040188"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341414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3" y="2774389"/>
            <a:ext cx="4041775"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341414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1594873"/>
            <a:ext cx="3008313"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159488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2" y="2756931"/>
            <a:ext cx="3008313"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1604802"/>
            <a:ext cx="54864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endParaRPr lang="en-GB" noProof="0"/>
          </a:p>
        </p:txBody>
      </p:sp>
      <p:sp>
        <p:nvSpPr>
          <p:cNvPr id="4" name="Text Placeholder 3"/>
          <p:cNvSpPr>
            <a:spLocks noGrp="1"/>
          </p:cNvSpPr>
          <p:nvPr>
            <p:ph type="body" sz="half" idx="2"/>
          </p:nvPr>
        </p:nvSpPr>
        <p:spPr>
          <a:xfrm>
            <a:off x="1792288" y="5367345"/>
            <a:ext cx="54864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700" y="990603"/>
            <a:ext cx="2105025"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3850" y="990603"/>
            <a:ext cx="6167438"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3" y="1797051"/>
            <a:ext cx="8280057" cy="409859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455085"/>
            <a:ext cx="8345488"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105905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3862" y="1806837"/>
            <a:ext cx="84248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dirty="0"/>
              <a:t>Click to edit Master title style</a:t>
            </a:r>
          </a:p>
        </p:txBody>
      </p:sp>
      <p:sp>
        <p:nvSpPr>
          <p:cNvPr id="2051" name="Rectangle 3"/>
          <p:cNvSpPr>
            <a:spLocks noGrp="1" noChangeArrowheads="1"/>
          </p:cNvSpPr>
          <p:nvPr>
            <p:ph type="body" idx="1"/>
          </p:nvPr>
        </p:nvSpPr>
        <p:spPr bwMode="auto">
          <a:xfrm>
            <a:off x="323862" y="2948258"/>
            <a:ext cx="8424863"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4" r:id="rId12"/>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p:titleStyle>
    <p:bodyStyle>
      <a:lvl1pPr marL="342884" indent="-342884" algn="l" rtl="0" eaLnBrk="0" fontAlgn="base" hangingPunct="0">
        <a:spcBef>
          <a:spcPct val="20000"/>
        </a:spcBef>
        <a:spcAft>
          <a:spcPct val="0"/>
        </a:spcAft>
        <a:buChar char="•"/>
        <a:defRPr sz="3200">
          <a:solidFill>
            <a:schemeClr val="tx1"/>
          </a:solidFill>
          <a:latin typeface="+mn-lt"/>
          <a:ea typeface="+mn-ea"/>
          <a:cs typeface="+mn-cs"/>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Characterising Network Traffic</a:t>
            </a:r>
          </a:p>
        </p:txBody>
      </p:sp>
      <p:sp>
        <p:nvSpPr>
          <p:cNvPr id="3" name="Subtitle 2"/>
          <p:cNvSpPr>
            <a:spLocks noGrp="1"/>
          </p:cNvSpPr>
          <p:nvPr>
            <p:ph type="subTitle" idx="1"/>
          </p:nvPr>
        </p:nvSpPr>
        <p:spPr/>
        <p:txBody>
          <a:bodyPr/>
          <a:lstStyle/>
          <a:p>
            <a:r>
              <a:rPr lang="en-GB" dirty="0"/>
              <a:t>6CS029 Advanced Networking</a:t>
            </a:r>
          </a:p>
        </p:txBody>
      </p:sp>
    </p:spTree>
    <p:extLst>
      <p:ext uri="{BB962C8B-B14F-4D97-AF65-F5344CB8AC3E}">
        <p14:creationId xmlns:p14="http://schemas.microsoft.com/office/powerpoint/2010/main" val="3685580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24744"/>
            <a:ext cx="8424863" cy="1143000"/>
          </a:xfrm>
        </p:spPr>
        <p:txBody>
          <a:bodyPr/>
          <a:lstStyle/>
          <a:p>
            <a:r>
              <a:rPr lang="en-GB" dirty="0"/>
              <a:t>The Need to Scale the Network </a:t>
            </a:r>
          </a:p>
        </p:txBody>
      </p:sp>
      <p:sp>
        <p:nvSpPr>
          <p:cNvPr id="3" name="Content Placeholder 2"/>
          <p:cNvSpPr>
            <a:spLocks noGrp="1"/>
          </p:cNvSpPr>
          <p:nvPr>
            <p:ph idx="1"/>
          </p:nvPr>
        </p:nvSpPr>
        <p:spPr>
          <a:xfrm>
            <a:off x="395536" y="2204864"/>
            <a:ext cx="8424863" cy="4321175"/>
          </a:xfrm>
        </p:spPr>
        <p:txBody>
          <a:bodyPr/>
          <a:lstStyle/>
          <a:p>
            <a:r>
              <a:rPr lang="en-CA" sz="2400" dirty="0"/>
              <a:t>Organizations increasingly rely on their network infrastructure to provide mission-critical services. </a:t>
            </a:r>
          </a:p>
          <a:p>
            <a:r>
              <a:rPr lang="en-CA" sz="2400" dirty="0"/>
              <a:t>Evolving organizations require networks that can scale and support:</a:t>
            </a:r>
          </a:p>
          <a:p>
            <a:pPr lvl="1"/>
            <a:r>
              <a:rPr lang="en-CA" sz="2400" dirty="0">
                <a:ea typeface="+mn-ea"/>
                <a:cs typeface="+mn-cs"/>
              </a:rPr>
              <a:t>Converged network traffic</a:t>
            </a:r>
          </a:p>
          <a:p>
            <a:pPr lvl="1"/>
            <a:r>
              <a:rPr lang="en-CA" sz="2400" dirty="0">
                <a:ea typeface="+mn-ea"/>
                <a:cs typeface="+mn-cs"/>
              </a:rPr>
              <a:t>Critical applications</a:t>
            </a:r>
          </a:p>
          <a:p>
            <a:pPr lvl="1"/>
            <a:r>
              <a:rPr lang="en-CA" sz="2400" dirty="0">
                <a:ea typeface="+mn-ea"/>
                <a:cs typeface="+mn-cs"/>
              </a:rPr>
              <a:t>Diverse business needs</a:t>
            </a:r>
          </a:p>
          <a:p>
            <a:pPr lvl="1"/>
            <a:r>
              <a:rPr lang="en-CA" sz="2400" dirty="0">
                <a:ea typeface="+mn-ea"/>
                <a:cs typeface="+mn-cs"/>
              </a:rPr>
              <a:t>Centralized administrative control</a:t>
            </a:r>
          </a:p>
          <a:p>
            <a:r>
              <a:rPr lang="en-CA" sz="2400" dirty="0"/>
              <a:t>Network designs include small networks that use a single LAN switch, up to very large networks with thousands of connections.</a:t>
            </a:r>
          </a:p>
          <a:p>
            <a:endParaRPr lang="en-GB" sz="2400" dirty="0"/>
          </a:p>
          <a:p>
            <a:endParaRPr lang="en-GB" sz="2400" dirty="0"/>
          </a:p>
          <a:p>
            <a:pPr lvl="1"/>
            <a:r>
              <a:rPr lang="en-GB" sz="2400" dirty="0"/>
              <a:t>B</a:t>
            </a:r>
          </a:p>
          <a:p>
            <a:endParaRPr lang="en-GB" sz="2400" dirty="0"/>
          </a:p>
        </p:txBody>
      </p:sp>
    </p:spTree>
    <p:extLst>
      <p:ext uri="{BB962C8B-B14F-4D97-AF65-F5344CB8AC3E}">
        <p14:creationId xmlns:p14="http://schemas.microsoft.com/office/powerpoint/2010/main" val="876966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80728"/>
            <a:ext cx="8424863" cy="1143000"/>
          </a:xfrm>
        </p:spPr>
        <p:txBody>
          <a:bodyPr/>
          <a:lstStyle/>
          <a:p>
            <a:r>
              <a:rPr lang="en-GB" dirty="0"/>
              <a:t>The Need to Scale the Network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276872"/>
            <a:ext cx="6734175" cy="430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4F13B376-0D0A-3E84-9FA9-FB2C7F4FAD4A}"/>
              </a:ext>
            </a:extLst>
          </p:cNvPr>
          <p:cNvSpPr txBox="1"/>
          <p:nvPr/>
        </p:nvSpPr>
        <p:spPr>
          <a:xfrm>
            <a:off x="5724129" y="2564904"/>
            <a:ext cx="3096344" cy="646331"/>
          </a:xfrm>
          <a:prstGeom prst="rect">
            <a:avLst/>
          </a:prstGeom>
          <a:noFill/>
        </p:spPr>
        <p:txBody>
          <a:bodyPr wrap="square" rtlCol="0">
            <a:spAutoFit/>
          </a:bodyPr>
          <a:lstStyle/>
          <a:p>
            <a:r>
              <a:rPr lang="en-GB" dirty="0"/>
              <a:t>Networks evolve with the company's evolution</a:t>
            </a:r>
          </a:p>
        </p:txBody>
      </p:sp>
    </p:spTree>
    <p:extLst>
      <p:ext uri="{BB962C8B-B14F-4D97-AF65-F5344CB8AC3E}">
        <p14:creationId xmlns:p14="http://schemas.microsoft.com/office/powerpoint/2010/main" val="103610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484784"/>
            <a:ext cx="7784851" cy="5272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6767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38" y="328613"/>
            <a:ext cx="8086725" cy="620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970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12" y="1218233"/>
            <a:ext cx="9095988" cy="5523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0886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55737"/>
            <a:ext cx="9179785" cy="5757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6283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2" y="864097"/>
            <a:ext cx="9026492" cy="5949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0346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560" y="1196752"/>
            <a:ext cx="6642734" cy="689932"/>
          </a:xfrm>
          <a:prstGeom prst="rect">
            <a:avLst/>
          </a:prstGeom>
        </p:spPr>
        <p:txBody>
          <a:bodyPr vert="horz" wrap="square" lIns="0" tIns="12700" rIns="0" bIns="0" rtlCol="0">
            <a:spAutoFit/>
          </a:bodyPr>
          <a:lstStyle/>
          <a:p>
            <a:pPr marL="12700">
              <a:lnSpc>
                <a:spcPct val="100000"/>
              </a:lnSpc>
              <a:spcBef>
                <a:spcPts val="100"/>
              </a:spcBef>
            </a:pPr>
            <a:r>
              <a:rPr spc="-185" dirty="0"/>
              <a:t>Existing</a:t>
            </a:r>
            <a:r>
              <a:rPr spc="-415" dirty="0"/>
              <a:t> </a:t>
            </a:r>
            <a:r>
              <a:rPr spc="-80" dirty="0"/>
              <a:t>Network</a:t>
            </a:r>
          </a:p>
        </p:txBody>
      </p:sp>
      <p:sp>
        <p:nvSpPr>
          <p:cNvPr id="3" name="object 3"/>
          <p:cNvSpPr txBox="1"/>
          <p:nvPr/>
        </p:nvSpPr>
        <p:spPr>
          <a:xfrm>
            <a:off x="323528" y="2331516"/>
            <a:ext cx="5685155" cy="2860720"/>
          </a:xfrm>
          <a:prstGeom prst="rect">
            <a:avLst/>
          </a:prstGeom>
        </p:spPr>
        <p:txBody>
          <a:bodyPr vert="horz" wrap="square" lIns="0" tIns="12700" rIns="0" bIns="0" rtlCol="0">
            <a:spAutoFit/>
          </a:bodyPr>
          <a:lstStyle/>
          <a:p>
            <a:pPr marL="12700">
              <a:lnSpc>
                <a:spcPct val="100000"/>
              </a:lnSpc>
              <a:spcBef>
                <a:spcPts val="100"/>
              </a:spcBef>
            </a:pPr>
            <a:r>
              <a:rPr sz="3600" spc="-5" dirty="0">
                <a:latin typeface="Arial"/>
                <a:cs typeface="Arial"/>
              </a:rPr>
              <a:t>What’s the Starting Point?</a:t>
            </a:r>
            <a:endParaRPr sz="3600" dirty="0">
              <a:latin typeface="Arial"/>
              <a:cs typeface="Arial"/>
            </a:endParaRPr>
          </a:p>
          <a:p>
            <a:pPr>
              <a:lnSpc>
                <a:spcPct val="100000"/>
              </a:lnSpc>
              <a:spcBef>
                <a:spcPts val="5"/>
              </a:spcBef>
            </a:pPr>
            <a:endParaRPr sz="3750" dirty="0">
              <a:latin typeface="Times New Roman"/>
              <a:cs typeface="Times New Roman"/>
            </a:endParaRPr>
          </a:p>
          <a:p>
            <a:pPr marL="413384" marR="5080">
              <a:lnSpc>
                <a:spcPts val="3360"/>
              </a:lnSpc>
              <a:spcBef>
                <a:spcPts val="25"/>
              </a:spcBef>
              <a:tabLst>
                <a:tab pos="1123315" algn="l"/>
                <a:tab pos="3197225" algn="l"/>
              </a:tabLst>
            </a:pPr>
            <a:r>
              <a:rPr sz="2800" i="1" spc="80" dirty="0">
                <a:latin typeface="Arial"/>
                <a:cs typeface="Arial"/>
              </a:rPr>
              <a:t>“If </a:t>
            </a:r>
            <a:r>
              <a:rPr sz="2800" i="1" spc="-125" dirty="0">
                <a:latin typeface="Arial"/>
                <a:cs typeface="Arial"/>
              </a:rPr>
              <a:t>we </a:t>
            </a:r>
            <a:r>
              <a:rPr sz="2800" i="1" spc="-120" dirty="0">
                <a:latin typeface="Arial"/>
                <a:cs typeface="Arial"/>
              </a:rPr>
              <a:t>could </a:t>
            </a:r>
            <a:r>
              <a:rPr sz="2800" i="1" spc="-10" dirty="0">
                <a:latin typeface="Arial"/>
                <a:cs typeface="Arial"/>
              </a:rPr>
              <a:t>first</a:t>
            </a:r>
            <a:r>
              <a:rPr sz="2800" i="1" spc="-540" dirty="0">
                <a:latin typeface="Arial"/>
                <a:cs typeface="Arial"/>
              </a:rPr>
              <a:t> </a:t>
            </a:r>
            <a:r>
              <a:rPr sz="2800" i="1" spc="-100" dirty="0">
                <a:latin typeface="Arial"/>
                <a:cs typeface="Arial"/>
              </a:rPr>
              <a:t>know </a:t>
            </a:r>
            <a:r>
              <a:rPr sz="2800" i="1" spc="-114" dirty="0">
                <a:latin typeface="Arial"/>
                <a:cs typeface="Arial"/>
              </a:rPr>
              <a:t>where </a:t>
            </a:r>
            <a:r>
              <a:rPr sz="2800" i="1" spc="-125" dirty="0">
                <a:latin typeface="Arial"/>
                <a:cs typeface="Arial"/>
              </a:rPr>
              <a:t>we </a:t>
            </a:r>
            <a:r>
              <a:rPr sz="2800" i="1" spc="-110" dirty="0">
                <a:latin typeface="Arial"/>
                <a:cs typeface="Arial"/>
              </a:rPr>
              <a:t>are  </a:t>
            </a:r>
            <a:r>
              <a:rPr sz="2800" i="1" spc="-120" dirty="0">
                <a:latin typeface="Arial"/>
                <a:cs typeface="Arial"/>
              </a:rPr>
              <a:t>and	</a:t>
            </a:r>
            <a:r>
              <a:rPr sz="2800" i="1" spc="-45" dirty="0">
                <a:latin typeface="Arial"/>
                <a:cs typeface="Arial"/>
              </a:rPr>
              <a:t>whither </a:t>
            </a:r>
            <a:r>
              <a:rPr sz="2800" i="1" spc="-125" dirty="0">
                <a:latin typeface="Arial"/>
                <a:cs typeface="Arial"/>
              </a:rPr>
              <a:t>we </a:t>
            </a:r>
            <a:r>
              <a:rPr sz="2800" i="1" spc="-110" dirty="0">
                <a:latin typeface="Arial"/>
                <a:cs typeface="Arial"/>
              </a:rPr>
              <a:t>are </a:t>
            </a:r>
            <a:r>
              <a:rPr sz="2800" i="1" spc="-80" dirty="0">
                <a:latin typeface="Arial"/>
                <a:cs typeface="Arial"/>
              </a:rPr>
              <a:t>tending, </a:t>
            </a:r>
            <a:r>
              <a:rPr sz="2800" i="1" spc="-125" dirty="0">
                <a:latin typeface="Arial"/>
                <a:cs typeface="Arial"/>
              </a:rPr>
              <a:t>we  </a:t>
            </a:r>
            <a:r>
              <a:rPr sz="2800" i="1" spc="-120" dirty="0">
                <a:latin typeface="Arial"/>
                <a:cs typeface="Arial"/>
              </a:rPr>
              <a:t>could</a:t>
            </a:r>
            <a:r>
              <a:rPr sz="2800" i="1" spc="-65" dirty="0">
                <a:latin typeface="Arial"/>
                <a:cs typeface="Arial"/>
              </a:rPr>
              <a:t> </a:t>
            </a:r>
            <a:r>
              <a:rPr sz="2800" i="1" spc="-40" dirty="0">
                <a:latin typeface="Arial"/>
                <a:cs typeface="Arial"/>
              </a:rPr>
              <a:t>better</a:t>
            </a:r>
            <a:r>
              <a:rPr sz="2800" i="1" spc="-30" dirty="0">
                <a:latin typeface="Arial"/>
                <a:cs typeface="Arial"/>
              </a:rPr>
              <a:t> </a:t>
            </a:r>
            <a:r>
              <a:rPr sz="2800" i="1" spc="-110" dirty="0">
                <a:latin typeface="Arial"/>
                <a:cs typeface="Arial"/>
              </a:rPr>
              <a:t>judge	</a:t>
            </a:r>
            <a:r>
              <a:rPr sz="2800" i="1" spc="-25" dirty="0">
                <a:latin typeface="Arial"/>
                <a:cs typeface="Arial"/>
              </a:rPr>
              <a:t>what </a:t>
            </a:r>
            <a:r>
              <a:rPr sz="2800" i="1" spc="15" dirty="0">
                <a:latin typeface="Arial"/>
                <a:cs typeface="Arial"/>
              </a:rPr>
              <a:t>to </a:t>
            </a:r>
            <a:r>
              <a:rPr sz="2800" i="1" spc="-125" dirty="0">
                <a:latin typeface="Arial"/>
                <a:cs typeface="Arial"/>
              </a:rPr>
              <a:t>do </a:t>
            </a:r>
            <a:r>
              <a:rPr sz="2800" i="1" spc="-120" dirty="0">
                <a:latin typeface="Arial"/>
                <a:cs typeface="Arial"/>
              </a:rPr>
              <a:t>and  </a:t>
            </a:r>
            <a:r>
              <a:rPr sz="2800" i="1" spc="-90" dirty="0">
                <a:latin typeface="Arial"/>
                <a:cs typeface="Arial"/>
              </a:rPr>
              <a:t>how </a:t>
            </a:r>
            <a:r>
              <a:rPr sz="2800" i="1" spc="15" dirty="0">
                <a:latin typeface="Arial"/>
                <a:cs typeface="Arial"/>
              </a:rPr>
              <a:t>to </a:t>
            </a:r>
            <a:r>
              <a:rPr sz="2800" i="1" spc="-125" dirty="0">
                <a:latin typeface="Arial"/>
                <a:cs typeface="Arial"/>
              </a:rPr>
              <a:t>do</a:t>
            </a:r>
            <a:r>
              <a:rPr sz="2800" i="1" spc="-360" dirty="0">
                <a:latin typeface="Arial"/>
                <a:cs typeface="Arial"/>
              </a:rPr>
              <a:t> </a:t>
            </a:r>
            <a:r>
              <a:rPr sz="2800" i="1" spc="80" dirty="0">
                <a:latin typeface="Arial"/>
                <a:cs typeface="Arial"/>
              </a:rPr>
              <a:t>it.”</a:t>
            </a:r>
            <a:endParaRPr sz="2800" b="1" dirty="0">
              <a:latin typeface="Arial"/>
              <a:cs typeface="Arial"/>
            </a:endParaRPr>
          </a:p>
        </p:txBody>
      </p:sp>
      <p:sp>
        <p:nvSpPr>
          <p:cNvPr id="5" name="object 5"/>
          <p:cNvSpPr/>
          <p:nvPr/>
        </p:nvSpPr>
        <p:spPr>
          <a:xfrm>
            <a:off x="6409023" y="2492896"/>
            <a:ext cx="2438400" cy="2667000"/>
          </a:xfrm>
          <a:prstGeom prst="rect">
            <a:avLst/>
          </a:prstGeom>
          <a:blipFill>
            <a:blip r:embed="rId3" cstate="print"/>
            <a:stretch>
              <a:fillRect/>
            </a:stretch>
          </a:blipFill>
        </p:spPr>
        <p:txBody>
          <a:bodyPr wrap="square" lIns="0" tIns="0" rIns="0" bIns="0" rtlCol="0"/>
          <a:lstStyle/>
          <a:p>
            <a:endParaRPr/>
          </a:p>
        </p:txBody>
      </p:sp>
      <p:sp>
        <p:nvSpPr>
          <p:cNvPr id="6" name="Rectangle 5">
            <a:extLst>
              <a:ext uri="{FF2B5EF4-FFF2-40B4-BE49-F238E27FC236}">
                <a16:creationId xmlns:a16="http://schemas.microsoft.com/office/drawing/2014/main" id="{0FBD387F-F61C-4F16-83B7-161C015CE16E}"/>
              </a:ext>
            </a:extLst>
          </p:cNvPr>
          <p:cNvSpPr/>
          <p:nvPr/>
        </p:nvSpPr>
        <p:spPr>
          <a:xfrm>
            <a:off x="6623737" y="5301208"/>
            <a:ext cx="2223686" cy="369332"/>
          </a:xfrm>
          <a:prstGeom prst="rect">
            <a:avLst/>
          </a:prstGeom>
        </p:spPr>
        <p:txBody>
          <a:bodyPr wrap="none">
            <a:spAutoFit/>
          </a:bodyPr>
          <a:lstStyle/>
          <a:p>
            <a:r>
              <a:rPr lang="en-GB" b="1" i="1" spc="80" dirty="0">
                <a:latin typeface="Arial"/>
                <a:cs typeface="Arial"/>
              </a:rPr>
              <a:t>Abraham Lincoln</a:t>
            </a:r>
            <a:endParaRPr lang="en-GB" dirty="0"/>
          </a:p>
        </p:txBody>
      </p:sp>
    </p:spTree>
    <p:extLst>
      <p:ext uri="{BB962C8B-B14F-4D97-AF65-F5344CB8AC3E}">
        <p14:creationId xmlns:p14="http://schemas.microsoft.com/office/powerpoint/2010/main" val="123828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944262"/>
            <a:ext cx="5798820" cy="566822"/>
          </a:xfrm>
          <a:prstGeom prst="rect">
            <a:avLst/>
          </a:prstGeom>
        </p:spPr>
        <p:txBody>
          <a:bodyPr vert="horz" wrap="square" lIns="0" tIns="12700" rIns="0" bIns="0" rtlCol="0">
            <a:spAutoFit/>
          </a:bodyPr>
          <a:lstStyle/>
          <a:p>
            <a:pPr marL="12700">
              <a:lnSpc>
                <a:spcPct val="100000"/>
              </a:lnSpc>
              <a:spcBef>
                <a:spcPts val="100"/>
              </a:spcBef>
              <a:tabLst>
                <a:tab pos="4174490" algn="l"/>
              </a:tabLst>
            </a:pPr>
            <a:r>
              <a:rPr spc="-185" dirty="0"/>
              <a:t>Existing</a:t>
            </a:r>
            <a:r>
              <a:rPr lang="en-GB" spc="-185" dirty="0"/>
              <a:t> </a:t>
            </a:r>
            <a:r>
              <a:rPr spc="-80" dirty="0"/>
              <a:t>Network</a:t>
            </a:r>
          </a:p>
        </p:txBody>
      </p:sp>
      <p:sp>
        <p:nvSpPr>
          <p:cNvPr id="4" name="object 4"/>
          <p:cNvSpPr txBox="1"/>
          <p:nvPr/>
        </p:nvSpPr>
        <p:spPr>
          <a:xfrm>
            <a:off x="344927" y="1595319"/>
            <a:ext cx="5798820" cy="1674817"/>
          </a:xfrm>
          <a:prstGeom prst="rect">
            <a:avLst/>
          </a:prstGeom>
        </p:spPr>
        <p:txBody>
          <a:bodyPr vert="horz" wrap="square" lIns="0" tIns="12700" rIns="0" bIns="0" rtlCol="0">
            <a:spAutoFit/>
          </a:bodyPr>
          <a:lstStyle/>
          <a:p>
            <a:pPr marL="12700">
              <a:lnSpc>
                <a:spcPct val="100000"/>
              </a:lnSpc>
              <a:spcBef>
                <a:spcPts val="100"/>
              </a:spcBef>
              <a:tabLst>
                <a:tab pos="583565" algn="l"/>
                <a:tab pos="584200" algn="l"/>
              </a:tabLst>
            </a:pPr>
            <a:r>
              <a:rPr lang="en-GB" sz="3600" spc="-5" dirty="0">
                <a:latin typeface="Arial"/>
                <a:cs typeface="Arial"/>
              </a:rPr>
              <a:t>How do we evaluate the health of the existing network?</a:t>
            </a:r>
          </a:p>
        </p:txBody>
      </p:sp>
      <p:sp>
        <p:nvSpPr>
          <p:cNvPr id="5" name="Rectangle 4">
            <a:extLst>
              <a:ext uri="{FF2B5EF4-FFF2-40B4-BE49-F238E27FC236}">
                <a16:creationId xmlns:a16="http://schemas.microsoft.com/office/drawing/2014/main" id="{69095558-2FAF-491D-B5FA-86655B0DCF89}"/>
              </a:ext>
            </a:extLst>
          </p:cNvPr>
          <p:cNvSpPr/>
          <p:nvPr/>
        </p:nvSpPr>
        <p:spPr>
          <a:xfrm>
            <a:off x="1835696" y="3270136"/>
            <a:ext cx="4752528" cy="2677656"/>
          </a:xfrm>
          <a:prstGeom prst="rect">
            <a:avLst/>
          </a:prstGeom>
        </p:spPr>
        <p:txBody>
          <a:bodyPr wrap="square">
            <a:spAutoFit/>
          </a:bodyPr>
          <a:lstStyle/>
          <a:p>
            <a:pPr marL="584200" indent="-571500">
              <a:lnSpc>
                <a:spcPct val="100000"/>
              </a:lnSpc>
              <a:spcBef>
                <a:spcPts val="100"/>
              </a:spcBef>
              <a:buChar char="•"/>
              <a:tabLst>
                <a:tab pos="583565" algn="l"/>
                <a:tab pos="584200" algn="l"/>
              </a:tabLst>
            </a:pPr>
            <a:r>
              <a:rPr lang="en-GB" sz="2400" spc="-5" dirty="0">
                <a:cs typeface="Arial"/>
              </a:rPr>
              <a:t>Performance</a:t>
            </a:r>
            <a:endParaRPr lang="en-GB" sz="2400" dirty="0">
              <a:cs typeface="Arial"/>
            </a:endParaRPr>
          </a:p>
          <a:p>
            <a:pPr marL="584200" indent="-571500">
              <a:lnSpc>
                <a:spcPct val="100000"/>
              </a:lnSpc>
              <a:buChar char="•"/>
              <a:tabLst>
                <a:tab pos="583565" algn="l"/>
                <a:tab pos="584200" algn="l"/>
              </a:tabLst>
            </a:pPr>
            <a:r>
              <a:rPr lang="en-GB" sz="2400" spc="-5" dirty="0">
                <a:cs typeface="Arial"/>
              </a:rPr>
              <a:t>Availability</a:t>
            </a:r>
            <a:endParaRPr lang="en-GB" sz="2400" dirty="0">
              <a:cs typeface="Arial"/>
            </a:endParaRPr>
          </a:p>
          <a:p>
            <a:pPr marL="584200" indent="-571500">
              <a:lnSpc>
                <a:spcPct val="100000"/>
              </a:lnSpc>
              <a:buChar char="•"/>
              <a:tabLst>
                <a:tab pos="583565" algn="l"/>
                <a:tab pos="584200" algn="l"/>
              </a:tabLst>
            </a:pPr>
            <a:r>
              <a:rPr lang="en-GB" sz="2400" spc="-5" dirty="0">
                <a:cs typeface="Arial"/>
              </a:rPr>
              <a:t>Bandwidth</a:t>
            </a:r>
            <a:r>
              <a:rPr lang="en-GB" sz="2400" spc="-30" dirty="0">
                <a:cs typeface="Arial"/>
              </a:rPr>
              <a:t> </a:t>
            </a:r>
            <a:r>
              <a:rPr lang="en-GB" sz="2400" spc="-5" dirty="0">
                <a:cs typeface="Arial"/>
              </a:rPr>
              <a:t>utilization</a:t>
            </a:r>
            <a:endParaRPr lang="en-GB" sz="2400" dirty="0">
              <a:cs typeface="Arial"/>
            </a:endParaRPr>
          </a:p>
          <a:p>
            <a:pPr marL="584200" indent="-571500">
              <a:lnSpc>
                <a:spcPct val="100000"/>
              </a:lnSpc>
              <a:buChar char="•"/>
              <a:tabLst>
                <a:tab pos="583565" algn="l"/>
                <a:tab pos="584200" algn="l"/>
              </a:tabLst>
            </a:pPr>
            <a:r>
              <a:rPr lang="en-GB" sz="2400" spc="-5" dirty="0">
                <a:cs typeface="Arial"/>
              </a:rPr>
              <a:t>Efficiency</a:t>
            </a:r>
            <a:endParaRPr lang="en-GB" sz="2400" dirty="0">
              <a:cs typeface="Arial"/>
            </a:endParaRPr>
          </a:p>
          <a:p>
            <a:pPr marL="584200" indent="-571500">
              <a:lnSpc>
                <a:spcPct val="100000"/>
              </a:lnSpc>
              <a:buChar char="•"/>
              <a:tabLst>
                <a:tab pos="583565" algn="l"/>
                <a:tab pos="584200" algn="l"/>
              </a:tabLst>
            </a:pPr>
            <a:r>
              <a:rPr lang="en-GB" sz="2400" spc="-5" dirty="0">
                <a:cs typeface="Arial"/>
              </a:rPr>
              <a:t>Response</a:t>
            </a:r>
            <a:r>
              <a:rPr lang="en-GB" sz="2400" spc="-30" dirty="0">
                <a:cs typeface="Arial"/>
              </a:rPr>
              <a:t> </a:t>
            </a:r>
            <a:r>
              <a:rPr lang="en-GB" sz="2400" spc="-5" dirty="0">
                <a:cs typeface="Arial"/>
              </a:rPr>
              <a:t>time</a:t>
            </a:r>
            <a:endParaRPr lang="en-GB" sz="2400" dirty="0">
              <a:cs typeface="Arial"/>
            </a:endParaRPr>
          </a:p>
          <a:p>
            <a:pPr marL="584200" marR="373380" indent="-571500">
              <a:lnSpc>
                <a:spcPct val="100000"/>
              </a:lnSpc>
              <a:buChar char="•"/>
              <a:tabLst>
                <a:tab pos="583565" algn="l"/>
                <a:tab pos="584200" algn="l"/>
                <a:tab pos="3606800" algn="l"/>
              </a:tabLst>
            </a:pPr>
            <a:r>
              <a:rPr lang="en-GB" sz="2400" spc="-5" dirty="0">
                <a:cs typeface="Arial"/>
              </a:rPr>
              <a:t>Status </a:t>
            </a:r>
            <a:r>
              <a:rPr lang="en-GB" sz="2400" dirty="0">
                <a:cs typeface="Arial"/>
              </a:rPr>
              <a:t>of </a:t>
            </a:r>
            <a:r>
              <a:rPr lang="en-GB" sz="2400" spc="-5" dirty="0">
                <a:cs typeface="Arial"/>
              </a:rPr>
              <a:t>major routers,  switches, firewalls, servers</a:t>
            </a:r>
            <a:endParaRPr lang="en-GB" sz="2400" dirty="0">
              <a:cs typeface="Arial"/>
            </a:endParaRPr>
          </a:p>
        </p:txBody>
      </p:sp>
    </p:spTree>
    <p:extLst>
      <p:ext uri="{BB962C8B-B14F-4D97-AF65-F5344CB8AC3E}">
        <p14:creationId xmlns:p14="http://schemas.microsoft.com/office/powerpoint/2010/main" val="95427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899-F92A-44D2-90E3-249E760EDFAF}"/>
              </a:ext>
            </a:extLst>
          </p:cNvPr>
          <p:cNvSpPr>
            <a:spLocks noGrp="1"/>
          </p:cNvSpPr>
          <p:nvPr>
            <p:ph type="title"/>
          </p:nvPr>
        </p:nvSpPr>
        <p:spPr>
          <a:xfrm>
            <a:off x="107504" y="980728"/>
            <a:ext cx="8424863" cy="1143000"/>
          </a:xfrm>
        </p:spPr>
        <p:txBody>
          <a:bodyPr/>
          <a:lstStyle/>
          <a:p>
            <a:r>
              <a:rPr lang="en-GB" spc="-165" dirty="0"/>
              <a:t>Characterising </a:t>
            </a:r>
            <a:r>
              <a:rPr lang="en-GB" spc="-80" dirty="0"/>
              <a:t>Network</a:t>
            </a:r>
            <a:r>
              <a:rPr lang="en-GB" spc="-290" dirty="0"/>
              <a:t> </a:t>
            </a:r>
            <a:r>
              <a:rPr lang="en-GB" spc="-105" dirty="0"/>
              <a:t>Traffic</a:t>
            </a:r>
            <a:endParaRPr lang="en-GB" dirty="0"/>
          </a:p>
        </p:txBody>
      </p:sp>
      <p:sp>
        <p:nvSpPr>
          <p:cNvPr id="3" name="Content Placeholder 2">
            <a:extLst>
              <a:ext uri="{FF2B5EF4-FFF2-40B4-BE49-F238E27FC236}">
                <a16:creationId xmlns:a16="http://schemas.microsoft.com/office/drawing/2014/main" id="{BF5DC122-3F6B-4D5F-AC55-349C491D350D}"/>
              </a:ext>
            </a:extLst>
          </p:cNvPr>
          <p:cNvSpPr>
            <a:spLocks noGrp="1"/>
          </p:cNvSpPr>
          <p:nvPr>
            <p:ph idx="1"/>
          </p:nvPr>
        </p:nvSpPr>
        <p:spPr>
          <a:xfrm>
            <a:off x="323528" y="2060848"/>
            <a:ext cx="8229600" cy="3773016"/>
          </a:xfrm>
        </p:spPr>
        <p:txBody>
          <a:bodyPr/>
          <a:lstStyle/>
          <a:p>
            <a:pPr marL="593725" marR="5080" indent="-571500">
              <a:spcBef>
                <a:spcPts val="100"/>
              </a:spcBef>
              <a:tabLst>
                <a:tab pos="593725" algn="l"/>
                <a:tab pos="594360" algn="l"/>
              </a:tabLst>
            </a:pPr>
            <a:r>
              <a:rPr lang="en-GB" spc="-5" dirty="0"/>
              <a:t>Understand how network users  interact with network resources and  services</a:t>
            </a:r>
          </a:p>
          <a:p>
            <a:pPr lvl="2"/>
            <a:r>
              <a:rPr lang="en-GB" dirty="0"/>
              <a:t>Are particular groups using particular servers and resources</a:t>
            </a:r>
          </a:p>
          <a:p>
            <a:pPr lvl="2"/>
            <a:r>
              <a:rPr lang="en-GB" dirty="0"/>
              <a:t>Where are they located</a:t>
            </a:r>
          </a:p>
          <a:p>
            <a:r>
              <a:rPr lang="en-GB" spc="-5" dirty="0"/>
              <a:t>Identify all user</a:t>
            </a:r>
            <a:r>
              <a:rPr lang="en-GB" spc="-20" dirty="0"/>
              <a:t> </a:t>
            </a:r>
            <a:r>
              <a:rPr lang="en-GB" spc="-5" dirty="0"/>
              <a:t>groups</a:t>
            </a:r>
          </a:p>
          <a:p>
            <a:pPr marL="593725" marR="512445" indent="-571500">
              <a:tabLst>
                <a:tab pos="593725" algn="l"/>
                <a:tab pos="594360" algn="l"/>
              </a:tabLst>
            </a:pPr>
            <a:r>
              <a:rPr lang="en-GB" spc="-5" dirty="0"/>
              <a:t>Assess the impact </a:t>
            </a:r>
            <a:r>
              <a:rPr lang="en-GB" dirty="0"/>
              <a:t>of </a:t>
            </a:r>
            <a:r>
              <a:rPr lang="en-GB" spc="-5" dirty="0"/>
              <a:t>adding new  user</a:t>
            </a:r>
            <a:r>
              <a:rPr lang="en-GB" spc="-10" dirty="0"/>
              <a:t> </a:t>
            </a:r>
            <a:r>
              <a:rPr lang="en-GB" spc="-5" dirty="0"/>
              <a:t>groups</a:t>
            </a:r>
          </a:p>
          <a:p>
            <a:endParaRPr lang="en-GB" dirty="0"/>
          </a:p>
        </p:txBody>
      </p:sp>
    </p:spTree>
    <p:extLst>
      <p:ext uri="{BB962C8B-B14F-4D97-AF65-F5344CB8AC3E}">
        <p14:creationId xmlns:p14="http://schemas.microsoft.com/office/powerpoint/2010/main" val="568944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899-F92A-44D2-90E3-249E760EDFAF}"/>
              </a:ext>
            </a:extLst>
          </p:cNvPr>
          <p:cNvSpPr>
            <a:spLocks noGrp="1"/>
          </p:cNvSpPr>
          <p:nvPr>
            <p:ph type="title"/>
          </p:nvPr>
        </p:nvSpPr>
        <p:spPr>
          <a:xfrm>
            <a:off x="179512" y="980728"/>
            <a:ext cx="8424863" cy="1143000"/>
          </a:xfrm>
        </p:spPr>
        <p:txBody>
          <a:bodyPr/>
          <a:lstStyle/>
          <a:p>
            <a:r>
              <a:rPr lang="en-GB" spc="-165" dirty="0"/>
              <a:t>Characterising </a:t>
            </a:r>
            <a:r>
              <a:rPr lang="en-GB" spc="-80" dirty="0"/>
              <a:t>Network</a:t>
            </a:r>
            <a:r>
              <a:rPr lang="en-GB" spc="-290" dirty="0"/>
              <a:t> </a:t>
            </a:r>
            <a:r>
              <a:rPr lang="en-GB" spc="-105" dirty="0"/>
              <a:t>Traffic</a:t>
            </a:r>
            <a:endParaRPr lang="en-GB" dirty="0"/>
          </a:p>
        </p:txBody>
      </p:sp>
      <p:sp>
        <p:nvSpPr>
          <p:cNvPr id="3" name="Content Placeholder 2">
            <a:extLst>
              <a:ext uri="{FF2B5EF4-FFF2-40B4-BE49-F238E27FC236}">
                <a16:creationId xmlns:a16="http://schemas.microsoft.com/office/drawing/2014/main" id="{BF5DC122-3F6B-4D5F-AC55-349C491D350D}"/>
              </a:ext>
            </a:extLst>
          </p:cNvPr>
          <p:cNvSpPr>
            <a:spLocks noGrp="1"/>
          </p:cNvSpPr>
          <p:nvPr>
            <p:ph idx="1"/>
          </p:nvPr>
        </p:nvSpPr>
        <p:spPr>
          <a:xfrm>
            <a:off x="456535" y="1844824"/>
            <a:ext cx="8229600" cy="1828799"/>
          </a:xfrm>
        </p:spPr>
        <p:txBody>
          <a:bodyPr>
            <a:normAutofit/>
          </a:bodyPr>
          <a:lstStyle/>
          <a:p>
            <a:pPr marL="22225" marR="5080" indent="0">
              <a:spcBef>
                <a:spcPts val="100"/>
              </a:spcBef>
              <a:buNone/>
              <a:tabLst>
                <a:tab pos="593725" algn="l"/>
                <a:tab pos="594360" algn="l"/>
              </a:tabLst>
            </a:pPr>
            <a:r>
              <a:rPr lang="en-GB" spc="-5" dirty="0"/>
              <a:t>What are the most important traffic factors to be taken into consideration?</a:t>
            </a:r>
          </a:p>
          <a:p>
            <a:pPr marL="593725" marR="5080" indent="-571500">
              <a:spcBef>
                <a:spcPts val="100"/>
              </a:spcBef>
              <a:tabLst>
                <a:tab pos="593725" algn="l"/>
                <a:tab pos="594360" algn="l"/>
              </a:tabLst>
            </a:pPr>
            <a:endParaRPr lang="en-GB" spc="-5" dirty="0"/>
          </a:p>
        </p:txBody>
      </p:sp>
      <p:sp>
        <p:nvSpPr>
          <p:cNvPr id="4" name="Rectangle 3">
            <a:extLst>
              <a:ext uri="{FF2B5EF4-FFF2-40B4-BE49-F238E27FC236}">
                <a16:creationId xmlns:a16="http://schemas.microsoft.com/office/drawing/2014/main" id="{A40789E9-4443-4287-83BD-EFFEFEA7BC56}"/>
              </a:ext>
            </a:extLst>
          </p:cNvPr>
          <p:cNvSpPr/>
          <p:nvPr/>
        </p:nvSpPr>
        <p:spPr>
          <a:xfrm>
            <a:off x="827584" y="3068960"/>
            <a:ext cx="7859216" cy="3826689"/>
          </a:xfrm>
          <a:prstGeom prst="rect">
            <a:avLst/>
          </a:prstGeom>
        </p:spPr>
        <p:txBody>
          <a:bodyPr wrap="square">
            <a:spAutoFit/>
          </a:bodyPr>
          <a:lstStyle/>
          <a:p>
            <a:pPr marL="1668145" indent="-457200">
              <a:spcBef>
                <a:spcPts val="3010"/>
              </a:spcBef>
              <a:buFont typeface="Arial"/>
              <a:buChar char="•"/>
              <a:tabLst>
                <a:tab pos="1668145" algn="l"/>
                <a:tab pos="1668780" algn="l"/>
              </a:tabLst>
            </a:pPr>
            <a:r>
              <a:rPr lang="en-GB" sz="2400" spc="-85" dirty="0">
                <a:cs typeface="Georgia"/>
              </a:rPr>
              <a:t>Traffic</a:t>
            </a:r>
            <a:r>
              <a:rPr lang="en-GB" sz="2400" spc="-185" dirty="0">
                <a:cs typeface="Georgia"/>
              </a:rPr>
              <a:t> </a:t>
            </a:r>
            <a:r>
              <a:rPr lang="en-GB" sz="2400" spc="-20" dirty="0">
                <a:cs typeface="Georgia"/>
              </a:rPr>
              <a:t>flow</a:t>
            </a:r>
            <a:endParaRPr lang="en-GB" sz="2400" dirty="0">
              <a:cs typeface="Georgia"/>
            </a:endParaRPr>
          </a:p>
          <a:p>
            <a:pPr marL="1668145" marR="5080" indent="-457200">
              <a:spcBef>
                <a:spcPts val="790"/>
              </a:spcBef>
              <a:buFont typeface="Arial"/>
              <a:buChar char="•"/>
              <a:tabLst>
                <a:tab pos="1668145" algn="l"/>
                <a:tab pos="1668780" algn="l"/>
              </a:tabLst>
            </a:pPr>
            <a:r>
              <a:rPr lang="en-GB" sz="2400" spc="-80" dirty="0">
                <a:cs typeface="Georgia"/>
              </a:rPr>
              <a:t>Location </a:t>
            </a:r>
            <a:r>
              <a:rPr lang="en-GB" sz="2400" spc="-60" dirty="0">
                <a:cs typeface="Georgia"/>
              </a:rPr>
              <a:t>of traffic </a:t>
            </a:r>
            <a:r>
              <a:rPr lang="en-GB" sz="2400" spc="-35" dirty="0">
                <a:cs typeface="Georgia"/>
              </a:rPr>
              <a:t>sources</a:t>
            </a:r>
            <a:r>
              <a:rPr lang="en-GB" sz="2400" spc="-180" dirty="0">
                <a:cs typeface="Georgia"/>
              </a:rPr>
              <a:t> </a:t>
            </a:r>
            <a:r>
              <a:rPr lang="en-GB" sz="2400" spc="-90" dirty="0">
                <a:cs typeface="Georgia"/>
              </a:rPr>
              <a:t>and  </a:t>
            </a:r>
            <a:r>
              <a:rPr lang="en-GB" sz="2400" spc="-55" dirty="0">
                <a:cs typeface="Georgia"/>
              </a:rPr>
              <a:t>data</a:t>
            </a:r>
            <a:r>
              <a:rPr lang="en-GB" sz="2400" spc="-175" dirty="0">
                <a:cs typeface="Georgia"/>
              </a:rPr>
              <a:t> </a:t>
            </a:r>
            <a:r>
              <a:rPr lang="en-GB" sz="2400" spc="-25" dirty="0">
                <a:cs typeface="Georgia"/>
              </a:rPr>
              <a:t>stores – e.g. Canvas is in the cloud, where is Panopto stored</a:t>
            </a:r>
            <a:endParaRPr lang="en-GB" sz="2400" dirty="0">
              <a:cs typeface="Georgia"/>
            </a:endParaRPr>
          </a:p>
          <a:p>
            <a:pPr marL="1668780" indent="-457200">
              <a:spcBef>
                <a:spcPts val="805"/>
              </a:spcBef>
              <a:buFont typeface="Arial"/>
              <a:buChar char="•"/>
              <a:tabLst>
                <a:tab pos="1668780" algn="l"/>
                <a:tab pos="1669414" algn="l"/>
              </a:tabLst>
            </a:pPr>
            <a:r>
              <a:rPr lang="en-GB" sz="2400" spc="-85" dirty="0">
                <a:cs typeface="Georgia"/>
              </a:rPr>
              <a:t>Traffic</a:t>
            </a:r>
            <a:r>
              <a:rPr lang="en-GB" sz="2400" spc="-195" dirty="0">
                <a:cs typeface="Georgia"/>
              </a:rPr>
              <a:t> </a:t>
            </a:r>
            <a:r>
              <a:rPr lang="en-GB" sz="2400" spc="-65" dirty="0">
                <a:cs typeface="Georgia"/>
              </a:rPr>
              <a:t>load – load on bandwidth </a:t>
            </a:r>
            <a:endParaRPr lang="en-GB" sz="2400" dirty="0">
              <a:cs typeface="Georgia"/>
            </a:endParaRPr>
          </a:p>
          <a:p>
            <a:pPr marL="1668780" indent="-457200">
              <a:spcBef>
                <a:spcPts val="800"/>
              </a:spcBef>
              <a:buFont typeface="Arial"/>
              <a:buChar char="•"/>
              <a:tabLst>
                <a:tab pos="1668780" algn="l"/>
                <a:tab pos="1669414" algn="l"/>
              </a:tabLst>
            </a:pPr>
            <a:r>
              <a:rPr lang="en-GB" sz="2400" spc="-85" dirty="0">
                <a:cs typeface="Georgia"/>
              </a:rPr>
              <a:t>Traffic</a:t>
            </a:r>
            <a:r>
              <a:rPr lang="en-GB" sz="2400" spc="-170" dirty="0">
                <a:cs typeface="Georgia"/>
              </a:rPr>
              <a:t> </a:t>
            </a:r>
            <a:r>
              <a:rPr lang="en-GB" sz="2400" spc="-45" dirty="0">
                <a:cs typeface="Georgia"/>
              </a:rPr>
              <a:t>behaviour </a:t>
            </a:r>
            <a:r>
              <a:rPr lang="en-GB" sz="2400" spc="-20" dirty="0">
                <a:cs typeface="Georgia"/>
              </a:rPr>
              <a:t>–  is it bursty or steady etc</a:t>
            </a:r>
            <a:endParaRPr lang="en-GB" sz="2400" dirty="0">
              <a:cs typeface="Georgia"/>
            </a:endParaRPr>
          </a:p>
          <a:p>
            <a:pPr marL="1668780" marR="1245235" indent="-456565">
              <a:spcBef>
                <a:spcPts val="795"/>
              </a:spcBef>
              <a:buFont typeface="Arial"/>
              <a:buChar char="•"/>
              <a:tabLst>
                <a:tab pos="1668780" algn="l"/>
                <a:tab pos="1669414" algn="l"/>
              </a:tabLst>
            </a:pPr>
            <a:r>
              <a:rPr lang="en-GB" sz="2400" spc="-85" dirty="0">
                <a:cs typeface="Georgia"/>
              </a:rPr>
              <a:t>Quality </a:t>
            </a:r>
            <a:r>
              <a:rPr lang="en-GB" sz="2400" spc="-60" dirty="0">
                <a:cs typeface="Georgia"/>
              </a:rPr>
              <a:t>of </a:t>
            </a:r>
            <a:r>
              <a:rPr lang="en-GB" sz="2400" spc="-45" dirty="0">
                <a:cs typeface="Georgia"/>
              </a:rPr>
              <a:t>Service</a:t>
            </a:r>
            <a:r>
              <a:rPr lang="en-GB" sz="2400" spc="-220" dirty="0">
                <a:cs typeface="Georgia"/>
              </a:rPr>
              <a:t> </a:t>
            </a:r>
            <a:r>
              <a:rPr lang="en-GB" sz="2400" spc="-114" dirty="0">
                <a:cs typeface="Georgia"/>
              </a:rPr>
              <a:t>(QoS) r</a:t>
            </a:r>
            <a:r>
              <a:rPr lang="en-GB" sz="2400" spc="-50" dirty="0">
                <a:cs typeface="Georgia"/>
              </a:rPr>
              <a:t>equirements VOIP, Teams or Download</a:t>
            </a:r>
            <a:endParaRPr lang="en-GB" sz="2400" dirty="0">
              <a:cs typeface="Georgia"/>
            </a:endParaRPr>
          </a:p>
        </p:txBody>
      </p:sp>
    </p:spTree>
    <p:extLst>
      <p:ext uri="{BB962C8B-B14F-4D97-AF65-F5344CB8AC3E}">
        <p14:creationId xmlns:p14="http://schemas.microsoft.com/office/powerpoint/2010/main" val="34903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536" y="836712"/>
            <a:ext cx="5683458" cy="689932"/>
          </a:xfrm>
          <a:prstGeom prst="rect">
            <a:avLst/>
          </a:prstGeom>
        </p:spPr>
        <p:txBody>
          <a:bodyPr vert="horz" wrap="square" lIns="0" tIns="12700" rIns="0" bIns="0" rtlCol="0">
            <a:spAutoFit/>
          </a:bodyPr>
          <a:lstStyle/>
          <a:p>
            <a:pPr marL="12700">
              <a:lnSpc>
                <a:spcPct val="100000"/>
              </a:lnSpc>
              <a:spcBef>
                <a:spcPts val="100"/>
              </a:spcBef>
            </a:pPr>
            <a:r>
              <a:rPr spc="-215" dirty="0"/>
              <a:t>User</a:t>
            </a:r>
            <a:r>
              <a:rPr spc="-355" dirty="0"/>
              <a:t> </a:t>
            </a:r>
            <a:r>
              <a:rPr spc="-150" dirty="0"/>
              <a:t>Communities</a:t>
            </a:r>
          </a:p>
        </p:txBody>
      </p:sp>
      <p:graphicFrame>
        <p:nvGraphicFramePr>
          <p:cNvPr id="3" name="object 3"/>
          <p:cNvGraphicFramePr>
            <a:graphicFrameLocks noGrp="1"/>
          </p:cNvGraphicFramePr>
          <p:nvPr>
            <p:extLst>
              <p:ext uri="{D42A27DB-BD31-4B8C-83A1-F6EECF244321}">
                <p14:modId xmlns:p14="http://schemas.microsoft.com/office/powerpoint/2010/main" val="4045055567"/>
              </p:ext>
            </p:extLst>
          </p:nvPr>
        </p:nvGraphicFramePr>
        <p:xfrm>
          <a:off x="384492" y="1854961"/>
          <a:ext cx="8351519" cy="3888105"/>
        </p:xfrm>
        <a:graphic>
          <a:graphicData uri="http://schemas.openxmlformats.org/drawingml/2006/table">
            <a:tbl>
              <a:tblPr firstRow="1" bandRow="1">
                <a:tableStyleId>{2D5ABB26-0587-4C30-8999-92F81FD0307C}</a:tableStyleId>
              </a:tblPr>
              <a:tblGrid>
                <a:gridCol w="2087880">
                  <a:extLst>
                    <a:ext uri="{9D8B030D-6E8A-4147-A177-3AD203B41FA5}">
                      <a16:colId xmlns:a16="http://schemas.microsoft.com/office/drawing/2014/main" val="20000"/>
                    </a:ext>
                  </a:extLst>
                </a:gridCol>
                <a:gridCol w="2171636">
                  <a:extLst>
                    <a:ext uri="{9D8B030D-6E8A-4147-A177-3AD203B41FA5}">
                      <a16:colId xmlns:a16="http://schemas.microsoft.com/office/drawing/2014/main" val="20001"/>
                    </a:ext>
                  </a:extLst>
                </a:gridCol>
                <a:gridCol w="2004124">
                  <a:extLst>
                    <a:ext uri="{9D8B030D-6E8A-4147-A177-3AD203B41FA5}">
                      <a16:colId xmlns:a16="http://schemas.microsoft.com/office/drawing/2014/main" val="20002"/>
                    </a:ext>
                  </a:extLst>
                </a:gridCol>
                <a:gridCol w="2087879">
                  <a:extLst>
                    <a:ext uri="{9D8B030D-6E8A-4147-A177-3AD203B41FA5}">
                      <a16:colId xmlns:a16="http://schemas.microsoft.com/office/drawing/2014/main" val="20003"/>
                    </a:ext>
                  </a:extLst>
                </a:gridCol>
              </a:tblGrid>
              <a:tr h="1188720">
                <a:tc>
                  <a:txBody>
                    <a:bodyPr/>
                    <a:lstStyle/>
                    <a:p>
                      <a:pPr marL="90170" marR="248285">
                        <a:lnSpc>
                          <a:spcPts val="2160"/>
                        </a:lnSpc>
                        <a:spcBef>
                          <a:spcPts val="20"/>
                        </a:spcBef>
                      </a:pPr>
                      <a:r>
                        <a:rPr sz="1600" b="1" spc="-145" dirty="0">
                          <a:latin typeface="Georgia"/>
                          <a:cs typeface="Georgia"/>
                        </a:rPr>
                        <a:t>User</a:t>
                      </a:r>
                      <a:r>
                        <a:rPr sz="1600" b="1" spc="-235" dirty="0">
                          <a:latin typeface="Georgia"/>
                          <a:cs typeface="Georgia"/>
                        </a:rPr>
                        <a:t> </a:t>
                      </a:r>
                      <a:r>
                        <a:rPr sz="1600" b="1" spc="-150" dirty="0">
                          <a:latin typeface="Georgia"/>
                          <a:cs typeface="Georgia"/>
                        </a:rPr>
                        <a:t>Community  </a:t>
                      </a:r>
                      <a:r>
                        <a:rPr sz="1600" b="1" spc="-175" dirty="0">
                          <a:latin typeface="Georgia"/>
                          <a:cs typeface="Georgia"/>
                        </a:rPr>
                        <a:t>Name</a:t>
                      </a:r>
                      <a:endParaRPr sz="16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1440" marR="768350">
                        <a:lnSpc>
                          <a:spcPts val="2160"/>
                        </a:lnSpc>
                        <a:spcBef>
                          <a:spcPts val="20"/>
                        </a:spcBef>
                      </a:pPr>
                      <a:r>
                        <a:rPr sz="1600" b="1" spc="-125" dirty="0">
                          <a:latin typeface="Georgia"/>
                          <a:cs typeface="Georgia"/>
                        </a:rPr>
                        <a:t>Size of  </a:t>
                      </a:r>
                      <a:r>
                        <a:rPr sz="1600" b="1" spc="-15" dirty="0" err="1">
                          <a:latin typeface="Georgia"/>
                          <a:cs typeface="Georgia"/>
                        </a:rPr>
                        <a:t>C</a:t>
                      </a:r>
                      <a:r>
                        <a:rPr sz="1600" b="1" spc="-5" dirty="0" err="1">
                          <a:latin typeface="Georgia"/>
                          <a:cs typeface="Georgia"/>
                        </a:rPr>
                        <a:t>o</a:t>
                      </a:r>
                      <a:r>
                        <a:rPr sz="1600" b="1" spc="5" dirty="0" err="1">
                          <a:latin typeface="Georgia"/>
                          <a:cs typeface="Georgia"/>
                        </a:rPr>
                        <a:t>mmun</a:t>
                      </a:r>
                      <a:r>
                        <a:rPr sz="1600" b="1" spc="-5" dirty="0" err="1">
                          <a:latin typeface="Georgia"/>
                          <a:cs typeface="Georgia"/>
                        </a:rPr>
                        <a:t>i</a:t>
                      </a:r>
                      <a:r>
                        <a:rPr sz="1600" b="1" dirty="0" err="1">
                          <a:latin typeface="Georgia"/>
                          <a:cs typeface="Georgia"/>
                        </a:rPr>
                        <a:t>t</a:t>
                      </a:r>
                      <a:r>
                        <a:rPr lang="en-GB" sz="1600" b="1" dirty="0">
                          <a:latin typeface="Georgia"/>
                          <a:cs typeface="Georgia"/>
                        </a:rPr>
                        <a:t>y</a:t>
                      </a:r>
                      <a:r>
                        <a:rPr sz="1600" b="1" dirty="0">
                          <a:latin typeface="Georgia"/>
                          <a:cs typeface="Georgia"/>
                        </a:rPr>
                        <a:t>  </a:t>
                      </a:r>
                      <a:r>
                        <a:rPr sz="1600" b="1" spc="-145" dirty="0">
                          <a:latin typeface="Georgia"/>
                          <a:cs typeface="Georgia"/>
                        </a:rPr>
                        <a:t>(Number </a:t>
                      </a:r>
                      <a:r>
                        <a:rPr sz="1600" b="1" spc="-125" dirty="0">
                          <a:latin typeface="Georgia"/>
                          <a:cs typeface="Georgia"/>
                        </a:rPr>
                        <a:t>of  </a:t>
                      </a:r>
                      <a:r>
                        <a:rPr sz="1600" b="1" spc="-130" dirty="0">
                          <a:latin typeface="Georgia"/>
                          <a:cs typeface="Georgia"/>
                        </a:rPr>
                        <a:t>Users)</a:t>
                      </a:r>
                      <a:endParaRPr sz="16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2075" marR="546100" indent="-635">
                        <a:lnSpc>
                          <a:spcPts val="2160"/>
                        </a:lnSpc>
                        <a:spcBef>
                          <a:spcPts val="20"/>
                        </a:spcBef>
                      </a:pPr>
                      <a:r>
                        <a:rPr sz="1600" b="1" spc="-114" dirty="0">
                          <a:latin typeface="Georgia"/>
                          <a:cs typeface="Georgia"/>
                        </a:rPr>
                        <a:t>Location(s)</a:t>
                      </a:r>
                      <a:r>
                        <a:rPr sz="1600" b="1" spc="-235" dirty="0">
                          <a:latin typeface="Georgia"/>
                          <a:cs typeface="Georgia"/>
                        </a:rPr>
                        <a:t> </a:t>
                      </a:r>
                      <a:r>
                        <a:rPr sz="1600" b="1" spc="-125" dirty="0">
                          <a:latin typeface="Georgia"/>
                          <a:cs typeface="Georgia"/>
                        </a:rPr>
                        <a:t>of  </a:t>
                      </a:r>
                      <a:r>
                        <a:rPr sz="1600" b="1" spc="-150" dirty="0">
                          <a:latin typeface="Georgia"/>
                          <a:cs typeface="Georgia"/>
                        </a:rPr>
                        <a:t>Community</a:t>
                      </a:r>
                      <a:endParaRPr sz="160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1440" marR="483234">
                        <a:lnSpc>
                          <a:spcPts val="2160"/>
                        </a:lnSpc>
                        <a:spcBef>
                          <a:spcPts val="20"/>
                        </a:spcBef>
                      </a:pPr>
                      <a:r>
                        <a:rPr sz="1600" b="1" spc="-10" dirty="0">
                          <a:latin typeface="Georgia"/>
                          <a:cs typeface="Georgia"/>
                        </a:rPr>
                        <a:t>A</a:t>
                      </a:r>
                      <a:r>
                        <a:rPr sz="1600" b="1" spc="5" dirty="0">
                          <a:latin typeface="Georgia"/>
                          <a:cs typeface="Georgia"/>
                        </a:rPr>
                        <a:t>pp</a:t>
                      </a:r>
                      <a:r>
                        <a:rPr sz="1600" b="1" spc="-5" dirty="0">
                          <a:latin typeface="Georgia"/>
                          <a:cs typeface="Georgia"/>
                        </a:rPr>
                        <a:t>li</a:t>
                      </a:r>
                      <a:r>
                        <a:rPr sz="1600" b="1" spc="-20" dirty="0">
                          <a:latin typeface="Georgia"/>
                          <a:cs typeface="Georgia"/>
                        </a:rPr>
                        <a:t>c</a:t>
                      </a:r>
                      <a:r>
                        <a:rPr sz="1600" b="1" spc="-5" dirty="0">
                          <a:latin typeface="Georgia"/>
                          <a:cs typeface="Georgia"/>
                        </a:rPr>
                        <a:t>a</a:t>
                      </a:r>
                      <a:r>
                        <a:rPr sz="1600" b="1" dirty="0">
                          <a:latin typeface="Georgia"/>
                          <a:cs typeface="Georgia"/>
                        </a:rPr>
                        <a:t>t</a:t>
                      </a:r>
                      <a:r>
                        <a:rPr sz="1600" b="1" spc="-5" dirty="0">
                          <a:latin typeface="Georgia"/>
                          <a:cs typeface="Georgia"/>
                        </a:rPr>
                        <a:t>i</a:t>
                      </a:r>
                      <a:r>
                        <a:rPr sz="1600" b="1" spc="-20" dirty="0">
                          <a:latin typeface="Georgia"/>
                          <a:cs typeface="Georgia"/>
                        </a:rPr>
                        <a:t>o</a:t>
                      </a:r>
                      <a:r>
                        <a:rPr sz="1600" b="1" spc="5" dirty="0">
                          <a:latin typeface="Georgia"/>
                          <a:cs typeface="Georgia"/>
                        </a:rPr>
                        <a:t>n</a:t>
                      </a:r>
                      <a:r>
                        <a:rPr sz="1600" b="1" spc="-5" dirty="0">
                          <a:latin typeface="Georgia"/>
                          <a:cs typeface="Georgia"/>
                        </a:rPr>
                        <a:t>(</a:t>
                      </a:r>
                      <a:r>
                        <a:rPr sz="1600" b="1" dirty="0">
                          <a:latin typeface="Georgia"/>
                          <a:cs typeface="Georgia"/>
                        </a:rPr>
                        <a:t>s)  </a:t>
                      </a:r>
                      <a:r>
                        <a:rPr sz="1600" b="1" spc="-150" dirty="0">
                          <a:latin typeface="Georgia"/>
                          <a:cs typeface="Georgia"/>
                        </a:rPr>
                        <a:t>Used </a:t>
                      </a:r>
                      <a:r>
                        <a:rPr sz="1600" b="1" spc="-105" dirty="0">
                          <a:latin typeface="Georgia"/>
                          <a:cs typeface="Georgia"/>
                        </a:rPr>
                        <a:t>by  </a:t>
                      </a:r>
                      <a:r>
                        <a:rPr sz="1600" b="1" spc="-150" dirty="0">
                          <a:latin typeface="Georgia"/>
                          <a:cs typeface="Georgia"/>
                        </a:rPr>
                        <a:t>Community</a:t>
                      </a:r>
                      <a:endParaRPr sz="160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0"/>
                  </a:ext>
                </a:extLst>
              </a:tr>
              <a:tr h="674370">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extLst>
                  <a:ext uri="{0D108BD9-81ED-4DB2-BD59-A6C34878D82A}">
                    <a16:rowId xmlns:a16="http://schemas.microsoft.com/office/drawing/2014/main" val="10001"/>
                  </a:ext>
                </a:extLst>
              </a:tr>
              <a:tr h="675005">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2"/>
                  </a:ext>
                </a:extLst>
              </a:tr>
              <a:tr h="675005">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extLst>
                  <a:ext uri="{0D108BD9-81ED-4DB2-BD59-A6C34878D82A}">
                    <a16:rowId xmlns:a16="http://schemas.microsoft.com/office/drawing/2014/main" val="10003"/>
                  </a:ext>
                </a:extLst>
              </a:tr>
              <a:tr h="675005">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6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EDF040F2-BDE0-2F84-037B-87E7A28E6466}"/>
              </a:ext>
            </a:extLst>
          </p:cNvPr>
          <p:cNvSpPr txBox="1"/>
          <p:nvPr/>
        </p:nvSpPr>
        <p:spPr>
          <a:xfrm>
            <a:off x="683568" y="3086562"/>
            <a:ext cx="1728192" cy="369332"/>
          </a:xfrm>
          <a:prstGeom prst="rect">
            <a:avLst/>
          </a:prstGeom>
          <a:noFill/>
        </p:spPr>
        <p:txBody>
          <a:bodyPr wrap="square" rtlCol="0">
            <a:spAutoFit/>
          </a:bodyPr>
          <a:lstStyle/>
          <a:p>
            <a:r>
              <a:rPr lang="en-GB" dirty="0"/>
              <a:t>Students</a:t>
            </a:r>
          </a:p>
        </p:txBody>
      </p:sp>
      <p:sp>
        <p:nvSpPr>
          <p:cNvPr id="5" name="TextBox 4">
            <a:extLst>
              <a:ext uri="{FF2B5EF4-FFF2-40B4-BE49-F238E27FC236}">
                <a16:creationId xmlns:a16="http://schemas.microsoft.com/office/drawing/2014/main" id="{7EDE4F0C-D110-050A-3B1D-69133F77E87B}"/>
              </a:ext>
            </a:extLst>
          </p:cNvPr>
          <p:cNvSpPr txBox="1"/>
          <p:nvPr/>
        </p:nvSpPr>
        <p:spPr>
          <a:xfrm>
            <a:off x="827584" y="3828520"/>
            <a:ext cx="1197764" cy="369332"/>
          </a:xfrm>
          <a:prstGeom prst="rect">
            <a:avLst/>
          </a:prstGeom>
          <a:noFill/>
        </p:spPr>
        <p:txBody>
          <a:bodyPr wrap="none" rtlCol="0">
            <a:spAutoFit/>
          </a:bodyPr>
          <a:lstStyle/>
          <a:p>
            <a:r>
              <a:rPr lang="en-GB" dirty="0"/>
              <a:t>Academic</a:t>
            </a:r>
          </a:p>
        </p:txBody>
      </p:sp>
      <p:sp>
        <p:nvSpPr>
          <p:cNvPr id="6" name="TextBox 5">
            <a:extLst>
              <a:ext uri="{FF2B5EF4-FFF2-40B4-BE49-F238E27FC236}">
                <a16:creationId xmlns:a16="http://schemas.microsoft.com/office/drawing/2014/main" id="{D4C1EBC8-E382-64E5-6E8C-BFB46F3637CE}"/>
              </a:ext>
            </a:extLst>
          </p:cNvPr>
          <p:cNvSpPr txBox="1"/>
          <p:nvPr/>
        </p:nvSpPr>
        <p:spPr>
          <a:xfrm>
            <a:off x="827584" y="4581128"/>
            <a:ext cx="838691" cy="369332"/>
          </a:xfrm>
          <a:prstGeom prst="rect">
            <a:avLst/>
          </a:prstGeom>
          <a:noFill/>
        </p:spPr>
        <p:txBody>
          <a:bodyPr wrap="none" rtlCol="0">
            <a:spAutoFit/>
          </a:bodyPr>
          <a:lstStyle/>
          <a:p>
            <a:r>
              <a:rPr lang="en-GB" dirty="0"/>
              <a:t>Admin</a:t>
            </a:r>
          </a:p>
        </p:txBody>
      </p:sp>
    </p:spTree>
    <p:extLst>
      <p:ext uri="{BB962C8B-B14F-4D97-AF65-F5344CB8AC3E}">
        <p14:creationId xmlns:p14="http://schemas.microsoft.com/office/powerpoint/2010/main" val="129402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528" y="908720"/>
            <a:ext cx="4027274" cy="689932"/>
          </a:xfrm>
          <a:prstGeom prst="rect">
            <a:avLst/>
          </a:prstGeom>
        </p:spPr>
        <p:txBody>
          <a:bodyPr vert="horz" wrap="square" lIns="0" tIns="12700" rIns="0" bIns="0" rtlCol="0">
            <a:spAutoFit/>
          </a:bodyPr>
          <a:lstStyle/>
          <a:p>
            <a:pPr marL="12700">
              <a:lnSpc>
                <a:spcPct val="100000"/>
              </a:lnSpc>
              <a:spcBef>
                <a:spcPts val="100"/>
              </a:spcBef>
            </a:pPr>
            <a:r>
              <a:rPr spc="-185" dirty="0"/>
              <a:t>Data</a:t>
            </a:r>
            <a:r>
              <a:rPr spc="-360" dirty="0"/>
              <a:t> </a:t>
            </a:r>
            <a:r>
              <a:rPr spc="-215" dirty="0"/>
              <a:t>Stores</a:t>
            </a:r>
          </a:p>
        </p:txBody>
      </p:sp>
      <p:graphicFrame>
        <p:nvGraphicFramePr>
          <p:cNvPr id="3" name="object 3"/>
          <p:cNvGraphicFramePr>
            <a:graphicFrameLocks noGrp="1"/>
          </p:cNvGraphicFramePr>
          <p:nvPr>
            <p:extLst>
              <p:ext uri="{D42A27DB-BD31-4B8C-83A1-F6EECF244321}">
                <p14:modId xmlns:p14="http://schemas.microsoft.com/office/powerpoint/2010/main" val="765101276"/>
              </p:ext>
            </p:extLst>
          </p:nvPr>
        </p:nvGraphicFramePr>
        <p:xfrm>
          <a:off x="384492" y="1854961"/>
          <a:ext cx="8280400" cy="3575685"/>
        </p:xfrm>
        <a:graphic>
          <a:graphicData uri="http://schemas.openxmlformats.org/drawingml/2006/table">
            <a:tbl>
              <a:tblPr firstRow="1" bandRow="1">
                <a:tableStyleId>{2D5ABB26-0587-4C30-8999-92F81FD0307C}</a:tableStyleId>
              </a:tblPr>
              <a:tblGrid>
                <a:gridCol w="2070100">
                  <a:extLst>
                    <a:ext uri="{9D8B030D-6E8A-4147-A177-3AD203B41FA5}">
                      <a16:colId xmlns:a16="http://schemas.microsoft.com/office/drawing/2014/main" val="20000"/>
                    </a:ext>
                  </a:extLst>
                </a:gridCol>
                <a:gridCol w="2070100">
                  <a:extLst>
                    <a:ext uri="{9D8B030D-6E8A-4147-A177-3AD203B41FA5}">
                      <a16:colId xmlns:a16="http://schemas.microsoft.com/office/drawing/2014/main" val="20001"/>
                    </a:ext>
                  </a:extLst>
                </a:gridCol>
                <a:gridCol w="2070100">
                  <a:extLst>
                    <a:ext uri="{9D8B030D-6E8A-4147-A177-3AD203B41FA5}">
                      <a16:colId xmlns:a16="http://schemas.microsoft.com/office/drawing/2014/main" val="20002"/>
                    </a:ext>
                  </a:extLst>
                </a:gridCol>
                <a:gridCol w="2070100">
                  <a:extLst>
                    <a:ext uri="{9D8B030D-6E8A-4147-A177-3AD203B41FA5}">
                      <a16:colId xmlns:a16="http://schemas.microsoft.com/office/drawing/2014/main" val="20003"/>
                    </a:ext>
                  </a:extLst>
                </a:gridCol>
              </a:tblGrid>
              <a:tr h="1078230">
                <a:tc>
                  <a:txBody>
                    <a:bodyPr/>
                    <a:lstStyle/>
                    <a:p>
                      <a:pPr marL="90170">
                        <a:lnSpc>
                          <a:spcPts val="2110"/>
                        </a:lnSpc>
                      </a:pPr>
                      <a:r>
                        <a:rPr sz="1800" b="1" spc="-130" dirty="0">
                          <a:latin typeface="Georgia"/>
                          <a:cs typeface="Georgia"/>
                        </a:rPr>
                        <a:t>Data</a:t>
                      </a:r>
                      <a:r>
                        <a:rPr sz="1800" b="1" spc="-170" dirty="0">
                          <a:latin typeface="Georgia"/>
                          <a:cs typeface="Georgia"/>
                        </a:rPr>
                        <a:t> </a:t>
                      </a:r>
                      <a:r>
                        <a:rPr sz="1800" b="1" spc="-135" dirty="0">
                          <a:latin typeface="Georgia"/>
                          <a:cs typeface="Georgia"/>
                        </a:rPr>
                        <a:t>Store</a:t>
                      </a:r>
                      <a:endParaRPr sz="1800">
                        <a:latin typeface="Georgia"/>
                        <a:cs typeface="Georgi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0805">
                        <a:lnSpc>
                          <a:spcPts val="2110"/>
                        </a:lnSpc>
                      </a:pPr>
                      <a:r>
                        <a:rPr sz="1800" b="1" spc="-130" dirty="0">
                          <a:latin typeface="Georgia"/>
                          <a:cs typeface="Georgia"/>
                        </a:rPr>
                        <a:t>Location</a:t>
                      </a:r>
                      <a:endParaRPr sz="1800">
                        <a:latin typeface="Georgia"/>
                        <a:cs typeface="Georgi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0805">
                        <a:lnSpc>
                          <a:spcPts val="2110"/>
                        </a:lnSpc>
                      </a:pPr>
                      <a:r>
                        <a:rPr sz="1800" b="1" spc="-110" dirty="0">
                          <a:latin typeface="Georgia"/>
                          <a:cs typeface="Georgia"/>
                        </a:rPr>
                        <a:t>Applications</a:t>
                      </a:r>
                      <a:endParaRPr sz="1800">
                        <a:latin typeface="Georgia"/>
                        <a:cs typeface="Georgi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0805" marR="577215" indent="-635">
                        <a:lnSpc>
                          <a:spcPts val="2160"/>
                        </a:lnSpc>
                        <a:spcBef>
                          <a:spcPts val="20"/>
                        </a:spcBef>
                      </a:pPr>
                      <a:r>
                        <a:rPr sz="1800" b="1" spc="-150" dirty="0">
                          <a:latin typeface="Georgia"/>
                          <a:cs typeface="Georgia"/>
                        </a:rPr>
                        <a:t>Used </a:t>
                      </a:r>
                      <a:r>
                        <a:rPr sz="1800" b="1" spc="-90" dirty="0">
                          <a:latin typeface="Georgia"/>
                          <a:cs typeface="Georgia"/>
                        </a:rPr>
                        <a:t>by </a:t>
                      </a:r>
                      <a:r>
                        <a:rPr sz="1800" b="1" spc="-145" dirty="0">
                          <a:latin typeface="Georgia"/>
                          <a:cs typeface="Georgia"/>
                        </a:rPr>
                        <a:t>User  </a:t>
                      </a:r>
                      <a:r>
                        <a:rPr sz="1800" b="1" spc="-15" dirty="0">
                          <a:latin typeface="Georgia"/>
                          <a:cs typeface="Georgia"/>
                        </a:rPr>
                        <a:t>C</a:t>
                      </a:r>
                      <a:r>
                        <a:rPr sz="1800" b="1" spc="-5" dirty="0">
                          <a:latin typeface="Georgia"/>
                          <a:cs typeface="Georgia"/>
                        </a:rPr>
                        <a:t>o</a:t>
                      </a:r>
                      <a:r>
                        <a:rPr sz="1800" b="1" spc="5" dirty="0">
                          <a:latin typeface="Georgia"/>
                          <a:cs typeface="Georgia"/>
                        </a:rPr>
                        <a:t>mmun</a:t>
                      </a:r>
                      <a:r>
                        <a:rPr sz="1800" b="1" spc="-5" dirty="0">
                          <a:latin typeface="Georgia"/>
                          <a:cs typeface="Georgia"/>
                        </a:rPr>
                        <a:t>i</a:t>
                      </a:r>
                      <a:r>
                        <a:rPr sz="1800" b="1" dirty="0">
                          <a:latin typeface="Georgia"/>
                          <a:cs typeface="Georgia"/>
                        </a:rPr>
                        <a:t>t</a:t>
                      </a:r>
                      <a:r>
                        <a:rPr sz="1800" b="1" spc="-5" dirty="0">
                          <a:latin typeface="Georgia"/>
                          <a:cs typeface="Georgia"/>
                        </a:rPr>
                        <a:t>i</a:t>
                      </a:r>
                      <a:r>
                        <a:rPr sz="1800" b="1" spc="-10" dirty="0">
                          <a:latin typeface="Georgia"/>
                          <a:cs typeface="Georgia"/>
                        </a:rPr>
                        <a:t>es</a:t>
                      </a:r>
                      <a:endParaRPr sz="180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0"/>
                  </a:ext>
                </a:extLst>
              </a:tr>
              <a:tr h="624205">
                <a:tc>
                  <a:txBody>
                    <a:bodyPr/>
                    <a:lstStyle/>
                    <a:p>
                      <a:pPr>
                        <a:lnSpc>
                          <a:spcPct val="100000"/>
                        </a:lnSpc>
                      </a:pPr>
                      <a:endParaRPr sz="21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extLst>
                  <a:ext uri="{0D108BD9-81ED-4DB2-BD59-A6C34878D82A}">
                    <a16:rowId xmlns:a16="http://schemas.microsoft.com/office/drawing/2014/main" val="10001"/>
                  </a:ext>
                </a:extLst>
              </a:tr>
              <a:tr h="624205">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2"/>
                  </a:ext>
                </a:extLst>
              </a:tr>
              <a:tr h="624205">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extLst>
                  <a:ext uri="{0D108BD9-81ED-4DB2-BD59-A6C34878D82A}">
                    <a16:rowId xmlns:a16="http://schemas.microsoft.com/office/drawing/2014/main" val="10003"/>
                  </a:ext>
                </a:extLst>
              </a:tr>
              <a:tr h="624840">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21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AF7FFB83-C05B-C406-F963-A956B3809527}"/>
              </a:ext>
            </a:extLst>
          </p:cNvPr>
          <p:cNvSpPr txBox="1"/>
          <p:nvPr/>
        </p:nvSpPr>
        <p:spPr>
          <a:xfrm flipH="1">
            <a:off x="479108" y="3031903"/>
            <a:ext cx="1610465" cy="369332"/>
          </a:xfrm>
          <a:prstGeom prst="rect">
            <a:avLst/>
          </a:prstGeom>
          <a:noFill/>
        </p:spPr>
        <p:txBody>
          <a:bodyPr wrap="square" rtlCol="0">
            <a:spAutoFit/>
          </a:bodyPr>
          <a:lstStyle/>
          <a:p>
            <a:r>
              <a:rPr lang="en-GB" dirty="0"/>
              <a:t>Mi Linux</a:t>
            </a:r>
          </a:p>
        </p:txBody>
      </p:sp>
      <p:sp>
        <p:nvSpPr>
          <p:cNvPr id="5" name="TextBox 4">
            <a:extLst>
              <a:ext uri="{FF2B5EF4-FFF2-40B4-BE49-F238E27FC236}">
                <a16:creationId xmlns:a16="http://schemas.microsoft.com/office/drawing/2014/main" id="{5611AB8E-3929-A63B-6DC4-A4A53227B03B}"/>
              </a:ext>
            </a:extLst>
          </p:cNvPr>
          <p:cNvSpPr txBox="1"/>
          <p:nvPr/>
        </p:nvSpPr>
        <p:spPr>
          <a:xfrm>
            <a:off x="2771800" y="3031903"/>
            <a:ext cx="1390124" cy="369332"/>
          </a:xfrm>
          <a:prstGeom prst="rect">
            <a:avLst/>
          </a:prstGeom>
          <a:noFill/>
        </p:spPr>
        <p:txBody>
          <a:bodyPr wrap="none" rtlCol="0">
            <a:spAutoFit/>
          </a:bodyPr>
          <a:lstStyle/>
          <a:p>
            <a:r>
              <a:rPr lang="en-GB" dirty="0"/>
              <a:t>MX building</a:t>
            </a:r>
          </a:p>
        </p:txBody>
      </p:sp>
      <p:sp>
        <p:nvSpPr>
          <p:cNvPr id="6" name="TextBox 5">
            <a:extLst>
              <a:ext uri="{FF2B5EF4-FFF2-40B4-BE49-F238E27FC236}">
                <a16:creationId xmlns:a16="http://schemas.microsoft.com/office/drawing/2014/main" id="{B23E8FAD-381D-9073-E35D-34E02E6F4135}"/>
              </a:ext>
            </a:extLst>
          </p:cNvPr>
          <p:cNvSpPr txBox="1"/>
          <p:nvPr/>
        </p:nvSpPr>
        <p:spPr>
          <a:xfrm>
            <a:off x="6660232" y="3031903"/>
            <a:ext cx="2099276" cy="369332"/>
          </a:xfrm>
          <a:prstGeom prst="rect">
            <a:avLst/>
          </a:prstGeom>
          <a:noFill/>
        </p:spPr>
        <p:txBody>
          <a:bodyPr wrap="square" rtlCol="0">
            <a:spAutoFit/>
          </a:bodyPr>
          <a:lstStyle/>
          <a:p>
            <a:r>
              <a:rPr lang="en-GB" dirty="0"/>
              <a:t>Students and staff</a:t>
            </a:r>
          </a:p>
        </p:txBody>
      </p:sp>
    </p:spTree>
    <p:extLst>
      <p:ext uri="{BB962C8B-B14F-4D97-AF65-F5344CB8AC3E}">
        <p14:creationId xmlns:p14="http://schemas.microsoft.com/office/powerpoint/2010/main" val="2888508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908720"/>
            <a:ext cx="3523218" cy="689932"/>
          </a:xfrm>
          <a:prstGeom prst="rect">
            <a:avLst/>
          </a:prstGeom>
        </p:spPr>
        <p:txBody>
          <a:bodyPr vert="horz" wrap="square" lIns="0" tIns="12700" rIns="0" bIns="0" rtlCol="0">
            <a:spAutoFit/>
          </a:bodyPr>
          <a:lstStyle/>
          <a:p>
            <a:pPr marL="12700">
              <a:lnSpc>
                <a:spcPct val="100000"/>
              </a:lnSpc>
              <a:spcBef>
                <a:spcPts val="100"/>
              </a:spcBef>
            </a:pPr>
            <a:r>
              <a:rPr spc="-110" dirty="0"/>
              <a:t>Traffic</a:t>
            </a:r>
            <a:r>
              <a:rPr spc="-375" dirty="0"/>
              <a:t> </a:t>
            </a:r>
            <a:r>
              <a:rPr spc="-165" dirty="0"/>
              <a:t>Flow</a:t>
            </a:r>
          </a:p>
        </p:txBody>
      </p:sp>
      <p:graphicFrame>
        <p:nvGraphicFramePr>
          <p:cNvPr id="3" name="object 3"/>
          <p:cNvGraphicFramePr>
            <a:graphicFrameLocks noGrp="1"/>
          </p:cNvGraphicFramePr>
          <p:nvPr>
            <p:extLst>
              <p:ext uri="{D42A27DB-BD31-4B8C-83A1-F6EECF244321}">
                <p14:modId xmlns:p14="http://schemas.microsoft.com/office/powerpoint/2010/main" val="1916669976"/>
              </p:ext>
            </p:extLst>
          </p:nvPr>
        </p:nvGraphicFramePr>
        <p:xfrm>
          <a:off x="384492" y="1988840"/>
          <a:ext cx="8423273" cy="4200716"/>
        </p:xfrm>
        <a:graphic>
          <a:graphicData uri="http://schemas.openxmlformats.org/drawingml/2006/table">
            <a:tbl>
              <a:tblPr firstRow="1" bandRow="1">
                <a:tableStyleId>{2D5ABB26-0587-4C30-8999-92F81FD0307C}</a:tableStyleId>
              </a:tblPr>
              <a:tblGrid>
                <a:gridCol w="1684655">
                  <a:extLst>
                    <a:ext uri="{9D8B030D-6E8A-4147-A177-3AD203B41FA5}">
                      <a16:colId xmlns:a16="http://schemas.microsoft.com/office/drawing/2014/main" val="20000"/>
                    </a:ext>
                  </a:extLst>
                </a:gridCol>
                <a:gridCol w="1684655">
                  <a:extLst>
                    <a:ext uri="{9D8B030D-6E8A-4147-A177-3AD203B41FA5}">
                      <a16:colId xmlns:a16="http://schemas.microsoft.com/office/drawing/2014/main" val="20001"/>
                    </a:ext>
                  </a:extLst>
                </a:gridCol>
                <a:gridCol w="1684655">
                  <a:extLst>
                    <a:ext uri="{9D8B030D-6E8A-4147-A177-3AD203B41FA5}">
                      <a16:colId xmlns:a16="http://schemas.microsoft.com/office/drawing/2014/main" val="20002"/>
                    </a:ext>
                  </a:extLst>
                </a:gridCol>
                <a:gridCol w="1684654">
                  <a:extLst>
                    <a:ext uri="{9D8B030D-6E8A-4147-A177-3AD203B41FA5}">
                      <a16:colId xmlns:a16="http://schemas.microsoft.com/office/drawing/2014/main" val="20003"/>
                    </a:ext>
                  </a:extLst>
                </a:gridCol>
                <a:gridCol w="1684654">
                  <a:extLst>
                    <a:ext uri="{9D8B030D-6E8A-4147-A177-3AD203B41FA5}">
                      <a16:colId xmlns:a16="http://schemas.microsoft.com/office/drawing/2014/main" val="20004"/>
                    </a:ext>
                  </a:extLst>
                </a:gridCol>
              </a:tblGrid>
              <a:tr h="505566">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1440" marR="189230">
                        <a:lnSpc>
                          <a:spcPts val="2160"/>
                        </a:lnSpc>
                        <a:spcBef>
                          <a:spcPts val="20"/>
                        </a:spcBef>
                      </a:pPr>
                      <a:r>
                        <a:rPr sz="1800" b="1" spc="-114" dirty="0">
                          <a:latin typeface="Georgia"/>
                          <a:cs typeface="Georgia"/>
                        </a:rPr>
                        <a:t>Destination</a:t>
                      </a:r>
                      <a:r>
                        <a:rPr sz="1800" b="1" spc="-240" dirty="0">
                          <a:latin typeface="Georgia"/>
                          <a:cs typeface="Georgia"/>
                        </a:rPr>
                        <a:t> </a:t>
                      </a:r>
                      <a:r>
                        <a:rPr sz="1800" b="1" i="1" spc="180" dirty="0">
                          <a:latin typeface="Georgia"/>
                          <a:cs typeface="Georgia"/>
                        </a:rPr>
                        <a:t>1</a:t>
                      </a:r>
                      <a:r>
                        <a:rPr sz="1800" b="1" spc="180" dirty="0">
                          <a:latin typeface="Georgia"/>
                          <a:cs typeface="Georgia"/>
                        </a:rPr>
                        <a:t>  </a:t>
                      </a:r>
                      <a:r>
                        <a:rPr sz="1800" b="1" spc="-125" dirty="0">
                          <a:latin typeface="Georgia"/>
                          <a:cs typeface="Georgia"/>
                        </a:rPr>
                        <a:t>MB/sec</a:t>
                      </a:r>
                      <a:endParaRPr sz="18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1440" marR="189230">
                        <a:lnSpc>
                          <a:spcPts val="2160"/>
                        </a:lnSpc>
                        <a:spcBef>
                          <a:spcPts val="20"/>
                        </a:spcBef>
                      </a:pPr>
                      <a:r>
                        <a:rPr sz="1800" b="1" spc="-114" dirty="0">
                          <a:latin typeface="Georgia"/>
                          <a:cs typeface="Georgia"/>
                        </a:rPr>
                        <a:t>Destination</a:t>
                      </a:r>
                      <a:r>
                        <a:rPr sz="1800" b="1" spc="-245" dirty="0">
                          <a:latin typeface="Georgia"/>
                          <a:cs typeface="Georgia"/>
                        </a:rPr>
                        <a:t> </a:t>
                      </a:r>
                      <a:r>
                        <a:rPr sz="1800" b="1" i="1" spc="-65" dirty="0">
                          <a:latin typeface="Georgia"/>
                          <a:cs typeface="Georgia"/>
                        </a:rPr>
                        <a:t>2</a:t>
                      </a:r>
                      <a:r>
                        <a:rPr sz="1800" b="1" spc="-65" dirty="0">
                          <a:latin typeface="Georgia"/>
                          <a:cs typeface="Georgia"/>
                        </a:rPr>
                        <a:t>  </a:t>
                      </a:r>
                      <a:r>
                        <a:rPr sz="1800" b="1" spc="-125" dirty="0">
                          <a:latin typeface="Georgia"/>
                          <a:cs typeface="Georgia"/>
                        </a:rPr>
                        <a:t>MB/sec</a:t>
                      </a:r>
                      <a:endParaRPr sz="18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1440" marR="189230">
                        <a:lnSpc>
                          <a:spcPts val="2160"/>
                        </a:lnSpc>
                        <a:spcBef>
                          <a:spcPts val="20"/>
                        </a:spcBef>
                      </a:pPr>
                      <a:r>
                        <a:rPr sz="1800" b="1" spc="-114" dirty="0">
                          <a:latin typeface="Georgia"/>
                          <a:cs typeface="Georgia"/>
                        </a:rPr>
                        <a:t>Destination</a:t>
                      </a:r>
                      <a:r>
                        <a:rPr sz="1800" b="1" spc="-245" dirty="0">
                          <a:latin typeface="Georgia"/>
                          <a:cs typeface="Georgia"/>
                        </a:rPr>
                        <a:t> </a:t>
                      </a:r>
                      <a:r>
                        <a:rPr sz="1800" b="1" i="1" spc="-60" dirty="0">
                          <a:latin typeface="Georgia"/>
                          <a:cs typeface="Georgia"/>
                        </a:rPr>
                        <a:t>3</a:t>
                      </a:r>
                      <a:r>
                        <a:rPr sz="1800" b="1" spc="-60" dirty="0">
                          <a:latin typeface="Georgia"/>
                          <a:cs typeface="Georgia"/>
                        </a:rPr>
                        <a:t>  </a:t>
                      </a:r>
                      <a:r>
                        <a:rPr sz="1800" b="1" spc="-125" dirty="0">
                          <a:latin typeface="Georgia"/>
                          <a:cs typeface="Georgia"/>
                        </a:rPr>
                        <a:t>MB/sec</a:t>
                      </a:r>
                      <a:endParaRPr sz="18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92075" marR="186055">
                        <a:lnSpc>
                          <a:spcPts val="2160"/>
                        </a:lnSpc>
                        <a:spcBef>
                          <a:spcPts val="20"/>
                        </a:spcBef>
                      </a:pPr>
                      <a:r>
                        <a:rPr sz="1800" b="1" spc="-114" dirty="0">
                          <a:latin typeface="Georgia"/>
                          <a:cs typeface="Georgia"/>
                        </a:rPr>
                        <a:t>Destination</a:t>
                      </a:r>
                      <a:r>
                        <a:rPr sz="1800" b="1" spc="-240" dirty="0">
                          <a:latin typeface="Georgia"/>
                          <a:cs typeface="Georgia"/>
                        </a:rPr>
                        <a:t> </a:t>
                      </a:r>
                      <a:r>
                        <a:rPr sz="1800" b="1" i="1" spc="-160" dirty="0">
                          <a:latin typeface="Georgia"/>
                          <a:cs typeface="Georgia"/>
                        </a:rPr>
                        <a:t>n </a:t>
                      </a:r>
                      <a:r>
                        <a:rPr sz="1800" b="1" spc="-160" dirty="0">
                          <a:latin typeface="Georgia"/>
                          <a:cs typeface="Georgia"/>
                        </a:rPr>
                        <a:t> </a:t>
                      </a:r>
                      <a:r>
                        <a:rPr sz="1800" b="1" spc="-125" dirty="0">
                          <a:latin typeface="Georgia"/>
                          <a:cs typeface="Georgia"/>
                        </a:rPr>
                        <a:t>MB/sec</a:t>
                      </a:r>
                      <a:endParaRPr sz="1800" dirty="0">
                        <a:latin typeface="Georgia"/>
                        <a:cs typeface="Georgia"/>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0"/>
                  </a:ext>
                </a:extLst>
              </a:tr>
              <a:tr h="914400">
                <a:tc>
                  <a:txBody>
                    <a:bodyPr/>
                    <a:lstStyle/>
                    <a:p>
                      <a:pPr>
                        <a:lnSpc>
                          <a:spcPct val="100000"/>
                        </a:lnSpc>
                        <a:spcBef>
                          <a:spcPts val="55"/>
                        </a:spcBef>
                      </a:pPr>
                      <a:endParaRPr sz="2100">
                        <a:latin typeface="Times New Roman"/>
                        <a:cs typeface="Times New Roman"/>
                      </a:endParaRPr>
                    </a:p>
                    <a:p>
                      <a:pPr marL="90170">
                        <a:lnSpc>
                          <a:spcPct val="100000"/>
                        </a:lnSpc>
                      </a:pPr>
                      <a:r>
                        <a:rPr sz="1800" b="1" spc="-150" dirty="0">
                          <a:latin typeface="Georgia"/>
                          <a:cs typeface="Georgia"/>
                        </a:rPr>
                        <a:t>Source</a:t>
                      </a:r>
                      <a:r>
                        <a:rPr sz="1800" b="1" spc="-145" dirty="0">
                          <a:latin typeface="Georgia"/>
                          <a:cs typeface="Georgia"/>
                        </a:rPr>
                        <a:t> </a:t>
                      </a:r>
                      <a:r>
                        <a:rPr sz="1800" b="1" spc="180" dirty="0">
                          <a:latin typeface="Georgia"/>
                          <a:cs typeface="Georgia"/>
                        </a:rPr>
                        <a:t>1</a:t>
                      </a:r>
                      <a:endParaRPr sz="180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BCBCB"/>
                    </a:solidFill>
                  </a:tcPr>
                </a:tc>
                <a:extLst>
                  <a:ext uri="{0D108BD9-81ED-4DB2-BD59-A6C34878D82A}">
                    <a16:rowId xmlns:a16="http://schemas.microsoft.com/office/drawing/2014/main" val="10001"/>
                  </a:ext>
                </a:extLst>
              </a:tr>
              <a:tr h="914400">
                <a:tc>
                  <a:txBody>
                    <a:bodyPr/>
                    <a:lstStyle/>
                    <a:p>
                      <a:pPr>
                        <a:lnSpc>
                          <a:spcPct val="100000"/>
                        </a:lnSpc>
                        <a:spcBef>
                          <a:spcPts val="55"/>
                        </a:spcBef>
                      </a:pPr>
                      <a:endParaRPr sz="2100">
                        <a:latin typeface="Times New Roman"/>
                        <a:cs typeface="Times New Roman"/>
                      </a:endParaRPr>
                    </a:p>
                    <a:p>
                      <a:pPr marL="90170">
                        <a:lnSpc>
                          <a:spcPct val="100000"/>
                        </a:lnSpc>
                      </a:pPr>
                      <a:r>
                        <a:rPr sz="1800" b="1" spc="-150" dirty="0">
                          <a:latin typeface="Georgia"/>
                          <a:cs typeface="Georgia"/>
                        </a:rPr>
                        <a:t>Source</a:t>
                      </a:r>
                      <a:r>
                        <a:rPr sz="1800" b="1" spc="-145" dirty="0">
                          <a:latin typeface="Georgia"/>
                          <a:cs typeface="Georgia"/>
                        </a:rPr>
                        <a:t> </a:t>
                      </a:r>
                      <a:r>
                        <a:rPr sz="1800" b="1" spc="-65" dirty="0">
                          <a:latin typeface="Georgia"/>
                          <a:cs typeface="Georgia"/>
                        </a:rPr>
                        <a:t>2</a:t>
                      </a:r>
                      <a:endParaRPr sz="180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2"/>
                  </a:ext>
                </a:extLst>
              </a:tr>
              <a:tr h="913765">
                <a:tc>
                  <a:txBody>
                    <a:bodyPr/>
                    <a:lstStyle/>
                    <a:p>
                      <a:pPr>
                        <a:lnSpc>
                          <a:spcPct val="100000"/>
                        </a:lnSpc>
                        <a:spcBef>
                          <a:spcPts val="55"/>
                        </a:spcBef>
                      </a:pPr>
                      <a:endParaRPr sz="2100">
                        <a:latin typeface="Times New Roman"/>
                        <a:cs typeface="Times New Roman"/>
                      </a:endParaRPr>
                    </a:p>
                    <a:p>
                      <a:pPr marL="90170">
                        <a:lnSpc>
                          <a:spcPct val="100000"/>
                        </a:lnSpc>
                      </a:pPr>
                      <a:r>
                        <a:rPr sz="1800" b="1" spc="-150" dirty="0">
                          <a:latin typeface="Georgia"/>
                          <a:cs typeface="Georgia"/>
                        </a:rPr>
                        <a:t>Source</a:t>
                      </a:r>
                      <a:r>
                        <a:rPr sz="1800" b="1" spc="-145" dirty="0">
                          <a:latin typeface="Georgia"/>
                          <a:cs typeface="Georgia"/>
                        </a:rPr>
                        <a:t> </a:t>
                      </a:r>
                      <a:r>
                        <a:rPr sz="1800" b="1" spc="-60" dirty="0">
                          <a:latin typeface="Georgia"/>
                          <a:cs typeface="Georgia"/>
                        </a:rPr>
                        <a:t>3</a:t>
                      </a:r>
                      <a:endParaRPr sz="180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solidFill>
                      <a:srgbClr val="CBCBCB"/>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solidFill>
                      <a:srgbClr val="CBCBCB"/>
                    </a:solidFill>
                  </a:tcPr>
                </a:tc>
                <a:extLst>
                  <a:ext uri="{0D108BD9-81ED-4DB2-BD59-A6C34878D82A}">
                    <a16:rowId xmlns:a16="http://schemas.microsoft.com/office/drawing/2014/main" val="10003"/>
                  </a:ext>
                </a:extLst>
              </a:tr>
              <a:tr h="913765">
                <a:tc>
                  <a:txBody>
                    <a:bodyPr/>
                    <a:lstStyle/>
                    <a:p>
                      <a:pPr>
                        <a:lnSpc>
                          <a:spcPct val="100000"/>
                        </a:lnSpc>
                        <a:spcBef>
                          <a:spcPts val="55"/>
                        </a:spcBef>
                      </a:pPr>
                      <a:endParaRPr sz="2100">
                        <a:latin typeface="Times New Roman"/>
                        <a:cs typeface="Times New Roman"/>
                      </a:endParaRPr>
                    </a:p>
                    <a:p>
                      <a:pPr marL="90170">
                        <a:lnSpc>
                          <a:spcPct val="100000"/>
                        </a:lnSpc>
                      </a:pPr>
                      <a:r>
                        <a:rPr sz="1800" b="1" spc="-150" dirty="0">
                          <a:latin typeface="Georgia"/>
                          <a:cs typeface="Georgia"/>
                        </a:rPr>
                        <a:t>Source</a:t>
                      </a:r>
                      <a:r>
                        <a:rPr sz="1800" b="1" spc="-145" dirty="0">
                          <a:latin typeface="Georgia"/>
                          <a:cs typeface="Georgia"/>
                        </a:rPr>
                        <a:t> </a:t>
                      </a:r>
                      <a:r>
                        <a:rPr sz="1800" b="1" spc="-160" dirty="0">
                          <a:latin typeface="Georgia"/>
                          <a:cs typeface="Georgia"/>
                        </a:rPr>
                        <a:t>n</a:t>
                      </a:r>
                      <a:endParaRPr sz="1800">
                        <a:latin typeface="Georgia"/>
                        <a:cs typeface="Georgia"/>
                      </a:endParaRPr>
                    </a:p>
                  </a:txBody>
                  <a:tcPr marL="0" marR="0" marT="6985"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8E8E8"/>
                    </a:solidFill>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8E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85907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15" y="0"/>
            <a:ext cx="8811475" cy="66693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9707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808" y="1340768"/>
            <a:ext cx="6259522" cy="689932"/>
          </a:xfrm>
          <a:prstGeom prst="rect">
            <a:avLst/>
          </a:prstGeom>
        </p:spPr>
        <p:txBody>
          <a:bodyPr vert="horz" wrap="square" lIns="0" tIns="12700" rIns="0" bIns="0" rtlCol="0">
            <a:spAutoFit/>
          </a:bodyPr>
          <a:lstStyle/>
          <a:p>
            <a:pPr marL="12700">
              <a:lnSpc>
                <a:spcPct val="100000"/>
              </a:lnSpc>
              <a:spcBef>
                <a:spcPts val="100"/>
              </a:spcBef>
            </a:pPr>
            <a:r>
              <a:rPr spc="-270" dirty="0"/>
              <a:t>Types </a:t>
            </a:r>
            <a:r>
              <a:rPr spc="-10" dirty="0"/>
              <a:t>of </a:t>
            </a:r>
            <a:r>
              <a:rPr spc="-110" dirty="0"/>
              <a:t>Traffic</a:t>
            </a:r>
            <a:r>
              <a:rPr spc="-505" dirty="0"/>
              <a:t> </a:t>
            </a:r>
            <a:r>
              <a:rPr spc="-165" dirty="0"/>
              <a:t>Flow</a:t>
            </a:r>
          </a:p>
        </p:txBody>
      </p:sp>
      <p:sp>
        <p:nvSpPr>
          <p:cNvPr id="3" name="object 3"/>
          <p:cNvSpPr txBox="1"/>
          <p:nvPr/>
        </p:nvSpPr>
        <p:spPr>
          <a:xfrm>
            <a:off x="373808" y="1916832"/>
            <a:ext cx="6691570" cy="4383251"/>
          </a:xfrm>
          <a:prstGeom prst="rect">
            <a:avLst/>
          </a:prstGeom>
        </p:spPr>
        <p:txBody>
          <a:bodyPr vert="horz" wrap="square" lIns="0" tIns="114300" rIns="0" bIns="0" rtlCol="0">
            <a:spAutoFit/>
          </a:bodyPr>
          <a:lstStyle/>
          <a:p>
            <a:pPr marL="469900" indent="-457200">
              <a:lnSpc>
                <a:spcPct val="100000"/>
              </a:lnSpc>
              <a:spcBef>
                <a:spcPts val="900"/>
              </a:spcBef>
              <a:buFont typeface="Arial"/>
              <a:buChar char="•"/>
              <a:tabLst>
                <a:tab pos="469900" algn="l"/>
                <a:tab pos="470534" algn="l"/>
              </a:tabLst>
            </a:pPr>
            <a:r>
              <a:rPr sz="3200" spc="-65" dirty="0">
                <a:latin typeface="Georgia"/>
                <a:cs typeface="Georgia"/>
              </a:rPr>
              <a:t>Terminal/host</a:t>
            </a:r>
            <a:r>
              <a:rPr lang="en-GB" sz="3200" spc="-65" dirty="0">
                <a:latin typeface="Georgia"/>
                <a:cs typeface="Georgia"/>
              </a:rPr>
              <a:t> – telnet/ SSH is asymmetric</a:t>
            </a:r>
            <a:endParaRPr sz="3200" dirty="0">
              <a:latin typeface="Georgia"/>
              <a:cs typeface="Georgia"/>
            </a:endParaRPr>
          </a:p>
          <a:p>
            <a:pPr marL="469900" indent="-457200">
              <a:lnSpc>
                <a:spcPct val="100000"/>
              </a:lnSpc>
              <a:spcBef>
                <a:spcPts val="805"/>
              </a:spcBef>
              <a:buFont typeface="Arial"/>
              <a:buChar char="•"/>
              <a:tabLst>
                <a:tab pos="469900" algn="l"/>
                <a:tab pos="470534" algn="l"/>
              </a:tabLst>
            </a:pPr>
            <a:r>
              <a:rPr sz="3200" spc="-35" dirty="0">
                <a:latin typeface="Georgia"/>
                <a:cs typeface="Georgia"/>
              </a:rPr>
              <a:t>Client/server</a:t>
            </a:r>
            <a:r>
              <a:rPr lang="en-GB" sz="3200" spc="-35" dirty="0">
                <a:latin typeface="Georgia"/>
                <a:cs typeface="Georgia"/>
              </a:rPr>
              <a:t> </a:t>
            </a:r>
          </a:p>
          <a:p>
            <a:pPr marL="469900" indent="-457200">
              <a:lnSpc>
                <a:spcPct val="100000"/>
              </a:lnSpc>
              <a:spcBef>
                <a:spcPts val="800"/>
              </a:spcBef>
              <a:buFont typeface="Arial"/>
              <a:buChar char="•"/>
              <a:tabLst>
                <a:tab pos="469900" algn="l"/>
                <a:tab pos="470534" algn="l"/>
              </a:tabLst>
            </a:pPr>
            <a:r>
              <a:rPr sz="3200" spc="-90" dirty="0">
                <a:latin typeface="Georgia"/>
                <a:cs typeface="Georgia"/>
              </a:rPr>
              <a:t>Thin</a:t>
            </a:r>
            <a:r>
              <a:rPr sz="3200" spc="-165" dirty="0">
                <a:latin typeface="Georgia"/>
                <a:cs typeface="Georgia"/>
              </a:rPr>
              <a:t> </a:t>
            </a:r>
            <a:r>
              <a:rPr sz="3200" spc="-45" dirty="0">
                <a:latin typeface="Georgia"/>
                <a:cs typeface="Georgia"/>
              </a:rPr>
              <a:t>client</a:t>
            </a:r>
            <a:r>
              <a:rPr lang="en-GB" sz="3200" spc="-45" dirty="0">
                <a:latin typeface="Georgia"/>
                <a:cs typeface="Georgia"/>
              </a:rPr>
              <a:t> - </a:t>
            </a:r>
            <a:r>
              <a:rPr lang="en-GB" sz="2000" spc="-35" dirty="0">
                <a:latin typeface="Georgia"/>
                <a:cs typeface="Georgia"/>
              </a:rPr>
              <a:t>desktop interacting with the cloud</a:t>
            </a:r>
            <a:endParaRPr lang="en-GB" sz="2000" dirty="0">
              <a:latin typeface="Georgia"/>
              <a:cs typeface="Georgia"/>
            </a:endParaRPr>
          </a:p>
          <a:p>
            <a:pPr marL="470534" indent="-457200">
              <a:lnSpc>
                <a:spcPct val="100000"/>
              </a:lnSpc>
              <a:spcBef>
                <a:spcPts val="795"/>
              </a:spcBef>
              <a:buFont typeface="Arial"/>
              <a:buChar char="•"/>
              <a:tabLst>
                <a:tab pos="470534" algn="l"/>
                <a:tab pos="471170" algn="l"/>
              </a:tabLst>
            </a:pPr>
            <a:r>
              <a:rPr sz="3200" spc="-50" dirty="0">
                <a:latin typeface="Georgia"/>
                <a:cs typeface="Georgia"/>
              </a:rPr>
              <a:t>Peer-to-peer</a:t>
            </a:r>
            <a:r>
              <a:rPr lang="en-GB" sz="3200" spc="-50" dirty="0">
                <a:latin typeface="Georgia"/>
                <a:cs typeface="Georgia"/>
              </a:rPr>
              <a:t> - VOIP</a:t>
            </a:r>
            <a:endParaRPr sz="3200" dirty="0">
              <a:latin typeface="Georgia"/>
              <a:cs typeface="Georgia"/>
            </a:endParaRPr>
          </a:p>
          <a:p>
            <a:pPr marL="470534" indent="-457200">
              <a:lnSpc>
                <a:spcPct val="100000"/>
              </a:lnSpc>
              <a:spcBef>
                <a:spcPts val="800"/>
              </a:spcBef>
              <a:buFont typeface="Arial"/>
              <a:buChar char="•"/>
              <a:tabLst>
                <a:tab pos="470534" algn="l"/>
                <a:tab pos="471170" algn="l"/>
              </a:tabLst>
            </a:pPr>
            <a:r>
              <a:rPr sz="3200" spc="-15" dirty="0">
                <a:latin typeface="Georgia"/>
                <a:cs typeface="Georgia"/>
              </a:rPr>
              <a:t>Server/server</a:t>
            </a:r>
            <a:r>
              <a:rPr lang="en-GB" sz="3200" spc="-15" dirty="0">
                <a:latin typeface="Georgia"/>
                <a:cs typeface="Georgia"/>
              </a:rPr>
              <a:t> </a:t>
            </a:r>
            <a:r>
              <a:rPr lang="en-GB" sz="2400" spc="-15" dirty="0">
                <a:latin typeface="Georgia"/>
                <a:cs typeface="Georgia"/>
              </a:rPr>
              <a:t>– DB synchronisation</a:t>
            </a:r>
            <a:endParaRPr sz="3200" dirty="0">
              <a:latin typeface="Georgia"/>
              <a:cs typeface="Georgia"/>
            </a:endParaRPr>
          </a:p>
          <a:p>
            <a:pPr marL="470534" indent="-457200">
              <a:lnSpc>
                <a:spcPct val="100000"/>
              </a:lnSpc>
              <a:spcBef>
                <a:spcPts val="805"/>
              </a:spcBef>
              <a:buFont typeface="Arial"/>
              <a:buChar char="•"/>
              <a:tabLst>
                <a:tab pos="470534" algn="l"/>
                <a:tab pos="471170" algn="l"/>
              </a:tabLst>
            </a:pPr>
            <a:r>
              <a:rPr sz="3200" spc="-60" dirty="0">
                <a:latin typeface="Georgia"/>
                <a:cs typeface="Georgia"/>
              </a:rPr>
              <a:t>Distributed</a:t>
            </a:r>
            <a:r>
              <a:rPr sz="3200" spc="-195" dirty="0">
                <a:latin typeface="Georgia"/>
                <a:cs typeface="Georgia"/>
              </a:rPr>
              <a:t> </a:t>
            </a:r>
            <a:r>
              <a:rPr sz="3200" spc="-70" dirty="0">
                <a:latin typeface="Georgia"/>
                <a:cs typeface="Georgia"/>
              </a:rPr>
              <a:t>computing</a:t>
            </a:r>
            <a:r>
              <a:rPr lang="en-GB" sz="3200" spc="-70" dirty="0">
                <a:latin typeface="Georgia"/>
                <a:cs typeface="Georgia"/>
              </a:rPr>
              <a:t> – </a:t>
            </a:r>
            <a:r>
              <a:rPr lang="en-GB" sz="2000" spc="-70" dirty="0">
                <a:latin typeface="Georgia"/>
                <a:cs typeface="Georgia"/>
              </a:rPr>
              <a:t>Webservices, Finance requires lots of data processing</a:t>
            </a:r>
            <a:endParaRPr sz="3200" dirty="0">
              <a:latin typeface="Georgia"/>
              <a:cs typeface="Georgia"/>
            </a:endParaRPr>
          </a:p>
        </p:txBody>
      </p:sp>
    </p:spTree>
    <p:extLst>
      <p:ext uri="{BB962C8B-B14F-4D97-AF65-F5344CB8AC3E}">
        <p14:creationId xmlns:p14="http://schemas.microsoft.com/office/powerpoint/2010/main" val="1046571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B35C9-94C9-4B0E-ACA3-60552F27B567}"/>
              </a:ext>
            </a:extLst>
          </p:cNvPr>
          <p:cNvSpPr>
            <a:spLocks noGrp="1"/>
          </p:cNvSpPr>
          <p:nvPr>
            <p:ph type="title"/>
          </p:nvPr>
        </p:nvSpPr>
        <p:spPr>
          <a:xfrm>
            <a:off x="179512" y="1052736"/>
            <a:ext cx="8424863" cy="1143000"/>
          </a:xfrm>
        </p:spPr>
        <p:txBody>
          <a:bodyPr/>
          <a:lstStyle/>
          <a:p>
            <a:r>
              <a:rPr lang="en-GB" dirty="0"/>
              <a:t>QoS Requirements</a:t>
            </a:r>
          </a:p>
        </p:txBody>
      </p:sp>
      <p:sp>
        <p:nvSpPr>
          <p:cNvPr id="3" name="Content Placeholder 2">
            <a:extLst>
              <a:ext uri="{FF2B5EF4-FFF2-40B4-BE49-F238E27FC236}">
                <a16:creationId xmlns:a16="http://schemas.microsoft.com/office/drawing/2014/main" id="{338A10C4-D5BA-4933-ACCF-435B9755C657}"/>
              </a:ext>
            </a:extLst>
          </p:cNvPr>
          <p:cNvSpPr>
            <a:spLocks noGrp="1"/>
          </p:cNvSpPr>
          <p:nvPr>
            <p:ph idx="1"/>
          </p:nvPr>
        </p:nvSpPr>
        <p:spPr>
          <a:xfrm>
            <a:off x="251520" y="2204864"/>
            <a:ext cx="8424863" cy="4321175"/>
          </a:xfrm>
        </p:spPr>
        <p:txBody>
          <a:bodyPr>
            <a:normAutofit fontScale="92500" lnSpcReduction="20000"/>
          </a:bodyPr>
          <a:lstStyle/>
          <a:p>
            <a:pPr marL="0" indent="0">
              <a:buNone/>
            </a:pPr>
            <a:r>
              <a:rPr lang="en-GB" spc="-80" dirty="0">
                <a:cs typeface="Georgia"/>
              </a:rPr>
              <a:t>What </a:t>
            </a:r>
            <a:r>
              <a:rPr lang="en-GB" spc="-65" dirty="0">
                <a:cs typeface="Georgia"/>
              </a:rPr>
              <a:t>makes </a:t>
            </a:r>
            <a:r>
              <a:rPr lang="en-GB" spc="-50" dirty="0">
                <a:cs typeface="Georgia"/>
              </a:rPr>
              <a:t>traffic </a:t>
            </a:r>
            <a:r>
              <a:rPr lang="en-GB" spc="-15" dirty="0">
                <a:cs typeface="Georgia"/>
              </a:rPr>
              <a:t>flow </a:t>
            </a:r>
            <a:r>
              <a:rPr lang="en-GB" spc="-70" dirty="0">
                <a:cs typeface="Georgia"/>
              </a:rPr>
              <a:t>in </a:t>
            </a:r>
            <a:r>
              <a:rPr lang="en-GB" spc="-30" dirty="0">
                <a:cs typeface="Georgia"/>
              </a:rPr>
              <a:t>voice </a:t>
            </a:r>
            <a:r>
              <a:rPr lang="en-GB" spc="-25" dirty="0">
                <a:cs typeface="Georgia"/>
              </a:rPr>
              <a:t>over </a:t>
            </a:r>
            <a:r>
              <a:rPr lang="en-GB" spc="-150" dirty="0">
                <a:cs typeface="Georgia"/>
              </a:rPr>
              <a:t>IP</a:t>
            </a:r>
            <a:r>
              <a:rPr lang="en-GB" spc="-365" dirty="0">
                <a:cs typeface="Georgia"/>
              </a:rPr>
              <a:t> </a:t>
            </a:r>
            <a:r>
              <a:rPr lang="en-GB" spc="-30" dirty="0">
                <a:cs typeface="Georgia"/>
              </a:rPr>
              <a:t>networks  </a:t>
            </a:r>
            <a:r>
              <a:rPr lang="en-GB" spc="-55" dirty="0">
                <a:cs typeface="Georgia"/>
              </a:rPr>
              <a:t>challenging </a:t>
            </a:r>
            <a:r>
              <a:rPr lang="en-GB" spc="-40" dirty="0">
                <a:cs typeface="Georgia"/>
              </a:rPr>
              <a:t>to </a:t>
            </a:r>
            <a:r>
              <a:rPr lang="en-GB" spc="-30" dirty="0">
                <a:cs typeface="Georgia"/>
              </a:rPr>
              <a:t>characterise </a:t>
            </a:r>
            <a:r>
              <a:rPr lang="en-GB" spc="-75" dirty="0">
                <a:cs typeface="Georgia"/>
              </a:rPr>
              <a:t>and </a:t>
            </a:r>
            <a:r>
              <a:rPr lang="en-GB" spc="-70" dirty="0">
                <a:cs typeface="Georgia"/>
              </a:rPr>
              <a:t>plan</a:t>
            </a:r>
            <a:r>
              <a:rPr lang="en-GB" spc="-210" dirty="0">
                <a:cs typeface="Georgia"/>
              </a:rPr>
              <a:t> </a:t>
            </a:r>
            <a:r>
              <a:rPr lang="en-GB" spc="-70" dirty="0">
                <a:cs typeface="Georgia"/>
              </a:rPr>
              <a:t>for?</a:t>
            </a:r>
          </a:p>
          <a:p>
            <a:r>
              <a:rPr lang="en-GB" spc="-60" dirty="0">
                <a:cs typeface="Georgia"/>
              </a:rPr>
              <a:t>The </a:t>
            </a:r>
            <a:r>
              <a:rPr lang="en-GB" spc="-10" dirty="0">
                <a:cs typeface="Georgia"/>
              </a:rPr>
              <a:t>flow </a:t>
            </a:r>
            <a:r>
              <a:rPr lang="en-GB" spc="-35" dirty="0">
                <a:cs typeface="Georgia"/>
              </a:rPr>
              <a:t>associated </a:t>
            </a:r>
            <a:r>
              <a:rPr lang="en-GB" spc="-15" dirty="0">
                <a:cs typeface="Georgia"/>
              </a:rPr>
              <a:t>with</a:t>
            </a:r>
            <a:r>
              <a:rPr lang="en-GB" spc="-365" dirty="0">
                <a:cs typeface="Georgia"/>
              </a:rPr>
              <a:t> </a:t>
            </a:r>
            <a:r>
              <a:rPr lang="en-GB" spc="-60" dirty="0">
                <a:cs typeface="Georgia"/>
              </a:rPr>
              <a:t>transmitting  </a:t>
            </a:r>
            <a:r>
              <a:rPr lang="en-GB" spc="-40" dirty="0">
                <a:cs typeface="Georgia"/>
              </a:rPr>
              <a:t>the </a:t>
            </a:r>
            <a:r>
              <a:rPr lang="en-GB" spc="-55" dirty="0">
                <a:cs typeface="Georgia"/>
              </a:rPr>
              <a:t>audio </a:t>
            </a:r>
            <a:r>
              <a:rPr lang="en-GB" spc="-30" dirty="0">
                <a:cs typeface="Georgia"/>
              </a:rPr>
              <a:t>voice is separate </a:t>
            </a:r>
            <a:r>
              <a:rPr lang="en-GB" spc="-75" dirty="0">
                <a:cs typeface="Georgia"/>
              </a:rPr>
              <a:t>from </a:t>
            </a:r>
            <a:r>
              <a:rPr lang="en-GB" spc="-40" dirty="0">
                <a:cs typeface="Georgia"/>
              </a:rPr>
              <a:t>the  </a:t>
            </a:r>
            <a:r>
              <a:rPr lang="en-GB" spc="-15" dirty="0">
                <a:cs typeface="Georgia"/>
              </a:rPr>
              <a:t>flows </a:t>
            </a:r>
            <a:r>
              <a:rPr lang="en-GB" spc="-35" dirty="0">
                <a:cs typeface="Georgia"/>
              </a:rPr>
              <a:t>associated </a:t>
            </a:r>
            <a:r>
              <a:rPr lang="en-GB" spc="-15" dirty="0">
                <a:cs typeface="Georgia"/>
              </a:rPr>
              <a:t>with </a:t>
            </a:r>
            <a:r>
              <a:rPr lang="en-GB" spc="-50" dirty="0">
                <a:cs typeface="Georgia"/>
              </a:rPr>
              <a:t>call </a:t>
            </a:r>
            <a:r>
              <a:rPr lang="en-GB" spc="-30" dirty="0">
                <a:cs typeface="Georgia"/>
              </a:rPr>
              <a:t>setup </a:t>
            </a:r>
            <a:r>
              <a:rPr lang="en-GB" spc="-80" dirty="0">
                <a:cs typeface="Georgia"/>
              </a:rPr>
              <a:t>and  </a:t>
            </a:r>
            <a:r>
              <a:rPr lang="en-GB" spc="-50" dirty="0">
                <a:cs typeface="Georgia"/>
              </a:rPr>
              <a:t>teardown.</a:t>
            </a:r>
          </a:p>
          <a:p>
            <a:pPr lvl="1"/>
            <a:r>
              <a:rPr lang="en-GB" spc="-55" dirty="0">
                <a:cs typeface="Georgia"/>
              </a:rPr>
              <a:t>The </a:t>
            </a:r>
            <a:r>
              <a:rPr lang="en-GB" spc="-15" dirty="0">
                <a:cs typeface="Georgia"/>
              </a:rPr>
              <a:t>flow </a:t>
            </a:r>
            <a:r>
              <a:rPr lang="en-GB" spc="-40" dirty="0">
                <a:cs typeface="Georgia"/>
              </a:rPr>
              <a:t>for </a:t>
            </a:r>
            <a:r>
              <a:rPr lang="en-GB" spc="-55" dirty="0">
                <a:cs typeface="Georgia"/>
              </a:rPr>
              <a:t>transmitting </a:t>
            </a:r>
            <a:r>
              <a:rPr lang="en-GB" spc="-35" dirty="0">
                <a:cs typeface="Georgia"/>
              </a:rPr>
              <a:t>the</a:t>
            </a:r>
            <a:r>
              <a:rPr lang="en-GB" spc="-280" dirty="0">
                <a:cs typeface="Georgia"/>
              </a:rPr>
              <a:t> </a:t>
            </a:r>
            <a:r>
              <a:rPr lang="en-GB" spc="-45" dirty="0">
                <a:cs typeface="Georgia"/>
              </a:rPr>
              <a:t>digital  </a:t>
            </a:r>
            <a:r>
              <a:rPr lang="en-GB" spc="-30" dirty="0">
                <a:cs typeface="Georgia"/>
              </a:rPr>
              <a:t>voice is </a:t>
            </a:r>
            <a:r>
              <a:rPr lang="en-GB" spc="-35" dirty="0">
                <a:cs typeface="Georgia"/>
              </a:rPr>
              <a:t>essentially</a:t>
            </a:r>
            <a:r>
              <a:rPr lang="en-GB" spc="-260" dirty="0">
                <a:cs typeface="Georgia"/>
              </a:rPr>
              <a:t> </a:t>
            </a:r>
            <a:r>
              <a:rPr lang="en-GB" spc="-65" dirty="0">
                <a:cs typeface="Georgia"/>
              </a:rPr>
              <a:t>peer-to-peer.</a:t>
            </a:r>
          </a:p>
          <a:p>
            <a:pPr lvl="1"/>
            <a:r>
              <a:rPr lang="en-GB" spc="-95" dirty="0">
                <a:cs typeface="Georgia"/>
              </a:rPr>
              <a:t>Call </a:t>
            </a:r>
            <a:r>
              <a:rPr lang="en-GB" spc="-30" dirty="0">
                <a:cs typeface="Georgia"/>
              </a:rPr>
              <a:t>setup </a:t>
            </a:r>
            <a:r>
              <a:rPr lang="en-GB" spc="-70" dirty="0">
                <a:cs typeface="Georgia"/>
              </a:rPr>
              <a:t>and </a:t>
            </a:r>
            <a:r>
              <a:rPr lang="en-GB" spc="-40" dirty="0">
                <a:cs typeface="Georgia"/>
              </a:rPr>
              <a:t>teardown </a:t>
            </a:r>
            <a:r>
              <a:rPr lang="en-GB" spc="-30" dirty="0">
                <a:cs typeface="Georgia"/>
              </a:rPr>
              <a:t>is</a:t>
            </a:r>
            <a:r>
              <a:rPr lang="en-GB" spc="-225" dirty="0">
                <a:cs typeface="Georgia"/>
              </a:rPr>
              <a:t> </a:t>
            </a:r>
            <a:r>
              <a:rPr lang="en-GB" spc="-50" dirty="0">
                <a:cs typeface="Georgia"/>
              </a:rPr>
              <a:t>a  </a:t>
            </a:r>
            <a:r>
              <a:rPr lang="en-GB" spc="-20" dirty="0">
                <a:cs typeface="Georgia"/>
              </a:rPr>
              <a:t>client/server</a:t>
            </a:r>
            <a:r>
              <a:rPr lang="en-GB" spc="-150" dirty="0">
                <a:cs typeface="Georgia"/>
              </a:rPr>
              <a:t> </a:t>
            </a:r>
            <a:r>
              <a:rPr lang="en-GB" spc="-15" dirty="0">
                <a:cs typeface="Georgia"/>
              </a:rPr>
              <a:t>flow</a:t>
            </a:r>
          </a:p>
          <a:p>
            <a:pPr lvl="1"/>
            <a:r>
              <a:rPr lang="en-GB" dirty="0">
                <a:cs typeface="Georgia"/>
              </a:rPr>
              <a:t>Jitter and delay</a:t>
            </a:r>
          </a:p>
          <a:p>
            <a:r>
              <a:rPr lang="en-GB" dirty="0"/>
              <a:t>QoS requirements for multimedia traffic</a:t>
            </a:r>
          </a:p>
        </p:txBody>
      </p:sp>
    </p:spTree>
    <p:extLst>
      <p:ext uri="{BB962C8B-B14F-4D97-AF65-F5344CB8AC3E}">
        <p14:creationId xmlns:p14="http://schemas.microsoft.com/office/powerpoint/2010/main" val="438769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528" y="836712"/>
            <a:ext cx="6907594" cy="1179810"/>
          </a:xfrm>
          <a:prstGeom prst="rect">
            <a:avLst/>
          </a:prstGeom>
        </p:spPr>
        <p:txBody>
          <a:bodyPr vert="horz" wrap="square" lIns="0" tIns="12700" rIns="0" bIns="0" rtlCol="0">
            <a:spAutoFit/>
          </a:bodyPr>
          <a:lstStyle/>
          <a:p>
            <a:pPr marL="12700">
              <a:lnSpc>
                <a:spcPts val="4305"/>
              </a:lnSpc>
              <a:spcBef>
                <a:spcPts val="100"/>
              </a:spcBef>
            </a:pPr>
            <a:r>
              <a:rPr spc="-80" dirty="0"/>
              <a:t>Network</a:t>
            </a:r>
            <a:r>
              <a:rPr spc="-325" dirty="0"/>
              <a:t> </a:t>
            </a:r>
            <a:r>
              <a:rPr spc="-120" dirty="0"/>
              <a:t>Applications</a:t>
            </a:r>
          </a:p>
          <a:p>
            <a:pPr marL="12700">
              <a:lnSpc>
                <a:spcPts val="4785"/>
              </a:lnSpc>
            </a:pPr>
            <a:r>
              <a:rPr sz="4000" spc="-130" dirty="0"/>
              <a:t>Traffic</a:t>
            </a:r>
            <a:r>
              <a:rPr sz="4000" spc="-229" dirty="0"/>
              <a:t> </a:t>
            </a:r>
            <a:r>
              <a:rPr sz="4000" spc="-185" dirty="0"/>
              <a:t>Characteristics</a:t>
            </a:r>
            <a:endParaRPr sz="4000" dirty="0"/>
          </a:p>
        </p:txBody>
      </p:sp>
      <p:graphicFrame>
        <p:nvGraphicFramePr>
          <p:cNvPr id="4" name="Table 3">
            <a:extLst>
              <a:ext uri="{FF2B5EF4-FFF2-40B4-BE49-F238E27FC236}">
                <a16:creationId xmlns:a16="http://schemas.microsoft.com/office/drawing/2014/main" id="{D071642C-7343-40F4-8586-0ABE81D44DA0}"/>
              </a:ext>
            </a:extLst>
          </p:cNvPr>
          <p:cNvGraphicFramePr>
            <a:graphicFrameLocks noGrp="1"/>
          </p:cNvGraphicFramePr>
          <p:nvPr>
            <p:extLst>
              <p:ext uri="{D42A27DB-BD31-4B8C-83A1-F6EECF244321}">
                <p14:modId xmlns:p14="http://schemas.microsoft.com/office/powerpoint/2010/main" val="2188426684"/>
              </p:ext>
            </p:extLst>
          </p:nvPr>
        </p:nvGraphicFramePr>
        <p:xfrm>
          <a:off x="971600" y="2420888"/>
          <a:ext cx="7200801" cy="3672407"/>
        </p:xfrm>
        <a:graphic>
          <a:graphicData uri="http://schemas.openxmlformats.org/drawingml/2006/table">
            <a:tbl>
              <a:tblPr firstRow="1" firstCol="1" bandRow="1">
                <a:tableStyleId>{616DA210-FB5B-4158-B5E0-FEB733F419BA}</a:tableStyleId>
              </a:tblPr>
              <a:tblGrid>
                <a:gridCol w="1013674">
                  <a:extLst>
                    <a:ext uri="{9D8B030D-6E8A-4147-A177-3AD203B41FA5}">
                      <a16:colId xmlns:a16="http://schemas.microsoft.com/office/drawing/2014/main" val="3257342803"/>
                    </a:ext>
                  </a:extLst>
                </a:gridCol>
                <a:gridCol w="755810">
                  <a:extLst>
                    <a:ext uri="{9D8B030D-6E8A-4147-A177-3AD203B41FA5}">
                      <a16:colId xmlns:a16="http://schemas.microsoft.com/office/drawing/2014/main" val="1245011152"/>
                    </a:ext>
                  </a:extLst>
                </a:gridCol>
                <a:gridCol w="1013674">
                  <a:extLst>
                    <a:ext uri="{9D8B030D-6E8A-4147-A177-3AD203B41FA5}">
                      <a16:colId xmlns:a16="http://schemas.microsoft.com/office/drawing/2014/main" val="429618090"/>
                    </a:ext>
                  </a:extLst>
                </a:gridCol>
                <a:gridCol w="1140585">
                  <a:extLst>
                    <a:ext uri="{9D8B030D-6E8A-4147-A177-3AD203B41FA5}">
                      <a16:colId xmlns:a16="http://schemas.microsoft.com/office/drawing/2014/main" val="403720183"/>
                    </a:ext>
                  </a:extLst>
                </a:gridCol>
                <a:gridCol w="877870">
                  <a:extLst>
                    <a:ext uri="{9D8B030D-6E8A-4147-A177-3AD203B41FA5}">
                      <a16:colId xmlns:a16="http://schemas.microsoft.com/office/drawing/2014/main" val="3056517129"/>
                    </a:ext>
                  </a:extLst>
                </a:gridCol>
                <a:gridCol w="1199594">
                  <a:extLst>
                    <a:ext uri="{9D8B030D-6E8A-4147-A177-3AD203B41FA5}">
                      <a16:colId xmlns:a16="http://schemas.microsoft.com/office/drawing/2014/main" val="384203279"/>
                    </a:ext>
                  </a:extLst>
                </a:gridCol>
                <a:gridCol w="1199594">
                  <a:extLst>
                    <a:ext uri="{9D8B030D-6E8A-4147-A177-3AD203B41FA5}">
                      <a16:colId xmlns:a16="http://schemas.microsoft.com/office/drawing/2014/main" val="1760623997"/>
                    </a:ext>
                  </a:extLst>
                </a:gridCol>
              </a:tblGrid>
              <a:tr h="1190912">
                <a:tc>
                  <a:txBody>
                    <a:bodyPr/>
                    <a:lstStyle/>
                    <a:p>
                      <a:pPr algn="l">
                        <a:lnSpc>
                          <a:spcPct val="107000"/>
                        </a:lnSpc>
                        <a:spcAft>
                          <a:spcPts val="0"/>
                        </a:spcAft>
                      </a:pPr>
                      <a:r>
                        <a:rPr lang="en-GB" sz="1100" dirty="0">
                          <a:effectLst/>
                        </a:rPr>
                        <a:t>Name of  Application</a:t>
                      </a:r>
                    </a:p>
                    <a:p>
                      <a:pPr algn="l">
                        <a:lnSpc>
                          <a:spcPct val="107000"/>
                        </a:lnSpc>
                        <a:spcAft>
                          <a:spcPts val="0"/>
                        </a:spcAft>
                      </a:pPr>
                      <a:r>
                        <a:rPr lang="en-GB" sz="1100" dirty="0">
                          <a:effectLst/>
                        </a:rPr>
                        <a:t> </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Type of Traffic  Flow</a:t>
                      </a:r>
                    </a:p>
                    <a:p>
                      <a:pPr algn="l">
                        <a:lnSpc>
                          <a:spcPct val="107000"/>
                        </a:lnSpc>
                        <a:spcAft>
                          <a:spcPts val="0"/>
                        </a:spcAft>
                      </a:pPr>
                      <a:r>
                        <a:rPr lang="en-GB" sz="1100">
                          <a:effectLst/>
                        </a:rPr>
                        <a:t> </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Protocols  Used by  Application</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User  Communities  That Use the  Application</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Data Stores  (Servers,  Hosts, etc)</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Approximate  Bandwidth  Requirements</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QoS  Requirements</a:t>
                      </a:r>
                    </a:p>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6222862"/>
                  </a:ext>
                </a:extLst>
              </a:tr>
              <a:tr h="521664">
                <a:tc>
                  <a:txBody>
                    <a:bodyPr/>
                    <a:lstStyle/>
                    <a:p>
                      <a:pPr algn="l">
                        <a:lnSpc>
                          <a:spcPct val="107000"/>
                        </a:lnSpc>
                        <a:spcAft>
                          <a:spcPts val="0"/>
                        </a:spcAft>
                      </a:pPr>
                      <a:r>
                        <a:rPr lang="en-GB" sz="1100" dirty="0">
                          <a:effectLst/>
                        </a:rPr>
                        <a:t> Panopto</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streaming</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UDP. HTTP</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Students</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Servers</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100MB</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Low jitter and delay</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2043008"/>
                  </a:ext>
                </a:extLst>
              </a:tr>
              <a:tr h="511518">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2773203"/>
                  </a:ext>
                </a:extLst>
              </a:tr>
              <a:tr h="482771">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99375463"/>
                  </a:ext>
                </a:extLst>
              </a:tr>
              <a:tr h="482771">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7627787"/>
                  </a:ext>
                </a:extLst>
              </a:tr>
              <a:tr h="482771">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a:effectLst/>
                        </a:rPr>
                        <a:t> </a:t>
                      </a:r>
                      <a:endParaRPr lang="en-GB"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GB" sz="1100" dirty="0">
                          <a:effectLst/>
                        </a:rPr>
                        <a:t> </a:t>
                      </a:r>
                      <a:endParaRPr lang="en-GB"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8746896"/>
                  </a:ext>
                </a:extLst>
              </a:tr>
            </a:tbl>
          </a:graphicData>
        </a:graphic>
      </p:graphicFrame>
    </p:spTree>
    <p:extLst>
      <p:ext uri="{BB962C8B-B14F-4D97-AF65-F5344CB8AC3E}">
        <p14:creationId xmlns:p14="http://schemas.microsoft.com/office/powerpoint/2010/main" val="1584491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8852-3D27-412B-9DB7-873D394E0FA1}"/>
              </a:ext>
            </a:extLst>
          </p:cNvPr>
          <p:cNvSpPr>
            <a:spLocks noGrp="1"/>
          </p:cNvSpPr>
          <p:nvPr>
            <p:ph type="title"/>
          </p:nvPr>
        </p:nvSpPr>
        <p:spPr>
          <a:xfrm>
            <a:off x="179512" y="908720"/>
            <a:ext cx="8424863" cy="1143000"/>
          </a:xfrm>
        </p:spPr>
        <p:txBody>
          <a:bodyPr/>
          <a:lstStyle/>
          <a:p>
            <a:r>
              <a:rPr lang="en-GB" dirty="0"/>
              <a:t>Traffic Load</a:t>
            </a:r>
          </a:p>
        </p:txBody>
      </p:sp>
      <p:sp>
        <p:nvSpPr>
          <p:cNvPr id="3" name="Content Placeholder 2">
            <a:extLst>
              <a:ext uri="{FF2B5EF4-FFF2-40B4-BE49-F238E27FC236}">
                <a16:creationId xmlns:a16="http://schemas.microsoft.com/office/drawing/2014/main" id="{3B4199F6-679B-4873-A9B1-48558067158E}"/>
              </a:ext>
            </a:extLst>
          </p:cNvPr>
          <p:cNvSpPr>
            <a:spLocks noGrp="1"/>
          </p:cNvSpPr>
          <p:nvPr>
            <p:ph idx="1"/>
          </p:nvPr>
        </p:nvSpPr>
        <p:spPr>
          <a:xfrm>
            <a:off x="323528" y="2132856"/>
            <a:ext cx="8424863" cy="4321175"/>
          </a:xfrm>
        </p:spPr>
        <p:txBody>
          <a:bodyPr>
            <a:normAutofit lnSpcReduction="10000"/>
          </a:bodyPr>
          <a:lstStyle/>
          <a:p>
            <a:r>
              <a:rPr lang="en-GB" dirty="0"/>
              <a:t>Required capacity</a:t>
            </a:r>
          </a:p>
          <a:p>
            <a:pPr lvl="1"/>
            <a:r>
              <a:rPr lang="en-GB" spc="-55" dirty="0">
                <a:cs typeface="Georgia"/>
              </a:rPr>
              <a:t>The number </a:t>
            </a:r>
            <a:r>
              <a:rPr lang="en-GB" spc="-45" dirty="0">
                <a:cs typeface="Georgia"/>
              </a:rPr>
              <a:t>of</a:t>
            </a:r>
            <a:r>
              <a:rPr lang="en-GB" spc="-195" dirty="0">
                <a:cs typeface="Georgia"/>
              </a:rPr>
              <a:t> </a:t>
            </a:r>
            <a:r>
              <a:rPr lang="en-GB" spc="-35" dirty="0">
                <a:cs typeface="Georgia"/>
              </a:rPr>
              <a:t>stations</a:t>
            </a:r>
          </a:p>
          <a:p>
            <a:pPr lvl="1"/>
            <a:r>
              <a:rPr lang="en-GB" spc="-55" dirty="0">
                <a:cs typeface="Georgia"/>
              </a:rPr>
              <a:t>The </a:t>
            </a:r>
            <a:r>
              <a:rPr lang="en-GB" spc="-40" dirty="0">
                <a:cs typeface="Georgia"/>
              </a:rPr>
              <a:t>average </a:t>
            </a:r>
            <a:r>
              <a:rPr lang="en-GB" spc="-50" dirty="0">
                <a:cs typeface="Georgia"/>
              </a:rPr>
              <a:t>time </a:t>
            </a:r>
            <a:r>
              <a:rPr lang="en-GB" spc="-45" dirty="0">
                <a:cs typeface="Georgia"/>
              </a:rPr>
              <a:t>that </a:t>
            </a:r>
            <a:r>
              <a:rPr lang="en-GB" spc="-50" dirty="0">
                <a:cs typeface="Georgia"/>
              </a:rPr>
              <a:t>a </a:t>
            </a:r>
            <a:r>
              <a:rPr lang="en-GB" spc="-40" dirty="0">
                <a:cs typeface="Georgia"/>
              </a:rPr>
              <a:t>station </a:t>
            </a:r>
            <a:r>
              <a:rPr lang="en-GB" spc="-30" dirty="0">
                <a:cs typeface="Georgia"/>
              </a:rPr>
              <a:t>is </a:t>
            </a:r>
            <a:r>
              <a:rPr lang="en-GB" spc="-40" dirty="0">
                <a:cs typeface="Georgia"/>
              </a:rPr>
              <a:t>idle</a:t>
            </a:r>
            <a:r>
              <a:rPr lang="en-GB" spc="-445" dirty="0">
                <a:cs typeface="Georgia"/>
              </a:rPr>
              <a:t> </a:t>
            </a:r>
            <a:r>
              <a:rPr lang="en-GB" spc="-10" dirty="0">
                <a:cs typeface="Georgia"/>
              </a:rPr>
              <a:t>between  </a:t>
            </a:r>
            <a:r>
              <a:rPr lang="en-GB" spc="-55" dirty="0">
                <a:cs typeface="Georgia"/>
              </a:rPr>
              <a:t>sending</a:t>
            </a:r>
            <a:r>
              <a:rPr lang="en-GB" spc="-180" dirty="0">
                <a:cs typeface="Georgia"/>
              </a:rPr>
              <a:t> </a:t>
            </a:r>
            <a:r>
              <a:rPr lang="en-GB" spc="-50" dirty="0">
                <a:cs typeface="Georgia"/>
              </a:rPr>
              <a:t>frames</a:t>
            </a:r>
          </a:p>
          <a:p>
            <a:pPr lvl="1"/>
            <a:r>
              <a:rPr lang="en-GB" spc="-55" dirty="0">
                <a:cs typeface="Georgia"/>
              </a:rPr>
              <a:t>The </a:t>
            </a:r>
            <a:r>
              <a:rPr lang="en-GB" spc="-50" dirty="0">
                <a:cs typeface="Georgia"/>
              </a:rPr>
              <a:t>time </a:t>
            </a:r>
            <a:r>
              <a:rPr lang="en-GB" spc="-35" dirty="0">
                <a:cs typeface="Georgia"/>
              </a:rPr>
              <a:t>required </a:t>
            </a:r>
            <a:r>
              <a:rPr lang="en-GB" spc="-40" dirty="0">
                <a:cs typeface="Georgia"/>
              </a:rPr>
              <a:t>to </a:t>
            </a:r>
            <a:r>
              <a:rPr lang="en-GB" spc="-65" dirty="0">
                <a:cs typeface="Georgia"/>
              </a:rPr>
              <a:t>transmit </a:t>
            </a:r>
            <a:r>
              <a:rPr lang="en-GB" spc="-50" dirty="0">
                <a:cs typeface="Georgia"/>
              </a:rPr>
              <a:t>a </a:t>
            </a:r>
            <a:r>
              <a:rPr lang="en-GB" spc="-45" dirty="0">
                <a:cs typeface="Georgia"/>
              </a:rPr>
              <a:t>message</a:t>
            </a:r>
            <a:r>
              <a:rPr lang="en-GB" spc="-285" dirty="0">
                <a:cs typeface="Georgia"/>
              </a:rPr>
              <a:t> </a:t>
            </a:r>
            <a:r>
              <a:rPr lang="en-GB" spc="-40" dirty="0">
                <a:cs typeface="Georgia"/>
              </a:rPr>
              <a:t>once  </a:t>
            </a:r>
            <a:r>
              <a:rPr lang="en-GB" spc="-75" dirty="0">
                <a:cs typeface="Georgia"/>
              </a:rPr>
              <a:t>medium </a:t>
            </a:r>
            <a:r>
              <a:rPr lang="en-GB" spc="-25" dirty="0">
                <a:cs typeface="Georgia"/>
              </a:rPr>
              <a:t>access </a:t>
            </a:r>
            <a:r>
              <a:rPr lang="en-GB" spc="-30" dirty="0">
                <a:cs typeface="Georgia"/>
              </a:rPr>
              <a:t>is</a:t>
            </a:r>
            <a:r>
              <a:rPr lang="en-GB" spc="-280" dirty="0">
                <a:cs typeface="Georgia"/>
              </a:rPr>
              <a:t> </a:t>
            </a:r>
            <a:r>
              <a:rPr lang="en-GB" spc="-65" dirty="0">
                <a:cs typeface="Georgia"/>
              </a:rPr>
              <a:t>gained</a:t>
            </a:r>
            <a:endParaRPr lang="en-GB" dirty="0">
              <a:cs typeface="Georgia"/>
            </a:endParaRPr>
          </a:p>
          <a:p>
            <a:r>
              <a:rPr lang="en-GB" dirty="0"/>
              <a:t>Traffic behaviour</a:t>
            </a:r>
          </a:p>
          <a:p>
            <a:pPr lvl="1"/>
            <a:r>
              <a:rPr lang="en-GB" dirty="0"/>
              <a:t>Broadcasts – consumes a lot of BW</a:t>
            </a:r>
          </a:p>
          <a:p>
            <a:pPr lvl="1"/>
            <a:r>
              <a:rPr lang="en-GB" dirty="0"/>
              <a:t>Multicasts</a:t>
            </a:r>
          </a:p>
        </p:txBody>
      </p:sp>
    </p:spTree>
    <p:extLst>
      <p:ext uri="{BB962C8B-B14F-4D97-AF65-F5344CB8AC3E}">
        <p14:creationId xmlns:p14="http://schemas.microsoft.com/office/powerpoint/2010/main" val="1122909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9EF9-E7DA-5440-E018-E3EFF5E157F0}"/>
              </a:ext>
            </a:extLst>
          </p:cNvPr>
          <p:cNvSpPr>
            <a:spLocks noGrp="1"/>
          </p:cNvSpPr>
          <p:nvPr>
            <p:ph type="title"/>
          </p:nvPr>
        </p:nvSpPr>
        <p:spPr>
          <a:xfrm>
            <a:off x="24335" y="980728"/>
            <a:ext cx="8424863" cy="1143000"/>
          </a:xfrm>
        </p:spPr>
        <p:txBody>
          <a:bodyPr/>
          <a:lstStyle/>
          <a:p>
            <a:r>
              <a:rPr lang="en-GB" dirty="0"/>
              <a:t>What are the bandwidth requirements given this data usage</a:t>
            </a:r>
          </a:p>
        </p:txBody>
      </p:sp>
      <p:sp>
        <p:nvSpPr>
          <p:cNvPr id="5" name="Rectangle 2">
            <a:extLst>
              <a:ext uri="{FF2B5EF4-FFF2-40B4-BE49-F238E27FC236}">
                <a16:creationId xmlns:a16="http://schemas.microsoft.com/office/drawing/2014/main" id="{9BC6D3D9-92BA-C54D-71B8-9E196E80327F}"/>
              </a:ext>
            </a:extLst>
          </p:cNvPr>
          <p:cNvSpPr>
            <a:spLocks noGrp="1" noChangeArrowheads="1"/>
          </p:cNvSpPr>
          <p:nvPr>
            <p:ph idx="1"/>
          </p:nvPr>
        </p:nvSpPr>
        <p:spPr bwMode="auto">
          <a:xfrm>
            <a:off x="611560" y="5527686"/>
            <a:ext cx="7665155"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676767"/>
                </a:solidFill>
                <a:effectLst/>
                <a:latin typeface="Verdana" panose="020B0604030504040204" pitchFamily="34" charset="0"/>
                <a:cs typeface="Arial" panose="020B0604020202020204" pitchFamily="34" charset="0"/>
              </a:rPr>
              <a:t>The Total Site Bandwidth due to Wolves Cloud Office traffic, TS-AV-BW is calculated as the sum of the Endpoint Type Total Bandwidth numbers:</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676767"/>
                </a:solidFill>
                <a:effectLst/>
                <a:latin typeface="Verdana" panose="020B0604030504040204" pitchFamily="34" charset="0"/>
                <a:cs typeface="Arial" panose="020B0604020202020204" pitchFamily="34" charset="0"/>
              </a:rPr>
              <a:t>TS-AV-BW = [(Number of Endpoints) + (Headroom for Growth)] x (Simultaneous Use Factor) x (Bandwidth per Endpoint)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A912EDDE-86D9-37DD-ED52-5F7794CDDC8B}"/>
              </a:ext>
            </a:extLst>
          </p:cNvPr>
          <p:cNvGraphicFramePr>
            <a:graphicFrameLocks noGrp="1"/>
          </p:cNvGraphicFramePr>
          <p:nvPr>
            <p:extLst>
              <p:ext uri="{D42A27DB-BD31-4B8C-83A1-F6EECF244321}">
                <p14:modId xmlns:p14="http://schemas.microsoft.com/office/powerpoint/2010/main" val="1633805098"/>
              </p:ext>
            </p:extLst>
          </p:nvPr>
        </p:nvGraphicFramePr>
        <p:xfrm>
          <a:off x="683568" y="2276872"/>
          <a:ext cx="7128792" cy="2950210"/>
        </p:xfrm>
        <a:graphic>
          <a:graphicData uri="http://schemas.openxmlformats.org/drawingml/2006/table">
            <a:tbl>
              <a:tblPr firstRow="1" firstCol="1" bandRow="1">
                <a:tableStyleId>{5C22544A-7EE6-4342-B048-85BDC9FD1C3A}</a:tableStyleId>
              </a:tblPr>
              <a:tblGrid>
                <a:gridCol w="1410756">
                  <a:extLst>
                    <a:ext uri="{9D8B030D-6E8A-4147-A177-3AD203B41FA5}">
                      <a16:colId xmlns:a16="http://schemas.microsoft.com/office/drawing/2014/main" val="1712337330"/>
                    </a:ext>
                  </a:extLst>
                </a:gridCol>
                <a:gridCol w="1415870">
                  <a:extLst>
                    <a:ext uri="{9D8B030D-6E8A-4147-A177-3AD203B41FA5}">
                      <a16:colId xmlns:a16="http://schemas.microsoft.com/office/drawing/2014/main" val="3075486281"/>
                    </a:ext>
                  </a:extLst>
                </a:gridCol>
                <a:gridCol w="1438886">
                  <a:extLst>
                    <a:ext uri="{9D8B030D-6E8A-4147-A177-3AD203B41FA5}">
                      <a16:colId xmlns:a16="http://schemas.microsoft.com/office/drawing/2014/main" val="2331382867"/>
                    </a:ext>
                  </a:extLst>
                </a:gridCol>
                <a:gridCol w="1442295">
                  <a:extLst>
                    <a:ext uri="{9D8B030D-6E8A-4147-A177-3AD203B41FA5}">
                      <a16:colId xmlns:a16="http://schemas.microsoft.com/office/drawing/2014/main" val="3105604399"/>
                    </a:ext>
                  </a:extLst>
                </a:gridCol>
                <a:gridCol w="1420985">
                  <a:extLst>
                    <a:ext uri="{9D8B030D-6E8A-4147-A177-3AD203B41FA5}">
                      <a16:colId xmlns:a16="http://schemas.microsoft.com/office/drawing/2014/main" val="2529348795"/>
                    </a:ext>
                  </a:extLst>
                </a:gridCol>
              </a:tblGrid>
              <a:tr h="0">
                <a:tc>
                  <a:txBody>
                    <a:bodyPr/>
                    <a:lstStyle/>
                    <a:p>
                      <a:pPr marL="457200">
                        <a:lnSpc>
                          <a:spcPct val="115000"/>
                        </a:lnSpc>
                        <a:buNone/>
                      </a:pPr>
                      <a:r>
                        <a:rPr lang="en-GB" sz="1200" dirty="0">
                          <a:solidFill>
                            <a:schemeClr val="tx1"/>
                          </a:solidFill>
                          <a:effectLst/>
                        </a:rPr>
                        <a:t>Endpoint Type</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200" dirty="0">
                          <a:solidFill>
                            <a:schemeClr val="tx1"/>
                          </a:solidFill>
                          <a:effectLst/>
                        </a:rPr>
                        <a:t>Number of endpoints</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200" dirty="0">
                          <a:solidFill>
                            <a:schemeClr val="tx1"/>
                          </a:solidFill>
                          <a:effectLst/>
                        </a:rPr>
                        <a:t>% headroom requirements for future</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200" dirty="0">
                          <a:solidFill>
                            <a:schemeClr val="tx1"/>
                          </a:solidFill>
                          <a:effectLst/>
                        </a:rPr>
                        <a:t>Simultaneous use factor</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spcAft>
                          <a:spcPts val="1000"/>
                        </a:spcAft>
                        <a:buNone/>
                      </a:pPr>
                      <a:r>
                        <a:rPr lang="en-GB" sz="1200" dirty="0">
                          <a:solidFill>
                            <a:schemeClr val="tx1"/>
                          </a:solidFill>
                          <a:effectLst/>
                        </a:rPr>
                        <a:t>Bandwidth per endpoint type (Mbps)</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079711"/>
                  </a:ext>
                </a:extLst>
              </a:tr>
              <a:tr h="0">
                <a:tc>
                  <a:txBody>
                    <a:bodyPr/>
                    <a:lstStyle/>
                    <a:p>
                      <a:pPr marL="457200">
                        <a:lnSpc>
                          <a:spcPct val="115000"/>
                        </a:lnSpc>
                        <a:buNone/>
                      </a:pPr>
                      <a:r>
                        <a:rPr lang="en-GB" sz="1200" dirty="0">
                          <a:solidFill>
                            <a:schemeClr val="tx1"/>
                          </a:solidFill>
                          <a:effectLst/>
                        </a:rPr>
                        <a:t>Soft phone</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40</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30%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60%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spcAft>
                          <a:spcPts val="1000"/>
                        </a:spcAft>
                        <a:buNone/>
                      </a:pPr>
                      <a:r>
                        <a:rPr lang="en-GB" sz="1600">
                          <a:effectLst/>
                        </a:rPr>
                        <a:t>0.1</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1333036"/>
                  </a:ext>
                </a:extLst>
              </a:tr>
              <a:tr h="0">
                <a:tc>
                  <a:txBody>
                    <a:bodyPr/>
                    <a:lstStyle/>
                    <a:p>
                      <a:pPr marL="457200">
                        <a:lnSpc>
                          <a:spcPct val="115000"/>
                        </a:lnSpc>
                        <a:buNone/>
                      </a:pPr>
                      <a:r>
                        <a:rPr lang="en-GB" sz="1200" dirty="0">
                          <a:solidFill>
                            <a:schemeClr val="tx1"/>
                          </a:solidFill>
                          <a:effectLst/>
                        </a:rPr>
                        <a:t>Hard Phone</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80</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10%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50%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spcAft>
                          <a:spcPts val="1000"/>
                        </a:spcAft>
                        <a:buNone/>
                      </a:pPr>
                      <a:r>
                        <a:rPr lang="en-GB" sz="1600" dirty="0">
                          <a:effectLst/>
                        </a:rPr>
                        <a:t>0.1</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5070941"/>
                  </a:ext>
                </a:extLst>
              </a:tr>
              <a:tr h="0">
                <a:tc>
                  <a:txBody>
                    <a:bodyPr/>
                    <a:lstStyle/>
                    <a:p>
                      <a:pPr marL="457200">
                        <a:lnSpc>
                          <a:spcPct val="115000"/>
                        </a:lnSpc>
                        <a:buNone/>
                      </a:pPr>
                      <a:r>
                        <a:rPr lang="en-GB" sz="1200" dirty="0">
                          <a:solidFill>
                            <a:schemeClr val="tx1"/>
                          </a:solidFill>
                          <a:effectLst/>
                        </a:rPr>
                        <a:t>Two Party HD Video call</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15</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30%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a:effectLst/>
                        </a:rPr>
                        <a:t>60%</a:t>
                      </a:r>
                      <a:endParaRPr lang="en-GB" sz="16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spcAft>
                          <a:spcPts val="1000"/>
                        </a:spcAft>
                        <a:buNone/>
                      </a:pPr>
                      <a:r>
                        <a:rPr lang="en-GB" sz="1600" dirty="0">
                          <a:effectLst/>
                        </a:rPr>
                        <a:t>2</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1472015"/>
                  </a:ext>
                </a:extLst>
              </a:tr>
              <a:tr h="0">
                <a:tc>
                  <a:txBody>
                    <a:bodyPr/>
                    <a:lstStyle/>
                    <a:p>
                      <a:pPr marL="457200">
                        <a:lnSpc>
                          <a:spcPct val="115000"/>
                        </a:lnSpc>
                        <a:buNone/>
                      </a:pPr>
                      <a:r>
                        <a:rPr lang="en-GB" sz="1200" dirty="0">
                          <a:solidFill>
                            <a:schemeClr val="tx1"/>
                          </a:solidFill>
                          <a:effectLst/>
                        </a:rPr>
                        <a:t>Mobile Phone on </a:t>
                      </a:r>
                      <a:r>
                        <a:rPr lang="en-GB" sz="1200" dirty="0" err="1">
                          <a:solidFill>
                            <a:schemeClr val="tx1"/>
                          </a:solidFill>
                          <a:effectLst/>
                        </a:rPr>
                        <a:t>WiFi</a:t>
                      </a:r>
                      <a:endParaRPr lang="en-GB" sz="12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8</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10%</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buNone/>
                      </a:pPr>
                      <a:r>
                        <a:rPr lang="en-GB" sz="1600" dirty="0">
                          <a:effectLst/>
                        </a:rPr>
                        <a:t>80%</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457200">
                        <a:lnSpc>
                          <a:spcPct val="115000"/>
                        </a:lnSpc>
                        <a:spcAft>
                          <a:spcPts val="1000"/>
                        </a:spcAft>
                        <a:buNone/>
                      </a:pPr>
                      <a:r>
                        <a:rPr lang="en-GB" sz="1600" dirty="0">
                          <a:effectLst/>
                        </a:rPr>
                        <a:t>0.1</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0237431"/>
                  </a:ext>
                </a:extLst>
              </a:tr>
            </a:tbl>
          </a:graphicData>
        </a:graphic>
      </p:graphicFrame>
      <p:grpSp>
        <p:nvGrpSpPr>
          <p:cNvPr id="21" name="Group 20">
            <a:extLst>
              <a:ext uri="{FF2B5EF4-FFF2-40B4-BE49-F238E27FC236}">
                <a16:creationId xmlns:a16="http://schemas.microsoft.com/office/drawing/2014/main" id="{CE65ED52-1B4D-42DA-3E4F-E426D278C9DB}"/>
              </a:ext>
            </a:extLst>
          </p:cNvPr>
          <p:cNvGrpSpPr/>
          <p:nvPr/>
        </p:nvGrpSpPr>
        <p:grpSpPr>
          <a:xfrm>
            <a:off x="8079558" y="3244334"/>
            <a:ext cx="912998" cy="2398129"/>
            <a:chOff x="8079558" y="3244334"/>
            <a:chExt cx="912998" cy="2398129"/>
          </a:xfrm>
        </p:grpSpPr>
        <p:sp>
          <p:nvSpPr>
            <p:cNvPr id="14" name="TextBox 13">
              <a:extLst>
                <a:ext uri="{FF2B5EF4-FFF2-40B4-BE49-F238E27FC236}">
                  <a16:creationId xmlns:a16="http://schemas.microsoft.com/office/drawing/2014/main" id="{1C339310-3E75-1727-6565-19D7F63F0DCB}"/>
                </a:ext>
              </a:extLst>
            </p:cNvPr>
            <p:cNvSpPr txBox="1"/>
            <p:nvPr/>
          </p:nvSpPr>
          <p:spPr>
            <a:xfrm>
              <a:off x="8132444" y="3244334"/>
              <a:ext cx="633507" cy="369332"/>
            </a:xfrm>
            <a:prstGeom prst="rect">
              <a:avLst/>
            </a:prstGeom>
            <a:noFill/>
          </p:spPr>
          <p:txBody>
            <a:bodyPr wrap="none" rtlCol="0">
              <a:spAutoFit/>
            </a:bodyPr>
            <a:lstStyle/>
            <a:p>
              <a:r>
                <a:rPr lang="en-GB" dirty="0"/>
                <a:t>3.12</a:t>
              </a:r>
            </a:p>
          </p:txBody>
        </p:sp>
        <p:sp>
          <p:nvSpPr>
            <p:cNvPr id="15" name="TextBox 14">
              <a:extLst>
                <a:ext uri="{FF2B5EF4-FFF2-40B4-BE49-F238E27FC236}">
                  <a16:creationId xmlns:a16="http://schemas.microsoft.com/office/drawing/2014/main" id="{434F5B82-56F8-A9CE-ADA0-2ED2903A9CEF}"/>
                </a:ext>
              </a:extLst>
            </p:cNvPr>
            <p:cNvSpPr txBox="1"/>
            <p:nvPr/>
          </p:nvSpPr>
          <p:spPr>
            <a:xfrm>
              <a:off x="8166690" y="3503391"/>
              <a:ext cx="633507" cy="369332"/>
            </a:xfrm>
            <a:prstGeom prst="rect">
              <a:avLst/>
            </a:prstGeom>
            <a:noFill/>
          </p:spPr>
          <p:txBody>
            <a:bodyPr wrap="none" rtlCol="0">
              <a:spAutoFit/>
            </a:bodyPr>
            <a:lstStyle/>
            <a:p>
              <a:r>
                <a:rPr lang="en-GB" dirty="0"/>
                <a:t>5.28</a:t>
              </a:r>
            </a:p>
          </p:txBody>
        </p:sp>
        <p:sp>
          <p:nvSpPr>
            <p:cNvPr id="16" name="TextBox 15">
              <a:extLst>
                <a:ext uri="{FF2B5EF4-FFF2-40B4-BE49-F238E27FC236}">
                  <a16:creationId xmlns:a16="http://schemas.microsoft.com/office/drawing/2014/main" id="{B5AA4AFD-90C0-AE5B-5E89-91FB6E642084}"/>
                </a:ext>
              </a:extLst>
            </p:cNvPr>
            <p:cNvSpPr txBox="1"/>
            <p:nvPr/>
          </p:nvSpPr>
          <p:spPr>
            <a:xfrm>
              <a:off x="8102569" y="4071815"/>
              <a:ext cx="761747" cy="369332"/>
            </a:xfrm>
            <a:prstGeom prst="rect">
              <a:avLst/>
            </a:prstGeom>
            <a:noFill/>
          </p:spPr>
          <p:txBody>
            <a:bodyPr wrap="none" rtlCol="0">
              <a:spAutoFit/>
            </a:bodyPr>
            <a:lstStyle/>
            <a:p>
              <a:r>
                <a:rPr lang="en-GB" dirty="0"/>
                <a:t>23.24</a:t>
              </a:r>
            </a:p>
          </p:txBody>
        </p:sp>
        <p:sp>
          <p:nvSpPr>
            <p:cNvPr id="17" name="TextBox 16">
              <a:extLst>
                <a:ext uri="{FF2B5EF4-FFF2-40B4-BE49-F238E27FC236}">
                  <a16:creationId xmlns:a16="http://schemas.microsoft.com/office/drawing/2014/main" id="{31FE6B85-BEFE-B499-3E7D-B1DCE522659E}"/>
                </a:ext>
              </a:extLst>
            </p:cNvPr>
            <p:cNvSpPr txBox="1"/>
            <p:nvPr/>
          </p:nvSpPr>
          <p:spPr>
            <a:xfrm>
              <a:off x="8079558" y="4640239"/>
              <a:ext cx="761747" cy="369332"/>
            </a:xfrm>
            <a:prstGeom prst="rect">
              <a:avLst/>
            </a:prstGeom>
            <a:noFill/>
          </p:spPr>
          <p:txBody>
            <a:bodyPr wrap="none" rtlCol="0">
              <a:spAutoFit/>
            </a:bodyPr>
            <a:lstStyle/>
            <a:p>
              <a:r>
                <a:rPr lang="en-GB" dirty="0"/>
                <a:t>0.704</a:t>
              </a:r>
            </a:p>
          </p:txBody>
        </p:sp>
        <p:cxnSp>
          <p:nvCxnSpPr>
            <p:cNvPr id="19" name="Straight Connector 18">
              <a:extLst>
                <a:ext uri="{FF2B5EF4-FFF2-40B4-BE49-F238E27FC236}">
                  <a16:creationId xmlns:a16="http://schemas.microsoft.com/office/drawing/2014/main" id="{3AAB5A9D-712D-FA43-BC40-6EAA6909F144}"/>
                </a:ext>
              </a:extLst>
            </p:cNvPr>
            <p:cNvCxnSpPr/>
            <p:nvPr/>
          </p:nvCxnSpPr>
          <p:spPr>
            <a:xfrm>
              <a:off x="8079558" y="5157192"/>
              <a:ext cx="784758"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E460DB18-2756-E108-3CD6-5C60E6AB2EA3}"/>
                </a:ext>
              </a:extLst>
            </p:cNvPr>
            <p:cNvSpPr txBox="1"/>
            <p:nvPr/>
          </p:nvSpPr>
          <p:spPr>
            <a:xfrm>
              <a:off x="8102569" y="5273131"/>
              <a:ext cx="889987" cy="369332"/>
            </a:xfrm>
            <a:prstGeom prst="rect">
              <a:avLst/>
            </a:prstGeom>
            <a:noFill/>
          </p:spPr>
          <p:txBody>
            <a:bodyPr wrap="none" rtlCol="0">
              <a:spAutoFit/>
            </a:bodyPr>
            <a:lstStyle/>
            <a:p>
              <a:r>
                <a:rPr lang="en-GB" dirty="0"/>
                <a:t>32.504</a:t>
              </a:r>
            </a:p>
          </p:txBody>
        </p:sp>
      </p:grpSp>
    </p:spTree>
    <p:extLst>
      <p:ext uri="{BB962C8B-B14F-4D97-AF65-F5344CB8AC3E}">
        <p14:creationId xmlns:p14="http://schemas.microsoft.com/office/powerpoint/2010/main" val="26058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569" y="908720"/>
            <a:ext cx="6547554" cy="714913"/>
          </a:xfrm>
          <a:prstGeom prst="rect">
            <a:avLst/>
          </a:prstGeom>
        </p:spPr>
        <p:txBody>
          <a:bodyPr vert="horz" wrap="square" lIns="0" tIns="12700" rIns="0" bIns="0" rtlCol="0">
            <a:spAutoFit/>
          </a:bodyPr>
          <a:lstStyle/>
          <a:p>
            <a:pPr marL="12700">
              <a:lnSpc>
                <a:spcPct val="100000"/>
              </a:lnSpc>
              <a:spcBef>
                <a:spcPts val="100"/>
              </a:spcBef>
            </a:pPr>
            <a:r>
              <a:rPr spc="-5" dirty="0"/>
              <a:t>Typical</a:t>
            </a:r>
            <a:r>
              <a:rPr spc="-165" dirty="0"/>
              <a:t> </a:t>
            </a:r>
            <a:r>
              <a:rPr spc="-5" dirty="0"/>
              <a:t>Bottlenecks</a:t>
            </a:r>
            <a:r>
              <a:rPr lang="en-GB" spc="-5" dirty="0"/>
              <a:t>?</a:t>
            </a:r>
            <a:endParaRPr spc="-5" dirty="0"/>
          </a:p>
        </p:txBody>
      </p:sp>
      <p:sp>
        <p:nvSpPr>
          <p:cNvPr id="3" name="object 3"/>
          <p:cNvSpPr txBox="1"/>
          <p:nvPr/>
        </p:nvSpPr>
        <p:spPr>
          <a:xfrm>
            <a:off x="395536" y="1916832"/>
            <a:ext cx="7128792" cy="4826962"/>
          </a:xfrm>
          <a:prstGeom prst="rect">
            <a:avLst/>
          </a:prstGeom>
        </p:spPr>
        <p:txBody>
          <a:bodyPr vert="horz" wrap="square" lIns="0" tIns="88900" rIns="0" bIns="0" rtlCol="0">
            <a:spAutoFit/>
          </a:bodyPr>
          <a:lstStyle/>
          <a:p>
            <a:pPr marL="469900" indent="-457200">
              <a:lnSpc>
                <a:spcPct val="100000"/>
              </a:lnSpc>
              <a:spcBef>
                <a:spcPts val="700"/>
              </a:spcBef>
              <a:buChar char="•"/>
              <a:tabLst>
                <a:tab pos="469900" algn="l"/>
                <a:tab pos="470534" algn="l"/>
              </a:tabLst>
            </a:pPr>
            <a:r>
              <a:rPr sz="2800" spc="-5" dirty="0">
                <a:cs typeface="Arial"/>
              </a:rPr>
              <a:t>Shared </a:t>
            </a:r>
            <a:r>
              <a:rPr sz="2800" dirty="0">
                <a:cs typeface="Arial"/>
              </a:rPr>
              <a:t>services (centralised servers</a:t>
            </a:r>
            <a:r>
              <a:rPr sz="2800" spc="-200" dirty="0">
                <a:cs typeface="Arial"/>
              </a:rPr>
              <a:t> </a:t>
            </a:r>
            <a:r>
              <a:rPr sz="2800" dirty="0">
                <a:cs typeface="Arial"/>
              </a:rPr>
              <a:t>etc)</a:t>
            </a:r>
          </a:p>
          <a:p>
            <a:pPr marL="469900" indent="-457200">
              <a:lnSpc>
                <a:spcPct val="100000"/>
              </a:lnSpc>
              <a:spcBef>
                <a:spcPts val="600"/>
              </a:spcBef>
              <a:buChar char="•"/>
              <a:tabLst>
                <a:tab pos="469900" algn="l"/>
                <a:tab pos="470534" algn="l"/>
              </a:tabLst>
            </a:pPr>
            <a:r>
              <a:rPr sz="2800" dirty="0">
                <a:cs typeface="Arial"/>
              </a:rPr>
              <a:t>Multi-user </a:t>
            </a:r>
            <a:r>
              <a:rPr sz="2800" spc="-5" dirty="0">
                <a:cs typeface="Arial"/>
              </a:rPr>
              <a:t>applications </a:t>
            </a:r>
            <a:r>
              <a:rPr sz="2800" dirty="0">
                <a:cs typeface="Arial"/>
              </a:rPr>
              <a:t>and</a:t>
            </a:r>
            <a:r>
              <a:rPr sz="2800" spc="-105" dirty="0">
                <a:cs typeface="Arial"/>
              </a:rPr>
              <a:t> </a:t>
            </a:r>
            <a:r>
              <a:rPr sz="2800" dirty="0">
                <a:cs typeface="Arial"/>
              </a:rPr>
              <a:t>databases</a:t>
            </a:r>
          </a:p>
          <a:p>
            <a:pPr marL="470534" indent="-457200">
              <a:lnSpc>
                <a:spcPct val="100000"/>
              </a:lnSpc>
              <a:spcBef>
                <a:spcPts val="610"/>
              </a:spcBef>
              <a:buChar char="•"/>
              <a:tabLst>
                <a:tab pos="470534" algn="l"/>
                <a:tab pos="471170" algn="l"/>
              </a:tabLst>
            </a:pPr>
            <a:r>
              <a:rPr sz="2800" dirty="0">
                <a:cs typeface="Arial"/>
              </a:rPr>
              <a:t>Low-speed</a:t>
            </a:r>
            <a:r>
              <a:rPr sz="2800" spc="-60" dirty="0">
                <a:cs typeface="Arial"/>
              </a:rPr>
              <a:t> </a:t>
            </a:r>
            <a:r>
              <a:rPr sz="2800" spc="-20" dirty="0">
                <a:cs typeface="Arial"/>
              </a:rPr>
              <a:t>NICs</a:t>
            </a:r>
            <a:endParaRPr sz="2800" dirty="0">
              <a:cs typeface="Arial"/>
            </a:endParaRPr>
          </a:p>
          <a:p>
            <a:pPr marL="470534" indent="-457200">
              <a:lnSpc>
                <a:spcPct val="100000"/>
              </a:lnSpc>
              <a:spcBef>
                <a:spcPts val="950"/>
              </a:spcBef>
              <a:buChar char="•"/>
              <a:tabLst>
                <a:tab pos="470534" algn="l"/>
                <a:tab pos="471170" algn="l"/>
              </a:tabLst>
            </a:pPr>
            <a:r>
              <a:rPr sz="2800" spc="-5" dirty="0">
                <a:cs typeface="Arial"/>
              </a:rPr>
              <a:t>Shared LAN</a:t>
            </a:r>
            <a:r>
              <a:rPr sz="2800" spc="-70" dirty="0">
                <a:cs typeface="Arial"/>
              </a:rPr>
              <a:t> </a:t>
            </a:r>
            <a:r>
              <a:rPr sz="2800" dirty="0">
                <a:cs typeface="Arial"/>
              </a:rPr>
              <a:t>segments</a:t>
            </a:r>
          </a:p>
          <a:p>
            <a:pPr marL="470534" indent="-457200">
              <a:lnSpc>
                <a:spcPct val="100000"/>
              </a:lnSpc>
              <a:spcBef>
                <a:spcPts val="600"/>
              </a:spcBef>
              <a:buChar char="•"/>
              <a:tabLst>
                <a:tab pos="470534" algn="l"/>
                <a:tab pos="471170" algn="l"/>
              </a:tabLst>
            </a:pPr>
            <a:r>
              <a:rPr sz="2800" spc="-5" dirty="0">
                <a:cs typeface="Arial"/>
              </a:rPr>
              <a:t>Low-bandwidth </a:t>
            </a:r>
            <a:r>
              <a:rPr sz="2800" spc="-45" dirty="0">
                <a:cs typeface="Arial"/>
              </a:rPr>
              <a:t>WAN </a:t>
            </a:r>
            <a:r>
              <a:rPr sz="2800" dirty="0">
                <a:cs typeface="Arial"/>
              </a:rPr>
              <a:t>links</a:t>
            </a:r>
            <a:r>
              <a:rPr lang="en-GB" sz="2800" dirty="0">
                <a:cs typeface="Arial"/>
              </a:rPr>
              <a:t> – </a:t>
            </a:r>
            <a:r>
              <a:rPr lang="en-GB" sz="2400" dirty="0">
                <a:cs typeface="Arial"/>
              </a:rPr>
              <a:t>important with the use of the cloud</a:t>
            </a:r>
            <a:endParaRPr sz="2800" dirty="0">
              <a:cs typeface="Arial"/>
            </a:endParaRPr>
          </a:p>
          <a:p>
            <a:pPr marL="470534" indent="-457200">
              <a:lnSpc>
                <a:spcPct val="100000"/>
              </a:lnSpc>
              <a:spcBef>
                <a:spcPts val="250"/>
              </a:spcBef>
              <a:buChar char="•"/>
              <a:tabLst>
                <a:tab pos="470534" algn="l"/>
                <a:tab pos="471170" algn="l"/>
              </a:tabLst>
            </a:pPr>
            <a:r>
              <a:rPr sz="2800" spc="-15" dirty="0">
                <a:cs typeface="Arial"/>
              </a:rPr>
              <a:t>Core </a:t>
            </a:r>
            <a:r>
              <a:rPr sz="2800" dirty="0">
                <a:cs typeface="Arial"/>
              </a:rPr>
              <a:t>routing and </a:t>
            </a:r>
            <a:r>
              <a:rPr sz="2800" spc="-5" dirty="0">
                <a:cs typeface="Arial"/>
              </a:rPr>
              <a:t>switching</a:t>
            </a:r>
            <a:r>
              <a:rPr sz="2800" spc="-90" dirty="0">
                <a:cs typeface="Arial"/>
              </a:rPr>
              <a:t> </a:t>
            </a:r>
            <a:r>
              <a:rPr sz="2800" dirty="0">
                <a:cs typeface="Arial"/>
              </a:rPr>
              <a:t>components</a:t>
            </a:r>
          </a:p>
          <a:p>
            <a:pPr marL="471170" indent="-457200">
              <a:lnSpc>
                <a:spcPct val="100000"/>
              </a:lnSpc>
              <a:spcBef>
                <a:spcPts val="615"/>
              </a:spcBef>
              <a:buChar char="•"/>
              <a:tabLst>
                <a:tab pos="471170" algn="l"/>
                <a:tab pos="471805" algn="l"/>
              </a:tabLst>
            </a:pPr>
            <a:r>
              <a:rPr sz="2800" spc="-5" dirty="0">
                <a:cs typeface="Arial"/>
              </a:rPr>
              <a:t>Firewalls </a:t>
            </a:r>
            <a:r>
              <a:rPr sz="2800" dirty="0">
                <a:cs typeface="Arial"/>
              </a:rPr>
              <a:t>(particularly</a:t>
            </a:r>
            <a:r>
              <a:rPr sz="2800" spc="-90" dirty="0">
                <a:cs typeface="Arial"/>
              </a:rPr>
              <a:t> </a:t>
            </a:r>
            <a:r>
              <a:rPr sz="2800" dirty="0">
                <a:cs typeface="Arial"/>
              </a:rPr>
              <a:t>public-facing)</a:t>
            </a:r>
            <a:r>
              <a:rPr lang="en-GB" sz="2800" dirty="0">
                <a:cs typeface="Arial"/>
              </a:rPr>
              <a:t> – </a:t>
            </a:r>
            <a:r>
              <a:rPr lang="en-GB" sz="2000" dirty="0">
                <a:cs typeface="Arial"/>
              </a:rPr>
              <a:t>incoming traffic inspected</a:t>
            </a:r>
            <a:endParaRPr sz="2800" dirty="0">
              <a:cs typeface="Arial"/>
            </a:endParaRPr>
          </a:p>
          <a:p>
            <a:pPr marL="471170" indent="-457200">
              <a:lnSpc>
                <a:spcPct val="100000"/>
              </a:lnSpc>
              <a:spcBef>
                <a:spcPts val="600"/>
              </a:spcBef>
              <a:buChar char="•"/>
              <a:tabLst>
                <a:tab pos="471170" algn="l"/>
                <a:tab pos="471805" algn="l"/>
              </a:tabLst>
            </a:pPr>
            <a:r>
              <a:rPr sz="2800" dirty="0">
                <a:cs typeface="Arial"/>
              </a:rPr>
              <a:t>Inappropriate compression</a:t>
            </a:r>
            <a:r>
              <a:rPr sz="2800" spc="-65" dirty="0">
                <a:cs typeface="Arial"/>
              </a:rPr>
              <a:t> </a:t>
            </a:r>
            <a:r>
              <a:rPr sz="2800" dirty="0">
                <a:cs typeface="Arial"/>
              </a:rPr>
              <a:t>usage</a:t>
            </a:r>
          </a:p>
        </p:txBody>
      </p:sp>
    </p:spTree>
    <p:extLst>
      <p:ext uri="{BB962C8B-B14F-4D97-AF65-F5344CB8AC3E}">
        <p14:creationId xmlns:p14="http://schemas.microsoft.com/office/powerpoint/2010/main" val="213154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504" y="45791"/>
            <a:ext cx="4667351" cy="4362449"/>
          </a:xfrm>
          <a:prstGeom prst="rect">
            <a:avLst/>
          </a:prstGeom>
          <a:blipFill>
            <a:blip r:embed="rId3"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5076056" y="942226"/>
            <a:ext cx="3665220" cy="1550670"/>
          </a:xfrm>
          <a:prstGeom prst="rect">
            <a:avLst/>
          </a:prstGeom>
        </p:spPr>
        <p:txBody>
          <a:bodyPr vert="horz" wrap="square" lIns="0" tIns="13335" rIns="0" bIns="0" rtlCol="0">
            <a:spAutoFit/>
          </a:bodyPr>
          <a:lstStyle/>
          <a:p>
            <a:pPr marL="12700" marR="5080">
              <a:lnSpc>
                <a:spcPct val="100000"/>
              </a:lnSpc>
              <a:spcBef>
                <a:spcPts val="105"/>
              </a:spcBef>
            </a:pPr>
            <a:r>
              <a:rPr sz="2000" dirty="0">
                <a:latin typeface="+mn-lt"/>
              </a:rPr>
              <a:t>Green Inc. </a:t>
            </a:r>
            <a:r>
              <a:rPr sz="2000" spc="-5" dirty="0">
                <a:solidFill>
                  <a:srgbClr val="FF0000"/>
                </a:solidFill>
                <a:latin typeface="+mn-lt"/>
              </a:rPr>
              <a:t>is </a:t>
            </a:r>
            <a:r>
              <a:rPr sz="2000" dirty="0">
                <a:solidFill>
                  <a:srgbClr val="FF0000"/>
                </a:solidFill>
                <a:latin typeface="+mn-lt"/>
              </a:rPr>
              <a:t>expanding and</a:t>
            </a:r>
            <a:r>
              <a:rPr sz="2000" spc="-170" dirty="0">
                <a:solidFill>
                  <a:srgbClr val="FF0000"/>
                </a:solidFill>
                <a:latin typeface="+mn-lt"/>
              </a:rPr>
              <a:t> </a:t>
            </a:r>
            <a:r>
              <a:rPr sz="2000" dirty="0">
                <a:solidFill>
                  <a:srgbClr val="FF0000"/>
                </a:solidFill>
                <a:latin typeface="+mn-lt"/>
              </a:rPr>
              <a:t>just  got another </a:t>
            </a:r>
            <a:r>
              <a:rPr sz="2000" spc="-5" dirty="0">
                <a:solidFill>
                  <a:srgbClr val="FF0000"/>
                </a:solidFill>
                <a:latin typeface="+mn-lt"/>
              </a:rPr>
              <a:t>floor </a:t>
            </a:r>
            <a:r>
              <a:rPr sz="2000" dirty="0">
                <a:solidFill>
                  <a:srgbClr val="FF0000"/>
                </a:solidFill>
                <a:latin typeface="+mn-lt"/>
              </a:rPr>
              <a:t>on </a:t>
            </a:r>
            <a:r>
              <a:rPr sz="2000" spc="-5" dirty="0">
                <a:solidFill>
                  <a:srgbClr val="FF0000"/>
                </a:solidFill>
                <a:latin typeface="+mn-lt"/>
              </a:rPr>
              <a:t>the </a:t>
            </a:r>
            <a:r>
              <a:rPr sz="2000" dirty="0">
                <a:solidFill>
                  <a:srgbClr val="FF0000"/>
                </a:solidFill>
                <a:latin typeface="+mn-lt"/>
              </a:rPr>
              <a:t>building  </a:t>
            </a:r>
            <a:r>
              <a:rPr sz="2000" spc="-5" dirty="0">
                <a:solidFill>
                  <a:srgbClr val="FF0000"/>
                </a:solidFill>
                <a:latin typeface="+mn-lt"/>
              </a:rPr>
              <a:t>they have their main office. </a:t>
            </a:r>
            <a:r>
              <a:rPr sz="2000" dirty="0">
                <a:latin typeface="+mn-lt"/>
              </a:rPr>
              <a:t>The  new </a:t>
            </a:r>
            <a:r>
              <a:rPr sz="2000" spc="-5" dirty="0">
                <a:latin typeface="+mn-lt"/>
              </a:rPr>
              <a:t>floor will </a:t>
            </a:r>
            <a:r>
              <a:rPr sz="2000" dirty="0">
                <a:latin typeface="+mn-lt"/>
              </a:rPr>
              <a:t>also need </a:t>
            </a:r>
            <a:r>
              <a:rPr sz="2000" spc="-5" dirty="0">
                <a:latin typeface="+mn-lt"/>
              </a:rPr>
              <a:t>to </a:t>
            </a:r>
            <a:r>
              <a:rPr sz="2000" dirty="0">
                <a:latin typeface="+mn-lt"/>
              </a:rPr>
              <a:t>be  connected </a:t>
            </a:r>
            <a:r>
              <a:rPr sz="2000" spc="-5" dirty="0">
                <a:latin typeface="+mn-lt"/>
              </a:rPr>
              <a:t>to </a:t>
            </a:r>
            <a:r>
              <a:rPr sz="2000" dirty="0">
                <a:latin typeface="+mn-lt"/>
              </a:rPr>
              <a:t>Green’s</a:t>
            </a:r>
            <a:r>
              <a:rPr sz="2000" spc="-114" dirty="0">
                <a:latin typeface="+mn-lt"/>
              </a:rPr>
              <a:t> </a:t>
            </a:r>
            <a:r>
              <a:rPr sz="2000" dirty="0">
                <a:latin typeface="+mn-lt"/>
              </a:rPr>
              <a:t>network.</a:t>
            </a:r>
          </a:p>
        </p:txBody>
      </p:sp>
      <p:sp>
        <p:nvSpPr>
          <p:cNvPr id="4" name="object 4"/>
          <p:cNvSpPr txBox="1"/>
          <p:nvPr/>
        </p:nvSpPr>
        <p:spPr>
          <a:xfrm>
            <a:off x="3738245" y="3198063"/>
            <a:ext cx="5405755" cy="1559401"/>
          </a:xfrm>
          <a:prstGeom prst="rect">
            <a:avLst/>
          </a:prstGeom>
        </p:spPr>
        <p:txBody>
          <a:bodyPr vert="horz" wrap="square" lIns="0" tIns="12700" rIns="0" bIns="0" rtlCol="0">
            <a:spAutoFit/>
          </a:bodyPr>
          <a:lstStyle/>
          <a:p>
            <a:pPr marL="12700" marR="5080">
              <a:spcBef>
                <a:spcPts val="100"/>
              </a:spcBef>
            </a:pPr>
            <a:r>
              <a:rPr sz="2000" spc="-5" dirty="0">
                <a:ea typeface="+mj-ea"/>
                <a:cs typeface="+mj-cs"/>
              </a:rPr>
              <a:t>Within Green Inc. Network, network 1 users need to  frequently access a database stored in Server 1.</a:t>
            </a:r>
          </a:p>
          <a:p>
            <a:pPr marL="12700" marR="205740">
              <a:spcBef>
                <a:spcPts val="5"/>
              </a:spcBef>
            </a:pPr>
            <a:r>
              <a:rPr sz="2000" spc="-5" dirty="0">
                <a:ea typeface="+mj-ea"/>
                <a:cs typeface="+mj-cs"/>
              </a:rPr>
              <a:t>Network 2 users also frequently access a database  stored in Server 2.</a:t>
            </a:r>
          </a:p>
          <a:p>
            <a:pPr>
              <a:lnSpc>
                <a:spcPct val="100000"/>
              </a:lnSpc>
              <a:spcBef>
                <a:spcPts val="45"/>
              </a:spcBef>
            </a:pPr>
            <a:endParaRPr sz="2050" dirty="0">
              <a:cs typeface="Times New Roman"/>
            </a:endParaRPr>
          </a:p>
        </p:txBody>
      </p:sp>
      <p:sp>
        <p:nvSpPr>
          <p:cNvPr id="5" name="Rectangle 4">
            <a:extLst>
              <a:ext uri="{FF2B5EF4-FFF2-40B4-BE49-F238E27FC236}">
                <a16:creationId xmlns:a16="http://schemas.microsoft.com/office/drawing/2014/main" id="{A8DCB823-13EB-49EA-B41F-67F47072FA32}"/>
              </a:ext>
            </a:extLst>
          </p:cNvPr>
          <p:cNvSpPr/>
          <p:nvPr/>
        </p:nvSpPr>
        <p:spPr>
          <a:xfrm>
            <a:off x="214640" y="5661248"/>
            <a:ext cx="8317799" cy="707886"/>
          </a:xfrm>
          <a:prstGeom prst="rect">
            <a:avLst/>
          </a:prstGeom>
        </p:spPr>
        <p:txBody>
          <a:bodyPr wrap="square">
            <a:spAutoFit/>
          </a:bodyPr>
          <a:lstStyle/>
          <a:p>
            <a:pPr marL="12700" marR="329565">
              <a:lnSpc>
                <a:spcPct val="100000"/>
              </a:lnSpc>
            </a:pPr>
            <a:r>
              <a:rPr lang="en-GB" sz="2000" b="1" spc="-30" dirty="0">
                <a:cs typeface="Arial"/>
              </a:rPr>
              <a:t>Task1:</a:t>
            </a:r>
            <a:r>
              <a:rPr lang="en-GB" sz="2000" spc="-30" dirty="0">
                <a:cs typeface="Arial"/>
              </a:rPr>
              <a:t> Identify </a:t>
            </a:r>
            <a:r>
              <a:rPr lang="en-GB" sz="2000" spc="-70" dirty="0">
                <a:cs typeface="Arial"/>
              </a:rPr>
              <a:t>performance, </a:t>
            </a:r>
            <a:r>
              <a:rPr lang="en-GB" sz="2000" spc="-65" dirty="0">
                <a:cs typeface="Arial"/>
              </a:rPr>
              <a:t>scalability </a:t>
            </a:r>
            <a:r>
              <a:rPr lang="en-GB" sz="2000" spc="-95" dirty="0">
                <a:cs typeface="Arial"/>
              </a:rPr>
              <a:t>and</a:t>
            </a:r>
            <a:r>
              <a:rPr lang="en-GB" sz="2000" spc="-225" dirty="0">
                <a:cs typeface="Arial"/>
              </a:rPr>
              <a:t> </a:t>
            </a:r>
            <a:r>
              <a:rPr lang="en-GB" sz="2000" spc="-85" dirty="0">
                <a:cs typeface="Arial"/>
              </a:rPr>
              <a:t>redundancy  </a:t>
            </a:r>
            <a:r>
              <a:rPr lang="en-GB" sz="2000" spc="-75" dirty="0">
                <a:cs typeface="Arial"/>
              </a:rPr>
              <a:t>problems </a:t>
            </a:r>
            <a:r>
              <a:rPr lang="en-GB" sz="2000" spc="10" dirty="0">
                <a:cs typeface="Arial"/>
              </a:rPr>
              <a:t>with </a:t>
            </a:r>
            <a:r>
              <a:rPr lang="en-GB" sz="2000" spc="-40" dirty="0">
                <a:cs typeface="Arial"/>
              </a:rPr>
              <a:t>this </a:t>
            </a:r>
            <a:r>
              <a:rPr lang="en-GB" sz="2000" spc="-35" dirty="0">
                <a:cs typeface="Arial"/>
              </a:rPr>
              <a:t>network</a:t>
            </a:r>
            <a:r>
              <a:rPr lang="en-GB" sz="2000" spc="-315" dirty="0">
                <a:cs typeface="Arial"/>
              </a:rPr>
              <a:t> </a:t>
            </a:r>
            <a:r>
              <a:rPr lang="en-GB" sz="2000" spc="-100" dirty="0">
                <a:cs typeface="Arial"/>
              </a:rPr>
              <a:t>design.</a:t>
            </a:r>
            <a:endParaRPr lang="en-GB" sz="2000" dirty="0">
              <a:cs typeface="Arial"/>
            </a:endParaRPr>
          </a:p>
        </p:txBody>
      </p:sp>
      <p:grpSp>
        <p:nvGrpSpPr>
          <p:cNvPr id="9" name="Group 8">
            <a:extLst>
              <a:ext uri="{FF2B5EF4-FFF2-40B4-BE49-F238E27FC236}">
                <a16:creationId xmlns:a16="http://schemas.microsoft.com/office/drawing/2014/main" id="{B12718A3-CAC6-8846-3E3E-98BDC20A8719}"/>
              </a:ext>
            </a:extLst>
          </p:cNvPr>
          <p:cNvGrpSpPr/>
          <p:nvPr/>
        </p:nvGrpSpPr>
        <p:grpSpPr>
          <a:xfrm>
            <a:off x="465665" y="1988588"/>
            <a:ext cx="2842485" cy="3292524"/>
            <a:chOff x="402724" y="1916832"/>
            <a:chExt cx="2842485" cy="3292524"/>
          </a:xfrm>
        </p:grpSpPr>
        <p:cxnSp>
          <p:nvCxnSpPr>
            <p:cNvPr id="12" name="Straight Arrow Connector 11">
              <a:extLst>
                <a:ext uri="{FF2B5EF4-FFF2-40B4-BE49-F238E27FC236}">
                  <a16:creationId xmlns:a16="http://schemas.microsoft.com/office/drawing/2014/main" id="{7514A91E-73FC-392E-5663-5754E85900EC}"/>
                </a:ext>
              </a:extLst>
            </p:cNvPr>
            <p:cNvCxnSpPr>
              <a:cxnSpLocks/>
            </p:cNvCxnSpPr>
            <p:nvPr/>
          </p:nvCxnSpPr>
          <p:spPr>
            <a:xfrm flipV="1">
              <a:off x="848992" y="2518978"/>
              <a:ext cx="1529169" cy="208823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32E07F91-7AF9-6302-B0AA-0C76400994EB}"/>
                </a:ext>
              </a:extLst>
            </p:cNvPr>
            <p:cNvSpPr txBox="1"/>
            <p:nvPr/>
          </p:nvSpPr>
          <p:spPr>
            <a:xfrm>
              <a:off x="402724" y="4563025"/>
              <a:ext cx="2232248" cy="646331"/>
            </a:xfrm>
            <a:prstGeom prst="rect">
              <a:avLst/>
            </a:prstGeom>
            <a:noFill/>
          </p:spPr>
          <p:txBody>
            <a:bodyPr wrap="square" rtlCol="0">
              <a:spAutoFit/>
            </a:bodyPr>
            <a:lstStyle/>
            <a:p>
              <a:r>
                <a:rPr lang="en-GB" dirty="0">
                  <a:solidFill>
                    <a:srgbClr val="0070C0"/>
                  </a:solidFill>
                </a:rPr>
                <a:t>Bottleneck and failure weakness</a:t>
              </a:r>
            </a:p>
          </p:txBody>
        </p:sp>
        <p:cxnSp>
          <p:nvCxnSpPr>
            <p:cNvPr id="8" name="Straight Arrow Connector 7">
              <a:extLst>
                <a:ext uri="{FF2B5EF4-FFF2-40B4-BE49-F238E27FC236}">
                  <a16:creationId xmlns:a16="http://schemas.microsoft.com/office/drawing/2014/main" id="{7DEB7DFA-C620-8D12-D03C-70671A3C4254}"/>
                </a:ext>
              </a:extLst>
            </p:cNvPr>
            <p:cNvCxnSpPr>
              <a:cxnSpLocks/>
            </p:cNvCxnSpPr>
            <p:nvPr/>
          </p:nvCxnSpPr>
          <p:spPr>
            <a:xfrm flipV="1">
              <a:off x="813939" y="2636912"/>
              <a:ext cx="596897" cy="19442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Straight Arrow Connector 9">
              <a:extLst>
                <a:ext uri="{FF2B5EF4-FFF2-40B4-BE49-F238E27FC236}">
                  <a16:creationId xmlns:a16="http://schemas.microsoft.com/office/drawing/2014/main" id="{62278B54-0D89-DE9D-7A49-E6F3931D9C57}"/>
                </a:ext>
              </a:extLst>
            </p:cNvPr>
            <p:cNvCxnSpPr>
              <a:cxnSpLocks/>
            </p:cNvCxnSpPr>
            <p:nvPr/>
          </p:nvCxnSpPr>
          <p:spPr>
            <a:xfrm flipV="1">
              <a:off x="813939" y="2492896"/>
              <a:ext cx="1028945" cy="208823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C7122E42-199C-931C-E0C5-DD4ACDE2C3A7}"/>
                </a:ext>
              </a:extLst>
            </p:cNvPr>
            <p:cNvCxnSpPr>
              <a:cxnSpLocks/>
            </p:cNvCxnSpPr>
            <p:nvPr/>
          </p:nvCxnSpPr>
          <p:spPr>
            <a:xfrm flipV="1">
              <a:off x="813939" y="3067017"/>
              <a:ext cx="1524501" cy="151411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22806816-D6C2-9895-EDC8-9ED091F46259}"/>
                </a:ext>
              </a:extLst>
            </p:cNvPr>
            <p:cNvCxnSpPr>
              <a:cxnSpLocks/>
            </p:cNvCxnSpPr>
            <p:nvPr/>
          </p:nvCxnSpPr>
          <p:spPr>
            <a:xfrm flipV="1">
              <a:off x="813939" y="1916832"/>
              <a:ext cx="1524501" cy="266429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8" name="Straight Arrow Connector 17">
              <a:extLst>
                <a:ext uri="{FF2B5EF4-FFF2-40B4-BE49-F238E27FC236}">
                  <a16:creationId xmlns:a16="http://schemas.microsoft.com/office/drawing/2014/main" id="{C825E085-352F-9DB3-D770-E93ED560DFC8}"/>
                </a:ext>
              </a:extLst>
            </p:cNvPr>
            <p:cNvCxnSpPr>
              <a:cxnSpLocks/>
            </p:cNvCxnSpPr>
            <p:nvPr/>
          </p:nvCxnSpPr>
          <p:spPr>
            <a:xfrm flipV="1">
              <a:off x="813939" y="2492896"/>
              <a:ext cx="2431270" cy="208823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348869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504" y="45791"/>
            <a:ext cx="4667351" cy="4362449"/>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076056" y="942226"/>
            <a:ext cx="3665220" cy="1550670"/>
          </a:xfrm>
          <a:prstGeom prst="rect">
            <a:avLst/>
          </a:prstGeom>
        </p:spPr>
        <p:txBody>
          <a:bodyPr vert="horz" wrap="square" lIns="0" tIns="13335" rIns="0" bIns="0" rtlCol="0">
            <a:spAutoFit/>
          </a:bodyPr>
          <a:lstStyle/>
          <a:p>
            <a:pPr marL="12700" marR="5080">
              <a:lnSpc>
                <a:spcPct val="100000"/>
              </a:lnSpc>
              <a:spcBef>
                <a:spcPts val="105"/>
              </a:spcBef>
            </a:pPr>
            <a:r>
              <a:rPr sz="2000" dirty="0">
                <a:latin typeface="+mn-lt"/>
              </a:rPr>
              <a:t>Green Inc. </a:t>
            </a:r>
            <a:r>
              <a:rPr sz="2000" spc="-5" dirty="0">
                <a:latin typeface="+mn-lt"/>
              </a:rPr>
              <a:t>is </a:t>
            </a:r>
            <a:r>
              <a:rPr sz="2000" dirty="0">
                <a:latin typeface="+mn-lt"/>
              </a:rPr>
              <a:t>expanding and</a:t>
            </a:r>
            <a:r>
              <a:rPr sz="2000" spc="-170" dirty="0">
                <a:latin typeface="+mn-lt"/>
              </a:rPr>
              <a:t> </a:t>
            </a:r>
            <a:r>
              <a:rPr sz="2000" dirty="0">
                <a:latin typeface="+mn-lt"/>
              </a:rPr>
              <a:t>just  got another </a:t>
            </a:r>
            <a:r>
              <a:rPr sz="2000" spc="-5" dirty="0">
                <a:latin typeface="+mn-lt"/>
              </a:rPr>
              <a:t>floor </a:t>
            </a:r>
            <a:r>
              <a:rPr sz="2000" dirty="0">
                <a:latin typeface="+mn-lt"/>
              </a:rPr>
              <a:t>on </a:t>
            </a:r>
            <a:r>
              <a:rPr sz="2000" spc="-5" dirty="0">
                <a:latin typeface="+mn-lt"/>
              </a:rPr>
              <a:t>the </a:t>
            </a:r>
            <a:r>
              <a:rPr sz="2000" dirty="0">
                <a:latin typeface="+mn-lt"/>
              </a:rPr>
              <a:t>building  </a:t>
            </a:r>
            <a:r>
              <a:rPr sz="2000" spc="-5" dirty="0">
                <a:latin typeface="+mn-lt"/>
              </a:rPr>
              <a:t>they have their main office. </a:t>
            </a:r>
            <a:r>
              <a:rPr sz="2000" dirty="0">
                <a:latin typeface="+mn-lt"/>
              </a:rPr>
              <a:t>The  new </a:t>
            </a:r>
            <a:r>
              <a:rPr sz="2000" spc="-5" dirty="0">
                <a:latin typeface="+mn-lt"/>
              </a:rPr>
              <a:t>floor will </a:t>
            </a:r>
            <a:r>
              <a:rPr sz="2000" dirty="0">
                <a:latin typeface="+mn-lt"/>
              </a:rPr>
              <a:t>also need </a:t>
            </a:r>
            <a:r>
              <a:rPr sz="2000" spc="-5" dirty="0">
                <a:latin typeface="+mn-lt"/>
              </a:rPr>
              <a:t>to </a:t>
            </a:r>
            <a:r>
              <a:rPr sz="2000" dirty="0">
                <a:latin typeface="+mn-lt"/>
              </a:rPr>
              <a:t>be  connected </a:t>
            </a:r>
            <a:r>
              <a:rPr sz="2000" spc="-5" dirty="0">
                <a:latin typeface="+mn-lt"/>
              </a:rPr>
              <a:t>to </a:t>
            </a:r>
            <a:r>
              <a:rPr sz="2000" dirty="0">
                <a:latin typeface="+mn-lt"/>
              </a:rPr>
              <a:t>Green’s</a:t>
            </a:r>
            <a:r>
              <a:rPr sz="2000" spc="-114" dirty="0">
                <a:latin typeface="+mn-lt"/>
              </a:rPr>
              <a:t> </a:t>
            </a:r>
            <a:r>
              <a:rPr sz="2000" dirty="0">
                <a:latin typeface="+mn-lt"/>
              </a:rPr>
              <a:t>network.</a:t>
            </a:r>
          </a:p>
        </p:txBody>
      </p:sp>
      <p:sp>
        <p:nvSpPr>
          <p:cNvPr id="4" name="object 4"/>
          <p:cNvSpPr txBox="1"/>
          <p:nvPr/>
        </p:nvSpPr>
        <p:spPr>
          <a:xfrm>
            <a:off x="3738245" y="3198063"/>
            <a:ext cx="5405755" cy="1559401"/>
          </a:xfrm>
          <a:prstGeom prst="rect">
            <a:avLst/>
          </a:prstGeom>
        </p:spPr>
        <p:txBody>
          <a:bodyPr vert="horz" wrap="square" lIns="0" tIns="12700" rIns="0" bIns="0" rtlCol="0">
            <a:spAutoFit/>
          </a:bodyPr>
          <a:lstStyle/>
          <a:p>
            <a:pPr marL="12700" marR="5080">
              <a:spcBef>
                <a:spcPts val="100"/>
              </a:spcBef>
            </a:pPr>
            <a:r>
              <a:rPr sz="2000" spc="-5" dirty="0">
                <a:ea typeface="+mj-ea"/>
                <a:cs typeface="+mj-cs"/>
              </a:rPr>
              <a:t>Within Green Inc. Network, network 1 users need to  frequently access a database stored in Server 1.</a:t>
            </a:r>
          </a:p>
          <a:p>
            <a:pPr marL="12700" marR="205740">
              <a:spcBef>
                <a:spcPts val="5"/>
              </a:spcBef>
            </a:pPr>
            <a:r>
              <a:rPr sz="2000" spc="-5" dirty="0">
                <a:ea typeface="+mj-ea"/>
                <a:cs typeface="+mj-cs"/>
              </a:rPr>
              <a:t>Network 2 users also frequently access a database  stored in Server 2.</a:t>
            </a:r>
          </a:p>
          <a:p>
            <a:pPr>
              <a:lnSpc>
                <a:spcPct val="100000"/>
              </a:lnSpc>
              <a:spcBef>
                <a:spcPts val="45"/>
              </a:spcBef>
            </a:pPr>
            <a:endParaRPr sz="2050" dirty="0">
              <a:cs typeface="Times New Roman"/>
            </a:endParaRPr>
          </a:p>
        </p:txBody>
      </p:sp>
      <p:sp>
        <p:nvSpPr>
          <p:cNvPr id="7" name="Rectangle 6">
            <a:extLst>
              <a:ext uri="{FF2B5EF4-FFF2-40B4-BE49-F238E27FC236}">
                <a16:creationId xmlns:a16="http://schemas.microsoft.com/office/drawing/2014/main" id="{E8D4DD0D-6ECC-45C8-8317-961E2AEC4E0A}"/>
              </a:ext>
            </a:extLst>
          </p:cNvPr>
          <p:cNvSpPr/>
          <p:nvPr/>
        </p:nvSpPr>
        <p:spPr>
          <a:xfrm>
            <a:off x="1619672" y="5459809"/>
            <a:ext cx="7380312" cy="707886"/>
          </a:xfrm>
          <a:prstGeom prst="rect">
            <a:avLst/>
          </a:prstGeom>
        </p:spPr>
        <p:txBody>
          <a:bodyPr wrap="square">
            <a:spAutoFit/>
          </a:bodyPr>
          <a:lstStyle/>
          <a:p>
            <a:pPr marL="12700" marR="329565">
              <a:lnSpc>
                <a:spcPct val="100000"/>
              </a:lnSpc>
            </a:pPr>
            <a:r>
              <a:rPr lang="en-GB" sz="2000" b="1" spc="-30" dirty="0">
                <a:cs typeface="Arial"/>
              </a:rPr>
              <a:t>Task2:</a:t>
            </a:r>
            <a:r>
              <a:rPr lang="en-GB" sz="2000" spc="-30" dirty="0">
                <a:cs typeface="Arial"/>
              </a:rPr>
              <a:t> Propose a new network design to solve the problems identified</a:t>
            </a:r>
            <a:endParaRPr lang="en-GB" sz="2000" dirty="0">
              <a:cs typeface="Arial"/>
            </a:endParaRPr>
          </a:p>
        </p:txBody>
      </p:sp>
    </p:spTree>
    <p:extLst>
      <p:ext uri="{BB962C8B-B14F-4D97-AF65-F5344CB8AC3E}">
        <p14:creationId xmlns:p14="http://schemas.microsoft.com/office/powerpoint/2010/main" val="390225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41450" y="914396"/>
            <a:ext cx="6090094" cy="5692207"/>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58333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24744"/>
            <a:ext cx="8424863" cy="1143000"/>
          </a:xfrm>
        </p:spPr>
        <p:txBody>
          <a:bodyPr/>
          <a:lstStyle/>
          <a:p>
            <a:r>
              <a:rPr lang="en-GB" dirty="0"/>
              <a:t>Borderless Switched Networks</a:t>
            </a:r>
          </a:p>
        </p:txBody>
      </p:sp>
      <p:sp>
        <p:nvSpPr>
          <p:cNvPr id="3" name="Content Placeholder 2"/>
          <p:cNvSpPr>
            <a:spLocks noGrp="1"/>
          </p:cNvSpPr>
          <p:nvPr>
            <p:ph idx="1"/>
          </p:nvPr>
        </p:nvSpPr>
        <p:spPr>
          <a:xfrm>
            <a:off x="323527" y="2267744"/>
            <a:ext cx="8424863" cy="4321175"/>
          </a:xfrm>
        </p:spPr>
        <p:txBody>
          <a:bodyPr/>
          <a:lstStyle/>
          <a:p>
            <a:r>
              <a:rPr lang="en-GB" sz="2800" dirty="0">
                <a:solidFill>
                  <a:srgbClr val="FF0000"/>
                </a:solidFill>
              </a:rPr>
              <a:t>A </a:t>
            </a:r>
            <a:r>
              <a:rPr lang="en-CA" sz="2800" dirty="0">
                <a:solidFill>
                  <a:srgbClr val="FF0000"/>
                </a:solidFill>
              </a:rPr>
              <a:t>network architecture that can connect anyone, anywhere, anytime, on any device; securely, reliably, and seamlessly.</a:t>
            </a:r>
          </a:p>
          <a:p>
            <a:r>
              <a:rPr lang="en-CA" sz="2800" dirty="0">
                <a:solidFill>
                  <a:srgbClr val="000000"/>
                </a:solidFill>
              </a:rPr>
              <a:t>It provides the framework to unify wired and wireless access, built on a hierarchical infrastructure of hardware that is scalable and resilient.</a:t>
            </a:r>
          </a:p>
          <a:p>
            <a:r>
              <a:rPr lang="en-CA" sz="2800" dirty="0">
                <a:solidFill>
                  <a:srgbClr val="000000"/>
                </a:solidFill>
              </a:rPr>
              <a:t>Borderless switched networks are hierarchical, modular, resilient, and flexible.</a:t>
            </a:r>
          </a:p>
          <a:p>
            <a:endParaRPr lang="en-GB" sz="2800" dirty="0"/>
          </a:p>
        </p:txBody>
      </p:sp>
    </p:spTree>
    <p:extLst>
      <p:ext uri="{BB962C8B-B14F-4D97-AF65-F5344CB8AC3E}">
        <p14:creationId xmlns:p14="http://schemas.microsoft.com/office/powerpoint/2010/main" val="1337104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4944" y="941049"/>
            <a:ext cx="8345488" cy="975783"/>
          </a:xfrm>
        </p:spPr>
        <p:txBody>
          <a:bodyPr/>
          <a:lstStyle/>
          <a:p>
            <a:r>
              <a:rPr lang="en-CA" dirty="0">
                <a:solidFill>
                  <a:schemeClr val="tx1"/>
                </a:solidFill>
              </a:rPr>
              <a:t>Hierarchy in the Borderless Switched Network</a:t>
            </a:r>
            <a:endParaRPr lang="en-US" dirty="0">
              <a:solidFill>
                <a:schemeClr val="tx1"/>
              </a:solidFill>
            </a:endParaRP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1988840"/>
            <a:ext cx="8345488" cy="84535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lvl="1" indent="0">
              <a:lnSpc>
                <a:spcPct val="100000"/>
              </a:lnSpc>
              <a:spcBef>
                <a:spcPts val="300"/>
              </a:spcBef>
              <a:spcAft>
                <a:spcPts val="300"/>
              </a:spcAft>
              <a:buSzPct val="90000"/>
              <a:buNone/>
            </a:pPr>
            <a:r>
              <a:rPr lang="en-CA" sz="2400" dirty="0">
                <a:solidFill>
                  <a:srgbClr val="000000"/>
                </a:solidFill>
              </a:rPr>
              <a:t>Hierarchical networks use a tiered design of access, distribution, and core layers with each layer performing a well-defined role in the campus network. </a:t>
            </a:r>
          </a:p>
        </p:txBody>
      </p:sp>
      <p:sp>
        <p:nvSpPr>
          <p:cNvPr id="11" name="Content Placeholder 3">
            <a:extLst>
              <a:ext uri="{FF2B5EF4-FFF2-40B4-BE49-F238E27FC236}">
                <a16:creationId xmlns:a16="http://schemas.microsoft.com/office/drawing/2014/main" id="{46D67F3D-3AB5-4DD1-9D3B-FEE869B7A312}"/>
              </a:ext>
            </a:extLst>
          </p:cNvPr>
          <p:cNvSpPr txBox="1">
            <a:spLocks/>
          </p:cNvSpPr>
          <p:nvPr/>
        </p:nvSpPr>
        <p:spPr>
          <a:xfrm>
            <a:off x="114944" y="5628919"/>
            <a:ext cx="219479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5875" lvl="1" indent="0">
              <a:lnSpc>
                <a:spcPct val="100000"/>
              </a:lnSpc>
              <a:spcBef>
                <a:spcPts val="300"/>
              </a:spcBef>
              <a:spcAft>
                <a:spcPts val="300"/>
              </a:spcAft>
              <a:buSzPct val="90000"/>
              <a:buNone/>
            </a:pPr>
            <a:r>
              <a:rPr lang="en-CA" sz="1800" dirty="0">
                <a:solidFill>
                  <a:srgbClr val="FF0000"/>
                </a:solidFill>
              </a:rPr>
              <a:t>Access layer – user end</a:t>
            </a:r>
          </a:p>
        </p:txBody>
      </p:sp>
      <p:sp>
        <p:nvSpPr>
          <p:cNvPr id="8" name="Rectangle 7">
            <a:extLst>
              <a:ext uri="{FF2B5EF4-FFF2-40B4-BE49-F238E27FC236}">
                <a16:creationId xmlns:a16="http://schemas.microsoft.com/office/drawing/2014/main" id="{83FDC4B5-0DDC-4C55-94AF-BB4B26A6EDCB}"/>
              </a:ext>
            </a:extLst>
          </p:cNvPr>
          <p:cNvSpPr/>
          <p:nvPr/>
        </p:nvSpPr>
        <p:spPr>
          <a:xfrm>
            <a:off x="1682791" y="3136001"/>
            <a:ext cx="2942012" cy="3449417"/>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pPr algn="ctr"/>
            <a:r>
              <a:rPr lang="en-CA" sz="1200" b="1" dirty="0">
                <a:solidFill>
                  <a:srgbClr val="000000"/>
                </a:solidFill>
              </a:rPr>
              <a:t>Three-tier layer</a:t>
            </a:r>
            <a:endParaRPr lang="en-CA" sz="1200" b="1" dirty="0"/>
          </a:p>
        </p:txBody>
      </p:sp>
      <p:pic>
        <p:nvPicPr>
          <p:cNvPr id="2" name="Picture 1">
            <a:extLst>
              <a:ext uri="{FF2B5EF4-FFF2-40B4-BE49-F238E27FC236}">
                <a16:creationId xmlns:a16="http://schemas.microsoft.com/office/drawing/2014/main" id="{F352E4AF-5CCD-4C58-B7A5-A292750E4231}"/>
              </a:ext>
            </a:extLst>
          </p:cNvPr>
          <p:cNvPicPr>
            <a:picLocks noChangeAspect="1"/>
          </p:cNvPicPr>
          <p:nvPr/>
        </p:nvPicPr>
        <p:blipFill>
          <a:blip r:embed="rId3"/>
          <a:stretch>
            <a:fillRect/>
          </a:stretch>
        </p:blipFill>
        <p:spPr>
          <a:xfrm>
            <a:off x="1812608" y="3429000"/>
            <a:ext cx="2682378" cy="3096843"/>
          </a:xfrm>
          <a:prstGeom prst="rect">
            <a:avLst/>
          </a:prstGeom>
        </p:spPr>
      </p:pic>
      <p:sp>
        <p:nvSpPr>
          <p:cNvPr id="10" name="Rectangle 9">
            <a:extLst>
              <a:ext uri="{FF2B5EF4-FFF2-40B4-BE49-F238E27FC236}">
                <a16:creationId xmlns:a16="http://schemas.microsoft.com/office/drawing/2014/main" id="{80C34727-99DD-4F6D-A610-D97FC6BEF6AB}"/>
              </a:ext>
            </a:extLst>
          </p:cNvPr>
          <p:cNvSpPr/>
          <p:nvPr/>
        </p:nvSpPr>
        <p:spPr>
          <a:xfrm>
            <a:off x="4754620" y="3138837"/>
            <a:ext cx="2942012" cy="3449417"/>
          </a:xfrm>
          <a:prstGeom prst="rect">
            <a:avLst/>
          </a:prstGeom>
          <a:no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t"/>
          <a:lstStyle/>
          <a:p>
            <a:pPr algn="ctr"/>
            <a:r>
              <a:rPr lang="en-CA" sz="1200" b="1" dirty="0">
                <a:solidFill>
                  <a:srgbClr val="000000"/>
                </a:solidFill>
              </a:rPr>
              <a:t>Two-tier layer</a:t>
            </a:r>
            <a:endParaRPr lang="en-CA" sz="1200" b="1" dirty="0"/>
          </a:p>
        </p:txBody>
      </p:sp>
      <p:pic>
        <p:nvPicPr>
          <p:cNvPr id="5" name="Picture 4">
            <a:extLst>
              <a:ext uri="{FF2B5EF4-FFF2-40B4-BE49-F238E27FC236}">
                <a16:creationId xmlns:a16="http://schemas.microsoft.com/office/drawing/2014/main" id="{3CD64307-DA76-48E6-8AF5-8D33C8BDA407}"/>
              </a:ext>
            </a:extLst>
          </p:cNvPr>
          <p:cNvPicPr>
            <a:picLocks noChangeAspect="1"/>
          </p:cNvPicPr>
          <p:nvPr/>
        </p:nvPicPr>
        <p:blipFill>
          <a:blip r:embed="rId4"/>
          <a:stretch>
            <a:fillRect/>
          </a:stretch>
        </p:blipFill>
        <p:spPr>
          <a:xfrm>
            <a:off x="4824600" y="3652531"/>
            <a:ext cx="2640466" cy="2649780"/>
          </a:xfrm>
          <a:prstGeom prst="rect">
            <a:avLst/>
          </a:prstGeom>
        </p:spPr>
      </p:pic>
      <p:sp>
        <p:nvSpPr>
          <p:cNvPr id="6" name="TextBox 5">
            <a:extLst>
              <a:ext uri="{FF2B5EF4-FFF2-40B4-BE49-F238E27FC236}">
                <a16:creationId xmlns:a16="http://schemas.microsoft.com/office/drawing/2014/main" id="{5BE82832-D28A-7FA6-B917-B04AC2F4FC4D}"/>
              </a:ext>
            </a:extLst>
          </p:cNvPr>
          <p:cNvSpPr txBox="1"/>
          <p:nvPr/>
        </p:nvSpPr>
        <p:spPr>
          <a:xfrm>
            <a:off x="135164" y="3486420"/>
            <a:ext cx="1424598" cy="2031325"/>
          </a:xfrm>
          <a:prstGeom prst="rect">
            <a:avLst/>
          </a:prstGeom>
          <a:noFill/>
        </p:spPr>
        <p:txBody>
          <a:bodyPr wrap="square" rtlCol="0">
            <a:spAutoFit/>
          </a:bodyPr>
          <a:lstStyle/>
          <a:p>
            <a:r>
              <a:rPr lang="en-GB" dirty="0">
                <a:solidFill>
                  <a:srgbClr val="0070C0"/>
                </a:solidFill>
              </a:rPr>
              <a:t>DS may use layer 3 switches – applies security policies and traffic flow</a:t>
            </a:r>
          </a:p>
        </p:txBody>
      </p:sp>
      <p:sp>
        <p:nvSpPr>
          <p:cNvPr id="7" name="TextBox 6">
            <a:extLst>
              <a:ext uri="{FF2B5EF4-FFF2-40B4-BE49-F238E27FC236}">
                <a16:creationId xmlns:a16="http://schemas.microsoft.com/office/drawing/2014/main" id="{9ECF2DFB-1F24-C962-5BF9-4168870AA294}"/>
              </a:ext>
            </a:extLst>
          </p:cNvPr>
          <p:cNvSpPr txBox="1"/>
          <p:nvPr/>
        </p:nvSpPr>
        <p:spPr>
          <a:xfrm>
            <a:off x="7855736" y="3077395"/>
            <a:ext cx="1288263" cy="2031325"/>
          </a:xfrm>
          <a:prstGeom prst="rect">
            <a:avLst/>
          </a:prstGeom>
          <a:noFill/>
        </p:spPr>
        <p:txBody>
          <a:bodyPr wrap="square" rtlCol="0">
            <a:spAutoFit/>
          </a:bodyPr>
          <a:lstStyle/>
          <a:p>
            <a:r>
              <a:rPr lang="en-GB" dirty="0">
                <a:solidFill>
                  <a:srgbClr val="FF0000"/>
                </a:solidFill>
              </a:rPr>
              <a:t>Core – high speed data transfer – minimal filtering</a:t>
            </a:r>
          </a:p>
        </p:txBody>
      </p:sp>
    </p:spTree>
    <p:extLst>
      <p:ext uri="{BB962C8B-B14F-4D97-AF65-F5344CB8AC3E}">
        <p14:creationId xmlns:p14="http://schemas.microsoft.com/office/powerpoint/2010/main" val="4185901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6768" y="908720"/>
            <a:ext cx="8345488" cy="975783"/>
          </a:xfrm>
        </p:spPr>
        <p:txBody>
          <a:bodyPr/>
          <a:lstStyle/>
          <a:p>
            <a:r>
              <a:rPr lang="en-CA" dirty="0">
                <a:solidFill>
                  <a:schemeClr val="tx1"/>
                </a:solidFill>
              </a:rPr>
              <a:t>Access, Distribution, and Core Layer Functions</a:t>
            </a:r>
            <a:endParaRPr lang="en-US" dirty="0">
              <a:solidFill>
                <a:schemeClr val="tx1"/>
              </a:solidFill>
            </a:endParaRP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2060848"/>
            <a:ext cx="8508828" cy="476365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indent="0" algn="l" defTabSz="684213" fontAlgn="base">
              <a:spcBef>
                <a:spcPts val="300"/>
              </a:spcBef>
              <a:spcAft>
                <a:spcPts val="300"/>
              </a:spcAft>
              <a:buClr>
                <a:schemeClr val="tx2"/>
              </a:buClr>
              <a:buSzPct val="90000"/>
            </a:pPr>
            <a:r>
              <a:rPr lang="en-CA" b="1" dirty="0">
                <a:solidFill>
                  <a:srgbClr val="000000"/>
                </a:solidFill>
              </a:rPr>
              <a:t>Access Layer</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The access layer provide network access to the user.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Access layer switches connect to distribution layer switches. </a:t>
            </a:r>
          </a:p>
          <a:p>
            <a:pPr marL="15875" indent="0" algn="l" defTabSz="684213" fontAlgn="base">
              <a:spcBef>
                <a:spcPts val="300"/>
              </a:spcBef>
              <a:spcAft>
                <a:spcPts val="300"/>
              </a:spcAft>
              <a:buClr>
                <a:schemeClr val="tx2"/>
              </a:buClr>
              <a:buSzPct val="90000"/>
            </a:pPr>
            <a:r>
              <a:rPr lang="en-CA" b="1" dirty="0">
                <a:solidFill>
                  <a:srgbClr val="000000"/>
                </a:solidFill>
              </a:rPr>
              <a:t>Distribution Layer</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The distribution layer implements routing, quality of service, and security.</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It aggregates large-scale wiring closet networks and limits Layer 2 broadcast domains.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Distribution layer switches connect to access layer and core layer switches.</a:t>
            </a:r>
          </a:p>
          <a:p>
            <a:pPr marL="15875" indent="0" algn="l" defTabSz="684213" fontAlgn="base">
              <a:spcBef>
                <a:spcPts val="300"/>
              </a:spcBef>
              <a:spcAft>
                <a:spcPts val="300"/>
              </a:spcAft>
              <a:buClr>
                <a:schemeClr val="tx2"/>
              </a:buClr>
              <a:buSzPct val="90000"/>
            </a:pPr>
            <a:r>
              <a:rPr lang="en-CA" b="1" dirty="0">
                <a:solidFill>
                  <a:srgbClr val="000000"/>
                </a:solidFill>
              </a:rPr>
              <a:t>Core Layer</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The core layer is the network backbone and connects several layers of the network.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800" dirty="0">
                <a:solidFill>
                  <a:srgbClr val="000000"/>
                </a:solidFill>
              </a:rPr>
              <a:t>The core layer provides fault isolation and high-speed backbone connectivity.</a:t>
            </a:r>
          </a:p>
        </p:txBody>
      </p:sp>
    </p:spTree>
    <p:extLst>
      <p:ext uri="{BB962C8B-B14F-4D97-AF65-F5344CB8AC3E}">
        <p14:creationId xmlns:p14="http://schemas.microsoft.com/office/powerpoint/2010/main" val="2411880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9240" y="908720"/>
            <a:ext cx="6334981" cy="1367041"/>
          </a:xfrm>
          <a:prstGeom prst="rect">
            <a:avLst/>
          </a:prstGeom>
        </p:spPr>
        <p:txBody>
          <a:bodyPr vert="horz" wrap="square" lIns="0" tIns="12700" rIns="0" bIns="0" rtlCol="0">
            <a:spAutoFit/>
          </a:bodyPr>
          <a:lstStyle/>
          <a:p>
            <a:pPr marL="12700" marR="5080">
              <a:lnSpc>
                <a:spcPct val="100000"/>
              </a:lnSpc>
              <a:spcBef>
                <a:spcPts val="100"/>
              </a:spcBef>
            </a:pPr>
            <a:r>
              <a:rPr spc="-10" dirty="0"/>
              <a:t>Advantages </a:t>
            </a:r>
            <a:r>
              <a:rPr spc="-5" dirty="0"/>
              <a:t>of</a:t>
            </a:r>
            <a:r>
              <a:rPr spc="-80" dirty="0"/>
              <a:t> </a:t>
            </a:r>
            <a:r>
              <a:rPr spc="-10" dirty="0"/>
              <a:t>Hierarchical  </a:t>
            </a:r>
            <a:r>
              <a:rPr spc="-5" dirty="0"/>
              <a:t>Network</a:t>
            </a:r>
            <a:r>
              <a:rPr spc="-145" dirty="0"/>
              <a:t> </a:t>
            </a:r>
            <a:r>
              <a:rPr spc="-5" dirty="0"/>
              <a:t>Design</a:t>
            </a:r>
            <a:endParaRPr dirty="0"/>
          </a:p>
        </p:txBody>
      </p:sp>
      <p:sp>
        <p:nvSpPr>
          <p:cNvPr id="3" name="object 3"/>
          <p:cNvSpPr txBox="1"/>
          <p:nvPr/>
        </p:nvSpPr>
        <p:spPr>
          <a:xfrm>
            <a:off x="509240" y="2392089"/>
            <a:ext cx="6875780" cy="4380302"/>
          </a:xfrm>
          <a:prstGeom prst="rect">
            <a:avLst/>
          </a:prstGeom>
        </p:spPr>
        <p:txBody>
          <a:bodyPr vert="horz" wrap="square" lIns="0" tIns="13335" rIns="0" bIns="0" rtlCol="0">
            <a:spAutoFit/>
          </a:bodyPr>
          <a:lstStyle/>
          <a:p>
            <a:pPr marL="515620" indent="-457200">
              <a:lnSpc>
                <a:spcPct val="100000"/>
              </a:lnSpc>
              <a:spcBef>
                <a:spcPts val="105"/>
              </a:spcBef>
              <a:buChar char="•"/>
              <a:tabLst>
                <a:tab pos="515620" algn="l"/>
                <a:tab pos="516255" algn="l"/>
              </a:tabLst>
            </a:pPr>
            <a:r>
              <a:rPr sz="3200" spc="-5" dirty="0">
                <a:cs typeface="Arial"/>
              </a:rPr>
              <a:t>Scalability</a:t>
            </a:r>
            <a:endParaRPr sz="3200" dirty="0">
              <a:cs typeface="Arial"/>
            </a:endParaRPr>
          </a:p>
          <a:p>
            <a:pPr marL="972819" lvl="1" indent="-457200">
              <a:lnSpc>
                <a:spcPct val="100000"/>
              </a:lnSpc>
              <a:spcBef>
                <a:spcPts val="15"/>
              </a:spcBef>
              <a:buChar char="•"/>
              <a:tabLst>
                <a:tab pos="972819" algn="l"/>
                <a:tab pos="973455" algn="l"/>
              </a:tabLst>
            </a:pPr>
            <a:r>
              <a:rPr sz="2800" spc="-5" dirty="0">
                <a:cs typeface="Arial"/>
              </a:rPr>
              <a:t>Easier to </a:t>
            </a:r>
            <a:r>
              <a:rPr sz="2800" dirty="0">
                <a:cs typeface="Arial"/>
              </a:rPr>
              <a:t>add </a:t>
            </a:r>
            <a:r>
              <a:rPr sz="2800" spc="-5" dirty="0">
                <a:cs typeface="Arial"/>
              </a:rPr>
              <a:t>to the</a:t>
            </a:r>
            <a:r>
              <a:rPr sz="2800" spc="-140" dirty="0">
                <a:cs typeface="Arial"/>
              </a:rPr>
              <a:t> </a:t>
            </a:r>
            <a:r>
              <a:rPr sz="2800" dirty="0">
                <a:cs typeface="Arial"/>
              </a:rPr>
              <a:t>network</a:t>
            </a:r>
          </a:p>
          <a:p>
            <a:pPr marL="583565" indent="-570865">
              <a:lnSpc>
                <a:spcPct val="100000"/>
              </a:lnSpc>
              <a:spcBef>
                <a:spcPts val="390"/>
              </a:spcBef>
              <a:buChar char="•"/>
              <a:tabLst>
                <a:tab pos="583565" algn="l"/>
                <a:tab pos="584200" algn="l"/>
              </a:tabLst>
            </a:pPr>
            <a:r>
              <a:rPr sz="3200" spc="-10" dirty="0">
                <a:cs typeface="Arial"/>
              </a:rPr>
              <a:t>Manageability</a:t>
            </a:r>
            <a:endParaRPr sz="3200" dirty="0">
              <a:cs typeface="Arial"/>
            </a:endParaRPr>
          </a:p>
          <a:p>
            <a:pPr marL="972819" lvl="1" indent="-457200">
              <a:lnSpc>
                <a:spcPct val="100000"/>
              </a:lnSpc>
              <a:spcBef>
                <a:spcPts val="305"/>
              </a:spcBef>
              <a:buChar char="•"/>
              <a:tabLst>
                <a:tab pos="972819" algn="l"/>
                <a:tab pos="973455" algn="l"/>
              </a:tabLst>
            </a:pPr>
            <a:r>
              <a:rPr sz="2800" spc="-5" dirty="0">
                <a:cs typeface="Arial"/>
              </a:rPr>
              <a:t>Easier to </a:t>
            </a:r>
            <a:r>
              <a:rPr sz="2800" dirty="0">
                <a:cs typeface="Arial"/>
              </a:rPr>
              <a:t>identify location of</a:t>
            </a:r>
            <a:r>
              <a:rPr sz="2800" spc="-260" dirty="0">
                <a:cs typeface="Arial"/>
              </a:rPr>
              <a:t> </a:t>
            </a:r>
            <a:r>
              <a:rPr sz="2800" dirty="0">
                <a:cs typeface="Arial"/>
              </a:rPr>
              <a:t>problems</a:t>
            </a:r>
            <a:r>
              <a:rPr lang="en-GB" sz="2800" dirty="0">
                <a:cs typeface="Arial"/>
              </a:rPr>
              <a:t> because network is segmented</a:t>
            </a:r>
            <a:endParaRPr sz="2800" dirty="0">
              <a:cs typeface="Arial"/>
            </a:endParaRPr>
          </a:p>
          <a:p>
            <a:pPr marL="583565" indent="-570865">
              <a:lnSpc>
                <a:spcPct val="100000"/>
              </a:lnSpc>
              <a:spcBef>
                <a:spcPts val="390"/>
              </a:spcBef>
              <a:buChar char="•"/>
              <a:tabLst>
                <a:tab pos="583565" algn="l"/>
                <a:tab pos="584200" algn="l"/>
              </a:tabLst>
            </a:pPr>
            <a:r>
              <a:rPr sz="3200" spc="-5" dirty="0">
                <a:cs typeface="Arial"/>
              </a:rPr>
              <a:t>Broadcast </a:t>
            </a:r>
            <a:r>
              <a:rPr sz="3200" spc="-15" dirty="0">
                <a:cs typeface="Arial"/>
              </a:rPr>
              <a:t>traffic</a:t>
            </a:r>
            <a:r>
              <a:rPr sz="3200" spc="-130" dirty="0">
                <a:cs typeface="Arial"/>
              </a:rPr>
              <a:t> </a:t>
            </a:r>
            <a:r>
              <a:rPr sz="3200" spc="-10" dirty="0">
                <a:cs typeface="Arial"/>
              </a:rPr>
              <a:t>segmentation</a:t>
            </a:r>
            <a:endParaRPr sz="3200" dirty="0">
              <a:cs typeface="Arial"/>
            </a:endParaRPr>
          </a:p>
          <a:p>
            <a:pPr marL="973455" marR="194310" lvl="1" indent="-457834">
              <a:lnSpc>
                <a:spcPct val="110000"/>
              </a:lnSpc>
              <a:spcBef>
                <a:spcPts val="30"/>
              </a:spcBef>
              <a:buChar char="•"/>
              <a:tabLst>
                <a:tab pos="972819" algn="l"/>
                <a:tab pos="973455" algn="l"/>
              </a:tabLst>
            </a:pPr>
            <a:r>
              <a:rPr sz="2800" spc="-25" dirty="0">
                <a:cs typeface="Arial"/>
              </a:rPr>
              <a:t>Traffic </a:t>
            </a:r>
            <a:r>
              <a:rPr sz="2800" dirty="0">
                <a:cs typeface="Arial"/>
              </a:rPr>
              <a:t>confined </a:t>
            </a:r>
            <a:r>
              <a:rPr sz="2800" spc="-5" dirty="0">
                <a:cs typeface="Arial"/>
              </a:rPr>
              <a:t>to </a:t>
            </a:r>
            <a:r>
              <a:rPr sz="2800" dirty="0">
                <a:cs typeface="Arial"/>
              </a:rPr>
              <a:t>smaller</a:t>
            </a:r>
            <a:r>
              <a:rPr sz="2800" spc="-170" dirty="0">
                <a:cs typeface="Arial"/>
              </a:rPr>
              <a:t> </a:t>
            </a:r>
            <a:r>
              <a:rPr sz="2800" dirty="0">
                <a:cs typeface="Arial"/>
              </a:rPr>
              <a:t>broadcast  domains</a:t>
            </a:r>
          </a:p>
          <a:p>
            <a:pPr marL="973455" lvl="1" indent="-457200">
              <a:lnSpc>
                <a:spcPct val="100000"/>
              </a:lnSpc>
              <a:spcBef>
                <a:spcPts val="645"/>
              </a:spcBef>
              <a:buChar char="•"/>
              <a:tabLst>
                <a:tab pos="973455" algn="l"/>
                <a:tab pos="974090" algn="l"/>
              </a:tabLst>
            </a:pPr>
            <a:r>
              <a:rPr sz="2800" dirty="0">
                <a:cs typeface="Arial"/>
              </a:rPr>
              <a:t>Less </a:t>
            </a:r>
            <a:r>
              <a:rPr sz="2800" spc="-10" dirty="0">
                <a:cs typeface="Arial"/>
              </a:rPr>
              <a:t>traffic </a:t>
            </a:r>
            <a:r>
              <a:rPr sz="2800" dirty="0">
                <a:cs typeface="Arial"/>
              </a:rPr>
              <a:t>over </a:t>
            </a:r>
            <a:r>
              <a:rPr sz="2800" spc="-5" dirty="0">
                <a:cs typeface="Arial"/>
              </a:rPr>
              <a:t>expensive</a:t>
            </a:r>
            <a:r>
              <a:rPr sz="2800" spc="-229" dirty="0">
                <a:cs typeface="Arial"/>
              </a:rPr>
              <a:t> </a:t>
            </a:r>
            <a:r>
              <a:rPr sz="2800" dirty="0">
                <a:cs typeface="Arial"/>
              </a:rPr>
              <a:t>links</a:t>
            </a:r>
          </a:p>
        </p:txBody>
      </p:sp>
    </p:spTree>
    <p:extLst>
      <p:ext uri="{BB962C8B-B14F-4D97-AF65-F5344CB8AC3E}">
        <p14:creationId xmlns:p14="http://schemas.microsoft.com/office/powerpoint/2010/main" val="2568999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25025"/>
            <a:ext cx="6637128" cy="975783"/>
          </a:xfrm>
        </p:spPr>
        <p:txBody>
          <a:bodyPr/>
          <a:lstStyle/>
          <a:p>
            <a:br>
              <a:rPr lang="en-US" dirty="0">
                <a:solidFill>
                  <a:schemeClr val="tx1"/>
                </a:solidFill>
              </a:rPr>
            </a:br>
            <a:r>
              <a:rPr lang="en-CA" dirty="0">
                <a:solidFill>
                  <a:schemeClr val="tx1"/>
                </a:solidFill>
              </a:rPr>
              <a:t>Three-Tier and Two-Tier Examples</a:t>
            </a:r>
            <a:endParaRPr lang="en-US" dirty="0">
              <a:solidFill>
                <a:schemeClr val="tx1"/>
              </a:solidFill>
            </a:endParaRP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4731" y="2203134"/>
            <a:ext cx="4395301" cy="439421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indent="0" algn="l" defTabSz="684213" fontAlgn="base">
              <a:spcBef>
                <a:spcPts val="300"/>
              </a:spcBef>
              <a:spcAft>
                <a:spcPts val="300"/>
              </a:spcAft>
              <a:buClr>
                <a:schemeClr val="tx2"/>
              </a:buClr>
              <a:buSzPct val="90000"/>
            </a:pPr>
            <a:r>
              <a:rPr lang="en-CA" sz="1600" b="1" dirty="0">
                <a:solidFill>
                  <a:srgbClr val="000000"/>
                </a:solidFill>
              </a:rPr>
              <a:t>Three-tier Campus Network</a:t>
            </a:r>
            <a:endParaRPr lang="en-CA" sz="1600" b="1" dirty="0"/>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400" dirty="0">
                <a:solidFill>
                  <a:srgbClr val="000000"/>
                </a:solidFill>
              </a:rPr>
              <a:t>Used by organizations requiring access, distribution, and core layers.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400" dirty="0">
                <a:solidFill>
                  <a:srgbClr val="000000"/>
                </a:solidFill>
              </a:rPr>
              <a:t>The recommendation is to build an extended-star physical network topology from a centralized building location to all other buildings on the same campus.</a:t>
            </a:r>
          </a:p>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400" dirty="0">
              <a:solidFill>
                <a:srgbClr val="000000"/>
              </a:solidFill>
            </a:endParaRPr>
          </a:p>
          <a:p>
            <a:pPr marL="15875" indent="0" algn="l" defTabSz="684213" fontAlgn="base">
              <a:spcBef>
                <a:spcPts val="300"/>
              </a:spcBef>
              <a:spcAft>
                <a:spcPts val="300"/>
              </a:spcAft>
              <a:buClr>
                <a:schemeClr val="tx2"/>
              </a:buClr>
              <a:buSzPct val="90000"/>
            </a:pPr>
            <a:endParaRPr lang="en-CA" sz="1600" dirty="0">
              <a:solidFill>
                <a:srgbClr val="000000"/>
              </a:solidFill>
            </a:endParaRPr>
          </a:p>
          <a:p>
            <a:pPr marL="15875" indent="0" algn="l" defTabSz="684213" fontAlgn="base">
              <a:spcBef>
                <a:spcPts val="300"/>
              </a:spcBef>
              <a:spcAft>
                <a:spcPts val="300"/>
              </a:spcAft>
              <a:buClr>
                <a:schemeClr val="tx2"/>
              </a:buClr>
              <a:buSzPct val="90000"/>
            </a:pPr>
            <a:r>
              <a:rPr lang="en-CA" sz="1600" b="1" dirty="0">
                <a:solidFill>
                  <a:srgbClr val="000000"/>
                </a:solidFill>
              </a:rPr>
              <a:t>Two-tier Campus Network</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400" dirty="0">
                <a:solidFill>
                  <a:srgbClr val="000000"/>
                </a:solidFill>
              </a:rPr>
              <a:t>Used when separate distribution and core layers is not required.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400" dirty="0">
                <a:solidFill>
                  <a:srgbClr val="000000"/>
                </a:solidFill>
              </a:rPr>
              <a:t>Useful for smaller campus locations, or in campus sites consisting of a single building.</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400" dirty="0">
                <a:solidFill>
                  <a:srgbClr val="000000"/>
                </a:solidFill>
              </a:rPr>
              <a:t>Also known as the </a:t>
            </a:r>
            <a:r>
              <a:rPr lang="en-CA" sz="1400" i="1" dirty="0">
                <a:solidFill>
                  <a:srgbClr val="000000"/>
                </a:solidFill>
              </a:rPr>
              <a:t>collapsed core </a:t>
            </a:r>
            <a:r>
              <a:rPr lang="en-CA" sz="1400" dirty="0">
                <a:solidFill>
                  <a:srgbClr val="000000"/>
                </a:solidFill>
              </a:rPr>
              <a:t>network design.</a:t>
            </a:r>
          </a:p>
        </p:txBody>
      </p:sp>
      <p:pic>
        <p:nvPicPr>
          <p:cNvPr id="2" name="Picture 1">
            <a:extLst>
              <a:ext uri="{FF2B5EF4-FFF2-40B4-BE49-F238E27FC236}">
                <a16:creationId xmlns:a16="http://schemas.microsoft.com/office/drawing/2014/main" id="{7B8969ED-91A1-4BE9-92EE-DC30AA2B900A}"/>
              </a:ext>
            </a:extLst>
          </p:cNvPr>
          <p:cNvPicPr>
            <a:picLocks noChangeAspect="1"/>
          </p:cNvPicPr>
          <p:nvPr/>
        </p:nvPicPr>
        <p:blipFill>
          <a:blip r:embed="rId3"/>
          <a:stretch>
            <a:fillRect/>
          </a:stretch>
        </p:blipFill>
        <p:spPr>
          <a:xfrm>
            <a:off x="5940152" y="72008"/>
            <a:ext cx="2808312" cy="3501008"/>
          </a:xfrm>
          <a:prstGeom prst="rect">
            <a:avLst/>
          </a:prstGeom>
        </p:spPr>
      </p:pic>
      <p:pic>
        <p:nvPicPr>
          <p:cNvPr id="5" name="Picture 4">
            <a:extLst>
              <a:ext uri="{FF2B5EF4-FFF2-40B4-BE49-F238E27FC236}">
                <a16:creationId xmlns:a16="http://schemas.microsoft.com/office/drawing/2014/main" id="{72C56D14-0EA2-4429-A445-9F2F46EB7141}"/>
              </a:ext>
            </a:extLst>
          </p:cNvPr>
          <p:cNvPicPr>
            <a:picLocks noChangeAspect="1"/>
          </p:cNvPicPr>
          <p:nvPr/>
        </p:nvPicPr>
        <p:blipFill>
          <a:blip r:embed="rId4"/>
          <a:stretch>
            <a:fillRect/>
          </a:stretch>
        </p:blipFill>
        <p:spPr>
          <a:xfrm>
            <a:off x="5934418" y="3689621"/>
            <a:ext cx="3187030" cy="2944124"/>
          </a:xfrm>
          <a:prstGeom prst="rect">
            <a:avLst/>
          </a:prstGeom>
        </p:spPr>
      </p:pic>
    </p:spTree>
    <p:extLst>
      <p:ext uri="{BB962C8B-B14F-4D97-AF65-F5344CB8AC3E}">
        <p14:creationId xmlns:p14="http://schemas.microsoft.com/office/powerpoint/2010/main" val="253788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80728"/>
            <a:ext cx="8165976" cy="975783"/>
          </a:xfrm>
        </p:spPr>
        <p:txBody>
          <a:bodyPr/>
          <a:lstStyle/>
          <a:p>
            <a:r>
              <a:rPr lang="en-US" dirty="0">
                <a:solidFill>
                  <a:schemeClr val="tx1"/>
                </a:solidFill>
              </a:rPr>
              <a:t>Design for Scalability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2060848"/>
            <a:ext cx="8280057" cy="4098595"/>
          </a:xfrm>
        </p:spPr>
        <p:txBody>
          <a:bodyPr/>
          <a:lstStyle/>
          <a:p>
            <a:pPr marL="0" indent="0" algn="l"/>
            <a:r>
              <a:rPr lang="en-CA" sz="2400" dirty="0">
                <a:solidFill>
                  <a:srgbClr val="000000"/>
                </a:solidFill>
              </a:rPr>
              <a:t>Scalability is the term for a network that can grow without losing availability and reliability.</a:t>
            </a:r>
          </a:p>
          <a:p>
            <a:pPr marL="0" indent="0" algn="l"/>
            <a:endParaRPr lang="en-CA" sz="2400" dirty="0">
              <a:solidFill>
                <a:srgbClr val="000000"/>
              </a:solidFill>
            </a:endParaRPr>
          </a:p>
          <a:p>
            <a:pPr marL="0" indent="0" algn="l"/>
            <a:r>
              <a:rPr lang="en-CA" sz="2400" dirty="0">
                <a:solidFill>
                  <a:srgbClr val="000000"/>
                </a:solidFill>
              </a:rPr>
              <a:t>Network designers must develop strategies to enable the network to be available and to scale effectively and easily.</a:t>
            </a:r>
          </a:p>
          <a:p>
            <a:pPr marL="0" indent="0" algn="l"/>
            <a:endParaRPr lang="en-CA" sz="2400" dirty="0">
              <a:solidFill>
                <a:srgbClr val="000000"/>
              </a:solidFill>
            </a:endParaRPr>
          </a:p>
          <a:p>
            <a:pPr marL="0" indent="0" algn="l"/>
            <a:r>
              <a:rPr lang="en-US" sz="2400" dirty="0">
                <a:solidFill>
                  <a:srgbClr val="000000"/>
                </a:solidFill>
              </a:rPr>
              <a:t>This is accomplished using:</a:t>
            </a:r>
          </a:p>
          <a:p>
            <a:pPr marL="285750" indent="-285750" algn="l">
              <a:buFont typeface="Arial" panose="020B0604020202020204" pitchFamily="34" charset="0"/>
              <a:buChar char="•"/>
            </a:pPr>
            <a:r>
              <a:rPr lang="en-US" sz="2400" dirty="0">
                <a:solidFill>
                  <a:srgbClr val="000000"/>
                </a:solidFill>
              </a:rPr>
              <a:t>Redundancy</a:t>
            </a:r>
          </a:p>
          <a:p>
            <a:pPr marL="285750" indent="-285750" algn="l">
              <a:buFont typeface="Arial" panose="020B0604020202020204" pitchFamily="34" charset="0"/>
              <a:buChar char="•"/>
            </a:pPr>
            <a:r>
              <a:rPr lang="en-US" sz="2400" dirty="0">
                <a:solidFill>
                  <a:srgbClr val="000000"/>
                </a:solidFill>
              </a:rPr>
              <a:t>Multiple Links</a:t>
            </a:r>
          </a:p>
          <a:p>
            <a:pPr marL="285750" indent="-285750" algn="l">
              <a:buFont typeface="Arial" panose="020B0604020202020204" pitchFamily="34" charset="0"/>
              <a:buChar char="•"/>
            </a:pPr>
            <a:r>
              <a:rPr lang="en-US" sz="2400" dirty="0">
                <a:solidFill>
                  <a:srgbClr val="000000"/>
                </a:solidFill>
              </a:rPr>
              <a:t>Scalable Routing protocol</a:t>
            </a:r>
          </a:p>
          <a:p>
            <a:pPr marL="285750" indent="-285750" algn="l">
              <a:buFont typeface="Arial" panose="020B0604020202020204" pitchFamily="34" charset="0"/>
              <a:buChar char="•"/>
            </a:pPr>
            <a:r>
              <a:rPr lang="en-US" sz="2400" dirty="0">
                <a:solidFill>
                  <a:srgbClr val="000000"/>
                </a:solidFill>
              </a:rPr>
              <a:t>Wireless Connectivity</a:t>
            </a:r>
          </a:p>
        </p:txBody>
      </p:sp>
    </p:spTree>
    <p:extLst>
      <p:ext uri="{BB962C8B-B14F-4D97-AF65-F5344CB8AC3E}">
        <p14:creationId xmlns:p14="http://schemas.microsoft.com/office/powerpoint/2010/main" val="384647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2884" y="764704"/>
            <a:ext cx="8345488" cy="975783"/>
          </a:xfrm>
        </p:spPr>
        <p:txBody>
          <a:bodyPr/>
          <a:lstStyle/>
          <a:p>
            <a:r>
              <a:rPr lang="en-US" dirty="0">
                <a:solidFill>
                  <a:schemeClr val="tx1"/>
                </a:solidFill>
              </a:rPr>
              <a:t>Plan for Redundancy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3528" y="1867754"/>
            <a:ext cx="8494560" cy="1564541"/>
          </a:xfrm>
        </p:spPr>
        <p:txBody>
          <a:bodyPr/>
          <a:lstStyle/>
          <a:p>
            <a:pPr marL="0" indent="0" algn="l"/>
            <a:r>
              <a:rPr lang="en-CA" dirty="0">
                <a:solidFill>
                  <a:srgbClr val="000000"/>
                </a:solidFill>
              </a:rPr>
              <a:t>Redundancy can prevent disruption of network services by minimizing the possibility of a single point of failure by:</a:t>
            </a:r>
          </a:p>
          <a:p>
            <a:pPr marL="285750" indent="-285750" algn="l">
              <a:buFont typeface="Arial" panose="020B0604020202020204" pitchFamily="34" charset="0"/>
              <a:buChar char="•"/>
            </a:pPr>
            <a:r>
              <a:rPr lang="en-CA" dirty="0">
                <a:solidFill>
                  <a:srgbClr val="000000"/>
                </a:solidFill>
              </a:rPr>
              <a:t>Installing duplicate equipment </a:t>
            </a:r>
          </a:p>
          <a:p>
            <a:pPr marL="285750" indent="-285750" algn="l">
              <a:buFont typeface="Arial" panose="020B0604020202020204" pitchFamily="34" charset="0"/>
              <a:buChar char="•"/>
            </a:pPr>
            <a:r>
              <a:rPr lang="en-CA" dirty="0">
                <a:solidFill>
                  <a:srgbClr val="000000"/>
                </a:solidFill>
              </a:rPr>
              <a:t>Providing failover services for critical devices</a:t>
            </a:r>
          </a:p>
        </p:txBody>
      </p:sp>
      <p:sp>
        <p:nvSpPr>
          <p:cNvPr id="5" name="Content Placeholder 3">
            <a:extLst>
              <a:ext uri="{FF2B5EF4-FFF2-40B4-BE49-F238E27FC236}">
                <a16:creationId xmlns:a16="http://schemas.microsoft.com/office/drawing/2014/main" id="{8DAE4F9C-9268-4037-8E0D-424569AB6FA4}"/>
              </a:ext>
            </a:extLst>
          </p:cNvPr>
          <p:cNvSpPr txBox="1">
            <a:spLocks/>
          </p:cNvSpPr>
          <p:nvPr/>
        </p:nvSpPr>
        <p:spPr>
          <a:xfrm>
            <a:off x="323528" y="3789040"/>
            <a:ext cx="4454354" cy="284756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Redundant paths offer alternate physical paths for data to traverse the network supporting high availability. </a:t>
            </a:r>
          </a:p>
          <a:p>
            <a:pPr marL="285750" indent="-285750" algn="l">
              <a:buFont typeface="Arial" panose="020B0604020202020204" pitchFamily="34" charset="0"/>
              <a:buChar char="•"/>
            </a:pPr>
            <a:r>
              <a:rPr lang="en-CA" dirty="0">
                <a:solidFill>
                  <a:srgbClr val="000000"/>
                </a:solidFill>
              </a:rPr>
              <a:t>However, redundant paths in an Ethernet network may cause logical Layer 2 loops. </a:t>
            </a:r>
          </a:p>
          <a:p>
            <a:pPr marL="285750" indent="-285750" algn="l">
              <a:buFont typeface="Arial" panose="020B0604020202020204" pitchFamily="34" charset="0"/>
              <a:buChar char="•"/>
            </a:pPr>
            <a:r>
              <a:rPr lang="en-CA" dirty="0">
                <a:solidFill>
                  <a:srgbClr val="000000"/>
                </a:solidFill>
              </a:rPr>
              <a:t>Therefore, Spanning Tree Protocol (STP) is required.</a:t>
            </a:r>
          </a:p>
          <a:p>
            <a:pPr marL="0" indent="0" algn="l"/>
            <a:endParaRPr lang="en-CA" dirty="0">
              <a:solidFill>
                <a:srgbClr val="000000"/>
              </a:solidFill>
            </a:endParaRPr>
          </a:p>
        </p:txBody>
      </p:sp>
      <p:pic>
        <p:nvPicPr>
          <p:cNvPr id="2" name="Picture 1">
            <a:extLst>
              <a:ext uri="{FF2B5EF4-FFF2-40B4-BE49-F238E27FC236}">
                <a16:creationId xmlns:a16="http://schemas.microsoft.com/office/drawing/2014/main" id="{2C5B3D53-8978-4B77-BA2D-87083F801673}"/>
              </a:ext>
            </a:extLst>
          </p:cNvPr>
          <p:cNvPicPr>
            <a:picLocks noChangeAspect="1"/>
          </p:cNvPicPr>
          <p:nvPr/>
        </p:nvPicPr>
        <p:blipFill>
          <a:blip r:embed="rId3"/>
          <a:stretch>
            <a:fillRect/>
          </a:stretch>
        </p:blipFill>
        <p:spPr>
          <a:xfrm>
            <a:off x="5100829" y="3429000"/>
            <a:ext cx="3825703" cy="3287271"/>
          </a:xfrm>
          <a:prstGeom prst="rect">
            <a:avLst/>
          </a:prstGeom>
        </p:spPr>
      </p:pic>
    </p:spTree>
    <p:extLst>
      <p:ext uri="{BB962C8B-B14F-4D97-AF65-F5344CB8AC3E}">
        <p14:creationId xmlns:p14="http://schemas.microsoft.com/office/powerpoint/2010/main" val="4212077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347" y="2780928"/>
            <a:ext cx="7800975" cy="399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a:xfrm>
            <a:off x="345402" y="1340768"/>
            <a:ext cx="8424863" cy="1143000"/>
          </a:xfrm>
        </p:spPr>
        <p:txBody>
          <a:bodyPr/>
          <a:lstStyle/>
          <a:p>
            <a:r>
              <a:rPr lang="en-US" dirty="0">
                <a:solidFill>
                  <a:schemeClr val="tx1"/>
                </a:solidFill>
              </a:rPr>
              <a:t>Reduce Failure Domain Size</a:t>
            </a:r>
            <a:endParaRPr lang="en-GB" dirty="0"/>
          </a:p>
        </p:txBody>
      </p:sp>
    </p:spTree>
    <p:extLst>
      <p:ext uri="{BB962C8B-B14F-4D97-AF65-F5344CB8AC3E}">
        <p14:creationId xmlns:p14="http://schemas.microsoft.com/office/powerpoint/2010/main" val="2860518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25" y="1481138"/>
            <a:ext cx="7524750"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0113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346" y="1700808"/>
            <a:ext cx="8172450"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2638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64704"/>
            <a:ext cx="8345488" cy="975783"/>
          </a:xfrm>
        </p:spPr>
        <p:txBody>
          <a:bodyPr/>
          <a:lstStyle/>
          <a:p>
            <a:r>
              <a:rPr lang="en-US" dirty="0">
                <a:solidFill>
                  <a:schemeClr val="tx1"/>
                </a:solidFill>
              </a:rPr>
              <a:t>Reduce Failure Domain Size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931" y="1379702"/>
            <a:ext cx="5904656" cy="4098595"/>
          </a:xfrm>
        </p:spPr>
        <p:txBody>
          <a:bodyPr lIns="91420" tIns="45710" rIns="91420" bIns="45710">
            <a:noAutofit/>
          </a:bodyPr>
          <a:lstStyle/>
          <a:p>
            <a:pPr marL="0" indent="0" algn="l"/>
            <a:r>
              <a:rPr lang="en-CA" sz="2400" dirty="0">
                <a:solidFill>
                  <a:srgbClr val="000000"/>
                </a:solidFill>
              </a:rPr>
              <a:t>A well-designed network controls traffic and limits the size of failure domains (i.e., the area of a network that is impacted when the network experiences problems).</a:t>
            </a:r>
          </a:p>
          <a:p>
            <a:pPr marL="285750" indent="-285750" algn="l">
              <a:buFont typeface="Arial" panose="020B0604020202020204" pitchFamily="34" charset="0"/>
              <a:buChar char="•"/>
            </a:pPr>
            <a:r>
              <a:rPr lang="en-CA" dirty="0">
                <a:solidFill>
                  <a:srgbClr val="000000"/>
                </a:solidFill>
              </a:rPr>
              <a:t>In the hierarchical design model, failure domains are terminated at the distribution layer. </a:t>
            </a:r>
          </a:p>
          <a:p>
            <a:pPr marL="285750" indent="-285750" algn="l">
              <a:buFont typeface="Arial" panose="020B0604020202020204" pitchFamily="34" charset="0"/>
              <a:buChar char="•"/>
            </a:pPr>
            <a:r>
              <a:rPr lang="en-CA" dirty="0">
                <a:solidFill>
                  <a:srgbClr val="000000"/>
                </a:solidFill>
              </a:rPr>
              <a:t>Every router functions as a gateway for a limited number of access layer users.</a:t>
            </a:r>
          </a:p>
          <a:p>
            <a:pPr marL="0" indent="0" algn="l"/>
            <a:r>
              <a:rPr lang="en-CA" dirty="0">
                <a:solidFill>
                  <a:srgbClr val="000000"/>
                </a:solidFill>
              </a:rPr>
              <a:t>Routers, or multilayer switches, are usually deployed in pairs in a configuration referred to as a building, or departmental, switch block. </a:t>
            </a:r>
          </a:p>
          <a:p>
            <a:pPr marL="285750" indent="-285750" algn="l">
              <a:buFont typeface="Arial" panose="020B0604020202020204" pitchFamily="34" charset="0"/>
              <a:buChar char="•"/>
            </a:pPr>
            <a:r>
              <a:rPr lang="en-CA" dirty="0">
                <a:solidFill>
                  <a:srgbClr val="000000"/>
                </a:solidFill>
              </a:rPr>
              <a:t>Each switch block acts independently of the others. </a:t>
            </a:r>
          </a:p>
          <a:p>
            <a:pPr marL="285750" indent="-285750" algn="l">
              <a:buFont typeface="Arial" panose="020B0604020202020204" pitchFamily="34" charset="0"/>
              <a:buChar char="•"/>
            </a:pPr>
            <a:r>
              <a:rPr lang="en-CA" dirty="0">
                <a:solidFill>
                  <a:srgbClr val="000000"/>
                </a:solidFill>
              </a:rPr>
              <a:t>As a result, the failure of a single device does not cause the network to go down.</a:t>
            </a:r>
          </a:p>
          <a:p>
            <a:pPr marL="0" indent="0" algn="l"/>
            <a:endParaRPr lang="en-US" sz="2400" dirty="0">
              <a:solidFill>
                <a:srgbClr val="000000"/>
              </a:solidFill>
            </a:endParaRPr>
          </a:p>
        </p:txBody>
      </p:sp>
      <p:pic>
        <p:nvPicPr>
          <p:cNvPr id="2" name="Picture 1">
            <a:extLst>
              <a:ext uri="{FF2B5EF4-FFF2-40B4-BE49-F238E27FC236}">
                <a16:creationId xmlns:a16="http://schemas.microsoft.com/office/drawing/2014/main" id="{1B8E053B-5303-BE29-80C4-205542BC80C0}"/>
              </a:ext>
            </a:extLst>
          </p:cNvPr>
          <p:cNvPicPr>
            <a:picLocks noChangeAspect="1"/>
          </p:cNvPicPr>
          <p:nvPr/>
        </p:nvPicPr>
        <p:blipFill>
          <a:blip r:embed="rId3"/>
          <a:stretch>
            <a:fillRect/>
          </a:stretch>
        </p:blipFill>
        <p:spPr>
          <a:xfrm>
            <a:off x="6084168" y="2185519"/>
            <a:ext cx="2948185" cy="3403721"/>
          </a:xfrm>
          <a:prstGeom prst="rect">
            <a:avLst/>
          </a:prstGeom>
        </p:spPr>
      </p:pic>
    </p:spTree>
    <p:extLst>
      <p:ext uri="{BB962C8B-B14F-4D97-AF65-F5344CB8AC3E}">
        <p14:creationId xmlns:p14="http://schemas.microsoft.com/office/powerpoint/2010/main" val="332521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20688"/>
            <a:ext cx="8345488" cy="975783"/>
          </a:xfrm>
        </p:spPr>
        <p:txBody>
          <a:bodyPr/>
          <a:lstStyle/>
          <a:p>
            <a:r>
              <a:rPr lang="en-US" dirty="0">
                <a:solidFill>
                  <a:schemeClr val="tx1"/>
                </a:solidFill>
              </a:rPr>
              <a:t>Increase Bandwidth</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3528" y="1844824"/>
            <a:ext cx="8820472" cy="838200"/>
          </a:xfrm>
        </p:spPr>
        <p:txBody>
          <a:bodyPr/>
          <a:lstStyle/>
          <a:p>
            <a:pPr marL="0" indent="0" algn="l"/>
            <a:r>
              <a:rPr lang="en-CA" sz="2400" dirty="0">
                <a:solidFill>
                  <a:srgbClr val="000000"/>
                </a:solidFill>
              </a:rPr>
              <a:t>Link aggregation (e.g., EtherChannel) allows an administrator to increase the amount of bandwidth between devices by creating one logical link made up of several physical links.</a:t>
            </a:r>
            <a:endParaRPr lang="en-US" sz="2400" dirty="0">
              <a:solidFill>
                <a:srgbClr val="000000"/>
              </a:solidFill>
            </a:endParaRPr>
          </a:p>
        </p:txBody>
      </p:sp>
      <p:sp>
        <p:nvSpPr>
          <p:cNvPr id="5" name="Content Placeholder 3">
            <a:extLst>
              <a:ext uri="{FF2B5EF4-FFF2-40B4-BE49-F238E27FC236}">
                <a16:creationId xmlns:a16="http://schemas.microsoft.com/office/drawing/2014/main" id="{EC767F96-94C4-4A72-A459-32533F3212EA}"/>
              </a:ext>
            </a:extLst>
          </p:cNvPr>
          <p:cNvSpPr txBox="1">
            <a:spLocks/>
          </p:cNvSpPr>
          <p:nvPr/>
        </p:nvSpPr>
        <p:spPr>
          <a:xfrm>
            <a:off x="179512" y="3429000"/>
            <a:ext cx="4635329" cy="346977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dirty="0">
                <a:solidFill>
                  <a:srgbClr val="000000"/>
                </a:solidFill>
              </a:rPr>
              <a:t>EtherChannel combines existing switch ports into one logical link using a Port Channel interface. </a:t>
            </a:r>
          </a:p>
          <a:p>
            <a:pPr marL="285750" indent="-285750" algn="l">
              <a:buFont typeface="Arial" panose="020B0604020202020204" pitchFamily="34" charset="0"/>
              <a:buChar char="•"/>
            </a:pPr>
            <a:r>
              <a:rPr lang="en-CA" dirty="0">
                <a:solidFill>
                  <a:srgbClr val="000000"/>
                </a:solidFill>
              </a:rPr>
              <a:t>Most configuration tasks are done on the Port Channel interface (instead of on each individual port) to ensure configuration consistency on the links. </a:t>
            </a:r>
          </a:p>
          <a:p>
            <a:pPr marL="285750" indent="-285750" algn="l">
              <a:buFont typeface="Arial" panose="020B0604020202020204" pitchFamily="34" charset="0"/>
              <a:buChar char="•"/>
            </a:pPr>
            <a:r>
              <a:rPr lang="en-CA" dirty="0">
                <a:solidFill>
                  <a:srgbClr val="000000"/>
                </a:solidFill>
              </a:rPr>
              <a:t>EtherChannel can load balance between links.</a:t>
            </a:r>
          </a:p>
        </p:txBody>
      </p:sp>
      <p:pic>
        <p:nvPicPr>
          <p:cNvPr id="2" name="Picture 1">
            <a:extLst>
              <a:ext uri="{FF2B5EF4-FFF2-40B4-BE49-F238E27FC236}">
                <a16:creationId xmlns:a16="http://schemas.microsoft.com/office/drawing/2014/main" id="{2D379AB6-120E-4FD1-99F8-6ADA915805BE}"/>
              </a:ext>
            </a:extLst>
          </p:cNvPr>
          <p:cNvPicPr>
            <a:picLocks noChangeAspect="1"/>
          </p:cNvPicPr>
          <p:nvPr/>
        </p:nvPicPr>
        <p:blipFill>
          <a:blip r:embed="rId3"/>
          <a:stretch>
            <a:fillRect/>
          </a:stretch>
        </p:blipFill>
        <p:spPr>
          <a:xfrm>
            <a:off x="5292080" y="3584905"/>
            <a:ext cx="3644728" cy="2931088"/>
          </a:xfrm>
          <a:prstGeom prst="rect">
            <a:avLst/>
          </a:prstGeom>
        </p:spPr>
      </p:pic>
    </p:spTree>
    <p:extLst>
      <p:ext uri="{BB962C8B-B14F-4D97-AF65-F5344CB8AC3E}">
        <p14:creationId xmlns:p14="http://schemas.microsoft.com/office/powerpoint/2010/main" val="380505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4944" y="653017"/>
            <a:ext cx="8345488" cy="975783"/>
          </a:xfrm>
        </p:spPr>
        <p:txBody>
          <a:bodyPr/>
          <a:lstStyle/>
          <a:p>
            <a:r>
              <a:rPr lang="en-US" dirty="0">
                <a:solidFill>
                  <a:schemeClr val="tx1"/>
                </a:solidFill>
              </a:rPr>
              <a:t>Expand the Access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9571" y="1628800"/>
            <a:ext cx="8280057" cy="1159893"/>
          </a:xfrm>
        </p:spPr>
        <p:txBody>
          <a:bodyPr/>
          <a:lstStyle/>
          <a:p>
            <a:pPr marL="0" indent="0" algn="l"/>
            <a:r>
              <a:rPr lang="en-CA" dirty="0">
                <a:solidFill>
                  <a:srgbClr val="000000"/>
                </a:solidFill>
              </a:rPr>
              <a:t>An increasingly popular option for extending access layer connectivity is through wireless. </a:t>
            </a:r>
          </a:p>
          <a:p>
            <a:pPr marL="285750" indent="-285750" algn="l">
              <a:buFont typeface="Arial" panose="020B0604020202020204" pitchFamily="34" charset="0"/>
              <a:buChar char="•"/>
            </a:pPr>
            <a:r>
              <a:rPr lang="en-CA" dirty="0">
                <a:solidFill>
                  <a:srgbClr val="000000"/>
                </a:solidFill>
              </a:rPr>
              <a:t>Wireless LANs (WLANs) provides increased flexibility, reduced costs, and the ability to grow and adapt to changing network and business requirements.</a:t>
            </a:r>
            <a:endParaRPr lang="en-US" dirty="0">
              <a:solidFill>
                <a:srgbClr val="000000"/>
              </a:solidFill>
            </a:endParaRPr>
          </a:p>
        </p:txBody>
      </p:sp>
      <p:sp>
        <p:nvSpPr>
          <p:cNvPr id="5" name="Content Placeholder 3">
            <a:extLst>
              <a:ext uri="{FF2B5EF4-FFF2-40B4-BE49-F238E27FC236}">
                <a16:creationId xmlns:a16="http://schemas.microsoft.com/office/drawing/2014/main" id="{002A9BEE-B866-4503-8FF5-F03851763D0A}"/>
              </a:ext>
            </a:extLst>
          </p:cNvPr>
          <p:cNvSpPr txBox="1">
            <a:spLocks/>
          </p:cNvSpPr>
          <p:nvPr/>
        </p:nvSpPr>
        <p:spPr>
          <a:xfrm>
            <a:off x="251520" y="3457780"/>
            <a:ext cx="5832648" cy="340022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58835" lvl="1" indent="-285750">
              <a:buFont typeface="Arial" panose="020B0604020202020204" pitchFamily="34" charset="0"/>
              <a:buChar char="•"/>
            </a:pPr>
            <a:r>
              <a:rPr lang="en-CA" sz="2000" dirty="0">
                <a:solidFill>
                  <a:srgbClr val="000000"/>
                </a:solidFill>
              </a:rPr>
              <a:t>To communicate wirelessly, end devices require a wireless NIC to connect to a wireless router or a wireless access point (AP).</a:t>
            </a:r>
          </a:p>
          <a:p>
            <a:pPr marL="73085" lvl="1" indent="0">
              <a:buNone/>
            </a:pPr>
            <a:r>
              <a:rPr lang="en-CA" sz="2000" dirty="0">
                <a:solidFill>
                  <a:srgbClr val="000000"/>
                </a:solidFill>
              </a:rPr>
              <a:t>Considerations when implementing a wireless network include:</a:t>
            </a:r>
          </a:p>
          <a:p>
            <a:pPr marL="358835" lvl="1" indent="-285750"/>
            <a:r>
              <a:rPr lang="en-CA" sz="2000" dirty="0">
                <a:solidFill>
                  <a:srgbClr val="000000"/>
                </a:solidFill>
              </a:rPr>
              <a:t>Types of wireless devices connecting to the WLAN</a:t>
            </a:r>
          </a:p>
          <a:p>
            <a:pPr marL="358835" lvl="1" indent="-285750"/>
            <a:r>
              <a:rPr lang="en-CA" sz="2000" dirty="0">
                <a:solidFill>
                  <a:srgbClr val="000000"/>
                </a:solidFill>
              </a:rPr>
              <a:t>Wireless coverage requirements</a:t>
            </a:r>
          </a:p>
          <a:p>
            <a:pPr marL="358835" lvl="1" indent="-285750"/>
            <a:r>
              <a:rPr lang="en-CA" sz="2000" dirty="0">
                <a:solidFill>
                  <a:srgbClr val="000000"/>
                </a:solidFill>
              </a:rPr>
              <a:t>Interference considerations</a:t>
            </a:r>
          </a:p>
          <a:p>
            <a:pPr marL="358835" lvl="1" indent="-285750"/>
            <a:r>
              <a:rPr lang="en-CA" sz="2000" dirty="0">
                <a:solidFill>
                  <a:srgbClr val="000000"/>
                </a:solidFill>
              </a:rPr>
              <a:t>Security considerations</a:t>
            </a:r>
          </a:p>
        </p:txBody>
      </p:sp>
      <p:pic>
        <p:nvPicPr>
          <p:cNvPr id="2" name="Picture 1">
            <a:extLst>
              <a:ext uri="{FF2B5EF4-FFF2-40B4-BE49-F238E27FC236}">
                <a16:creationId xmlns:a16="http://schemas.microsoft.com/office/drawing/2014/main" id="{4CA2BAF4-03E1-4755-A8D5-9E3B5393DEEE}"/>
              </a:ext>
            </a:extLst>
          </p:cNvPr>
          <p:cNvPicPr>
            <a:picLocks noChangeAspect="1"/>
          </p:cNvPicPr>
          <p:nvPr/>
        </p:nvPicPr>
        <p:blipFill>
          <a:blip r:embed="rId3"/>
          <a:stretch>
            <a:fillRect/>
          </a:stretch>
        </p:blipFill>
        <p:spPr>
          <a:xfrm>
            <a:off x="5951502" y="3457780"/>
            <a:ext cx="3175206" cy="3400220"/>
          </a:xfrm>
          <a:prstGeom prst="rect">
            <a:avLst/>
          </a:prstGeom>
        </p:spPr>
      </p:pic>
    </p:spTree>
    <p:extLst>
      <p:ext uri="{BB962C8B-B14F-4D97-AF65-F5344CB8AC3E}">
        <p14:creationId xmlns:p14="http://schemas.microsoft.com/office/powerpoint/2010/main" val="105863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92696"/>
            <a:ext cx="8345488" cy="975783"/>
          </a:xfrm>
        </p:spPr>
        <p:txBody>
          <a:bodyPr/>
          <a:lstStyle/>
          <a:p>
            <a:r>
              <a:rPr lang="en-US" dirty="0">
                <a:solidFill>
                  <a:schemeClr val="tx1"/>
                </a:solidFill>
              </a:rPr>
              <a:t>Tune Routing Protocols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512" y="1556792"/>
            <a:ext cx="8280057" cy="746180"/>
          </a:xfrm>
        </p:spPr>
        <p:txBody>
          <a:bodyPr/>
          <a:lstStyle/>
          <a:p>
            <a:pPr marL="0" indent="0" algn="l"/>
            <a:r>
              <a:rPr lang="en-CA" sz="2400" dirty="0">
                <a:solidFill>
                  <a:srgbClr val="000000"/>
                </a:solidFill>
              </a:rPr>
              <a:t>Advanced routing protocols, such as Open Shortest Path First (OSPF) are used in large networks.</a:t>
            </a:r>
            <a:endParaRPr lang="en-US" sz="2400" dirty="0">
              <a:solidFill>
                <a:srgbClr val="000000"/>
              </a:solidFill>
            </a:endParaRPr>
          </a:p>
        </p:txBody>
      </p:sp>
      <p:sp>
        <p:nvSpPr>
          <p:cNvPr id="5" name="Content Placeholder 3">
            <a:extLst>
              <a:ext uri="{FF2B5EF4-FFF2-40B4-BE49-F238E27FC236}">
                <a16:creationId xmlns:a16="http://schemas.microsoft.com/office/drawing/2014/main" id="{37396B99-1213-47B6-A222-0AFB22F94578}"/>
              </a:ext>
            </a:extLst>
          </p:cNvPr>
          <p:cNvSpPr txBox="1">
            <a:spLocks/>
          </p:cNvSpPr>
          <p:nvPr/>
        </p:nvSpPr>
        <p:spPr>
          <a:xfrm>
            <a:off x="431971" y="2420887"/>
            <a:ext cx="3355670" cy="391046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OSPF is a link-state routing protocol that uses areas to support hierarchical networks. </a:t>
            </a:r>
          </a:p>
          <a:p>
            <a:pPr marL="285750" indent="-285750" algn="l">
              <a:buFont typeface="Arial" panose="020B0604020202020204" pitchFamily="34" charset="0"/>
              <a:buChar char="•"/>
            </a:pPr>
            <a:r>
              <a:rPr lang="en-CA" sz="1600" dirty="0">
                <a:solidFill>
                  <a:srgbClr val="000000"/>
                </a:solidFill>
              </a:rPr>
              <a:t>OSPF routers establish and maintain neighbor adjacencies with other connected OSPF routers. </a:t>
            </a:r>
          </a:p>
          <a:p>
            <a:pPr marL="285750" indent="-285750" algn="l">
              <a:buFont typeface="Arial" panose="020B0604020202020204" pitchFamily="34" charset="0"/>
              <a:buChar char="•"/>
            </a:pPr>
            <a:r>
              <a:rPr lang="en-CA" sz="1600" dirty="0">
                <a:solidFill>
                  <a:srgbClr val="000000"/>
                </a:solidFill>
              </a:rPr>
              <a:t>OSPF routers synchronize their link-state database. </a:t>
            </a:r>
          </a:p>
          <a:p>
            <a:pPr marL="285750" indent="-285750" algn="l">
              <a:buFont typeface="Arial" panose="020B0604020202020204" pitchFamily="34" charset="0"/>
              <a:buChar char="•"/>
            </a:pPr>
            <a:r>
              <a:rPr lang="en-CA" sz="1600" dirty="0">
                <a:solidFill>
                  <a:srgbClr val="000000"/>
                </a:solidFill>
              </a:rPr>
              <a:t>When a network change occurs, link-state updates are sent, informing other OSPF routers of the change and establishing a new best path, if one is available.</a:t>
            </a:r>
          </a:p>
        </p:txBody>
      </p:sp>
      <p:pic>
        <p:nvPicPr>
          <p:cNvPr id="2" name="Picture 1">
            <a:extLst>
              <a:ext uri="{FF2B5EF4-FFF2-40B4-BE49-F238E27FC236}">
                <a16:creationId xmlns:a16="http://schemas.microsoft.com/office/drawing/2014/main" id="{CE04BCCA-ED46-4706-8611-C818C2BDEB7E}"/>
              </a:ext>
            </a:extLst>
          </p:cNvPr>
          <p:cNvPicPr>
            <a:picLocks noChangeAspect="1"/>
          </p:cNvPicPr>
          <p:nvPr/>
        </p:nvPicPr>
        <p:blipFill>
          <a:blip r:embed="rId3"/>
          <a:stretch>
            <a:fillRect/>
          </a:stretch>
        </p:blipFill>
        <p:spPr>
          <a:xfrm>
            <a:off x="3898630" y="2924944"/>
            <a:ext cx="5245370" cy="3573117"/>
          </a:xfrm>
          <a:prstGeom prst="rect">
            <a:avLst/>
          </a:prstGeom>
        </p:spPr>
      </p:pic>
    </p:spTree>
    <p:extLst>
      <p:ext uri="{BB962C8B-B14F-4D97-AF65-F5344CB8AC3E}">
        <p14:creationId xmlns:p14="http://schemas.microsoft.com/office/powerpoint/2010/main" val="301724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52736"/>
            <a:ext cx="9144000" cy="975783"/>
          </a:xfrm>
        </p:spPr>
        <p:txBody>
          <a:bodyPr/>
          <a:lstStyle/>
          <a:p>
            <a:r>
              <a:rPr lang="en-CA" dirty="0">
                <a:solidFill>
                  <a:schemeClr val="tx1"/>
                </a:solidFill>
              </a:rPr>
              <a:t>Multilayer Switching</a:t>
            </a:r>
            <a:endParaRPr lang="en-US" dirty="0">
              <a:solidFill>
                <a:schemeClr val="tx1"/>
              </a:solidFill>
            </a:endParaRP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1988840"/>
            <a:ext cx="8280057" cy="4098595"/>
          </a:xfrm>
        </p:spPr>
        <p:txBody>
          <a:bodyPr/>
          <a:lstStyle/>
          <a:p>
            <a:pPr marL="0" indent="0" algn="l"/>
            <a:r>
              <a:rPr lang="en-CA" sz="2400" dirty="0">
                <a:solidFill>
                  <a:srgbClr val="000000"/>
                </a:solidFill>
              </a:rPr>
              <a:t>Multilayer switches are typically deployed in the core and distribution layers of an organization's switched network. </a:t>
            </a:r>
          </a:p>
          <a:p>
            <a:pPr marL="285750" indent="-285750" algn="l">
              <a:buFont typeface="Arial" panose="020B0604020202020204" pitchFamily="34" charset="0"/>
              <a:buChar char="•"/>
            </a:pPr>
            <a:r>
              <a:rPr lang="en-CA" sz="2400" dirty="0">
                <a:solidFill>
                  <a:srgbClr val="000000"/>
                </a:solidFill>
              </a:rPr>
              <a:t>They support some routing protocols and forward IP packets at a rate close to that of Layer 2 forwarding. </a:t>
            </a:r>
          </a:p>
          <a:p>
            <a:pPr marL="285750" indent="-285750" algn="l">
              <a:buFont typeface="Arial" panose="020B0604020202020204" pitchFamily="34" charset="0"/>
              <a:buChar char="•"/>
            </a:pPr>
            <a:r>
              <a:rPr lang="en-CA" sz="2400" dirty="0">
                <a:solidFill>
                  <a:srgbClr val="000000"/>
                </a:solidFill>
              </a:rPr>
              <a:t>Multilayer switches often support specialized hardware, such as application-specific integrated circuits (ASICs). </a:t>
            </a:r>
          </a:p>
          <a:p>
            <a:pPr marL="285750" indent="-285750" algn="l">
              <a:buFont typeface="Arial" panose="020B0604020202020204" pitchFamily="34" charset="0"/>
              <a:buChar char="•"/>
            </a:pPr>
            <a:r>
              <a:rPr lang="en-CA" sz="2400" dirty="0">
                <a:solidFill>
                  <a:srgbClr val="000000"/>
                </a:solidFill>
              </a:rPr>
              <a:t>ASICs along with dedicated software data structures can streamline the forwarding of IP packets independent of the CPU.</a:t>
            </a:r>
          </a:p>
          <a:p>
            <a:pPr marL="0" indent="0" algn="l"/>
            <a:endParaRPr lang="en-CA" sz="2400" dirty="0">
              <a:solidFill>
                <a:srgbClr val="000000"/>
              </a:solidFill>
            </a:endParaRPr>
          </a:p>
        </p:txBody>
      </p:sp>
    </p:spTree>
    <p:extLst>
      <p:ext uri="{BB962C8B-B14F-4D97-AF65-F5344CB8AC3E}">
        <p14:creationId xmlns:p14="http://schemas.microsoft.com/office/powerpoint/2010/main" val="106051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109B4-9981-4B2F-A267-D9B4502D6E16}"/>
              </a:ext>
            </a:extLst>
          </p:cNvPr>
          <p:cNvSpPr>
            <a:spLocks noGrp="1"/>
          </p:cNvSpPr>
          <p:nvPr>
            <p:ph type="title"/>
          </p:nvPr>
        </p:nvSpPr>
        <p:spPr>
          <a:xfrm>
            <a:off x="27564" y="908720"/>
            <a:ext cx="8424863" cy="1143000"/>
          </a:xfrm>
        </p:spPr>
        <p:txBody>
          <a:bodyPr/>
          <a:lstStyle/>
          <a:p>
            <a:r>
              <a:rPr lang="en-GB" dirty="0"/>
              <a:t>VLANs</a:t>
            </a:r>
          </a:p>
        </p:txBody>
      </p:sp>
      <p:sp>
        <p:nvSpPr>
          <p:cNvPr id="3" name="Content Placeholder 2">
            <a:extLst>
              <a:ext uri="{FF2B5EF4-FFF2-40B4-BE49-F238E27FC236}">
                <a16:creationId xmlns:a16="http://schemas.microsoft.com/office/drawing/2014/main" id="{3641C28D-849C-45C0-9528-B4354FF0CBC6}"/>
              </a:ext>
            </a:extLst>
          </p:cNvPr>
          <p:cNvSpPr>
            <a:spLocks noGrp="1"/>
          </p:cNvSpPr>
          <p:nvPr>
            <p:ph idx="1"/>
          </p:nvPr>
        </p:nvSpPr>
        <p:spPr>
          <a:xfrm>
            <a:off x="107504" y="2204864"/>
            <a:ext cx="8424863" cy="4321175"/>
          </a:xfrm>
        </p:spPr>
        <p:txBody>
          <a:bodyPr/>
          <a:lstStyle/>
          <a:p>
            <a:pPr marL="781685" marR="5080" indent="-457200">
              <a:spcBef>
                <a:spcPts val="830"/>
              </a:spcBef>
              <a:tabLst>
                <a:tab pos="781685" algn="l"/>
                <a:tab pos="782320" algn="l"/>
              </a:tabLst>
            </a:pPr>
            <a:r>
              <a:rPr lang="en-GB" sz="3600" spc="-5" dirty="0">
                <a:latin typeface="Arial"/>
                <a:cs typeface="Arial"/>
              </a:rPr>
              <a:t>Logical hierarchy imposed on</a:t>
            </a:r>
            <a:r>
              <a:rPr lang="en-GB" sz="3600" spc="-165" dirty="0">
                <a:latin typeface="Arial"/>
                <a:cs typeface="Arial"/>
              </a:rPr>
              <a:t> </a:t>
            </a:r>
            <a:r>
              <a:rPr lang="en-GB" sz="3600" spc="-5" dirty="0">
                <a:latin typeface="Arial"/>
                <a:cs typeface="Arial"/>
              </a:rPr>
              <a:t>a  flat switched network</a:t>
            </a:r>
            <a:r>
              <a:rPr lang="en-GB" sz="3600" spc="-190" dirty="0">
                <a:latin typeface="Arial"/>
                <a:cs typeface="Arial"/>
              </a:rPr>
              <a:t> </a:t>
            </a:r>
            <a:r>
              <a:rPr lang="en-GB" sz="3600" spc="-10" dirty="0">
                <a:latin typeface="Arial"/>
                <a:cs typeface="Arial"/>
              </a:rPr>
              <a:t>allowing</a:t>
            </a:r>
            <a:endParaRPr lang="en-GB" sz="3600" dirty="0">
              <a:latin typeface="Arial"/>
              <a:cs typeface="Arial"/>
            </a:endParaRPr>
          </a:p>
          <a:p>
            <a:pPr marL="1327150" lvl="1" indent="-457200">
              <a:lnSpc>
                <a:spcPct val="100000"/>
              </a:lnSpc>
              <a:spcBef>
                <a:spcPts val="695"/>
              </a:spcBef>
              <a:buChar char="•"/>
              <a:tabLst>
                <a:tab pos="1327150" algn="l"/>
                <a:tab pos="1327785" algn="l"/>
              </a:tabLst>
            </a:pPr>
            <a:r>
              <a:rPr lang="en-GB" sz="3600" spc="-5" dirty="0">
                <a:latin typeface="Arial"/>
                <a:cs typeface="Arial"/>
              </a:rPr>
              <a:t>Scalability</a:t>
            </a:r>
            <a:endParaRPr lang="en-GB" sz="3600" dirty="0">
              <a:latin typeface="Arial"/>
              <a:cs typeface="Arial"/>
            </a:endParaRPr>
          </a:p>
          <a:p>
            <a:pPr marL="1327150" lvl="1" indent="-457200">
              <a:lnSpc>
                <a:spcPct val="100000"/>
              </a:lnSpc>
              <a:spcBef>
                <a:spcPts val="695"/>
              </a:spcBef>
              <a:buChar char="•"/>
              <a:tabLst>
                <a:tab pos="1327150" algn="l"/>
                <a:tab pos="1327785" algn="l"/>
              </a:tabLst>
            </a:pPr>
            <a:r>
              <a:rPr lang="en-GB" sz="3600" spc="-5" dirty="0">
                <a:latin typeface="Arial"/>
                <a:cs typeface="Arial"/>
              </a:rPr>
              <a:t>Formation </a:t>
            </a:r>
            <a:r>
              <a:rPr lang="en-GB" sz="3600" dirty="0">
                <a:latin typeface="Arial"/>
                <a:cs typeface="Arial"/>
              </a:rPr>
              <a:t>of</a:t>
            </a:r>
            <a:r>
              <a:rPr lang="en-GB" sz="3600" spc="-90" dirty="0">
                <a:latin typeface="Arial"/>
                <a:cs typeface="Arial"/>
              </a:rPr>
              <a:t> </a:t>
            </a:r>
            <a:r>
              <a:rPr lang="en-GB" sz="3600" spc="-5" dirty="0">
                <a:latin typeface="Arial"/>
                <a:cs typeface="Arial"/>
              </a:rPr>
              <a:t>workgroups</a:t>
            </a:r>
            <a:endParaRPr lang="en-GB" sz="3600" dirty="0">
              <a:latin typeface="Arial"/>
              <a:cs typeface="Arial"/>
            </a:endParaRPr>
          </a:p>
          <a:p>
            <a:pPr marL="1327150" lvl="1" indent="-457200">
              <a:lnSpc>
                <a:spcPct val="100000"/>
              </a:lnSpc>
              <a:spcBef>
                <a:spcPts val="710"/>
              </a:spcBef>
              <a:buChar char="•"/>
              <a:tabLst>
                <a:tab pos="1327150" algn="l"/>
                <a:tab pos="1327785" algn="l"/>
              </a:tabLst>
            </a:pPr>
            <a:r>
              <a:rPr lang="en-GB" sz="3600" spc="-5" dirty="0">
                <a:latin typeface="Arial"/>
                <a:cs typeface="Arial"/>
              </a:rPr>
              <a:t>Simplified</a:t>
            </a:r>
            <a:r>
              <a:rPr lang="en-GB" sz="3600" spc="-95" dirty="0">
                <a:latin typeface="Arial"/>
                <a:cs typeface="Arial"/>
              </a:rPr>
              <a:t> </a:t>
            </a:r>
            <a:r>
              <a:rPr lang="en-GB" sz="3600" spc="-5" dirty="0">
                <a:latin typeface="Arial"/>
                <a:cs typeface="Arial"/>
              </a:rPr>
              <a:t>admin</a:t>
            </a:r>
            <a:endParaRPr lang="en-GB" sz="3600" dirty="0">
              <a:latin typeface="Arial"/>
              <a:cs typeface="Arial"/>
            </a:endParaRPr>
          </a:p>
          <a:p>
            <a:pPr marL="1327150" lvl="1" indent="-457200">
              <a:lnSpc>
                <a:spcPct val="100000"/>
              </a:lnSpc>
              <a:spcBef>
                <a:spcPts val="695"/>
              </a:spcBef>
              <a:buChar char="•"/>
              <a:tabLst>
                <a:tab pos="1327150" algn="l"/>
                <a:tab pos="1327785" algn="l"/>
              </a:tabLst>
            </a:pPr>
            <a:r>
              <a:rPr lang="en-GB" sz="3600" spc="-5" dirty="0">
                <a:latin typeface="Arial"/>
                <a:cs typeface="Arial"/>
              </a:rPr>
              <a:t>Better</a:t>
            </a:r>
            <a:r>
              <a:rPr lang="en-GB" sz="3600" spc="-110" dirty="0">
                <a:latin typeface="Arial"/>
                <a:cs typeface="Arial"/>
              </a:rPr>
              <a:t> </a:t>
            </a:r>
            <a:r>
              <a:rPr lang="en-GB" sz="3600" spc="-5" dirty="0">
                <a:latin typeface="Arial"/>
                <a:cs typeface="Arial"/>
              </a:rPr>
              <a:t>security</a:t>
            </a:r>
            <a:endParaRPr lang="en-GB" sz="3600" dirty="0">
              <a:latin typeface="Arial"/>
              <a:cs typeface="Arial"/>
            </a:endParaRPr>
          </a:p>
          <a:p>
            <a:endParaRPr lang="en-GB" dirty="0"/>
          </a:p>
        </p:txBody>
      </p:sp>
    </p:spTree>
    <p:extLst>
      <p:ext uri="{BB962C8B-B14F-4D97-AF65-F5344CB8AC3E}">
        <p14:creationId xmlns:p14="http://schemas.microsoft.com/office/powerpoint/2010/main" val="100220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710" y="980728"/>
            <a:ext cx="3523218" cy="689932"/>
          </a:xfrm>
          <a:prstGeom prst="rect">
            <a:avLst/>
          </a:prstGeom>
        </p:spPr>
        <p:txBody>
          <a:bodyPr vert="horz" wrap="square" lIns="0" tIns="12700" rIns="0" bIns="0" rtlCol="0">
            <a:spAutoFit/>
          </a:bodyPr>
          <a:lstStyle/>
          <a:p>
            <a:pPr marL="12700">
              <a:lnSpc>
                <a:spcPct val="100000"/>
              </a:lnSpc>
              <a:spcBef>
                <a:spcPts val="100"/>
              </a:spcBef>
            </a:pPr>
            <a:r>
              <a:rPr spc="-220" dirty="0"/>
              <a:t>Summary</a:t>
            </a:r>
          </a:p>
        </p:txBody>
      </p:sp>
      <p:sp>
        <p:nvSpPr>
          <p:cNvPr id="3" name="object 3"/>
          <p:cNvSpPr txBox="1"/>
          <p:nvPr/>
        </p:nvSpPr>
        <p:spPr>
          <a:xfrm>
            <a:off x="400710" y="2204864"/>
            <a:ext cx="7849234" cy="2829621"/>
          </a:xfrm>
          <a:prstGeom prst="rect">
            <a:avLst/>
          </a:prstGeom>
        </p:spPr>
        <p:txBody>
          <a:bodyPr vert="horz" wrap="square" lIns="0" tIns="13335" rIns="0" bIns="0" rtlCol="0">
            <a:spAutoFit/>
          </a:bodyPr>
          <a:lstStyle/>
          <a:p>
            <a:pPr marL="469900" indent="-457200">
              <a:lnSpc>
                <a:spcPts val="3840"/>
              </a:lnSpc>
              <a:spcBef>
                <a:spcPts val="105"/>
              </a:spcBef>
              <a:buFont typeface="Arial"/>
              <a:buChar char="•"/>
              <a:tabLst>
                <a:tab pos="469900" algn="l"/>
                <a:tab pos="470534" algn="l"/>
              </a:tabLst>
            </a:pPr>
            <a:r>
              <a:rPr lang="en-GB" sz="3200" spc="-50" dirty="0">
                <a:cs typeface="Georgia"/>
              </a:rPr>
              <a:t>U</a:t>
            </a:r>
            <a:r>
              <a:rPr sz="3200" spc="-50" dirty="0" err="1">
                <a:cs typeface="Georgia"/>
              </a:rPr>
              <a:t>nderstand</a:t>
            </a:r>
            <a:r>
              <a:rPr lang="en-GB" sz="3200" spc="-50" dirty="0">
                <a:cs typeface="Georgia"/>
              </a:rPr>
              <a:t> </a:t>
            </a:r>
            <a:r>
              <a:rPr sz="3200" spc="-15" dirty="0">
                <a:cs typeface="Georgia"/>
              </a:rPr>
              <a:t>network </a:t>
            </a:r>
            <a:r>
              <a:rPr sz="3200" spc="-55" dirty="0">
                <a:cs typeface="Georgia"/>
              </a:rPr>
              <a:t>traffic </a:t>
            </a:r>
            <a:r>
              <a:rPr sz="3200" spc="-80" dirty="0">
                <a:cs typeface="Georgia"/>
              </a:rPr>
              <a:t>in </a:t>
            </a:r>
            <a:r>
              <a:rPr sz="3200" spc="-40" dirty="0">
                <a:cs typeface="Georgia"/>
              </a:rPr>
              <a:t>terms</a:t>
            </a:r>
            <a:r>
              <a:rPr sz="3200" spc="-270" dirty="0">
                <a:cs typeface="Georgia"/>
              </a:rPr>
              <a:t> </a:t>
            </a:r>
            <a:r>
              <a:rPr sz="3200" spc="-85" dirty="0">
                <a:cs typeface="Georgia"/>
              </a:rPr>
              <a:t>of:</a:t>
            </a:r>
            <a:endParaRPr sz="3200" dirty="0">
              <a:cs typeface="Georgia"/>
            </a:endParaRPr>
          </a:p>
          <a:p>
            <a:pPr marL="927100" lvl="1" indent="-457200">
              <a:lnSpc>
                <a:spcPct val="100000"/>
              </a:lnSpc>
              <a:spcBef>
                <a:spcPts val="695"/>
              </a:spcBef>
              <a:buFont typeface="Arial"/>
              <a:buChar char="•"/>
              <a:tabLst>
                <a:tab pos="927100" algn="l"/>
                <a:tab pos="927735" algn="l"/>
              </a:tabLst>
            </a:pPr>
            <a:r>
              <a:rPr sz="3200" spc="-45" dirty="0">
                <a:cs typeface="Georgia"/>
              </a:rPr>
              <a:t>Flow</a:t>
            </a:r>
            <a:endParaRPr sz="3200" dirty="0">
              <a:cs typeface="Georgia"/>
            </a:endParaRPr>
          </a:p>
          <a:p>
            <a:pPr marL="927735" lvl="1" indent="-457834">
              <a:lnSpc>
                <a:spcPct val="100000"/>
              </a:lnSpc>
              <a:spcBef>
                <a:spcPts val="705"/>
              </a:spcBef>
              <a:buFont typeface="Arial"/>
              <a:buChar char="•"/>
              <a:tabLst>
                <a:tab pos="927735" algn="l"/>
                <a:tab pos="928369" algn="l"/>
              </a:tabLst>
            </a:pPr>
            <a:r>
              <a:rPr sz="3200" spc="-90" dirty="0">
                <a:cs typeface="Georgia"/>
              </a:rPr>
              <a:t>Load</a:t>
            </a:r>
            <a:endParaRPr sz="3200" dirty="0">
              <a:cs typeface="Georgia"/>
            </a:endParaRPr>
          </a:p>
          <a:p>
            <a:pPr marL="927735" lvl="1" indent="-457834">
              <a:lnSpc>
                <a:spcPct val="100000"/>
              </a:lnSpc>
              <a:spcBef>
                <a:spcPts val="700"/>
              </a:spcBef>
              <a:buFont typeface="Arial"/>
              <a:buChar char="•"/>
              <a:tabLst>
                <a:tab pos="927735" algn="l"/>
                <a:tab pos="928369" algn="l"/>
              </a:tabLst>
            </a:pPr>
            <a:r>
              <a:rPr sz="3200" spc="-50" dirty="0">
                <a:cs typeface="Georgia"/>
              </a:rPr>
              <a:t>Behavior</a:t>
            </a:r>
            <a:endParaRPr sz="3200" dirty="0">
              <a:cs typeface="Georgia"/>
            </a:endParaRPr>
          </a:p>
          <a:p>
            <a:pPr marL="927735" lvl="1" indent="-457200">
              <a:lnSpc>
                <a:spcPct val="100000"/>
              </a:lnSpc>
              <a:spcBef>
                <a:spcPts val="695"/>
              </a:spcBef>
              <a:buFont typeface="Arial"/>
              <a:buChar char="•"/>
              <a:tabLst>
                <a:tab pos="927735" algn="l"/>
                <a:tab pos="928369" algn="l"/>
              </a:tabLst>
            </a:pPr>
            <a:r>
              <a:rPr sz="3200" spc="-175" dirty="0">
                <a:cs typeface="Georgia"/>
              </a:rPr>
              <a:t>QoS</a:t>
            </a:r>
            <a:r>
              <a:rPr sz="3200" spc="-200" dirty="0">
                <a:cs typeface="Georgia"/>
              </a:rPr>
              <a:t> </a:t>
            </a:r>
            <a:r>
              <a:rPr sz="3200" spc="-45" dirty="0">
                <a:cs typeface="Georgia"/>
              </a:rPr>
              <a:t>requirements</a:t>
            </a:r>
            <a:endParaRPr sz="3200" dirty="0">
              <a:cs typeface="Georgia"/>
            </a:endParaRPr>
          </a:p>
        </p:txBody>
      </p:sp>
    </p:spTree>
    <p:extLst>
      <p:ext uri="{BB962C8B-B14F-4D97-AF65-F5344CB8AC3E}">
        <p14:creationId xmlns:p14="http://schemas.microsoft.com/office/powerpoint/2010/main" val="26221578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idx="4294967295"/>
          </p:nvPr>
        </p:nvSpPr>
        <p:spPr>
          <a:xfrm>
            <a:off x="2627784" y="3429000"/>
            <a:ext cx="3208588" cy="799051"/>
          </a:xfrm>
          <a:prstGeom prst="rect">
            <a:avLst/>
          </a:prstGeom>
        </p:spPr>
        <p:txBody>
          <a:bodyPr vert="horz" wrap="square" lIns="0" tIns="31474" rIns="0" bIns="0" rtlCol="0">
            <a:spAutoFit/>
          </a:bodyPr>
          <a:lstStyle/>
          <a:p>
            <a:pPr marL="25179">
              <a:spcBef>
                <a:spcPts val="248"/>
              </a:spcBef>
            </a:pPr>
            <a:r>
              <a:rPr sz="4900" spc="20" dirty="0"/>
              <a:t>Questions?</a:t>
            </a:r>
            <a:endParaRPr sz="4900" dirty="0"/>
          </a:p>
        </p:txBody>
      </p:sp>
    </p:spTree>
    <p:extLst>
      <p:ext uri="{BB962C8B-B14F-4D97-AF65-F5344CB8AC3E}">
        <p14:creationId xmlns:p14="http://schemas.microsoft.com/office/powerpoint/2010/main" val="3497587095"/>
      </p:ext>
    </p:extLst>
  </p:cSld>
  <p:clrMapOvr>
    <a:masterClrMapping/>
  </p:clrMapOvr>
</p:sld>
</file>

<file path=ppt/theme/theme1.xml><?xml version="1.0" encoding="utf-8"?>
<a:theme xmlns:a="http://schemas.openxmlformats.org/drawingml/2006/main" name="uow2">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uow2</Template>
  <TotalTime>40453</TotalTime>
  <Words>2925</Words>
  <Application>Microsoft Office PowerPoint</Application>
  <PresentationFormat>On-screen Show (4:3)</PresentationFormat>
  <Paragraphs>344</Paragraphs>
  <Slides>43</Slides>
  <Notes>31</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Aptos</vt:lpstr>
      <vt:lpstr>Arial</vt:lpstr>
      <vt:lpstr>Calibri</vt:lpstr>
      <vt:lpstr>Georgia</vt:lpstr>
      <vt:lpstr>Helvetica</vt:lpstr>
      <vt:lpstr>Roboto</vt:lpstr>
      <vt:lpstr>Rockwell</vt:lpstr>
      <vt:lpstr>Times New Roman</vt:lpstr>
      <vt:lpstr>Verdana</vt:lpstr>
      <vt:lpstr>uow2</vt:lpstr>
      <vt:lpstr>Characterising Network Traffic</vt:lpstr>
      <vt:lpstr>The Need to Scale the Network </vt:lpstr>
      <vt:lpstr>The Need to Scale the Network </vt:lpstr>
      <vt:lpstr>PowerPoint Presentation</vt:lpstr>
      <vt:lpstr>PowerPoint Presentation</vt:lpstr>
      <vt:lpstr>PowerPoint Presentation</vt:lpstr>
      <vt:lpstr>PowerPoint Presentation</vt:lpstr>
      <vt:lpstr>PowerPoint Presentation</vt:lpstr>
      <vt:lpstr>Existing Network</vt:lpstr>
      <vt:lpstr>Existing Network</vt:lpstr>
      <vt:lpstr>Characterising Network Traffic</vt:lpstr>
      <vt:lpstr>Characterising Network Traffic</vt:lpstr>
      <vt:lpstr>User Communities</vt:lpstr>
      <vt:lpstr>Data Stores</vt:lpstr>
      <vt:lpstr>Traffic Flow</vt:lpstr>
      <vt:lpstr>PowerPoint Presentation</vt:lpstr>
      <vt:lpstr>Types of Traffic Flow</vt:lpstr>
      <vt:lpstr>QoS Requirements</vt:lpstr>
      <vt:lpstr>Network Applications Traffic Characteristics</vt:lpstr>
      <vt:lpstr>Traffic Load</vt:lpstr>
      <vt:lpstr>What are the bandwidth requirements given this data usage</vt:lpstr>
      <vt:lpstr>Typical Bottlenecks?</vt:lpstr>
      <vt:lpstr>Green Inc. is expanding and just  got another floor on the building  they have their main office. The  new floor will also need to be  connected to Green’s network.</vt:lpstr>
      <vt:lpstr>Green Inc. is expanding and just  got another floor on the building  they have their main office. The  new floor will also need to be  connected to Green’s network.</vt:lpstr>
      <vt:lpstr>PowerPoint Presentation</vt:lpstr>
      <vt:lpstr>Borderless Switched Networks</vt:lpstr>
      <vt:lpstr>Hierarchy in the Borderless Switched Network</vt:lpstr>
      <vt:lpstr>Access, Distribution, and Core Layer Functions</vt:lpstr>
      <vt:lpstr>Advantages of Hierarchical  Network Design</vt:lpstr>
      <vt:lpstr> Three-Tier and Two-Tier Examples</vt:lpstr>
      <vt:lpstr>Design for Scalability</vt:lpstr>
      <vt:lpstr>Plan for Redundancy</vt:lpstr>
      <vt:lpstr>Reduce Failure Domain Size</vt:lpstr>
      <vt:lpstr>PowerPoint Presentation</vt:lpstr>
      <vt:lpstr>PowerPoint Presentation</vt:lpstr>
      <vt:lpstr>Reduce Failure Domain Size</vt:lpstr>
      <vt:lpstr>Increase Bandwidth</vt:lpstr>
      <vt:lpstr>Expand the Access Layer</vt:lpstr>
      <vt:lpstr>Tune Routing Protocols</vt:lpstr>
      <vt:lpstr>Multilayer Switching</vt:lpstr>
      <vt:lpstr>VLANs</vt:lpstr>
      <vt:lpstr>Summary</vt:lpstr>
      <vt:lpstr>Questions?</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Mbarushimana, Consolee</dc:creator>
  <cp:lastModifiedBy>Coulson, Ian M. (Dr)</cp:lastModifiedBy>
  <cp:revision>510</cp:revision>
  <cp:lastPrinted>2017-02-13T10:20:23Z</cp:lastPrinted>
  <dcterms:created xsi:type="dcterms:W3CDTF">2009-12-02T13:43:23Z</dcterms:created>
  <dcterms:modified xsi:type="dcterms:W3CDTF">2026-02-05T09:54:36Z</dcterms:modified>
</cp:coreProperties>
</file>